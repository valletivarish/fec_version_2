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8273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5" name="Shape 3"/>
          <p:cNvSpPr/>
          <p:nvPr/>
        </p:nvSpPr>
        <p:spPr>
          <a:xfrm>
            <a:off x="151790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6" name="Shape 4"/>
          <p:cNvSpPr/>
          <p:nvPr/>
        </p:nvSpPr>
        <p:spPr>
          <a:xfrm>
            <a:off x="2048256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7" name="Shape 5"/>
          <p:cNvSpPr/>
          <p:nvPr/>
        </p:nvSpPr>
        <p:spPr>
          <a:xfrm>
            <a:off x="257860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8" name="Shape 6"/>
          <p:cNvSpPr/>
          <p:nvPr/>
        </p:nvSpPr>
        <p:spPr>
          <a:xfrm>
            <a:off x="310896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9" name="Shape 7"/>
          <p:cNvSpPr/>
          <p:nvPr/>
        </p:nvSpPr>
        <p:spPr>
          <a:xfrm>
            <a:off x="3639312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0" name="Shape 8"/>
          <p:cNvSpPr/>
          <p:nvPr/>
        </p:nvSpPr>
        <p:spPr>
          <a:xfrm>
            <a:off x="416966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1" name="Shape 9"/>
          <p:cNvSpPr/>
          <p:nvPr/>
        </p:nvSpPr>
        <p:spPr>
          <a:xfrm>
            <a:off x="4700016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2" name="Shape 10"/>
          <p:cNvSpPr/>
          <p:nvPr/>
        </p:nvSpPr>
        <p:spPr>
          <a:xfrm>
            <a:off x="5230368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29107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5" name="Shape 13"/>
          <p:cNvSpPr/>
          <p:nvPr/>
        </p:nvSpPr>
        <p:spPr>
          <a:xfrm>
            <a:off x="6821424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6" name="Shape 14"/>
          <p:cNvSpPr/>
          <p:nvPr/>
        </p:nvSpPr>
        <p:spPr>
          <a:xfrm>
            <a:off x="7351776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7" name="Shape 15"/>
          <p:cNvSpPr/>
          <p:nvPr/>
        </p:nvSpPr>
        <p:spPr>
          <a:xfrm>
            <a:off x="788212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4283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0" name="Shape 18"/>
          <p:cNvSpPr/>
          <p:nvPr/>
        </p:nvSpPr>
        <p:spPr>
          <a:xfrm>
            <a:off x="947318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3536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3388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594592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25" name="Text 23"/>
          <p:cNvSpPr/>
          <p:nvPr/>
        </p:nvSpPr>
        <p:spPr>
          <a:xfrm>
            <a:off x="758952" y="16459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EF3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Public Transit Fleet Monitoring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777240" y="3337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Sumalatha Kambhampati   ·   X25156420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7724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E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bus's condition changes minute by minute on the road, but a depot inspection only sees it once it is parked — an overheating engine is hours old by the evening walk-around.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8273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5" name="Shape 3"/>
          <p:cNvSpPr/>
          <p:nvPr/>
        </p:nvSpPr>
        <p:spPr>
          <a:xfrm>
            <a:off x="151790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6" name="Shape 4"/>
          <p:cNvSpPr/>
          <p:nvPr/>
        </p:nvSpPr>
        <p:spPr>
          <a:xfrm>
            <a:off x="2048256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7" name="Shape 5"/>
          <p:cNvSpPr/>
          <p:nvPr/>
        </p:nvSpPr>
        <p:spPr>
          <a:xfrm>
            <a:off x="257860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8" name="Shape 6"/>
          <p:cNvSpPr/>
          <p:nvPr/>
        </p:nvSpPr>
        <p:spPr>
          <a:xfrm>
            <a:off x="310896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9" name="Shape 7"/>
          <p:cNvSpPr/>
          <p:nvPr/>
        </p:nvSpPr>
        <p:spPr>
          <a:xfrm>
            <a:off x="3639312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0" name="Shape 8"/>
          <p:cNvSpPr/>
          <p:nvPr/>
        </p:nvSpPr>
        <p:spPr>
          <a:xfrm>
            <a:off x="416966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1" name="Shape 9"/>
          <p:cNvSpPr/>
          <p:nvPr/>
        </p:nvSpPr>
        <p:spPr>
          <a:xfrm>
            <a:off x="4700016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2" name="Shape 10"/>
          <p:cNvSpPr/>
          <p:nvPr/>
        </p:nvSpPr>
        <p:spPr>
          <a:xfrm>
            <a:off x="5230368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29107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5" name="Shape 13"/>
          <p:cNvSpPr/>
          <p:nvPr/>
        </p:nvSpPr>
        <p:spPr>
          <a:xfrm>
            <a:off x="6821424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6" name="Shape 14"/>
          <p:cNvSpPr/>
          <p:nvPr/>
        </p:nvSpPr>
        <p:spPr>
          <a:xfrm>
            <a:off x="7351776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7" name="Shape 15"/>
          <p:cNvSpPr/>
          <p:nvPr/>
        </p:nvSpPr>
        <p:spPr>
          <a:xfrm>
            <a:off x="788212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4283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0" name="Shape 18"/>
          <p:cNvSpPr/>
          <p:nvPr/>
        </p:nvSpPr>
        <p:spPr>
          <a:xfrm>
            <a:off x="947318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3536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3388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594592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685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5A1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645920" y="8595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13350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3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 Built — Sensor to Serverless Cloud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777240" y="29260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3544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23544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Bus sensors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3544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depots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242261" y="379933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2626309" y="29260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2613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772613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Fog node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772613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· drain · alarm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091330" y="379933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5378" y="29260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13294A"/>
          </a:solidFill>
          <a:ln w="12700">
            <a:solidFill>
              <a:srgbClr val="273D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21682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5A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621682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3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621682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940400" y="379933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43" name="Shape 41"/>
          <p:cNvSpPr/>
          <p:nvPr/>
        </p:nvSpPr>
        <p:spPr>
          <a:xfrm>
            <a:off x="6324448" y="29260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13294A"/>
          </a:solidFill>
          <a:ln w="12700">
            <a:solidFill>
              <a:srgbClr val="273D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70752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5A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70752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3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470752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789469" y="379933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48" name="Shape 46"/>
          <p:cNvSpPr/>
          <p:nvPr/>
        </p:nvSpPr>
        <p:spPr>
          <a:xfrm>
            <a:off x="8173517" y="29260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13294A"/>
          </a:solidFill>
          <a:ln w="12700">
            <a:solidFill>
              <a:srgbClr val="273D5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319821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5A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319821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3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DynamoDB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319821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638538" y="379933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53" name="Shape 51"/>
          <p:cNvSpPr/>
          <p:nvPr/>
        </p:nvSpPr>
        <p:spPr>
          <a:xfrm>
            <a:off x="10022586" y="29260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13294A"/>
          </a:solidFill>
          <a:ln w="12700">
            <a:solidFill>
              <a:srgbClr val="273D5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168890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5A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0168890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3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168890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8273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5" name="Shape 3"/>
          <p:cNvSpPr/>
          <p:nvPr/>
        </p:nvSpPr>
        <p:spPr>
          <a:xfrm>
            <a:off x="151790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6" name="Shape 4"/>
          <p:cNvSpPr/>
          <p:nvPr/>
        </p:nvSpPr>
        <p:spPr>
          <a:xfrm>
            <a:off x="2048256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7" name="Shape 5"/>
          <p:cNvSpPr/>
          <p:nvPr/>
        </p:nvSpPr>
        <p:spPr>
          <a:xfrm>
            <a:off x="257860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8" name="Shape 6"/>
          <p:cNvSpPr/>
          <p:nvPr/>
        </p:nvSpPr>
        <p:spPr>
          <a:xfrm>
            <a:off x="310896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9" name="Shape 7"/>
          <p:cNvSpPr/>
          <p:nvPr/>
        </p:nvSpPr>
        <p:spPr>
          <a:xfrm>
            <a:off x="3639312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0" name="Shape 8"/>
          <p:cNvSpPr/>
          <p:nvPr/>
        </p:nvSpPr>
        <p:spPr>
          <a:xfrm>
            <a:off x="416966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1" name="Shape 9"/>
          <p:cNvSpPr/>
          <p:nvPr/>
        </p:nvSpPr>
        <p:spPr>
          <a:xfrm>
            <a:off x="4700016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2" name="Shape 10"/>
          <p:cNvSpPr/>
          <p:nvPr/>
        </p:nvSpPr>
        <p:spPr>
          <a:xfrm>
            <a:off x="5230368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29107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5" name="Shape 13"/>
          <p:cNvSpPr/>
          <p:nvPr/>
        </p:nvSpPr>
        <p:spPr>
          <a:xfrm>
            <a:off x="6821424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6" name="Shape 14"/>
          <p:cNvSpPr/>
          <p:nvPr/>
        </p:nvSpPr>
        <p:spPr>
          <a:xfrm>
            <a:off x="7351776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7" name="Shape 15"/>
          <p:cNvSpPr/>
          <p:nvPr/>
        </p:nvSpPr>
        <p:spPr>
          <a:xfrm>
            <a:off x="788212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4283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0" name="Shape 18"/>
          <p:cNvSpPr/>
          <p:nvPr/>
        </p:nvSpPr>
        <p:spPr>
          <a:xfrm>
            <a:off x="947318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3536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3388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594592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685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5A1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645920" y="8595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13350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3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28" name="Text 26"/>
          <p:cNvSpPr/>
          <p:nvPr/>
        </p:nvSpPr>
        <p:spPr>
          <a:xfrm>
            <a:off x="777240" y="185623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5A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public-transit-fleet-monitor.s3.us-east-1.amazonaws.com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2468880"/>
            <a:ext cx="3301898" cy="3200400"/>
          </a:xfrm>
          <a:prstGeom prst="roundRect">
            <a:avLst>
              <a:gd name="adj" fmla="val 1143"/>
            </a:avLst>
          </a:prstGeom>
          <a:solidFill>
            <a:srgbClr val="13294A"/>
          </a:solidFill>
          <a:ln w="12700">
            <a:solidFill>
              <a:srgbClr val="273D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1560" y="27066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5A1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3800" dirty="0"/>
          </a:p>
        </p:txBody>
      </p:sp>
      <p:sp>
        <p:nvSpPr>
          <p:cNvPr id="31" name="Text 29"/>
          <p:cNvSpPr/>
          <p:nvPr/>
        </p:nvSpPr>
        <p:spPr>
          <a:xfrm>
            <a:off x="1069848" y="35204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3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roster of meter cards per depot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1069848" y="43891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temperature, brake-pad wear, passenger count, fuel level and GPS speed live for every bus, with native meter bars.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444898" y="2468880"/>
            <a:ext cx="3301898" cy="3200400"/>
          </a:xfrm>
          <a:prstGeom prst="roundRect">
            <a:avLst>
              <a:gd name="adj" fmla="val 1143"/>
            </a:avLst>
          </a:prstGeom>
          <a:solidFill>
            <a:srgbClr val="13294A"/>
          </a:solidFill>
          <a:ln w="12700">
            <a:solidFill>
              <a:srgbClr val="273D5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19218" y="27066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5A1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3800" dirty="0"/>
          </a:p>
        </p:txBody>
      </p:sp>
      <p:sp>
        <p:nvSpPr>
          <p:cNvPr id="35" name="Text 33"/>
          <p:cNvSpPr/>
          <p:nvPr/>
        </p:nvSpPr>
        <p:spPr>
          <a:xfrm>
            <a:off x="4737506" y="35204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3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engine-overheat alarm on depot-a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4737506" y="43891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Depot-a is firing an engine-overheat alarm right now while depot-b stays clear, each raised on its own window.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12557" y="2468880"/>
            <a:ext cx="3301898" cy="3200400"/>
          </a:xfrm>
          <a:prstGeom prst="roundRect">
            <a:avLst>
              <a:gd name="adj" fmla="val 1143"/>
            </a:avLst>
          </a:prstGeom>
          <a:solidFill>
            <a:srgbClr val="13294A"/>
          </a:solidFill>
          <a:ln w="12700">
            <a:solidFill>
              <a:srgbClr val="273D5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86877" y="27066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5A1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3800" dirty="0"/>
          </a:p>
        </p:txBody>
      </p:sp>
      <p:sp>
        <p:nvSpPr>
          <p:cNvPr id="39" name="Text 37"/>
          <p:cNvSpPr/>
          <p:nvPr/>
        </p:nvSpPr>
        <p:spPr>
          <a:xfrm>
            <a:off x="8405165" y="35204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3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Per-depot trend charts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8405165" y="43891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Depot-a in orange and depot-b in green, so a climbing engine temperature is visible on the trend before it alarms.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8273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4" name="Shape 2"/>
          <p:cNvSpPr/>
          <p:nvPr/>
        </p:nvSpPr>
        <p:spPr>
          <a:xfrm>
            <a:off x="98755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5" name="Shape 3"/>
          <p:cNvSpPr/>
          <p:nvPr/>
        </p:nvSpPr>
        <p:spPr>
          <a:xfrm>
            <a:off x="151790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6" name="Shape 4"/>
          <p:cNvSpPr/>
          <p:nvPr/>
        </p:nvSpPr>
        <p:spPr>
          <a:xfrm>
            <a:off x="2048256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7" name="Shape 5"/>
          <p:cNvSpPr/>
          <p:nvPr/>
        </p:nvSpPr>
        <p:spPr>
          <a:xfrm>
            <a:off x="257860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8" name="Shape 6"/>
          <p:cNvSpPr/>
          <p:nvPr/>
        </p:nvSpPr>
        <p:spPr>
          <a:xfrm>
            <a:off x="310896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9" name="Shape 7"/>
          <p:cNvSpPr/>
          <p:nvPr/>
        </p:nvSpPr>
        <p:spPr>
          <a:xfrm>
            <a:off x="3639312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0" name="Shape 8"/>
          <p:cNvSpPr/>
          <p:nvPr/>
        </p:nvSpPr>
        <p:spPr>
          <a:xfrm>
            <a:off x="416966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1" name="Shape 9"/>
          <p:cNvSpPr/>
          <p:nvPr/>
        </p:nvSpPr>
        <p:spPr>
          <a:xfrm>
            <a:off x="4700016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2" name="Shape 10"/>
          <p:cNvSpPr/>
          <p:nvPr/>
        </p:nvSpPr>
        <p:spPr>
          <a:xfrm>
            <a:off x="5230368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3" name="Shape 11"/>
          <p:cNvSpPr/>
          <p:nvPr/>
        </p:nvSpPr>
        <p:spPr>
          <a:xfrm>
            <a:off x="576072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29107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5" name="Shape 13"/>
          <p:cNvSpPr/>
          <p:nvPr/>
        </p:nvSpPr>
        <p:spPr>
          <a:xfrm>
            <a:off x="6821424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6" name="Shape 14"/>
          <p:cNvSpPr/>
          <p:nvPr/>
        </p:nvSpPr>
        <p:spPr>
          <a:xfrm>
            <a:off x="7351776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7" name="Shape 15"/>
          <p:cNvSpPr/>
          <p:nvPr/>
        </p:nvSpPr>
        <p:spPr>
          <a:xfrm>
            <a:off x="788212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42832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0" name="Shape 18"/>
          <p:cNvSpPr/>
          <p:nvPr/>
        </p:nvSpPr>
        <p:spPr>
          <a:xfrm>
            <a:off x="9473184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3536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33888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64240" y="6400800"/>
            <a:ext cx="256032" cy="256032"/>
          </a:xfrm>
          <a:prstGeom prst="rect">
            <a:avLst/>
          </a:prstGeom>
          <a:solidFill>
            <a:srgbClr val="D732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1594592" y="6400800"/>
            <a:ext cx="256032" cy="256032"/>
          </a:xfrm>
          <a:prstGeom prst="rect">
            <a:avLst/>
          </a:prstGeom>
          <a:solidFill>
            <a:srgbClr val="FF5A1F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685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5A1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645920" y="8595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13350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3F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buffer first, group later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777240" y="2377440"/>
            <a:ext cx="5090008" cy="3291840"/>
          </a:xfrm>
          <a:prstGeom prst="roundRect">
            <a:avLst>
              <a:gd name="adj" fmla="val 1111"/>
            </a:avLst>
          </a:prstGeom>
          <a:solidFill>
            <a:srgbClr val="13294A"/>
          </a:solidFill>
          <a:ln w="12700">
            <a:solidFill>
              <a:srgbClr val="273D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265176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97280" y="303580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7280" y="3200400"/>
            <a:ext cx="44499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E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sensor streams post to one fog gateway on many worker threads at once, and every reading must survive being held until the window drain. A reading lost to a race does not crash anything — it just makes the fleet averages silently wrong. And locking every insert fixes the race only by making the senders queue behind each other.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324448" y="2377440"/>
            <a:ext cx="5090008" cy="3291840"/>
          </a:xfrm>
          <a:prstGeom prst="roundRect">
            <a:avLst>
              <a:gd name="adj" fmla="val 1111"/>
            </a:avLst>
          </a:prstGeom>
          <a:solidFill>
            <a:srgbClr val="13294A"/>
          </a:solidFill>
          <a:ln w="12700">
            <a:solidFill>
              <a:srgbClr val="273D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44488" y="265176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C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44488" y="3035808"/>
            <a:ext cx="4449928" cy="0"/>
          </a:xfrm>
          <a:prstGeom prst="line">
            <a:avLst/>
          </a:prstGeom>
          <a:noFill/>
          <a:ln w="19050">
            <a:solidFill>
              <a:srgbClr val="3ECF8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44488" y="3200400"/>
            <a:ext cx="44499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E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first, group later: each arriving reading is a single lock-free enqueue onto a concurrent queue, nothing more, and all grouping by depot and signal is deferred to one thread that drains the whole queue once per window. Ingest stays contention-free. A stress test fires 32 threads writing 200 readings each, and after the drain all 6,400 are accounted for, zero lost.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2026-07-24T09:15:28Z</dcterms:created>
  <dcterms:modified xsi:type="dcterms:W3CDTF">2026-07-24T09:15:28Z</dcterms:modified>
</cp:coreProperties>
</file>