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A97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9050">
            <a:solidFill>
              <a:srgbClr val="E0D0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103120"/>
            <a:ext cx="9784080" cy="1783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Franklin Gothic Medium"/>
              </a:rPr>
              <a:t>Solar Farm Performance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418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 i="1">
                <a:solidFill>
                  <a:srgbClr val="E6D9BE"/>
                </a:solidFill>
                <a:latin typeface="Calibri"/>
              </a:rPr>
              <a:t>An edge-to-cloud pipeline that watches two panel arrays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800600"/>
            <a:ext cx="94183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 i="0">
                <a:solidFill>
                  <a:srgbClr val="DCC9A3"/>
                </a:solidFill>
                <a:latin typeface="Calibri"/>
              </a:rPr>
              <a:t>MSc in Cloud Computing   ·   Fog and Edge Computing (H9FECC)</a:t>
            </a:r>
          </a:p>
          <a:p>
            <a:pPr algn="ctr"/>
            <a:r>
              <a:rPr sz="1250" b="0" i="0">
                <a:solidFill>
                  <a:srgbClr val="DCC9A3"/>
                </a:solidFill>
                <a:latin typeface="Calibri"/>
              </a:rPr>
              <a:t>National College of Ireland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84048"/>
            <a:ext cx="10972800" cy="868680"/>
          </a:xfrm>
        </p:spPr>
        <p:txBody>
          <a:bodyPr wrap="square" anchor="t"/>
          <a:lstStyle/>
          <a:p>
            <a:pPr algn="l"/>
            <a:r>
              <a:rPr b="1" sz="2400">
                <a:solidFill>
                  <a:srgbClr val="A9791A"/>
                </a:solidFill>
                <a:latin typeface="Franklin Gothic Medium"/>
              </a:rPr>
              <a:t>The problem: periodic checks miss slow failures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481328"/>
            <a:ext cx="10972800" cy="4846320"/>
          </a:xfrm>
        </p:spPr>
        <p:txBody>
          <a:bodyPr wrap="square">
            <a:norm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libri"/>
              </a:rPr>
              <a:t>Solar panels lose conversion efficiency as they run hotter: an array's thermal health score falls from 100 at 45 °C to 0 at 72 °C, so heat quietly erodes output long before anything visibly breaks.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libri"/>
              </a:rPr>
              <a:t>Dust builds up gradually: the system raises a cleaning alert once average soiling passes 25 percent, a slow drift that a scheduled walk-through will almost never time correctly.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A9791A"/>
                </a:solidFill>
                <a:latin typeface="Calibri"/>
              </a:rPr>
              <a:t>A fault that appears between manual inspections keeps costing energy, silently, until someone happens to look at that array.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libri"/>
              </a:rPr>
              <a:t>Panel temperature climbs from 45 to 72 °C, the range over which modelled output health slides from 100 down to 0.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libri"/>
              </a:rPr>
              <a:t>Ten sensor streams run across two arrays, each sampling every 2 to 5 seconds, far too much data to check by hand.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3108960" cy="36576"/>
          </a:xfrm>
          <a:prstGeom prst="rect">
            <a:avLst/>
          </a:prstGeom>
          <a:solidFill>
            <a:srgbClr val="A97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84048"/>
            <a:ext cx="10972800" cy="868680"/>
          </a:xfrm>
        </p:spPr>
        <p:txBody>
          <a:bodyPr wrap="square" anchor="t"/>
          <a:lstStyle/>
          <a:p>
            <a:pPr algn="l"/>
            <a:r>
              <a:rPr b="1" sz="2700">
                <a:solidFill>
                  <a:srgbClr val="A9791A"/>
                </a:solidFill>
                <a:latin typeface="Franklin Gothic Medium"/>
              </a:rPr>
              <a:t>How it works: edge first, cloud second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481328"/>
            <a:ext cx="10972800" cy="4846320"/>
          </a:xfrm>
        </p:spPr>
        <p:txBody>
          <a:bodyPr wrap="square">
            <a:norm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libri"/>
              </a:rPr>
              <a:t>Ten sensors stream irradiance, panel temperature, inverter output, DC voltage and soiling across two arrays.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libri"/>
              </a:rPr>
              <a:t>The fog node buffers, windows, aggregates and raises alerts, producing one summary per window.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libri"/>
              </a:rPr>
              <a:t>Amazon SQS queues the window summaries for the backend.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libri"/>
              </a:rPr>
              <a:t>AWS Lambda provides serverless ingest, triggered straight off the queue.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libri"/>
              </a:rPr>
              <a:t>Amazon DynamoDB stores the windowed records per array and sensor.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libri"/>
              </a:rPr>
              <a:t>A live dashboard on Amazon S3 and API Gateway shows the per-array efficiency heatmap.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A9791A"/>
                </a:solidFill>
                <a:latin typeface="Calibri"/>
              </a:rPr>
              <a:t>Verified end to end locally: the whole pipeline runs on Docker with an AWS emulator standing in for SQS, Lambda and DynamoDB, and one scripted step deploys the identical pipeline to real AWS.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3108960" cy="36576"/>
          </a:xfrm>
          <a:prstGeom prst="rect">
            <a:avLst/>
          </a:prstGeom>
          <a:solidFill>
            <a:srgbClr val="A97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84048"/>
            <a:ext cx="10972800" cy="868680"/>
          </a:xfrm>
        </p:spPr>
        <p:txBody>
          <a:bodyPr wrap="square" anchor="t"/>
          <a:lstStyle/>
          <a:p>
            <a:pPr algn="l"/>
            <a:r>
              <a:rPr b="1" sz="2700">
                <a:solidFill>
                  <a:srgbClr val="A9791A"/>
                </a:solidFill>
                <a:latin typeface="Franklin Gothic Medium"/>
              </a:rPr>
              <a:t>Demonstration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481328"/>
            <a:ext cx="5760720" cy="475488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Dashboard during a local end-to-end run: all four pipeline health checks up, the live efficiency heatmap and per-array readings.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Threshold alerts cover thermal derate risk, inverter underperformance, undervoltage and cleaning required.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A9791A"/>
                </a:solidFill>
                <a:latin typeface="Calibri"/>
              </a:rPr>
              <a:t>110 automated tests pass across sensors, fog node, backend and dashboard.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4 of 4 pipeline health checks green: gateway, queue, processor and pipeline.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A 2,000-message burst was pushed through the queue by 32 parallel senders in the load test.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3108960" cy="36576"/>
          </a:xfrm>
          <a:prstGeom prst="rect">
            <a:avLst/>
          </a:prstGeom>
          <a:solidFill>
            <a:srgbClr val="A97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2236" y="1517904"/>
            <a:ext cx="381496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84048"/>
            <a:ext cx="10972800" cy="868680"/>
          </a:xfrm>
        </p:spPr>
        <p:txBody>
          <a:bodyPr wrap="square" anchor="t"/>
          <a:lstStyle/>
          <a:p>
            <a:pPr algn="l"/>
            <a:r>
              <a:rPr b="1" sz="2400">
                <a:solidFill>
                  <a:srgbClr val="A9791A"/>
                </a:solidFill>
                <a:latin typeface="Franklin Gothic Medium"/>
              </a:rPr>
              <a:t>The hardest part: a buffer that never sits still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481328"/>
            <a:ext cx="10972800" cy="4846320"/>
          </a:xfr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A9791A"/>
                </a:solidFill>
                <a:latin typeface="Calibri"/>
              </a:rPr>
              <a:t>The problem: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Calibri"/>
              </a:rPr>
              <a:t>Every few seconds the fog node must take everything buffered so far and aggregate it into window summaries, while ten sensors keep writing new readings into that same buffer.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A9791A"/>
                </a:solidFill>
                <a:latin typeface="Calibri"/>
              </a:rPr>
              <a:t>Why it is hard: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Calibri"/>
              </a:rPr>
              <a:t>One shared buffer and one lock means aggregation blocks ingest. Copying the buffer under the lock stalls every sensor at every window; skipping the lock loses or double-counts readings. A textbook reader-writer race.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A9791A"/>
                </a:solidFill>
                <a:latin typeface="Calibri"/>
              </a:rPr>
              <a:t>The fix: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Calibri"/>
              </a:rPr>
              <a:t>Double buffering uses two buffers, one live and one flushing. The lock is held only for an instant pointer swap of the two, so aggregation works on the swapped-out data while new readings flow into the fresh buffer.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The flow: sensors write into the active buffer, a pointer swap under lock moves it to the flushing buffer, then the fog node aggregates and publishes.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A9791A"/>
                </a:solidFill>
                <a:latin typeface="Calibri"/>
              </a:rPr>
              <a:t>Proven by a concurrent-writer stress test: nothing lost, nothing copied.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3108960" cy="36576"/>
          </a:xfrm>
          <a:prstGeom prst="rect">
            <a:avLst/>
          </a:prstGeom>
          <a:solidFill>
            <a:srgbClr val="A97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84048"/>
            <a:ext cx="10972800" cy="868680"/>
          </a:xfrm>
        </p:spPr>
        <p:txBody>
          <a:bodyPr wrap="square" anchor="t"/>
          <a:lstStyle/>
          <a:p>
            <a:pPr algn="l"/>
            <a:r>
              <a:rPr b="1" sz="2700">
                <a:solidFill>
                  <a:srgbClr val="A9791A"/>
                </a:solidFill>
                <a:latin typeface="Franklin Gothic Medium"/>
              </a:rPr>
              <a:t>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481328"/>
            <a:ext cx="10972800" cy="4846320"/>
          </a:xfrm>
        </p:spPr>
        <p:txBody>
          <a:bodyPr wrap="square">
            <a:norm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libri"/>
              </a:rPr>
              <a:t>Push work to the edge: windowing and alerting at the fog node turn a constant stream of raw readings into one compact summary per window before anything leaves the site.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libri"/>
              </a:rPr>
              <a:t>Keep the cloud serverless: Amazon SQS, AWS Lambda and DynamoDB absorbed a 2,000-message burst in the load test with nothing to provision or manage.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libri"/>
              </a:rPr>
              <a:t>Prove it, then ship it: 110 automated tests plus a scripted end-to-end pipeline check, and a single scripted step to deploy the same stack to AWS.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libri"/>
              </a:rPr>
              <a:t>Thank you. 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3108960" cy="36576"/>
          </a:xfrm>
          <a:prstGeom prst="rect">
            <a:avLst/>
          </a:prstGeom>
          <a:solidFill>
            <a:srgbClr val="A97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