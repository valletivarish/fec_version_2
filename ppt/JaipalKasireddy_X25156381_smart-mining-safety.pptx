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14"/>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Smart Mining Safety Monitoring</a:t>
            </a:r>
            <a:endParaRPr lang="en-US" sz="38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9A8248"/>
                </a:solidFill>
                <a:latin typeface="Calibri" pitchFamily="34" charset="0"/>
                <a:ea typeface="Calibri" pitchFamily="34" charset="-122"/>
                <a:cs typeface="Calibri" pitchFamily="34" charset="-120"/>
              </a:rPr>
              <a:t>Jaipal Kasireddy   ·   X25156381</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E5D8BC"/>
                </a:solidFill>
                <a:latin typeface="Calibri" pitchFamily="34" charset="0"/>
                <a:ea typeface="Calibri" pitchFamily="34" charset="-122"/>
                <a:cs typeface="Calibri" pitchFamily="34" charset="-120"/>
              </a:rPr>
              <a:t>Methane clears or lingers in under a minute, carbon monoxide displaces breathable air silently, and rockfall precursors last seconds — no inspection round is that fast underground.</a:t>
            </a:r>
            <a:endParaRPr lang="en-US" sz="2000" dirty="0"/>
          </a:p>
        </p:txBody>
      </p:sp>
      <p:sp>
        <p:nvSpPr>
          <p:cNvPr id="5" name="Shape 3"/>
          <p:cNvSpPr/>
          <p:nvPr/>
        </p:nvSpPr>
        <p:spPr>
          <a:xfrm>
            <a:off x="658368" y="4206240"/>
            <a:ext cx="2651760" cy="566928"/>
          </a:xfrm>
          <a:prstGeom prst="roundRect">
            <a:avLst>
              <a:gd name="adj" fmla="val 50000"/>
            </a:avLst>
          </a:prstGeom>
          <a:solidFill>
            <a:srgbClr val="2F2718"/>
          </a:solidFill>
          <a:ln w="12700">
            <a:solidFill>
              <a:srgbClr val="D9A62E"/>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Methane &gt; 1,000 ppm</a:t>
            </a:r>
            <a:endParaRPr lang="en-US" sz="1350" dirty="0"/>
          </a:p>
        </p:txBody>
      </p:sp>
      <p:sp>
        <p:nvSpPr>
          <p:cNvPr id="7" name="Shape 5"/>
          <p:cNvSpPr/>
          <p:nvPr/>
        </p:nvSpPr>
        <p:spPr>
          <a:xfrm>
            <a:off x="3538728" y="4206240"/>
            <a:ext cx="2651760" cy="566928"/>
          </a:xfrm>
          <a:prstGeom prst="roundRect">
            <a:avLst>
              <a:gd name="adj" fmla="val 50000"/>
            </a:avLst>
          </a:prstGeom>
          <a:solidFill>
            <a:srgbClr val="2F2718"/>
          </a:solidFill>
          <a:ln w="12700">
            <a:solidFill>
              <a:srgbClr val="D9A62E"/>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CO &gt; 50 ppm</a:t>
            </a:r>
            <a:endParaRPr lang="en-US" sz="1350" dirty="0"/>
          </a:p>
        </p:txBody>
      </p:sp>
      <p:sp>
        <p:nvSpPr>
          <p:cNvPr id="9" name="Shape 7"/>
          <p:cNvSpPr/>
          <p:nvPr/>
        </p:nvSpPr>
        <p:spPr>
          <a:xfrm>
            <a:off x="6419088" y="4206240"/>
            <a:ext cx="2651760" cy="566928"/>
          </a:xfrm>
          <a:prstGeom prst="roundRect">
            <a:avLst>
              <a:gd name="adj" fmla="val 50000"/>
            </a:avLst>
          </a:prstGeom>
          <a:solidFill>
            <a:srgbClr val="2F2718"/>
          </a:solidFill>
          <a:ln w="12700">
            <a:solidFill>
              <a:srgbClr val="D9A62E"/>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Vibration &gt; 25 mm/s</a:t>
            </a:r>
            <a:endParaRPr lang="en-US" sz="135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6E6248"/>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What I Built — Edge to Live Dashboard</a:t>
            </a:r>
            <a:endParaRPr lang="en-US" sz="3000" dirty="0"/>
          </a:p>
        </p:txBody>
      </p:sp>
      <p:sp>
        <p:nvSpPr>
          <p:cNvPr id="3" name="Shape 1"/>
          <p:cNvSpPr/>
          <p:nvPr/>
        </p:nvSpPr>
        <p:spPr>
          <a:xfrm>
            <a:off x="640080" y="1554480"/>
            <a:ext cx="3200400" cy="3383280"/>
          </a:xfrm>
          <a:prstGeom prst="roundRect">
            <a:avLst>
              <a:gd name="adj" fmla="val 2857"/>
            </a:avLst>
          </a:prstGeom>
          <a:solidFill>
            <a:srgbClr val="F4EFE4"/>
          </a:solidFill>
          <a:ln w="19050">
            <a:solidFill>
              <a:srgbClr val="9A8248"/>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9A8248"/>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9A8248"/>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31D13"/>
                </a:solidFill>
                <a:latin typeface="Calibri" pitchFamily="34" charset="0"/>
                <a:ea typeface="Calibri" pitchFamily="34" charset="-122"/>
                <a:cs typeface="Calibri" pitchFamily="34" charset="-120"/>
              </a:rPr>
              <a:t>Shaft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248"/>
                </a:solidFill>
                <a:latin typeface="Calibri" pitchFamily="34" charset="0"/>
                <a:ea typeface="Calibri" pitchFamily="34" charset="-122"/>
                <a:cs typeface="Calibri" pitchFamily="34" charset="-120"/>
              </a:rPr>
              <a:t>10 · 2 shafts · 5 hazards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9A8248"/>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31D13"/>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248"/>
                </a:solidFill>
                <a:latin typeface="Calibri" pitchFamily="34" charset="0"/>
                <a:ea typeface="Calibri" pitchFamily="34" charset="-122"/>
                <a:cs typeface="Calibri" pitchFamily="34" charset="-120"/>
              </a:rPr>
              <a:t>windows · thresholds</a:t>
            </a:r>
            <a:endParaRPr lang="en-US" sz="1000" dirty="0"/>
          </a:p>
        </p:txBody>
      </p:sp>
      <p:sp>
        <p:nvSpPr>
          <p:cNvPr id="11" name="Shape 9"/>
          <p:cNvSpPr/>
          <p:nvPr/>
        </p:nvSpPr>
        <p:spPr>
          <a:xfrm>
            <a:off x="3886200" y="3246120"/>
            <a:ext cx="502920" cy="0"/>
          </a:xfrm>
          <a:prstGeom prst="line">
            <a:avLst/>
          </a:prstGeom>
          <a:noFill/>
          <a:ln w="31750">
            <a:solidFill>
              <a:srgbClr val="5A4420"/>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4EFE4"/>
          </a:solidFill>
          <a:ln w="19050">
            <a:solidFill>
              <a:srgbClr val="5A4420"/>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5A4420"/>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5A4420"/>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batches ≤10</a:t>
            </a:r>
            <a:endParaRPr lang="en-US" sz="900" dirty="0"/>
          </a:p>
        </p:txBody>
      </p:sp>
      <p:sp>
        <p:nvSpPr>
          <p:cNvPr id="17" name="Shape 15"/>
          <p:cNvSpPr/>
          <p:nvPr/>
        </p:nvSpPr>
        <p:spPr>
          <a:xfrm>
            <a:off x="6318504" y="3337560"/>
            <a:ext cx="164592" cy="0"/>
          </a:xfrm>
          <a:prstGeom prst="line">
            <a:avLst/>
          </a:prstGeom>
          <a:noFill/>
          <a:ln w="20320">
            <a:solidFill>
              <a:srgbClr val="9A8248"/>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5A4420"/>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java17 ingest</a:t>
            </a:r>
            <a:endParaRPr lang="en-US" sz="900" dirty="0"/>
          </a:p>
        </p:txBody>
      </p:sp>
      <p:sp>
        <p:nvSpPr>
          <p:cNvPr id="21" name="Shape 19"/>
          <p:cNvSpPr/>
          <p:nvPr/>
        </p:nvSpPr>
        <p:spPr>
          <a:xfrm>
            <a:off x="7964424" y="3337560"/>
            <a:ext cx="164592" cy="0"/>
          </a:xfrm>
          <a:prstGeom prst="line">
            <a:avLst/>
          </a:prstGeom>
          <a:noFill/>
          <a:ln w="20320">
            <a:solidFill>
              <a:srgbClr val="9A8248"/>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5A4420"/>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by type · shaft</a:t>
            </a:r>
            <a:endParaRPr lang="en-US" sz="900" dirty="0"/>
          </a:p>
        </p:txBody>
      </p:sp>
      <p:sp>
        <p:nvSpPr>
          <p:cNvPr id="25" name="Shape 23"/>
          <p:cNvSpPr/>
          <p:nvPr/>
        </p:nvSpPr>
        <p:spPr>
          <a:xfrm>
            <a:off x="9610344" y="3337560"/>
            <a:ext cx="164592" cy="0"/>
          </a:xfrm>
          <a:prstGeom prst="line">
            <a:avLst/>
          </a:prstGeom>
          <a:noFill/>
          <a:ln w="20320">
            <a:solidFill>
              <a:srgbClr val="9A8248"/>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7C5F2A"/>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31D13"/>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248"/>
                </a:solidFill>
                <a:latin typeface="Calibri" pitchFamily="34" charset="0"/>
                <a:ea typeface="Calibri" pitchFamily="34" charset="-122"/>
                <a:cs typeface="Calibri" pitchFamily="34" charset="-120"/>
              </a:rPr>
              <a:t>SAFE/CAUTION/DANGER</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5A4420"/>
                </a:solidFill>
                <a:latin typeface="Calibri" pitchFamily="34" charset="0"/>
                <a:ea typeface="Calibri" pitchFamily="34" charset="-122"/>
                <a:cs typeface="Calibri" pitchFamily="34" charset="-120"/>
              </a:rPr>
              <a:t>Every sensor window is checked against the hard limits at the fog node itself; alerts fire in the same process that measured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7C5F2A"/>
                </a:solidFill>
                <a:latin typeface="Consolas" pitchFamily="34" charset="0"/>
                <a:ea typeface="Consolas" pitchFamily="34" charset="-122"/>
                <a:cs typeface="Consolas" pitchFamily="34" charset="-120"/>
              </a:rPr>
              <a:t>msm-frontend-639210843493.s3.us-east-1.amazonaws.com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7C5F2A"/>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SAFE, CAUTION or DANGER per shaft</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Each shaft carries a single live verdict rolled up from methane, CO, dust, vibration and airflow against their hard limits.</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7C5F2A"/>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A DANGER classification on real data</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A silica-dust breach classifies shaft-A as DANGER while shaft-B holds SAFE, with zero console or CORS errors.</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7C5F2A"/>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Data climbing live</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Stored readings pass 1,400 during the verification window and keep rising, so the board reads live data.</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9A8248"/>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31D13"/>
                </a:solidFill>
                <a:latin typeface="Times New Roman" pitchFamily="34" charset="0"/>
                <a:ea typeface="Times New Roman" pitchFamily="34" charset="-122"/>
                <a:cs typeface="Times New Roman" pitchFamily="34" charset="-120"/>
              </a:rPr>
              <a:t>Hardest Part — a credential defect the audit caught first</a:t>
            </a:r>
            <a:endParaRPr lang="en-US" sz="2800" dirty="0"/>
          </a:p>
        </p:txBody>
      </p:sp>
      <p:sp>
        <p:nvSpPr>
          <p:cNvPr id="3" name="Shape 1"/>
          <p:cNvSpPr/>
          <p:nvPr/>
        </p:nvSpPr>
        <p:spPr>
          <a:xfrm>
            <a:off x="640080" y="1874520"/>
            <a:ext cx="4937760" cy="4160520"/>
          </a:xfrm>
          <a:prstGeom prst="roundRect">
            <a:avLst>
              <a:gd name="adj" fmla="val 2198"/>
            </a:avLst>
          </a:prstGeom>
          <a:solidFill>
            <a:srgbClr val="F4EFE4"/>
          </a:solidFill>
          <a:ln w="19050">
            <a:solidFill>
              <a:srgbClr val="D9A62E"/>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31D13"/>
                </a:solidFill>
                <a:latin typeface="Calibri" pitchFamily="34" charset="0"/>
                <a:ea typeface="Calibri" pitchFamily="34" charset="-122"/>
                <a:cs typeface="Calibri" pitchFamily="34" charset="-120"/>
              </a:rPr>
              <a:t>All three AWS-facing classes — dashboard, processor and queue publisher — hardcoded a fixed pair of test credentials into every client they built. LocalStack expects exactly those test values, so all 90 tests passed and every local run looked perfect. On real AWS, the same pair overrides the IAM role, and every call to DynamoDB, SQS or Lambda would fail authentication.</a:t>
            </a:r>
            <a:endParaRPr lang="en-US" sz="1350" dirty="0"/>
          </a:p>
        </p:txBody>
      </p:sp>
      <p:sp>
        <p:nvSpPr>
          <p:cNvPr id="6" name="Shape 4"/>
          <p:cNvSpPr/>
          <p:nvPr/>
        </p:nvSpPr>
        <p:spPr>
          <a:xfrm>
            <a:off x="6611112" y="1874520"/>
            <a:ext cx="4937760" cy="4160520"/>
          </a:xfrm>
          <a:prstGeom prst="roundRect">
            <a:avLst>
              <a:gd name="adj" fmla="val 2198"/>
            </a:avLst>
          </a:prstGeom>
          <a:solidFill>
            <a:srgbClr val="F4EFE4"/>
          </a:solidFill>
          <a:ln w="19050">
            <a:solidFill>
              <a:srgbClr val="7C5F2A"/>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7C5F2A"/>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31D13"/>
                </a:solidFill>
                <a:latin typeface="Calibri" pitchFamily="34" charset="0"/>
                <a:ea typeface="Calibri" pitchFamily="34" charset="-122"/>
                <a:cs typeface="Calibri" pitchFamily="34" charset="-120"/>
              </a:rPr>
              <a:t>Build static credentials only when a LocalStack endpoint is configured; otherwise fall through to the Lambda role or EC2 instance profile. All three constructors were audited side by side before deployment — so the bug never reached the live account, and four of four health checks were true on the very first live check.</a:t>
            </a:r>
            <a:endParaRPr lang="en-US" sz="1350" dirty="0"/>
          </a:p>
        </p:txBody>
      </p:sp>
      <p:sp>
        <p:nvSpPr>
          <p:cNvPr id="9" name="Shape 7"/>
          <p:cNvSpPr/>
          <p:nvPr/>
        </p:nvSpPr>
        <p:spPr>
          <a:xfrm>
            <a:off x="5669280" y="3703320"/>
            <a:ext cx="841248" cy="512064"/>
          </a:xfrm>
          <a:prstGeom prst="rightArrow">
            <a:avLst/>
          </a:prstGeom>
          <a:solidFill>
            <a:srgbClr val="5A4420"/>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2026-07-24T07:05:03Z</dcterms:created>
  <dcterms:modified xsi:type="dcterms:W3CDTF">2026-07-24T07:05:03Z</dcterms:modified>
</cp:coreProperties>
</file>