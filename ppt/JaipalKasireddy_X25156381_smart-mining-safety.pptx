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41E14"/>
        </a:solidFill>
      </p:bgPr>
    </p:bg>
    <p:spTree>
      <p:nvGrpSpPr>
        <p:cNvPr id="1" name=""/>
        <p:cNvGrpSpPr/>
        <p:nvPr/>
      </p:nvGrpSpPr>
      <p:grpSpPr>
        <a:xfrm>
          <a:off x="0" y="0"/>
          <a:ext cx="0" cy="0"/>
          <a:chOff x="0" y="0"/>
          <a:chExt cx="0" cy="0"/>
        </a:xfrm>
      </p:grpSpPr>
      <p:sp>
        <p:nvSpPr>
          <p:cNvPr id="2" name="Text 0"/>
          <p:cNvSpPr/>
          <p:nvPr/>
        </p:nvSpPr>
        <p:spPr>
          <a:xfrm>
            <a:off x="640080" y="914400"/>
            <a:ext cx="10972800" cy="1280160"/>
          </a:xfrm>
          <a:prstGeom prst="rect">
            <a:avLst/>
          </a:prstGeom>
          <a:noFill/>
          <a:ln/>
        </p:spPr>
        <p:txBody>
          <a:bodyPr wrap="square" rtlCol="0" anchor="t"/>
          <a:lstStyle/>
          <a:p>
            <a:pPr indent="0" marL="0">
              <a:buNone/>
            </a:pPr>
            <a:r>
              <a:rPr lang="en-US" sz="3800" b="1" dirty="0">
                <a:solidFill>
                  <a:srgbClr val="FFFFFF"/>
                </a:solidFill>
                <a:latin typeface="Times New Roman" pitchFamily="34" charset="0"/>
                <a:ea typeface="Times New Roman" pitchFamily="34" charset="-122"/>
                <a:cs typeface="Times New Roman" pitchFamily="34" charset="-120"/>
              </a:rPr>
              <a:t>Smart Mining Safety Monitoring</a:t>
            </a:r>
            <a:endParaRPr lang="en-US" sz="3800" dirty="0"/>
          </a:p>
        </p:txBody>
      </p:sp>
      <p:sp>
        <p:nvSpPr>
          <p:cNvPr id="3" name="Text 1"/>
          <p:cNvSpPr/>
          <p:nvPr/>
        </p:nvSpPr>
        <p:spPr>
          <a:xfrm>
            <a:off x="658368" y="2148840"/>
            <a:ext cx="10972800" cy="365760"/>
          </a:xfrm>
          <a:prstGeom prst="rect">
            <a:avLst/>
          </a:prstGeom>
          <a:noFill/>
          <a:ln/>
        </p:spPr>
        <p:txBody>
          <a:bodyPr wrap="square" rtlCol="0" anchor="ctr"/>
          <a:lstStyle/>
          <a:p>
            <a:pPr indent="0" marL="0">
              <a:buNone/>
            </a:pPr>
            <a:r>
              <a:rPr lang="en-US" sz="1600" dirty="0">
                <a:solidFill>
                  <a:srgbClr val="9A8248"/>
                </a:solidFill>
                <a:latin typeface="Calibri" pitchFamily="34" charset="0"/>
                <a:ea typeface="Calibri" pitchFamily="34" charset="-122"/>
                <a:cs typeface="Calibri" pitchFamily="34" charset="-120"/>
              </a:rPr>
              <a:t>Jaipal Kasireddy   ·   X25156381</a:t>
            </a:r>
            <a:endParaRPr lang="en-US" sz="1600" dirty="0"/>
          </a:p>
        </p:txBody>
      </p:sp>
      <p:sp>
        <p:nvSpPr>
          <p:cNvPr id="4" name="Text 2"/>
          <p:cNvSpPr/>
          <p:nvPr/>
        </p:nvSpPr>
        <p:spPr>
          <a:xfrm>
            <a:off x="658368" y="2697480"/>
            <a:ext cx="10424160" cy="1371600"/>
          </a:xfrm>
          <a:prstGeom prst="rect">
            <a:avLst/>
          </a:prstGeom>
          <a:noFill/>
          <a:ln/>
        </p:spPr>
        <p:txBody>
          <a:bodyPr wrap="square" rtlCol="0" anchor="ctr"/>
          <a:lstStyle/>
          <a:p>
            <a:pPr indent="0" marL="0">
              <a:lnSpc>
                <a:spcPct val="110000"/>
              </a:lnSpc>
              <a:buNone/>
            </a:pPr>
            <a:r>
              <a:rPr lang="en-US" sz="2000" dirty="0">
                <a:solidFill>
                  <a:srgbClr val="E5D8BC"/>
                </a:solidFill>
                <a:latin typeface="Calibri" pitchFamily="34" charset="0"/>
                <a:ea typeface="Calibri" pitchFamily="34" charset="-122"/>
                <a:cs typeface="Calibri" pitchFamily="34" charset="-120"/>
              </a:rPr>
              <a:t>Methane clears or lingers in under a minute, carbon monoxide displaces breathable air silently, and rockfall precursors last seconds — no inspection round is that fast underground.</a:t>
            </a:r>
            <a:endParaRPr lang="en-US" sz="2000" dirty="0"/>
          </a:p>
        </p:txBody>
      </p:sp>
      <p:sp>
        <p:nvSpPr>
          <p:cNvPr id="5" name="Shape 3"/>
          <p:cNvSpPr/>
          <p:nvPr/>
        </p:nvSpPr>
        <p:spPr>
          <a:xfrm>
            <a:off x="658368" y="4206240"/>
            <a:ext cx="2651760" cy="566928"/>
          </a:xfrm>
          <a:prstGeom prst="roundRect">
            <a:avLst>
              <a:gd name="adj" fmla="val 50000"/>
            </a:avLst>
          </a:prstGeom>
          <a:solidFill>
            <a:srgbClr val="2F2718"/>
          </a:solidFill>
          <a:ln w="12700">
            <a:solidFill>
              <a:srgbClr val="D9A62E"/>
            </a:solidFill>
            <a:prstDash val="solid"/>
          </a:ln>
        </p:spPr>
      </p:sp>
      <p:sp>
        <p:nvSpPr>
          <p:cNvPr id="6" name="Text 4"/>
          <p:cNvSpPr/>
          <p:nvPr/>
        </p:nvSpPr>
        <p:spPr>
          <a:xfrm>
            <a:off x="658368" y="4206240"/>
            <a:ext cx="2651760" cy="566928"/>
          </a:xfrm>
          <a:prstGeom prst="rect">
            <a:avLst/>
          </a:prstGeom>
          <a:noFill/>
          <a:ln/>
        </p:spPr>
        <p:txBody>
          <a:bodyPr wrap="square" lIns="0" tIns="0" rIns="0" bIns="0" rtlCol="0" anchor="ctr"/>
          <a:lstStyle/>
          <a:p>
            <a:pPr algn="ctr" indent="0" marL="0">
              <a:buNone/>
            </a:pPr>
            <a:r>
              <a:rPr lang="en-US" sz="1350" b="1" dirty="0">
                <a:solidFill>
                  <a:srgbClr val="D9A62E"/>
                </a:solidFill>
                <a:latin typeface="Calibri" pitchFamily="34" charset="0"/>
                <a:ea typeface="Calibri" pitchFamily="34" charset="-122"/>
                <a:cs typeface="Calibri" pitchFamily="34" charset="-120"/>
              </a:rPr>
              <a:t>Methane &gt; 1,000 ppm</a:t>
            </a:r>
            <a:endParaRPr lang="en-US" sz="1350" dirty="0"/>
          </a:p>
        </p:txBody>
      </p:sp>
      <p:sp>
        <p:nvSpPr>
          <p:cNvPr id="7" name="Shape 5"/>
          <p:cNvSpPr/>
          <p:nvPr/>
        </p:nvSpPr>
        <p:spPr>
          <a:xfrm>
            <a:off x="3538728" y="4206240"/>
            <a:ext cx="2651760" cy="566928"/>
          </a:xfrm>
          <a:prstGeom prst="roundRect">
            <a:avLst>
              <a:gd name="adj" fmla="val 50000"/>
            </a:avLst>
          </a:prstGeom>
          <a:solidFill>
            <a:srgbClr val="2F2718"/>
          </a:solidFill>
          <a:ln w="12700">
            <a:solidFill>
              <a:srgbClr val="D9A62E"/>
            </a:solidFill>
            <a:prstDash val="solid"/>
          </a:ln>
        </p:spPr>
      </p:sp>
      <p:sp>
        <p:nvSpPr>
          <p:cNvPr id="8" name="Text 6"/>
          <p:cNvSpPr/>
          <p:nvPr/>
        </p:nvSpPr>
        <p:spPr>
          <a:xfrm>
            <a:off x="3538728" y="4206240"/>
            <a:ext cx="2651760" cy="566928"/>
          </a:xfrm>
          <a:prstGeom prst="rect">
            <a:avLst/>
          </a:prstGeom>
          <a:noFill/>
          <a:ln/>
        </p:spPr>
        <p:txBody>
          <a:bodyPr wrap="square" lIns="0" tIns="0" rIns="0" bIns="0" rtlCol="0" anchor="ctr"/>
          <a:lstStyle/>
          <a:p>
            <a:pPr algn="ctr" indent="0" marL="0">
              <a:buNone/>
            </a:pPr>
            <a:r>
              <a:rPr lang="en-US" sz="1350" b="1" dirty="0">
                <a:solidFill>
                  <a:srgbClr val="D9A62E"/>
                </a:solidFill>
                <a:latin typeface="Calibri" pitchFamily="34" charset="0"/>
                <a:ea typeface="Calibri" pitchFamily="34" charset="-122"/>
                <a:cs typeface="Calibri" pitchFamily="34" charset="-120"/>
              </a:rPr>
              <a:t>CO &gt; 50 ppm</a:t>
            </a:r>
            <a:endParaRPr lang="en-US" sz="1350" dirty="0"/>
          </a:p>
        </p:txBody>
      </p:sp>
      <p:sp>
        <p:nvSpPr>
          <p:cNvPr id="9" name="Shape 7"/>
          <p:cNvSpPr/>
          <p:nvPr/>
        </p:nvSpPr>
        <p:spPr>
          <a:xfrm>
            <a:off x="6419088" y="4206240"/>
            <a:ext cx="2651760" cy="566928"/>
          </a:xfrm>
          <a:prstGeom prst="roundRect">
            <a:avLst>
              <a:gd name="adj" fmla="val 50000"/>
            </a:avLst>
          </a:prstGeom>
          <a:solidFill>
            <a:srgbClr val="2F2718"/>
          </a:solidFill>
          <a:ln w="12700">
            <a:solidFill>
              <a:srgbClr val="D9A62E"/>
            </a:solidFill>
            <a:prstDash val="solid"/>
          </a:ln>
        </p:spPr>
      </p:sp>
      <p:sp>
        <p:nvSpPr>
          <p:cNvPr id="10" name="Text 8"/>
          <p:cNvSpPr/>
          <p:nvPr/>
        </p:nvSpPr>
        <p:spPr>
          <a:xfrm>
            <a:off x="6419088" y="4206240"/>
            <a:ext cx="2651760" cy="566928"/>
          </a:xfrm>
          <a:prstGeom prst="rect">
            <a:avLst/>
          </a:prstGeom>
          <a:noFill/>
          <a:ln/>
        </p:spPr>
        <p:txBody>
          <a:bodyPr wrap="square" lIns="0" tIns="0" rIns="0" bIns="0" rtlCol="0" anchor="ctr"/>
          <a:lstStyle/>
          <a:p>
            <a:pPr algn="ctr" indent="0" marL="0">
              <a:buNone/>
            </a:pPr>
            <a:r>
              <a:rPr lang="en-US" sz="1350" b="1" dirty="0">
                <a:solidFill>
                  <a:srgbClr val="D9A62E"/>
                </a:solidFill>
                <a:latin typeface="Calibri" pitchFamily="34" charset="0"/>
                <a:ea typeface="Calibri" pitchFamily="34" charset="-122"/>
                <a:cs typeface="Calibri" pitchFamily="34" charset="-120"/>
              </a:rPr>
              <a:t>Vibration &gt; 25 mm/s</a:t>
            </a:r>
            <a:endParaRPr lang="en-US" sz="1350" dirty="0"/>
          </a:p>
        </p:txBody>
      </p:sp>
      <p:sp>
        <p:nvSpPr>
          <p:cNvPr id="11" name="Text 9"/>
          <p:cNvSpPr/>
          <p:nvPr/>
        </p:nvSpPr>
        <p:spPr>
          <a:xfrm>
            <a:off x="658368" y="6126480"/>
            <a:ext cx="10972800" cy="365760"/>
          </a:xfrm>
          <a:prstGeom prst="rect">
            <a:avLst/>
          </a:prstGeom>
          <a:noFill/>
          <a:ln/>
        </p:spPr>
        <p:txBody>
          <a:bodyPr wrap="square" rtlCol="0" anchor="ctr"/>
          <a:lstStyle/>
          <a:p>
            <a:pPr indent="0" marL="0">
              <a:buNone/>
            </a:pPr>
            <a:r>
              <a:rPr lang="en-US" sz="1300" dirty="0">
                <a:solidFill>
                  <a:srgbClr val="6E6248"/>
                </a:solidFill>
                <a:latin typeface="Calibri" pitchFamily="34" charset="0"/>
                <a:ea typeface="Calibri" pitchFamily="34" charset="-122"/>
                <a:cs typeface="Calibri" pitchFamily="34" charset="-120"/>
              </a:rPr>
              <a:t>Fog &amp; Edge Computing (H9FECC)   ·   deployed live on AWS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640080"/>
          </a:xfrm>
          <a:prstGeom prst="rect">
            <a:avLst/>
          </a:prstGeom>
          <a:noFill/>
          <a:ln/>
        </p:spPr>
        <p:txBody>
          <a:bodyPr wrap="square" rtlCol="0" anchor="ctr"/>
          <a:lstStyle/>
          <a:p>
            <a:pPr indent="0" marL="0">
              <a:buNone/>
            </a:pPr>
            <a:r>
              <a:rPr lang="en-US" sz="3000" b="1" dirty="0">
                <a:solidFill>
                  <a:srgbClr val="231D13"/>
                </a:solidFill>
                <a:latin typeface="Times New Roman" pitchFamily="34" charset="0"/>
                <a:ea typeface="Times New Roman" pitchFamily="34" charset="-122"/>
                <a:cs typeface="Times New Roman" pitchFamily="34" charset="-120"/>
              </a:rPr>
              <a:t>What I Built — Edge to Live Dashboard</a:t>
            </a:r>
            <a:endParaRPr lang="en-US" sz="3000" dirty="0"/>
          </a:p>
        </p:txBody>
      </p:sp>
      <p:sp>
        <p:nvSpPr>
          <p:cNvPr id="3" name="Shape 1"/>
          <p:cNvSpPr/>
          <p:nvPr/>
        </p:nvSpPr>
        <p:spPr>
          <a:xfrm>
            <a:off x="640080" y="2468880"/>
            <a:ext cx="1572768" cy="1371600"/>
          </a:xfrm>
          <a:prstGeom prst="roundRect">
            <a:avLst>
              <a:gd name="adj" fmla="val 6667"/>
            </a:avLst>
          </a:prstGeom>
          <a:solidFill>
            <a:srgbClr val="F4EFE4"/>
          </a:solidFill>
          <a:ln w="19050">
            <a:solidFill>
              <a:srgbClr val="9A8248"/>
            </a:solidFill>
            <a:prstDash val="solid"/>
          </a:ln>
        </p:spPr>
      </p:sp>
      <p:sp>
        <p:nvSpPr>
          <p:cNvPr id="4" name="Shape 2"/>
          <p:cNvSpPr/>
          <p:nvPr/>
        </p:nvSpPr>
        <p:spPr>
          <a:xfrm>
            <a:off x="1335024" y="2633472"/>
            <a:ext cx="182880" cy="182880"/>
          </a:xfrm>
          <a:prstGeom prst="ellipse">
            <a:avLst/>
          </a:prstGeom>
          <a:solidFill>
            <a:srgbClr val="9A8248"/>
          </a:solidFill>
          <a:ln/>
        </p:spPr>
      </p:sp>
      <p:sp>
        <p:nvSpPr>
          <p:cNvPr id="5" name="Text 3"/>
          <p:cNvSpPr/>
          <p:nvPr/>
        </p:nvSpPr>
        <p:spPr>
          <a:xfrm>
            <a:off x="612648" y="2852928"/>
            <a:ext cx="1627632" cy="365760"/>
          </a:xfrm>
          <a:prstGeom prst="rect">
            <a:avLst/>
          </a:prstGeom>
          <a:noFill/>
          <a:ln/>
        </p:spPr>
        <p:txBody>
          <a:bodyPr wrap="square" lIns="0" tIns="0" rIns="0" bIns="0" rtlCol="0" anchor="ctr"/>
          <a:lstStyle/>
          <a:p>
            <a:pPr algn="ctr" indent="0" marL="0">
              <a:buNone/>
            </a:pPr>
            <a:r>
              <a:rPr lang="en-US" sz="1450" b="1" dirty="0">
                <a:solidFill>
                  <a:srgbClr val="231D13"/>
                </a:solidFill>
                <a:latin typeface="Calibri" pitchFamily="34" charset="0"/>
                <a:ea typeface="Calibri" pitchFamily="34" charset="-122"/>
                <a:cs typeface="Calibri" pitchFamily="34" charset="-120"/>
              </a:rPr>
              <a:t>Shaft sensors</a:t>
            </a:r>
            <a:endParaRPr lang="en-US" sz="1450" dirty="0"/>
          </a:p>
        </p:txBody>
      </p:sp>
      <p:sp>
        <p:nvSpPr>
          <p:cNvPr id="6" name="Text 4"/>
          <p:cNvSpPr/>
          <p:nvPr/>
        </p:nvSpPr>
        <p:spPr>
          <a:xfrm>
            <a:off x="640080" y="3200400"/>
            <a:ext cx="1572768" cy="411480"/>
          </a:xfrm>
          <a:prstGeom prst="rect">
            <a:avLst/>
          </a:prstGeom>
          <a:noFill/>
          <a:ln/>
        </p:spPr>
        <p:txBody>
          <a:bodyPr wrap="square" lIns="0" tIns="0" rIns="0" bIns="0" rtlCol="0" anchor="t"/>
          <a:lstStyle/>
          <a:p>
            <a:pPr algn="ctr" indent="0" marL="0">
              <a:buNone/>
            </a:pPr>
            <a:r>
              <a:rPr lang="en-US" sz="1050" dirty="0">
                <a:solidFill>
                  <a:srgbClr val="6E6248"/>
                </a:solidFill>
                <a:latin typeface="Calibri" pitchFamily="34" charset="0"/>
                <a:ea typeface="Calibri" pitchFamily="34" charset="-122"/>
                <a:cs typeface="Calibri" pitchFamily="34" charset="-120"/>
              </a:rPr>
              <a:t>10 · 2 shafts · 5 hazards</a:t>
            </a:r>
            <a:endParaRPr lang="en-US" sz="1050" dirty="0"/>
          </a:p>
        </p:txBody>
      </p:sp>
      <p:sp>
        <p:nvSpPr>
          <p:cNvPr id="7" name="Shape 5"/>
          <p:cNvSpPr/>
          <p:nvPr/>
        </p:nvSpPr>
        <p:spPr>
          <a:xfrm>
            <a:off x="2231136" y="3154680"/>
            <a:ext cx="258409" cy="0"/>
          </a:xfrm>
          <a:prstGeom prst="line">
            <a:avLst/>
          </a:prstGeom>
          <a:noFill/>
          <a:ln w="25400">
            <a:solidFill>
              <a:srgbClr val="9A8248"/>
            </a:solidFill>
            <a:prstDash val="solid"/>
            <a:tailEnd type="triangle"/>
          </a:ln>
        </p:spPr>
      </p:sp>
      <p:sp>
        <p:nvSpPr>
          <p:cNvPr id="8" name="Shape 6"/>
          <p:cNvSpPr/>
          <p:nvPr/>
        </p:nvSpPr>
        <p:spPr>
          <a:xfrm>
            <a:off x="2507833" y="2468880"/>
            <a:ext cx="1572768" cy="1371600"/>
          </a:xfrm>
          <a:prstGeom prst="roundRect">
            <a:avLst>
              <a:gd name="adj" fmla="val 6667"/>
            </a:avLst>
          </a:prstGeom>
          <a:solidFill>
            <a:srgbClr val="F4EFE4"/>
          </a:solidFill>
          <a:ln w="19050">
            <a:solidFill>
              <a:srgbClr val="9A8248"/>
            </a:solidFill>
            <a:prstDash val="solid"/>
          </a:ln>
        </p:spPr>
      </p:sp>
      <p:sp>
        <p:nvSpPr>
          <p:cNvPr id="9" name="Shape 7"/>
          <p:cNvSpPr/>
          <p:nvPr/>
        </p:nvSpPr>
        <p:spPr>
          <a:xfrm>
            <a:off x="3202777" y="2633472"/>
            <a:ext cx="182880" cy="182880"/>
          </a:xfrm>
          <a:prstGeom prst="ellipse">
            <a:avLst/>
          </a:prstGeom>
          <a:solidFill>
            <a:srgbClr val="9A8248"/>
          </a:solidFill>
          <a:ln/>
        </p:spPr>
      </p:sp>
      <p:sp>
        <p:nvSpPr>
          <p:cNvPr id="10" name="Text 8"/>
          <p:cNvSpPr/>
          <p:nvPr/>
        </p:nvSpPr>
        <p:spPr>
          <a:xfrm>
            <a:off x="2480401" y="2852928"/>
            <a:ext cx="1627632" cy="365760"/>
          </a:xfrm>
          <a:prstGeom prst="rect">
            <a:avLst/>
          </a:prstGeom>
          <a:noFill/>
          <a:ln/>
        </p:spPr>
        <p:txBody>
          <a:bodyPr wrap="square" lIns="0" tIns="0" rIns="0" bIns="0" rtlCol="0" anchor="ctr"/>
          <a:lstStyle/>
          <a:p>
            <a:pPr algn="ctr" indent="0" marL="0">
              <a:buNone/>
            </a:pPr>
            <a:r>
              <a:rPr lang="en-US" sz="1450" b="1" dirty="0">
                <a:solidFill>
                  <a:srgbClr val="231D13"/>
                </a:solidFill>
                <a:latin typeface="Calibri" pitchFamily="34" charset="0"/>
                <a:ea typeface="Calibri" pitchFamily="34" charset="-122"/>
                <a:cs typeface="Calibri" pitchFamily="34" charset="-120"/>
              </a:rPr>
              <a:t>Fog node</a:t>
            </a:r>
            <a:endParaRPr lang="en-US" sz="1450" dirty="0"/>
          </a:p>
        </p:txBody>
      </p:sp>
      <p:sp>
        <p:nvSpPr>
          <p:cNvPr id="11" name="Text 9"/>
          <p:cNvSpPr/>
          <p:nvPr/>
        </p:nvSpPr>
        <p:spPr>
          <a:xfrm>
            <a:off x="2507833" y="3200400"/>
            <a:ext cx="1572768" cy="411480"/>
          </a:xfrm>
          <a:prstGeom prst="rect">
            <a:avLst/>
          </a:prstGeom>
          <a:noFill/>
          <a:ln/>
        </p:spPr>
        <p:txBody>
          <a:bodyPr wrap="square" lIns="0" tIns="0" rIns="0" bIns="0" rtlCol="0" anchor="t"/>
          <a:lstStyle/>
          <a:p>
            <a:pPr algn="ctr" indent="0" marL="0">
              <a:buNone/>
            </a:pPr>
            <a:r>
              <a:rPr lang="en-US" sz="1050" dirty="0">
                <a:solidFill>
                  <a:srgbClr val="6E6248"/>
                </a:solidFill>
                <a:latin typeface="Calibri" pitchFamily="34" charset="0"/>
                <a:ea typeface="Calibri" pitchFamily="34" charset="-122"/>
                <a:cs typeface="Calibri" pitchFamily="34" charset="-120"/>
              </a:rPr>
              <a:t>windows · thresholds</a:t>
            </a:r>
            <a:endParaRPr lang="en-US" sz="1050" dirty="0"/>
          </a:p>
        </p:txBody>
      </p:sp>
      <p:sp>
        <p:nvSpPr>
          <p:cNvPr id="12" name="Shape 10"/>
          <p:cNvSpPr/>
          <p:nvPr/>
        </p:nvSpPr>
        <p:spPr>
          <a:xfrm>
            <a:off x="4098889" y="3154680"/>
            <a:ext cx="258409" cy="0"/>
          </a:xfrm>
          <a:prstGeom prst="line">
            <a:avLst/>
          </a:prstGeom>
          <a:noFill/>
          <a:ln w="25400">
            <a:solidFill>
              <a:srgbClr val="9A8248"/>
            </a:solidFill>
            <a:prstDash val="solid"/>
            <a:tailEnd type="triangle"/>
          </a:ln>
        </p:spPr>
      </p:sp>
      <p:sp>
        <p:nvSpPr>
          <p:cNvPr id="13" name="Shape 11"/>
          <p:cNvSpPr/>
          <p:nvPr/>
        </p:nvSpPr>
        <p:spPr>
          <a:xfrm>
            <a:off x="4375587" y="2468880"/>
            <a:ext cx="1572768" cy="1371600"/>
          </a:xfrm>
          <a:prstGeom prst="roundRect">
            <a:avLst>
              <a:gd name="adj" fmla="val 6667"/>
            </a:avLst>
          </a:prstGeom>
          <a:solidFill>
            <a:srgbClr val="F4EFE4"/>
          </a:solidFill>
          <a:ln w="19050">
            <a:solidFill>
              <a:srgbClr val="5A4420"/>
            </a:solidFill>
            <a:prstDash val="solid"/>
          </a:ln>
        </p:spPr>
      </p:sp>
      <p:sp>
        <p:nvSpPr>
          <p:cNvPr id="14" name="Shape 12"/>
          <p:cNvSpPr/>
          <p:nvPr/>
        </p:nvSpPr>
        <p:spPr>
          <a:xfrm>
            <a:off x="5070531" y="2633472"/>
            <a:ext cx="182880" cy="182880"/>
          </a:xfrm>
          <a:prstGeom prst="ellipse">
            <a:avLst/>
          </a:prstGeom>
          <a:solidFill>
            <a:srgbClr val="5A4420"/>
          </a:solidFill>
          <a:ln/>
        </p:spPr>
      </p:sp>
      <p:sp>
        <p:nvSpPr>
          <p:cNvPr id="15" name="Text 13"/>
          <p:cNvSpPr/>
          <p:nvPr/>
        </p:nvSpPr>
        <p:spPr>
          <a:xfrm>
            <a:off x="4348155" y="2852928"/>
            <a:ext cx="1627632" cy="365760"/>
          </a:xfrm>
          <a:prstGeom prst="rect">
            <a:avLst/>
          </a:prstGeom>
          <a:noFill/>
          <a:ln/>
        </p:spPr>
        <p:txBody>
          <a:bodyPr wrap="square" lIns="0" tIns="0" rIns="0" bIns="0" rtlCol="0" anchor="ctr"/>
          <a:lstStyle/>
          <a:p>
            <a:pPr algn="ctr" indent="0" marL="0">
              <a:buNone/>
            </a:pPr>
            <a:r>
              <a:rPr lang="en-US" sz="1450" b="1" dirty="0">
                <a:solidFill>
                  <a:srgbClr val="231D13"/>
                </a:solidFill>
                <a:latin typeface="Calibri" pitchFamily="34" charset="0"/>
                <a:ea typeface="Calibri" pitchFamily="34" charset="-122"/>
                <a:cs typeface="Calibri" pitchFamily="34" charset="-120"/>
              </a:rPr>
              <a:t>Amazon SQS</a:t>
            </a:r>
            <a:endParaRPr lang="en-US" sz="1450" dirty="0"/>
          </a:p>
        </p:txBody>
      </p:sp>
      <p:sp>
        <p:nvSpPr>
          <p:cNvPr id="16" name="Text 14"/>
          <p:cNvSpPr/>
          <p:nvPr/>
        </p:nvSpPr>
        <p:spPr>
          <a:xfrm>
            <a:off x="4375587" y="3200400"/>
            <a:ext cx="1572768" cy="411480"/>
          </a:xfrm>
          <a:prstGeom prst="rect">
            <a:avLst/>
          </a:prstGeom>
          <a:noFill/>
          <a:ln/>
        </p:spPr>
        <p:txBody>
          <a:bodyPr wrap="square" lIns="0" tIns="0" rIns="0" bIns="0" rtlCol="0" anchor="t"/>
          <a:lstStyle/>
          <a:p>
            <a:pPr algn="ctr" indent="0" marL="0">
              <a:buNone/>
            </a:pPr>
            <a:r>
              <a:rPr lang="en-US" sz="1050" dirty="0">
                <a:solidFill>
                  <a:srgbClr val="6E6248"/>
                </a:solidFill>
                <a:latin typeface="Calibri" pitchFamily="34" charset="0"/>
                <a:ea typeface="Calibri" pitchFamily="34" charset="-122"/>
                <a:cs typeface="Calibri" pitchFamily="34" charset="-120"/>
              </a:rPr>
              <a:t>batches ≤10</a:t>
            </a:r>
            <a:endParaRPr lang="en-US" sz="1050" dirty="0"/>
          </a:p>
        </p:txBody>
      </p:sp>
      <p:sp>
        <p:nvSpPr>
          <p:cNvPr id="17" name="Shape 15"/>
          <p:cNvSpPr/>
          <p:nvPr/>
        </p:nvSpPr>
        <p:spPr>
          <a:xfrm>
            <a:off x="5966643" y="3154680"/>
            <a:ext cx="258409" cy="0"/>
          </a:xfrm>
          <a:prstGeom prst="line">
            <a:avLst/>
          </a:prstGeom>
          <a:noFill/>
          <a:ln w="25400">
            <a:solidFill>
              <a:srgbClr val="9A8248"/>
            </a:solidFill>
            <a:prstDash val="solid"/>
            <a:tailEnd type="triangle"/>
          </a:ln>
        </p:spPr>
      </p:sp>
      <p:sp>
        <p:nvSpPr>
          <p:cNvPr id="18" name="Shape 16"/>
          <p:cNvSpPr/>
          <p:nvPr/>
        </p:nvSpPr>
        <p:spPr>
          <a:xfrm>
            <a:off x="6243340" y="2468880"/>
            <a:ext cx="1572768" cy="1371600"/>
          </a:xfrm>
          <a:prstGeom prst="roundRect">
            <a:avLst>
              <a:gd name="adj" fmla="val 6667"/>
            </a:avLst>
          </a:prstGeom>
          <a:solidFill>
            <a:srgbClr val="F4EFE4"/>
          </a:solidFill>
          <a:ln w="19050">
            <a:solidFill>
              <a:srgbClr val="5A4420"/>
            </a:solidFill>
            <a:prstDash val="solid"/>
          </a:ln>
        </p:spPr>
      </p:sp>
      <p:sp>
        <p:nvSpPr>
          <p:cNvPr id="19" name="Shape 17"/>
          <p:cNvSpPr/>
          <p:nvPr/>
        </p:nvSpPr>
        <p:spPr>
          <a:xfrm>
            <a:off x="6938284" y="2633472"/>
            <a:ext cx="182880" cy="182880"/>
          </a:xfrm>
          <a:prstGeom prst="ellipse">
            <a:avLst/>
          </a:prstGeom>
          <a:solidFill>
            <a:srgbClr val="5A4420"/>
          </a:solidFill>
          <a:ln/>
        </p:spPr>
      </p:sp>
      <p:sp>
        <p:nvSpPr>
          <p:cNvPr id="20" name="Text 18"/>
          <p:cNvSpPr/>
          <p:nvPr/>
        </p:nvSpPr>
        <p:spPr>
          <a:xfrm>
            <a:off x="6215908" y="2852928"/>
            <a:ext cx="1627632" cy="365760"/>
          </a:xfrm>
          <a:prstGeom prst="rect">
            <a:avLst/>
          </a:prstGeom>
          <a:noFill/>
          <a:ln/>
        </p:spPr>
        <p:txBody>
          <a:bodyPr wrap="square" lIns="0" tIns="0" rIns="0" bIns="0" rtlCol="0" anchor="ctr"/>
          <a:lstStyle/>
          <a:p>
            <a:pPr algn="ctr" indent="0" marL="0">
              <a:buNone/>
            </a:pPr>
            <a:r>
              <a:rPr lang="en-US" sz="1450" b="1" dirty="0">
                <a:solidFill>
                  <a:srgbClr val="231D13"/>
                </a:solidFill>
                <a:latin typeface="Calibri" pitchFamily="34" charset="0"/>
                <a:ea typeface="Calibri" pitchFamily="34" charset="-122"/>
                <a:cs typeface="Calibri" pitchFamily="34" charset="-120"/>
              </a:rPr>
              <a:t>AWS Lambda</a:t>
            </a:r>
            <a:endParaRPr lang="en-US" sz="1450" dirty="0"/>
          </a:p>
        </p:txBody>
      </p:sp>
      <p:sp>
        <p:nvSpPr>
          <p:cNvPr id="21" name="Text 19"/>
          <p:cNvSpPr/>
          <p:nvPr/>
        </p:nvSpPr>
        <p:spPr>
          <a:xfrm>
            <a:off x="6243340" y="3200400"/>
            <a:ext cx="1572768" cy="411480"/>
          </a:xfrm>
          <a:prstGeom prst="rect">
            <a:avLst/>
          </a:prstGeom>
          <a:noFill/>
          <a:ln/>
        </p:spPr>
        <p:txBody>
          <a:bodyPr wrap="square" lIns="0" tIns="0" rIns="0" bIns="0" rtlCol="0" anchor="t"/>
          <a:lstStyle/>
          <a:p>
            <a:pPr algn="ctr" indent="0" marL="0">
              <a:buNone/>
            </a:pPr>
            <a:r>
              <a:rPr lang="en-US" sz="1050" dirty="0">
                <a:solidFill>
                  <a:srgbClr val="6E6248"/>
                </a:solidFill>
                <a:latin typeface="Calibri" pitchFamily="34" charset="0"/>
                <a:ea typeface="Calibri" pitchFamily="34" charset="-122"/>
                <a:cs typeface="Calibri" pitchFamily="34" charset="-120"/>
              </a:rPr>
              <a:t>java17 ingest</a:t>
            </a:r>
            <a:endParaRPr lang="en-US" sz="1050" dirty="0"/>
          </a:p>
        </p:txBody>
      </p:sp>
      <p:sp>
        <p:nvSpPr>
          <p:cNvPr id="22" name="Shape 20"/>
          <p:cNvSpPr/>
          <p:nvPr/>
        </p:nvSpPr>
        <p:spPr>
          <a:xfrm>
            <a:off x="7834396" y="3154680"/>
            <a:ext cx="258409" cy="0"/>
          </a:xfrm>
          <a:prstGeom prst="line">
            <a:avLst/>
          </a:prstGeom>
          <a:noFill/>
          <a:ln w="25400">
            <a:solidFill>
              <a:srgbClr val="9A8248"/>
            </a:solidFill>
            <a:prstDash val="solid"/>
            <a:tailEnd type="triangle"/>
          </a:ln>
        </p:spPr>
      </p:sp>
      <p:sp>
        <p:nvSpPr>
          <p:cNvPr id="23" name="Shape 21"/>
          <p:cNvSpPr/>
          <p:nvPr/>
        </p:nvSpPr>
        <p:spPr>
          <a:xfrm>
            <a:off x="8111094" y="2468880"/>
            <a:ext cx="1572768" cy="1371600"/>
          </a:xfrm>
          <a:prstGeom prst="roundRect">
            <a:avLst>
              <a:gd name="adj" fmla="val 6667"/>
            </a:avLst>
          </a:prstGeom>
          <a:solidFill>
            <a:srgbClr val="F4EFE4"/>
          </a:solidFill>
          <a:ln w="19050">
            <a:solidFill>
              <a:srgbClr val="5A4420"/>
            </a:solidFill>
            <a:prstDash val="solid"/>
          </a:ln>
        </p:spPr>
      </p:sp>
      <p:sp>
        <p:nvSpPr>
          <p:cNvPr id="24" name="Shape 22"/>
          <p:cNvSpPr/>
          <p:nvPr/>
        </p:nvSpPr>
        <p:spPr>
          <a:xfrm>
            <a:off x="8806038" y="2633472"/>
            <a:ext cx="182880" cy="182880"/>
          </a:xfrm>
          <a:prstGeom prst="ellipse">
            <a:avLst/>
          </a:prstGeom>
          <a:solidFill>
            <a:srgbClr val="5A4420"/>
          </a:solidFill>
          <a:ln/>
        </p:spPr>
      </p:sp>
      <p:sp>
        <p:nvSpPr>
          <p:cNvPr id="25" name="Text 23"/>
          <p:cNvSpPr/>
          <p:nvPr/>
        </p:nvSpPr>
        <p:spPr>
          <a:xfrm>
            <a:off x="8083662" y="2852928"/>
            <a:ext cx="1627632" cy="365760"/>
          </a:xfrm>
          <a:prstGeom prst="rect">
            <a:avLst/>
          </a:prstGeom>
          <a:noFill/>
          <a:ln/>
        </p:spPr>
        <p:txBody>
          <a:bodyPr wrap="square" lIns="0" tIns="0" rIns="0" bIns="0" rtlCol="0" anchor="ctr"/>
          <a:lstStyle/>
          <a:p>
            <a:pPr algn="ctr" indent="0" marL="0">
              <a:buNone/>
            </a:pPr>
            <a:r>
              <a:rPr lang="en-US" sz="1450" b="1" dirty="0">
                <a:solidFill>
                  <a:srgbClr val="231D13"/>
                </a:solidFill>
                <a:latin typeface="Calibri" pitchFamily="34" charset="0"/>
                <a:ea typeface="Calibri" pitchFamily="34" charset="-122"/>
                <a:cs typeface="Calibri" pitchFamily="34" charset="-120"/>
              </a:rPr>
              <a:t>DynamoDB</a:t>
            </a:r>
            <a:endParaRPr lang="en-US" sz="1450" dirty="0"/>
          </a:p>
        </p:txBody>
      </p:sp>
      <p:sp>
        <p:nvSpPr>
          <p:cNvPr id="26" name="Text 24"/>
          <p:cNvSpPr/>
          <p:nvPr/>
        </p:nvSpPr>
        <p:spPr>
          <a:xfrm>
            <a:off x="8111094" y="3200400"/>
            <a:ext cx="1572768" cy="411480"/>
          </a:xfrm>
          <a:prstGeom prst="rect">
            <a:avLst/>
          </a:prstGeom>
          <a:noFill/>
          <a:ln/>
        </p:spPr>
        <p:txBody>
          <a:bodyPr wrap="square" lIns="0" tIns="0" rIns="0" bIns="0" rtlCol="0" anchor="t"/>
          <a:lstStyle/>
          <a:p>
            <a:pPr algn="ctr" indent="0" marL="0">
              <a:buNone/>
            </a:pPr>
            <a:r>
              <a:rPr lang="en-US" sz="1050" dirty="0">
                <a:solidFill>
                  <a:srgbClr val="6E6248"/>
                </a:solidFill>
                <a:latin typeface="Calibri" pitchFamily="34" charset="0"/>
                <a:ea typeface="Calibri" pitchFamily="34" charset="-122"/>
                <a:cs typeface="Calibri" pitchFamily="34" charset="-120"/>
              </a:rPr>
              <a:t>by type · shaft</a:t>
            </a:r>
            <a:endParaRPr lang="en-US" sz="1050" dirty="0"/>
          </a:p>
        </p:txBody>
      </p:sp>
      <p:sp>
        <p:nvSpPr>
          <p:cNvPr id="27" name="Shape 25"/>
          <p:cNvSpPr/>
          <p:nvPr/>
        </p:nvSpPr>
        <p:spPr>
          <a:xfrm>
            <a:off x="9702150" y="3154680"/>
            <a:ext cx="258409" cy="0"/>
          </a:xfrm>
          <a:prstGeom prst="line">
            <a:avLst/>
          </a:prstGeom>
          <a:noFill/>
          <a:ln w="25400">
            <a:solidFill>
              <a:srgbClr val="9A8248"/>
            </a:solidFill>
            <a:prstDash val="solid"/>
            <a:tailEnd type="triangle"/>
          </a:ln>
        </p:spPr>
      </p:sp>
      <p:sp>
        <p:nvSpPr>
          <p:cNvPr id="28" name="Shape 26"/>
          <p:cNvSpPr/>
          <p:nvPr/>
        </p:nvSpPr>
        <p:spPr>
          <a:xfrm>
            <a:off x="9978847" y="2468880"/>
            <a:ext cx="1572768" cy="1371600"/>
          </a:xfrm>
          <a:prstGeom prst="roundRect">
            <a:avLst>
              <a:gd name="adj" fmla="val 6667"/>
            </a:avLst>
          </a:prstGeom>
          <a:solidFill>
            <a:srgbClr val="F4EFE4"/>
          </a:solidFill>
          <a:ln w="19050">
            <a:solidFill>
              <a:srgbClr val="7C5F2A"/>
            </a:solidFill>
            <a:prstDash val="solid"/>
          </a:ln>
        </p:spPr>
      </p:sp>
      <p:sp>
        <p:nvSpPr>
          <p:cNvPr id="29" name="Shape 27"/>
          <p:cNvSpPr/>
          <p:nvPr/>
        </p:nvSpPr>
        <p:spPr>
          <a:xfrm>
            <a:off x="10673791" y="2633472"/>
            <a:ext cx="182880" cy="182880"/>
          </a:xfrm>
          <a:prstGeom prst="ellipse">
            <a:avLst/>
          </a:prstGeom>
          <a:solidFill>
            <a:srgbClr val="7C5F2A"/>
          </a:solidFill>
          <a:ln/>
        </p:spPr>
      </p:sp>
      <p:sp>
        <p:nvSpPr>
          <p:cNvPr id="30" name="Text 28"/>
          <p:cNvSpPr/>
          <p:nvPr/>
        </p:nvSpPr>
        <p:spPr>
          <a:xfrm>
            <a:off x="9951415" y="2852928"/>
            <a:ext cx="1627632" cy="365760"/>
          </a:xfrm>
          <a:prstGeom prst="rect">
            <a:avLst/>
          </a:prstGeom>
          <a:noFill/>
          <a:ln/>
        </p:spPr>
        <p:txBody>
          <a:bodyPr wrap="square" lIns="0" tIns="0" rIns="0" bIns="0" rtlCol="0" anchor="ctr"/>
          <a:lstStyle/>
          <a:p>
            <a:pPr algn="ctr" indent="0" marL="0">
              <a:buNone/>
            </a:pPr>
            <a:r>
              <a:rPr lang="en-US" sz="1450" b="1" dirty="0">
                <a:solidFill>
                  <a:srgbClr val="231D13"/>
                </a:solidFill>
                <a:latin typeface="Calibri" pitchFamily="34" charset="0"/>
                <a:ea typeface="Calibri" pitchFamily="34" charset="-122"/>
                <a:cs typeface="Calibri" pitchFamily="34" charset="-120"/>
              </a:rPr>
              <a:t>API GW + S3</a:t>
            </a:r>
            <a:endParaRPr lang="en-US" sz="1450" dirty="0"/>
          </a:p>
        </p:txBody>
      </p:sp>
      <p:sp>
        <p:nvSpPr>
          <p:cNvPr id="31" name="Text 29"/>
          <p:cNvSpPr/>
          <p:nvPr/>
        </p:nvSpPr>
        <p:spPr>
          <a:xfrm>
            <a:off x="9978847" y="3200400"/>
            <a:ext cx="1572768" cy="411480"/>
          </a:xfrm>
          <a:prstGeom prst="rect">
            <a:avLst/>
          </a:prstGeom>
          <a:noFill/>
          <a:ln/>
        </p:spPr>
        <p:txBody>
          <a:bodyPr wrap="square" lIns="0" tIns="0" rIns="0" bIns="0" rtlCol="0" anchor="t"/>
          <a:lstStyle/>
          <a:p>
            <a:pPr algn="ctr" indent="0" marL="0">
              <a:buNone/>
            </a:pPr>
            <a:r>
              <a:rPr lang="en-US" sz="1050" dirty="0">
                <a:solidFill>
                  <a:srgbClr val="6E6248"/>
                </a:solidFill>
                <a:latin typeface="Calibri" pitchFamily="34" charset="0"/>
                <a:ea typeface="Calibri" pitchFamily="34" charset="-122"/>
                <a:cs typeface="Calibri" pitchFamily="34" charset="-120"/>
              </a:rPr>
              <a:t>SAFE/CAUTION/DANGER</a:t>
            </a:r>
            <a:endParaRPr lang="en-US" sz="1050" dirty="0"/>
          </a:p>
        </p:txBody>
      </p:sp>
      <p:sp>
        <p:nvSpPr>
          <p:cNvPr id="32" name="Text 30"/>
          <p:cNvSpPr/>
          <p:nvPr/>
        </p:nvSpPr>
        <p:spPr>
          <a:xfrm>
            <a:off x="640080" y="3977640"/>
            <a:ext cx="3440521" cy="274320"/>
          </a:xfrm>
          <a:prstGeom prst="rect">
            <a:avLst/>
          </a:prstGeom>
          <a:noFill/>
          <a:ln/>
        </p:spPr>
        <p:txBody>
          <a:bodyPr wrap="square" rtlCol="0" anchor="ctr"/>
          <a:lstStyle/>
          <a:p>
            <a:pPr algn="ctr" indent="0" marL="0">
              <a:buNone/>
            </a:pPr>
            <a:r>
              <a:rPr lang="en-US" sz="1100" b="1" spc="200" kern="0" dirty="0">
                <a:solidFill>
                  <a:srgbClr val="9A8248"/>
                </a:solidFill>
                <a:latin typeface="Calibri" pitchFamily="34" charset="0"/>
                <a:ea typeface="Calibri" pitchFamily="34" charset="-122"/>
                <a:cs typeface="Calibri" pitchFamily="34" charset="-120"/>
              </a:rPr>
              <a:t>EDGE</a:t>
            </a:r>
            <a:endParaRPr lang="en-US" sz="1100" dirty="0"/>
          </a:p>
        </p:txBody>
      </p:sp>
      <p:sp>
        <p:nvSpPr>
          <p:cNvPr id="33" name="Text 31"/>
          <p:cNvSpPr/>
          <p:nvPr/>
        </p:nvSpPr>
        <p:spPr>
          <a:xfrm>
            <a:off x="4375587" y="3977640"/>
            <a:ext cx="7176028" cy="274320"/>
          </a:xfrm>
          <a:prstGeom prst="rect">
            <a:avLst/>
          </a:prstGeom>
          <a:noFill/>
          <a:ln/>
        </p:spPr>
        <p:txBody>
          <a:bodyPr wrap="square" rtlCol="0" anchor="ctr"/>
          <a:lstStyle/>
          <a:p>
            <a:pPr algn="ctr" indent="0" marL="0">
              <a:buNone/>
            </a:pPr>
            <a:r>
              <a:rPr lang="en-US" sz="1100" b="1" spc="200" kern="0" dirty="0">
                <a:solidFill>
                  <a:srgbClr val="5A4420"/>
                </a:solidFill>
                <a:latin typeface="Calibri" pitchFamily="34" charset="0"/>
                <a:ea typeface="Calibri" pitchFamily="34" charset="-122"/>
                <a:cs typeface="Calibri" pitchFamily="34" charset="-120"/>
              </a:rPr>
              <a:t>CLOUD</a:t>
            </a:r>
            <a:endParaRPr lang="en-US" sz="1100" dirty="0"/>
          </a:p>
        </p:txBody>
      </p:sp>
      <p:sp>
        <p:nvSpPr>
          <p:cNvPr id="34" name="Text 32"/>
          <p:cNvSpPr/>
          <p:nvPr/>
        </p:nvSpPr>
        <p:spPr>
          <a:xfrm>
            <a:off x="640080" y="5257800"/>
            <a:ext cx="10972800" cy="731520"/>
          </a:xfrm>
          <a:prstGeom prst="rect">
            <a:avLst/>
          </a:prstGeom>
          <a:noFill/>
          <a:ln/>
        </p:spPr>
        <p:txBody>
          <a:bodyPr wrap="square" rtlCol="0" anchor="ctr"/>
          <a:lstStyle/>
          <a:p>
            <a:pPr algn="ctr" indent="0" marL="0">
              <a:buNone/>
            </a:pPr>
            <a:r>
              <a:rPr lang="en-US" sz="1500" i="1" dirty="0">
                <a:solidFill>
                  <a:srgbClr val="5A4420"/>
                </a:solidFill>
                <a:latin typeface="Calibri" pitchFamily="34" charset="0"/>
                <a:ea typeface="Calibri" pitchFamily="34" charset="-122"/>
                <a:cs typeface="Calibri" pitchFamily="34" charset="-120"/>
              </a:rPr>
              <a:t>Every sensor window is checked against the hard limits at the fog node itself; alerts fire in the same process that measured them.</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640080"/>
          </a:xfrm>
          <a:prstGeom prst="rect">
            <a:avLst/>
          </a:prstGeom>
          <a:noFill/>
          <a:ln/>
        </p:spPr>
        <p:txBody>
          <a:bodyPr wrap="square" rtlCol="0" anchor="ctr"/>
          <a:lstStyle/>
          <a:p>
            <a:pPr indent="0" marL="0">
              <a:buNone/>
            </a:pPr>
            <a:r>
              <a:rPr lang="en-US" sz="3000" b="1" dirty="0">
                <a:solidFill>
                  <a:srgbClr val="231D13"/>
                </a:solidFill>
                <a:latin typeface="Times New Roman" pitchFamily="34" charset="0"/>
                <a:ea typeface="Times New Roman" pitchFamily="34" charset="-122"/>
                <a:cs typeface="Times New Roman" pitchFamily="34" charset="-120"/>
              </a:rPr>
              <a:t>Live Demo</a:t>
            </a:r>
            <a:endParaRPr lang="en-US" sz="3000" dirty="0"/>
          </a:p>
        </p:txBody>
      </p:sp>
      <p:sp>
        <p:nvSpPr>
          <p:cNvPr id="3" name="Text 1"/>
          <p:cNvSpPr/>
          <p:nvPr/>
        </p:nvSpPr>
        <p:spPr>
          <a:xfrm>
            <a:off x="658368" y="1143000"/>
            <a:ext cx="10972800" cy="365760"/>
          </a:xfrm>
          <a:prstGeom prst="rect">
            <a:avLst/>
          </a:prstGeom>
          <a:noFill/>
          <a:ln/>
        </p:spPr>
        <p:txBody>
          <a:bodyPr wrap="square" rtlCol="0" anchor="ctr"/>
          <a:lstStyle/>
          <a:p>
            <a:pPr indent="0" marL="0">
              <a:buNone/>
            </a:pPr>
            <a:r>
              <a:rPr lang="en-US" sz="1400" dirty="0">
                <a:solidFill>
                  <a:srgbClr val="7C5F2A"/>
                </a:solidFill>
                <a:latin typeface="Consolas" pitchFamily="34" charset="0"/>
                <a:ea typeface="Consolas" pitchFamily="34" charset="-122"/>
                <a:cs typeface="Consolas" pitchFamily="34" charset="-120"/>
              </a:rPr>
              <a:t>msm-frontend-639210843493.s3.us-east-1.amazonaws.com</a:t>
            </a:r>
            <a:endParaRPr lang="en-US" sz="1400" dirty="0"/>
          </a:p>
        </p:txBody>
      </p:sp>
      <p:sp>
        <p:nvSpPr>
          <p:cNvPr id="4" name="Text 2"/>
          <p:cNvSpPr/>
          <p:nvPr/>
        </p:nvSpPr>
        <p:spPr>
          <a:xfrm>
            <a:off x="640080" y="1737360"/>
            <a:ext cx="1097280" cy="1097280"/>
          </a:xfrm>
          <a:prstGeom prst="rect">
            <a:avLst/>
          </a:prstGeom>
          <a:noFill/>
          <a:ln/>
        </p:spPr>
        <p:txBody>
          <a:bodyPr wrap="square" lIns="0" tIns="0" rIns="0" bIns="0" rtlCol="0" anchor="ctr"/>
          <a:lstStyle/>
          <a:p>
            <a:pPr indent="0" marL="0">
              <a:buNone/>
            </a:pPr>
            <a:r>
              <a:rPr lang="en-US" sz="5400" b="1" dirty="0">
                <a:solidFill>
                  <a:srgbClr val="F4EFE4"/>
                </a:solidFill>
                <a:latin typeface="Times New Roman" pitchFamily="34" charset="0"/>
                <a:ea typeface="Times New Roman" pitchFamily="34" charset="-122"/>
                <a:cs typeface="Times New Roman" pitchFamily="34" charset="-120"/>
              </a:rPr>
              <a:t>1</a:t>
            </a:r>
            <a:endParaRPr lang="en-US" sz="5400" dirty="0"/>
          </a:p>
        </p:txBody>
      </p:sp>
      <p:sp>
        <p:nvSpPr>
          <p:cNvPr id="5" name="Shape 3"/>
          <p:cNvSpPr/>
          <p:nvPr/>
        </p:nvSpPr>
        <p:spPr>
          <a:xfrm>
            <a:off x="1828800" y="1920240"/>
            <a:ext cx="0" cy="1051560"/>
          </a:xfrm>
          <a:prstGeom prst="line">
            <a:avLst/>
          </a:prstGeom>
          <a:noFill/>
          <a:ln w="25400">
            <a:solidFill>
              <a:srgbClr val="7C5F2A"/>
            </a:solidFill>
            <a:prstDash val="solid"/>
          </a:ln>
        </p:spPr>
      </p:sp>
      <p:sp>
        <p:nvSpPr>
          <p:cNvPr id="6" name="Text 4"/>
          <p:cNvSpPr/>
          <p:nvPr/>
        </p:nvSpPr>
        <p:spPr>
          <a:xfrm>
            <a:off x="2057400" y="1874520"/>
            <a:ext cx="9509760" cy="411480"/>
          </a:xfrm>
          <a:prstGeom prst="rect">
            <a:avLst/>
          </a:prstGeom>
          <a:noFill/>
          <a:ln/>
        </p:spPr>
        <p:txBody>
          <a:bodyPr wrap="square" lIns="0" tIns="0" rIns="0" bIns="0" rtlCol="0" anchor="ctr"/>
          <a:lstStyle/>
          <a:p>
            <a:pPr indent="0" marL="0">
              <a:buNone/>
            </a:pPr>
            <a:r>
              <a:rPr lang="en-US" sz="1800" b="1" dirty="0">
                <a:solidFill>
                  <a:srgbClr val="231D13"/>
                </a:solidFill>
                <a:latin typeface="Calibri" pitchFamily="34" charset="0"/>
                <a:ea typeface="Calibri" pitchFamily="34" charset="-122"/>
                <a:cs typeface="Calibri" pitchFamily="34" charset="-120"/>
              </a:rPr>
              <a:t>SAFE, CAUTION or DANGER per shaft</a:t>
            </a:r>
            <a:endParaRPr lang="en-US" sz="1800" dirty="0"/>
          </a:p>
        </p:txBody>
      </p:sp>
      <p:sp>
        <p:nvSpPr>
          <p:cNvPr id="7" name="Text 5"/>
          <p:cNvSpPr/>
          <p:nvPr/>
        </p:nvSpPr>
        <p:spPr>
          <a:xfrm>
            <a:off x="2057400" y="2313432"/>
            <a:ext cx="9509760" cy="822960"/>
          </a:xfrm>
          <a:prstGeom prst="rect">
            <a:avLst/>
          </a:prstGeom>
          <a:noFill/>
          <a:ln/>
        </p:spPr>
        <p:txBody>
          <a:bodyPr wrap="square" lIns="0" tIns="0" rIns="0" bIns="0" rtlCol="0" anchor="ctr"/>
          <a:lstStyle/>
          <a:p>
            <a:pPr indent="0" marL="0">
              <a:buNone/>
            </a:pPr>
            <a:r>
              <a:rPr lang="en-US" sz="1350" dirty="0">
                <a:solidFill>
                  <a:srgbClr val="6E6248"/>
                </a:solidFill>
                <a:latin typeface="Calibri" pitchFamily="34" charset="0"/>
                <a:ea typeface="Calibri" pitchFamily="34" charset="-122"/>
                <a:cs typeface="Calibri" pitchFamily="34" charset="-120"/>
              </a:rPr>
              <a:t>Each shaft carries a single live verdict rolled up from methane, CO, dust, vibration and airflow against their hard limits.</a:t>
            </a:r>
            <a:endParaRPr lang="en-US" sz="1350" dirty="0"/>
          </a:p>
        </p:txBody>
      </p:sp>
      <p:sp>
        <p:nvSpPr>
          <p:cNvPr id="8" name="Text 6"/>
          <p:cNvSpPr/>
          <p:nvPr/>
        </p:nvSpPr>
        <p:spPr>
          <a:xfrm>
            <a:off x="640080" y="3200400"/>
            <a:ext cx="1097280" cy="1097280"/>
          </a:xfrm>
          <a:prstGeom prst="rect">
            <a:avLst/>
          </a:prstGeom>
          <a:noFill/>
          <a:ln/>
        </p:spPr>
        <p:txBody>
          <a:bodyPr wrap="square" lIns="0" tIns="0" rIns="0" bIns="0" rtlCol="0" anchor="ctr"/>
          <a:lstStyle/>
          <a:p>
            <a:pPr indent="0" marL="0">
              <a:buNone/>
            </a:pPr>
            <a:r>
              <a:rPr lang="en-US" sz="5400" b="1" dirty="0">
                <a:solidFill>
                  <a:srgbClr val="F4EFE4"/>
                </a:solidFill>
                <a:latin typeface="Times New Roman" pitchFamily="34" charset="0"/>
                <a:ea typeface="Times New Roman" pitchFamily="34" charset="-122"/>
                <a:cs typeface="Times New Roman" pitchFamily="34" charset="-120"/>
              </a:rPr>
              <a:t>2</a:t>
            </a:r>
            <a:endParaRPr lang="en-US" sz="5400" dirty="0"/>
          </a:p>
        </p:txBody>
      </p:sp>
      <p:sp>
        <p:nvSpPr>
          <p:cNvPr id="9" name="Shape 7"/>
          <p:cNvSpPr/>
          <p:nvPr/>
        </p:nvSpPr>
        <p:spPr>
          <a:xfrm>
            <a:off x="1828800" y="3383280"/>
            <a:ext cx="0" cy="1051560"/>
          </a:xfrm>
          <a:prstGeom prst="line">
            <a:avLst/>
          </a:prstGeom>
          <a:noFill/>
          <a:ln w="25400">
            <a:solidFill>
              <a:srgbClr val="7C5F2A"/>
            </a:solidFill>
            <a:prstDash val="solid"/>
          </a:ln>
        </p:spPr>
      </p:sp>
      <p:sp>
        <p:nvSpPr>
          <p:cNvPr id="10" name="Text 8"/>
          <p:cNvSpPr/>
          <p:nvPr/>
        </p:nvSpPr>
        <p:spPr>
          <a:xfrm>
            <a:off x="2057400" y="3337560"/>
            <a:ext cx="9509760" cy="411480"/>
          </a:xfrm>
          <a:prstGeom prst="rect">
            <a:avLst/>
          </a:prstGeom>
          <a:noFill/>
          <a:ln/>
        </p:spPr>
        <p:txBody>
          <a:bodyPr wrap="square" lIns="0" tIns="0" rIns="0" bIns="0" rtlCol="0" anchor="ctr"/>
          <a:lstStyle/>
          <a:p>
            <a:pPr indent="0" marL="0">
              <a:buNone/>
            </a:pPr>
            <a:r>
              <a:rPr lang="en-US" sz="1800" b="1" dirty="0">
                <a:solidFill>
                  <a:srgbClr val="231D13"/>
                </a:solidFill>
                <a:latin typeface="Calibri" pitchFamily="34" charset="0"/>
                <a:ea typeface="Calibri" pitchFamily="34" charset="-122"/>
                <a:cs typeface="Calibri" pitchFamily="34" charset="-120"/>
              </a:rPr>
              <a:t>A DANGER classification on real data</a:t>
            </a:r>
            <a:endParaRPr lang="en-US" sz="1800" dirty="0"/>
          </a:p>
        </p:txBody>
      </p:sp>
      <p:sp>
        <p:nvSpPr>
          <p:cNvPr id="11" name="Text 9"/>
          <p:cNvSpPr/>
          <p:nvPr/>
        </p:nvSpPr>
        <p:spPr>
          <a:xfrm>
            <a:off x="2057400" y="3776472"/>
            <a:ext cx="9509760" cy="822960"/>
          </a:xfrm>
          <a:prstGeom prst="rect">
            <a:avLst/>
          </a:prstGeom>
          <a:noFill/>
          <a:ln/>
        </p:spPr>
        <p:txBody>
          <a:bodyPr wrap="square" lIns="0" tIns="0" rIns="0" bIns="0" rtlCol="0" anchor="ctr"/>
          <a:lstStyle/>
          <a:p>
            <a:pPr indent="0" marL="0">
              <a:buNone/>
            </a:pPr>
            <a:r>
              <a:rPr lang="en-US" sz="1350" dirty="0">
                <a:solidFill>
                  <a:srgbClr val="6E6248"/>
                </a:solidFill>
                <a:latin typeface="Calibri" pitchFamily="34" charset="0"/>
                <a:ea typeface="Calibri" pitchFamily="34" charset="-122"/>
                <a:cs typeface="Calibri" pitchFamily="34" charset="-120"/>
              </a:rPr>
              <a:t>A silica-dust breach classifies shaft-A as DANGER while shaft-B holds SAFE, with zero console or CORS errors.</a:t>
            </a:r>
            <a:endParaRPr lang="en-US" sz="1350" dirty="0"/>
          </a:p>
        </p:txBody>
      </p:sp>
      <p:sp>
        <p:nvSpPr>
          <p:cNvPr id="12" name="Text 10"/>
          <p:cNvSpPr/>
          <p:nvPr/>
        </p:nvSpPr>
        <p:spPr>
          <a:xfrm>
            <a:off x="640080" y="4663440"/>
            <a:ext cx="1097280" cy="1097280"/>
          </a:xfrm>
          <a:prstGeom prst="rect">
            <a:avLst/>
          </a:prstGeom>
          <a:noFill/>
          <a:ln/>
        </p:spPr>
        <p:txBody>
          <a:bodyPr wrap="square" lIns="0" tIns="0" rIns="0" bIns="0" rtlCol="0" anchor="ctr"/>
          <a:lstStyle/>
          <a:p>
            <a:pPr indent="0" marL="0">
              <a:buNone/>
            </a:pPr>
            <a:r>
              <a:rPr lang="en-US" sz="5400" b="1" dirty="0">
                <a:solidFill>
                  <a:srgbClr val="F4EFE4"/>
                </a:solidFill>
                <a:latin typeface="Times New Roman" pitchFamily="34" charset="0"/>
                <a:ea typeface="Times New Roman" pitchFamily="34" charset="-122"/>
                <a:cs typeface="Times New Roman" pitchFamily="34" charset="-120"/>
              </a:rPr>
              <a:t>3</a:t>
            </a:r>
            <a:endParaRPr lang="en-US" sz="5400" dirty="0"/>
          </a:p>
        </p:txBody>
      </p:sp>
      <p:sp>
        <p:nvSpPr>
          <p:cNvPr id="13" name="Shape 11"/>
          <p:cNvSpPr/>
          <p:nvPr/>
        </p:nvSpPr>
        <p:spPr>
          <a:xfrm>
            <a:off x="1828800" y="4846320"/>
            <a:ext cx="0" cy="1051560"/>
          </a:xfrm>
          <a:prstGeom prst="line">
            <a:avLst/>
          </a:prstGeom>
          <a:noFill/>
          <a:ln w="25400">
            <a:solidFill>
              <a:srgbClr val="7C5F2A"/>
            </a:solidFill>
            <a:prstDash val="solid"/>
          </a:ln>
        </p:spPr>
      </p:sp>
      <p:sp>
        <p:nvSpPr>
          <p:cNvPr id="14" name="Text 12"/>
          <p:cNvSpPr/>
          <p:nvPr/>
        </p:nvSpPr>
        <p:spPr>
          <a:xfrm>
            <a:off x="2057400" y="4800600"/>
            <a:ext cx="9509760" cy="411480"/>
          </a:xfrm>
          <a:prstGeom prst="rect">
            <a:avLst/>
          </a:prstGeom>
          <a:noFill/>
          <a:ln/>
        </p:spPr>
        <p:txBody>
          <a:bodyPr wrap="square" lIns="0" tIns="0" rIns="0" bIns="0" rtlCol="0" anchor="ctr"/>
          <a:lstStyle/>
          <a:p>
            <a:pPr indent="0" marL="0">
              <a:buNone/>
            </a:pPr>
            <a:r>
              <a:rPr lang="en-US" sz="1800" b="1" dirty="0">
                <a:solidFill>
                  <a:srgbClr val="231D13"/>
                </a:solidFill>
                <a:latin typeface="Calibri" pitchFamily="34" charset="0"/>
                <a:ea typeface="Calibri" pitchFamily="34" charset="-122"/>
                <a:cs typeface="Calibri" pitchFamily="34" charset="-120"/>
              </a:rPr>
              <a:t>Data climbing live</a:t>
            </a:r>
            <a:endParaRPr lang="en-US" sz="1800" dirty="0"/>
          </a:p>
        </p:txBody>
      </p:sp>
      <p:sp>
        <p:nvSpPr>
          <p:cNvPr id="15" name="Text 13"/>
          <p:cNvSpPr/>
          <p:nvPr/>
        </p:nvSpPr>
        <p:spPr>
          <a:xfrm>
            <a:off x="2057400" y="5239512"/>
            <a:ext cx="9509760" cy="822960"/>
          </a:xfrm>
          <a:prstGeom prst="rect">
            <a:avLst/>
          </a:prstGeom>
          <a:noFill/>
          <a:ln/>
        </p:spPr>
        <p:txBody>
          <a:bodyPr wrap="square" lIns="0" tIns="0" rIns="0" bIns="0" rtlCol="0" anchor="ctr"/>
          <a:lstStyle/>
          <a:p>
            <a:pPr indent="0" marL="0">
              <a:buNone/>
            </a:pPr>
            <a:r>
              <a:rPr lang="en-US" sz="1350" dirty="0">
                <a:solidFill>
                  <a:srgbClr val="6E6248"/>
                </a:solidFill>
                <a:latin typeface="Calibri" pitchFamily="34" charset="0"/>
                <a:ea typeface="Calibri" pitchFamily="34" charset="-122"/>
                <a:cs typeface="Calibri" pitchFamily="34" charset="-120"/>
              </a:rPr>
              <a:t>Stored readings pass 1,400 during the verification window and keep rising, so the board reads live data.</a:t>
            </a:r>
            <a:endParaRPr lang="en-US" sz="1350" dirty="0"/>
          </a:p>
        </p:txBody>
      </p:sp>
      <p:sp>
        <p:nvSpPr>
          <p:cNvPr id="16" name="Text 14"/>
          <p:cNvSpPr/>
          <p:nvPr/>
        </p:nvSpPr>
        <p:spPr>
          <a:xfrm>
            <a:off x="640080" y="6309360"/>
            <a:ext cx="10972800" cy="365760"/>
          </a:xfrm>
          <a:prstGeom prst="rect">
            <a:avLst/>
          </a:prstGeom>
          <a:noFill/>
          <a:ln/>
        </p:spPr>
        <p:txBody>
          <a:bodyPr wrap="square" rtlCol="0" anchor="ctr"/>
          <a:lstStyle/>
          <a:p>
            <a:pPr indent="0" marL="0">
              <a:buNone/>
            </a:pPr>
            <a:r>
              <a:rPr lang="en-US" sz="1300" i="1" dirty="0">
                <a:solidFill>
                  <a:srgbClr val="9A8248"/>
                </a:solidFill>
                <a:latin typeface="Calibri" pitchFamily="34" charset="0"/>
                <a:ea typeface="Calibri" pitchFamily="34" charset="-122"/>
                <a:cs typeface="Calibri" pitchFamily="34" charset="-120"/>
              </a:rPr>
              <a:t>Switch to the live dashboard here — backup video ready.</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10972800" cy="822960"/>
          </a:xfrm>
          <a:prstGeom prst="rect">
            <a:avLst/>
          </a:prstGeom>
          <a:noFill/>
          <a:ln/>
        </p:spPr>
        <p:txBody>
          <a:bodyPr wrap="square" rtlCol="0" anchor="t"/>
          <a:lstStyle/>
          <a:p>
            <a:pPr indent="0" marL="0">
              <a:buNone/>
            </a:pPr>
            <a:r>
              <a:rPr lang="en-US" sz="2800" b="1" dirty="0">
                <a:solidFill>
                  <a:srgbClr val="231D13"/>
                </a:solidFill>
                <a:latin typeface="Times New Roman" pitchFamily="34" charset="0"/>
                <a:ea typeface="Times New Roman" pitchFamily="34" charset="-122"/>
                <a:cs typeface="Times New Roman" pitchFamily="34" charset="-120"/>
              </a:rPr>
              <a:t>Hardest Part — a credential defect the audit caught first</a:t>
            </a:r>
            <a:endParaRPr lang="en-US" sz="2800" dirty="0"/>
          </a:p>
        </p:txBody>
      </p:sp>
      <p:sp>
        <p:nvSpPr>
          <p:cNvPr id="3" name="Text 1"/>
          <p:cNvSpPr/>
          <p:nvPr/>
        </p:nvSpPr>
        <p:spPr>
          <a:xfrm>
            <a:off x="731520" y="1965960"/>
            <a:ext cx="2377440" cy="548640"/>
          </a:xfrm>
          <a:prstGeom prst="rect">
            <a:avLst/>
          </a:prstGeom>
          <a:noFill/>
          <a:ln/>
        </p:spPr>
        <p:txBody>
          <a:bodyPr wrap="square" lIns="0" tIns="0" rIns="0" bIns="0" rtlCol="0" anchor="ctr"/>
          <a:lstStyle/>
          <a:p>
            <a:pPr indent="0" marL="0">
              <a:buNone/>
            </a:pPr>
            <a:r>
              <a:rPr lang="en-US" sz="2300" b="1" dirty="0">
                <a:solidFill>
                  <a:srgbClr val="D9A62E"/>
                </a:solidFill>
                <a:latin typeface="Times New Roman" pitchFamily="34" charset="0"/>
                <a:ea typeface="Times New Roman" pitchFamily="34" charset="-122"/>
                <a:cs typeface="Times New Roman" pitchFamily="34" charset="-120"/>
              </a:rPr>
              <a:t>Problem</a:t>
            </a:r>
            <a:endParaRPr lang="en-US" sz="2300" dirty="0"/>
          </a:p>
        </p:txBody>
      </p:sp>
      <p:sp>
        <p:nvSpPr>
          <p:cNvPr id="4" name="Shape 2"/>
          <p:cNvSpPr/>
          <p:nvPr/>
        </p:nvSpPr>
        <p:spPr>
          <a:xfrm>
            <a:off x="3200400" y="1920240"/>
            <a:ext cx="0" cy="1783080"/>
          </a:xfrm>
          <a:prstGeom prst="line">
            <a:avLst/>
          </a:prstGeom>
          <a:noFill/>
          <a:ln w="31750">
            <a:solidFill>
              <a:srgbClr val="D9A62E"/>
            </a:solidFill>
            <a:prstDash val="solid"/>
          </a:ln>
        </p:spPr>
      </p:sp>
      <p:sp>
        <p:nvSpPr>
          <p:cNvPr id="5" name="Text 3"/>
          <p:cNvSpPr/>
          <p:nvPr/>
        </p:nvSpPr>
        <p:spPr>
          <a:xfrm>
            <a:off x="3474720" y="1920240"/>
            <a:ext cx="7955280" cy="1920240"/>
          </a:xfrm>
          <a:prstGeom prst="rect">
            <a:avLst/>
          </a:prstGeom>
          <a:noFill/>
          <a:ln/>
        </p:spPr>
        <p:txBody>
          <a:bodyPr wrap="square" lIns="0" tIns="0" rIns="0" bIns="0" rtlCol="0" anchor="ctr"/>
          <a:lstStyle/>
          <a:p>
            <a:pPr indent="0" marL="0">
              <a:lnSpc>
                <a:spcPct val="112000"/>
              </a:lnSpc>
              <a:buNone/>
            </a:pPr>
            <a:r>
              <a:rPr lang="en-US" sz="1450" dirty="0">
                <a:solidFill>
                  <a:srgbClr val="231D13"/>
                </a:solidFill>
                <a:latin typeface="Calibri" pitchFamily="34" charset="0"/>
                <a:ea typeface="Calibri" pitchFamily="34" charset="-122"/>
                <a:cs typeface="Calibri" pitchFamily="34" charset="-120"/>
              </a:rPr>
              <a:t>All three AWS-facing classes — dashboard, processor and queue publisher — hardcoded a fixed pair of test credentials into every client they built. LocalStack expects exactly those test values, so all 90 tests passed and every local run looked perfect. On real AWS, the same pair overrides the IAM role, and every call to DynamoDB, SQS or Lambda would fail authentication.</a:t>
            </a:r>
            <a:endParaRPr lang="en-US" sz="1450" dirty="0"/>
          </a:p>
        </p:txBody>
      </p:sp>
      <p:sp>
        <p:nvSpPr>
          <p:cNvPr id="6" name="Text 4"/>
          <p:cNvSpPr/>
          <p:nvPr/>
        </p:nvSpPr>
        <p:spPr>
          <a:xfrm>
            <a:off x="731520" y="4114800"/>
            <a:ext cx="2377440" cy="548640"/>
          </a:xfrm>
          <a:prstGeom prst="rect">
            <a:avLst/>
          </a:prstGeom>
          <a:noFill/>
          <a:ln/>
        </p:spPr>
        <p:txBody>
          <a:bodyPr wrap="square" lIns="0" tIns="0" rIns="0" bIns="0" rtlCol="0" anchor="ctr"/>
          <a:lstStyle/>
          <a:p>
            <a:pPr indent="0" marL="0">
              <a:buNone/>
            </a:pPr>
            <a:r>
              <a:rPr lang="en-US" sz="2300" b="1" dirty="0">
                <a:solidFill>
                  <a:srgbClr val="7C5F2A"/>
                </a:solidFill>
                <a:latin typeface="Times New Roman" pitchFamily="34" charset="0"/>
                <a:ea typeface="Times New Roman" pitchFamily="34" charset="-122"/>
                <a:cs typeface="Times New Roman" pitchFamily="34" charset="-120"/>
              </a:rPr>
              <a:t>Solution</a:t>
            </a:r>
            <a:endParaRPr lang="en-US" sz="2300" dirty="0"/>
          </a:p>
        </p:txBody>
      </p:sp>
      <p:sp>
        <p:nvSpPr>
          <p:cNvPr id="7" name="Shape 5"/>
          <p:cNvSpPr/>
          <p:nvPr/>
        </p:nvSpPr>
        <p:spPr>
          <a:xfrm>
            <a:off x="3200400" y="4069080"/>
            <a:ext cx="0" cy="1783080"/>
          </a:xfrm>
          <a:prstGeom prst="line">
            <a:avLst/>
          </a:prstGeom>
          <a:noFill/>
          <a:ln w="31750">
            <a:solidFill>
              <a:srgbClr val="7C5F2A"/>
            </a:solidFill>
            <a:prstDash val="solid"/>
          </a:ln>
        </p:spPr>
      </p:sp>
      <p:sp>
        <p:nvSpPr>
          <p:cNvPr id="8" name="Text 6"/>
          <p:cNvSpPr/>
          <p:nvPr/>
        </p:nvSpPr>
        <p:spPr>
          <a:xfrm>
            <a:off x="3474720" y="4069080"/>
            <a:ext cx="7955280" cy="1920240"/>
          </a:xfrm>
          <a:prstGeom prst="rect">
            <a:avLst/>
          </a:prstGeom>
          <a:noFill/>
          <a:ln/>
        </p:spPr>
        <p:txBody>
          <a:bodyPr wrap="square" lIns="0" tIns="0" rIns="0" bIns="0" rtlCol="0" anchor="ctr"/>
          <a:lstStyle/>
          <a:p>
            <a:pPr indent="0" marL="0">
              <a:lnSpc>
                <a:spcPct val="112000"/>
              </a:lnSpc>
              <a:buNone/>
            </a:pPr>
            <a:r>
              <a:rPr lang="en-US" sz="1450" dirty="0">
                <a:solidFill>
                  <a:srgbClr val="231D13"/>
                </a:solidFill>
                <a:latin typeface="Calibri" pitchFamily="34" charset="0"/>
                <a:ea typeface="Calibri" pitchFamily="34" charset="-122"/>
                <a:cs typeface="Calibri" pitchFamily="34" charset="-120"/>
              </a:rPr>
              <a:t>Build static credentials only when a LocalStack endpoint is configured; otherwise fall through to the Lambda role or EC2 instance profile. All three constructors were audited side by side before deployment — so the bug never reached the live account, and four of four health checks were true on the very first live check.</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2026-07-24T07:12:02Z</dcterms:created>
  <dcterms:modified xsi:type="dcterms:W3CDTF">2026-07-24T07:12:02Z</dcterms:modified>
</cp:coreProperties>
</file>