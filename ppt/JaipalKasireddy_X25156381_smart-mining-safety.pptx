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8495" y="-1463040"/>
            <a:ext cx="3108960" cy="2743200"/>
          </a:xfrm>
          <a:prstGeom prst="roundRect">
            <a:avLst>
              <a:gd name="adj" fmla="val 20000"/>
            </a:avLst>
          </a:prstGeom>
          <a:solidFill>
            <a:srgbClr val="D99A2B"/>
          </a:solidFill>
          <a:ln/>
        </p:spPr>
      </p:sp>
      <p:sp>
        <p:nvSpPr>
          <p:cNvPr id="3" name="Shape 1"/>
          <p:cNvSpPr/>
          <p:nvPr/>
        </p:nvSpPr>
        <p:spPr>
          <a:xfrm>
            <a:off x="10180015" y="-1737360"/>
            <a:ext cx="2194560" cy="2377440"/>
          </a:xfrm>
          <a:prstGeom prst="roundRect">
            <a:avLst>
              <a:gd name="adj" fmla="val 20833"/>
            </a:avLst>
          </a:prstGeom>
          <a:solidFill>
            <a:srgbClr val="B17203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" y="164592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2EC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Mining Safety Monitoring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77240" y="33375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Jaipal Kasireddy   ·   X25156381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3931920"/>
            <a:ext cx="8138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2EC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Methane clears or lingers in under a minute, carbon monoxide displaces breathable air silently, and rockfall precursors last seconds — no inspection round is that fast underground.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3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8495" y="-1463040"/>
            <a:ext cx="3108960" cy="2743200"/>
          </a:xfrm>
          <a:prstGeom prst="roundRect">
            <a:avLst>
              <a:gd name="adj" fmla="val 20000"/>
            </a:avLst>
          </a:prstGeom>
          <a:solidFill>
            <a:srgbClr val="D99A2B"/>
          </a:solidFill>
          <a:ln/>
        </p:spPr>
      </p:sp>
      <p:sp>
        <p:nvSpPr>
          <p:cNvPr id="3" name="Shape 1"/>
          <p:cNvSpPr/>
          <p:nvPr/>
        </p:nvSpPr>
        <p:spPr>
          <a:xfrm>
            <a:off x="10180015" y="-1737360"/>
            <a:ext cx="2194560" cy="2377440"/>
          </a:xfrm>
          <a:prstGeom prst="roundRect">
            <a:avLst>
              <a:gd name="adj" fmla="val 20833"/>
            </a:avLst>
          </a:prstGeom>
          <a:solidFill>
            <a:srgbClr val="B1720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EC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Edge to Live Dashboard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777240" y="2971800"/>
            <a:ext cx="1391869" cy="1965960"/>
          </a:xfrm>
          <a:prstGeom prst="roundRect">
            <a:avLst>
              <a:gd name="adj" fmla="val 9197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23544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Shaft sensors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23544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shafts · 5 hazards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42261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2" name="Shape 10"/>
          <p:cNvSpPr/>
          <p:nvPr/>
        </p:nvSpPr>
        <p:spPr>
          <a:xfrm>
            <a:off x="2626309" y="2971800"/>
            <a:ext cx="1391869" cy="1965960"/>
          </a:xfrm>
          <a:prstGeom prst="roundRect">
            <a:avLst>
              <a:gd name="adj" fmla="val 9197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72613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72613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Fog node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72613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thresholds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9133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75378" y="2971800"/>
            <a:ext cx="1391869" cy="1965960"/>
          </a:xfrm>
          <a:prstGeom prst="roundRect">
            <a:avLst>
              <a:gd name="adj" fmla="val 9197"/>
            </a:avLst>
          </a:prstGeom>
          <a:solidFill>
            <a:srgbClr val="41392F"/>
          </a:solidFill>
          <a:ln w="12700">
            <a:solidFill>
              <a:srgbClr val="554D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2168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9A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2168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2EC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2168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≤10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040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2" name="Shape 20"/>
          <p:cNvSpPr/>
          <p:nvPr/>
        </p:nvSpPr>
        <p:spPr>
          <a:xfrm>
            <a:off x="6324448" y="2971800"/>
            <a:ext cx="1391869" cy="1965960"/>
          </a:xfrm>
          <a:prstGeom prst="roundRect">
            <a:avLst>
              <a:gd name="adj" fmla="val 9197"/>
            </a:avLst>
          </a:prstGeom>
          <a:solidFill>
            <a:srgbClr val="41392F"/>
          </a:solidFill>
          <a:ln w="12700">
            <a:solidFill>
              <a:srgbClr val="554D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075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9A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7075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2EC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7075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789469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7" name="Shape 25"/>
          <p:cNvSpPr/>
          <p:nvPr/>
        </p:nvSpPr>
        <p:spPr>
          <a:xfrm>
            <a:off x="8173517" y="2971800"/>
            <a:ext cx="1391869" cy="1965960"/>
          </a:xfrm>
          <a:prstGeom prst="roundRect">
            <a:avLst>
              <a:gd name="adj" fmla="val 9197"/>
            </a:avLst>
          </a:prstGeom>
          <a:solidFill>
            <a:srgbClr val="41392F"/>
          </a:solidFill>
          <a:ln w="12700">
            <a:solidFill>
              <a:srgbClr val="554D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9821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9A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19821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2EC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DynamoDB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19821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type · shaft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638538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2" name="Shape 30"/>
          <p:cNvSpPr/>
          <p:nvPr/>
        </p:nvSpPr>
        <p:spPr>
          <a:xfrm>
            <a:off x="10022586" y="2971800"/>
            <a:ext cx="1391869" cy="1965960"/>
          </a:xfrm>
          <a:prstGeom prst="roundRect">
            <a:avLst>
              <a:gd name="adj" fmla="val 9197"/>
            </a:avLst>
          </a:prstGeom>
          <a:solidFill>
            <a:srgbClr val="41392F"/>
          </a:solidFill>
          <a:ln w="12700">
            <a:solidFill>
              <a:srgbClr val="554D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68890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9A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168890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2EC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168890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SAFE/CAUTION/DANGER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3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8495" y="-1463040"/>
            <a:ext cx="3108960" cy="2743200"/>
          </a:xfrm>
          <a:prstGeom prst="roundRect">
            <a:avLst>
              <a:gd name="adj" fmla="val 20000"/>
            </a:avLst>
          </a:prstGeom>
          <a:solidFill>
            <a:srgbClr val="D99A2B"/>
          </a:solidFill>
          <a:ln/>
        </p:spPr>
      </p:sp>
      <p:sp>
        <p:nvSpPr>
          <p:cNvPr id="3" name="Shape 1"/>
          <p:cNvSpPr/>
          <p:nvPr/>
        </p:nvSpPr>
        <p:spPr>
          <a:xfrm>
            <a:off x="10180015" y="-1737360"/>
            <a:ext cx="2194560" cy="2377440"/>
          </a:xfrm>
          <a:prstGeom prst="roundRect">
            <a:avLst>
              <a:gd name="adj" fmla="val 20833"/>
            </a:avLst>
          </a:prstGeom>
          <a:solidFill>
            <a:srgbClr val="B1720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EC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77240" y="190195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9A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msm-frontend-639210843493.s3.us-east-1.amazonaws.com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514600"/>
            <a:ext cx="3301898" cy="3566160"/>
          </a:xfrm>
          <a:prstGeom prst="roundRect">
            <a:avLst>
              <a:gd name="adj" fmla="val 3877"/>
            </a:avLst>
          </a:prstGeom>
          <a:solidFill>
            <a:srgbClr val="41392F"/>
          </a:solidFill>
          <a:ln w="12700">
            <a:solidFill>
              <a:srgbClr val="554D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069848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2EC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SAFE, CAUTION or DANGER per shaft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69848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shaft carries a single live verdict rolled up from methane, CO, dust, vibration and airflow against their hard limits.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44898" y="2514600"/>
            <a:ext cx="3301898" cy="3566160"/>
          </a:xfrm>
          <a:prstGeom prst="roundRect">
            <a:avLst>
              <a:gd name="adj" fmla="val 3877"/>
            </a:avLst>
          </a:prstGeom>
          <a:solidFill>
            <a:srgbClr val="41392F"/>
          </a:solidFill>
          <a:ln w="12700">
            <a:solidFill>
              <a:srgbClr val="554D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9218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737506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2EC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DANGER classification on real data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737506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silica-dust breach classifies shaft-A as DANGER while shaft-B holds SAFE, with zero console or CORS errors.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12557" y="2514600"/>
            <a:ext cx="3301898" cy="3566160"/>
          </a:xfrm>
          <a:prstGeom prst="roundRect">
            <a:avLst>
              <a:gd name="adj" fmla="val 3877"/>
            </a:avLst>
          </a:prstGeom>
          <a:solidFill>
            <a:srgbClr val="41392F"/>
          </a:solidFill>
          <a:ln w="12700">
            <a:solidFill>
              <a:srgbClr val="554D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86877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8405165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2EC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climbing live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405165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readings pass 1,400 during the verification window and keep rising, so the board reads live data.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3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8495" y="-1463040"/>
            <a:ext cx="3108960" cy="2743200"/>
          </a:xfrm>
          <a:prstGeom prst="roundRect">
            <a:avLst>
              <a:gd name="adj" fmla="val 20000"/>
            </a:avLst>
          </a:prstGeom>
          <a:solidFill>
            <a:srgbClr val="D99A2B"/>
          </a:solidFill>
          <a:ln/>
        </p:spPr>
      </p:sp>
      <p:sp>
        <p:nvSpPr>
          <p:cNvPr id="3" name="Shape 1"/>
          <p:cNvSpPr/>
          <p:nvPr/>
        </p:nvSpPr>
        <p:spPr>
          <a:xfrm>
            <a:off x="10180015" y="-1737360"/>
            <a:ext cx="2194560" cy="2377440"/>
          </a:xfrm>
          <a:prstGeom prst="roundRect">
            <a:avLst>
              <a:gd name="adj" fmla="val 20833"/>
            </a:avLst>
          </a:prstGeom>
          <a:solidFill>
            <a:srgbClr val="B1720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EC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bad post can't blind the shaft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777240" y="2423160"/>
            <a:ext cx="5090008" cy="3657600"/>
          </a:xfrm>
          <a:prstGeom prst="roundRect">
            <a:avLst>
              <a:gd name="adj" fmla="val 3500"/>
            </a:avLst>
          </a:prstGeom>
          <a:solidFill>
            <a:srgbClr val="41392F"/>
          </a:solidFill>
          <a:ln w="12700">
            <a:solidFill>
              <a:srgbClr val="554D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4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3081528"/>
            <a:ext cx="4449928" cy="0"/>
          </a:xfrm>
          <a:prstGeom prst="line">
            <a:avLst/>
          </a:prstGeom>
          <a:noFill/>
          <a:ln w="19050">
            <a:solidFill>
              <a:srgbClr val="C94F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F2EC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Underground, a gas or rockfall alarm has to fire on the aggregated window even when the feed is imperfect: a sensor container can send malformed JSON, a non-array readings field, or a record with a missing timestamp. If one bad post could crash the window or drop the good readings with it, the alarm that protects the shaft would go quiet at the worst moment.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24448" y="2423160"/>
            <a:ext cx="5090008" cy="3657600"/>
          </a:xfrm>
          <a:prstGeom prst="roundRect">
            <a:avLst>
              <a:gd name="adj" fmla="val 3500"/>
            </a:avLst>
          </a:prstGeom>
          <a:solidFill>
            <a:srgbClr val="41392F"/>
          </a:solidFill>
          <a:ln w="12700">
            <a:solidFill>
              <a:srgbClr val="554D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44488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44488" y="3081528"/>
            <a:ext cx="4449928" cy="0"/>
          </a:xfrm>
          <a:prstGeom prst="line">
            <a:avLst/>
          </a:prstGeom>
          <a:noFill/>
          <a:ln w="19050">
            <a:solidFill>
              <a:srgbClr val="3FAE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4488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F2EC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node validates every incoming post and rejects only the offending record, keeping the rest of the window intact, and returns a clean error rather than failing. Its tests deliberately feed it non-JSON, bad readings and missing fields, proving the aggregate — and the methane, carbon-monoxide and rockfall rules that read it — survive a noisy feed.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2026-07-24T09:15:27Z</dcterms:created>
  <dcterms:modified xsi:type="dcterms:W3CDTF">2026-07-24T09:15:27Z</dcterms:modified>
</cp:coreProperties>
</file>