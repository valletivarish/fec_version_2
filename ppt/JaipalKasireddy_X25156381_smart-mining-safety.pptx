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14"/>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indent="0" marL="0">
              <a:buNone/>
            </a:pPr>
            <a:r>
              <a:rPr lang="en-US" sz="3800" b="1" dirty="0">
                <a:solidFill>
                  <a:srgbClr val="FFFFFF"/>
                </a:solidFill>
                <a:latin typeface="Times New Roman" pitchFamily="34" charset="0"/>
                <a:ea typeface="Times New Roman" pitchFamily="34" charset="-122"/>
                <a:cs typeface="Times New Roman" pitchFamily="34" charset="-120"/>
              </a:rPr>
              <a:t>Smart Mining Safety Monitoring</a:t>
            </a:r>
            <a:endParaRPr lang="en-US" sz="38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9A8248"/>
                </a:solidFill>
                <a:latin typeface="Calibri" pitchFamily="34" charset="0"/>
                <a:ea typeface="Calibri" pitchFamily="34" charset="-122"/>
                <a:cs typeface="Calibri" pitchFamily="34" charset="-120"/>
              </a:rPr>
              <a:t>Jaipal Kasireddy   ·   X25156381</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E5D8BC"/>
                </a:solidFill>
                <a:latin typeface="Calibri" pitchFamily="34" charset="0"/>
                <a:ea typeface="Calibri" pitchFamily="34" charset="-122"/>
                <a:cs typeface="Calibri" pitchFamily="34" charset="-120"/>
              </a:rPr>
              <a:t>Methane clears or lingers in under a minute, carbon monoxide displaces breathable air silently, and rockfall precursors last seconds — no inspection round is that fast underground.</a:t>
            </a:r>
            <a:endParaRPr lang="en-US" sz="2000" dirty="0"/>
          </a:p>
        </p:txBody>
      </p:sp>
      <p:sp>
        <p:nvSpPr>
          <p:cNvPr id="5" name="Shape 3"/>
          <p:cNvSpPr/>
          <p:nvPr/>
        </p:nvSpPr>
        <p:spPr>
          <a:xfrm>
            <a:off x="658368" y="4206240"/>
            <a:ext cx="2651760" cy="566928"/>
          </a:xfrm>
          <a:prstGeom prst="roundRect">
            <a:avLst>
              <a:gd name="adj" fmla="val 50000"/>
            </a:avLst>
          </a:prstGeom>
          <a:solidFill>
            <a:srgbClr val="2F2718"/>
          </a:solidFill>
          <a:ln w="12700">
            <a:solidFill>
              <a:srgbClr val="D9A62E"/>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Methane &gt; 1,000 ppm</a:t>
            </a:r>
            <a:endParaRPr lang="en-US" sz="1350" dirty="0"/>
          </a:p>
        </p:txBody>
      </p:sp>
      <p:sp>
        <p:nvSpPr>
          <p:cNvPr id="7" name="Shape 5"/>
          <p:cNvSpPr/>
          <p:nvPr/>
        </p:nvSpPr>
        <p:spPr>
          <a:xfrm>
            <a:off x="3538728" y="4206240"/>
            <a:ext cx="2651760" cy="566928"/>
          </a:xfrm>
          <a:prstGeom prst="roundRect">
            <a:avLst>
              <a:gd name="adj" fmla="val 50000"/>
            </a:avLst>
          </a:prstGeom>
          <a:solidFill>
            <a:srgbClr val="2F2718"/>
          </a:solidFill>
          <a:ln w="12700">
            <a:solidFill>
              <a:srgbClr val="D9A62E"/>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CO &gt; 50 ppm</a:t>
            </a:r>
            <a:endParaRPr lang="en-US" sz="1350" dirty="0"/>
          </a:p>
        </p:txBody>
      </p:sp>
      <p:sp>
        <p:nvSpPr>
          <p:cNvPr id="9" name="Shape 7"/>
          <p:cNvSpPr/>
          <p:nvPr/>
        </p:nvSpPr>
        <p:spPr>
          <a:xfrm>
            <a:off x="6419088" y="4206240"/>
            <a:ext cx="2651760" cy="566928"/>
          </a:xfrm>
          <a:prstGeom prst="roundRect">
            <a:avLst>
              <a:gd name="adj" fmla="val 50000"/>
            </a:avLst>
          </a:prstGeom>
          <a:solidFill>
            <a:srgbClr val="2F2718"/>
          </a:solidFill>
          <a:ln w="12700">
            <a:solidFill>
              <a:srgbClr val="D9A62E"/>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Vibration &gt; 25 mm/s</a:t>
            </a:r>
            <a:endParaRPr lang="en-US" sz="135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r>
              <a:rPr lang="en-US" sz="1300" dirty="0">
                <a:solidFill>
                  <a:srgbClr val="6E6248"/>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31D13"/>
                </a:solidFill>
                <a:latin typeface="Times New Roman" pitchFamily="34" charset="0"/>
                <a:ea typeface="Times New Roman" pitchFamily="34" charset="-122"/>
                <a:cs typeface="Times New Roman" pitchFamily="34" charset="-120"/>
              </a:rPr>
              <a:t>What I Built — Edge to Live Dashboard</a:t>
            </a:r>
            <a:endParaRPr lang="en-US" sz="3000" dirty="0"/>
          </a:p>
        </p:txBody>
      </p:sp>
      <p:sp>
        <p:nvSpPr>
          <p:cNvPr id="3" name="Shape 1"/>
          <p:cNvSpPr/>
          <p:nvPr/>
        </p:nvSpPr>
        <p:spPr>
          <a:xfrm>
            <a:off x="640080" y="2468880"/>
            <a:ext cx="1572768" cy="1371600"/>
          </a:xfrm>
          <a:prstGeom prst="roundRect">
            <a:avLst>
              <a:gd name="adj" fmla="val 6667"/>
            </a:avLst>
          </a:prstGeom>
          <a:solidFill>
            <a:srgbClr val="F4EFE4"/>
          </a:solidFill>
          <a:ln w="19050">
            <a:solidFill>
              <a:srgbClr val="9A8248"/>
            </a:solidFill>
            <a:prstDash val="solid"/>
          </a:ln>
        </p:spPr>
      </p:sp>
      <p:sp>
        <p:nvSpPr>
          <p:cNvPr id="4" name="Shape 2"/>
          <p:cNvSpPr/>
          <p:nvPr/>
        </p:nvSpPr>
        <p:spPr>
          <a:xfrm>
            <a:off x="1335024" y="2633472"/>
            <a:ext cx="182880" cy="182880"/>
          </a:xfrm>
          <a:prstGeom prst="ellipse">
            <a:avLst/>
          </a:prstGeom>
          <a:solidFill>
            <a:srgbClr val="9A8248"/>
          </a:solidFill>
          <a:ln/>
        </p:spPr>
      </p:sp>
      <p:sp>
        <p:nvSpPr>
          <p:cNvPr id="5" name="Text 3"/>
          <p:cNvSpPr/>
          <p:nvPr/>
        </p:nvSpPr>
        <p:spPr>
          <a:xfrm>
            <a:off x="612648"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Shaft sensors</a:t>
            </a:r>
            <a:endParaRPr lang="en-US" sz="1450" dirty="0"/>
          </a:p>
        </p:txBody>
      </p:sp>
      <p:sp>
        <p:nvSpPr>
          <p:cNvPr id="6" name="Text 4"/>
          <p:cNvSpPr/>
          <p:nvPr/>
        </p:nvSpPr>
        <p:spPr>
          <a:xfrm>
            <a:off x="640080"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10 · 2 shafts · 5 hazards</a:t>
            </a:r>
            <a:endParaRPr lang="en-US" sz="1050" dirty="0"/>
          </a:p>
        </p:txBody>
      </p:sp>
      <p:sp>
        <p:nvSpPr>
          <p:cNvPr id="7" name="Shape 5"/>
          <p:cNvSpPr/>
          <p:nvPr/>
        </p:nvSpPr>
        <p:spPr>
          <a:xfrm>
            <a:off x="2231136" y="3154680"/>
            <a:ext cx="258409" cy="0"/>
          </a:xfrm>
          <a:prstGeom prst="line">
            <a:avLst/>
          </a:prstGeom>
          <a:noFill/>
          <a:ln w="25400">
            <a:solidFill>
              <a:srgbClr val="9A8248"/>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F4EFE4"/>
          </a:solidFill>
          <a:ln w="19050">
            <a:solidFill>
              <a:srgbClr val="9A8248"/>
            </a:solidFill>
            <a:prstDash val="solid"/>
          </a:ln>
        </p:spPr>
      </p:sp>
      <p:sp>
        <p:nvSpPr>
          <p:cNvPr id="9" name="Shape 7"/>
          <p:cNvSpPr/>
          <p:nvPr/>
        </p:nvSpPr>
        <p:spPr>
          <a:xfrm>
            <a:off x="3202777" y="2633472"/>
            <a:ext cx="182880" cy="182880"/>
          </a:xfrm>
          <a:prstGeom prst="ellipse">
            <a:avLst/>
          </a:prstGeom>
          <a:solidFill>
            <a:srgbClr val="9A8248"/>
          </a:solidFill>
          <a:ln/>
        </p:spPr>
      </p:sp>
      <p:sp>
        <p:nvSpPr>
          <p:cNvPr id="10" name="Text 8"/>
          <p:cNvSpPr/>
          <p:nvPr/>
        </p:nvSpPr>
        <p:spPr>
          <a:xfrm>
            <a:off x="2480401"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2507833"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windows · thresholds</a:t>
            </a:r>
            <a:endParaRPr lang="en-US" sz="1050" dirty="0"/>
          </a:p>
        </p:txBody>
      </p:sp>
      <p:sp>
        <p:nvSpPr>
          <p:cNvPr id="12" name="Shape 10"/>
          <p:cNvSpPr/>
          <p:nvPr/>
        </p:nvSpPr>
        <p:spPr>
          <a:xfrm>
            <a:off x="4098889" y="3154680"/>
            <a:ext cx="258409" cy="0"/>
          </a:xfrm>
          <a:prstGeom prst="line">
            <a:avLst/>
          </a:prstGeom>
          <a:noFill/>
          <a:ln w="25400">
            <a:solidFill>
              <a:srgbClr val="9A8248"/>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F4EFE4"/>
          </a:solidFill>
          <a:ln w="19050">
            <a:solidFill>
              <a:srgbClr val="5A4420"/>
            </a:solidFill>
            <a:prstDash val="solid"/>
          </a:ln>
        </p:spPr>
      </p:sp>
      <p:sp>
        <p:nvSpPr>
          <p:cNvPr id="14" name="Shape 12"/>
          <p:cNvSpPr/>
          <p:nvPr/>
        </p:nvSpPr>
        <p:spPr>
          <a:xfrm>
            <a:off x="5070531" y="2633472"/>
            <a:ext cx="182880" cy="182880"/>
          </a:xfrm>
          <a:prstGeom prst="ellipse">
            <a:avLst/>
          </a:prstGeom>
          <a:solidFill>
            <a:srgbClr val="5A4420"/>
          </a:solidFill>
          <a:ln/>
        </p:spPr>
      </p:sp>
      <p:sp>
        <p:nvSpPr>
          <p:cNvPr id="15" name="Text 13"/>
          <p:cNvSpPr/>
          <p:nvPr/>
        </p:nvSpPr>
        <p:spPr>
          <a:xfrm>
            <a:off x="4348155"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75587"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batches ≤10</a:t>
            </a:r>
            <a:endParaRPr lang="en-US" sz="1050" dirty="0"/>
          </a:p>
        </p:txBody>
      </p:sp>
      <p:sp>
        <p:nvSpPr>
          <p:cNvPr id="17" name="Shape 15"/>
          <p:cNvSpPr/>
          <p:nvPr/>
        </p:nvSpPr>
        <p:spPr>
          <a:xfrm>
            <a:off x="5966643" y="3154680"/>
            <a:ext cx="258409" cy="0"/>
          </a:xfrm>
          <a:prstGeom prst="line">
            <a:avLst/>
          </a:prstGeom>
          <a:noFill/>
          <a:ln w="25400">
            <a:solidFill>
              <a:srgbClr val="9A8248"/>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F4EFE4"/>
          </a:solidFill>
          <a:ln w="19050">
            <a:solidFill>
              <a:srgbClr val="5A4420"/>
            </a:solidFill>
            <a:prstDash val="solid"/>
          </a:ln>
        </p:spPr>
      </p:sp>
      <p:sp>
        <p:nvSpPr>
          <p:cNvPr id="19" name="Shape 17"/>
          <p:cNvSpPr/>
          <p:nvPr/>
        </p:nvSpPr>
        <p:spPr>
          <a:xfrm>
            <a:off x="6938284" y="2633472"/>
            <a:ext cx="182880" cy="182880"/>
          </a:xfrm>
          <a:prstGeom prst="ellipse">
            <a:avLst/>
          </a:prstGeom>
          <a:solidFill>
            <a:srgbClr val="5A4420"/>
          </a:solidFill>
          <a:ln/>
        </p:spPr>
      </p:sp>
      <p:sp>
        <p:nvSpPr>
          <p:cNvPr id="20" name="Text 18"/>
          <p:cNvSpPr/>
          <p:nvPr/>
        </p:nvSpPr>
        <p:spPr>
          <a:xfrm>
            <a:off x="6215908"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43340"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java17 ingest</a:t>
            </a:r>
            <a:endParaRPr lang="en-US" sz="1050" dirty="0"/>
          </a:p>
        </p:txBody>
      </p:sp>
      <p:sp>
        <p:nvSpPr>
          <p:cNvPr id="22" name="Shape 20"/>
          <p:cNvSpPr/>
          <p:nvPr/>
        </p:nvSpPr>
        <p:spPr>
          <a:xfrm>
            <a:off x="7834396" y="3154680"/>
            <a:ext cx="258409" cy="0"/>
          </a:xfrm>
          <a:prstGeom prst="line">
            <a:avLst/>
          </a:prstGeom>
          <a:noFill/>
          <a:ln w="25400">
            <a:solidFill>
              <a:srgbClr val="9A8248"/>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F4EFE4"/>
          </a:solidFill>
          <a:ln w="19050">
            <a:solidFill>
              <a:srgbClr val="5A4420"/>
            </a:solidFill>
            <a:prstDash val="solid"/>
          </a:ln>
        </p:spPr>
      </p:sp>
      <p:sp>
        <p:nvSpPr>
          <p:cNvPr id="24" name="Shape 22"/>
          <p:cNvSpPr/>
          <p:nvPr/>
        </p:nvSpPr>
        <p:spPr>
          <a:xfrm>
            <a:off x="8806038" y="2633472"/>
            <a:ext cx="182880" cy="182880"/>
          </a:xfrm>
          <a:prstGeom prst="ellipse">
            <a:avLst/>
          </a:prstGeom>
          <a:solidFill>
            <a:srgbClr val="5A4420"/>
          </a:solidFill>
          <a:ln/>
        </p:spPr>
      </p:sp>
      <p:sp>
        <p:nvSpPr>
          <p:cNvPr id="25" name="Text 23"/>
          <p:cNvSpPr/>
          <p:nvPr/>
        </p:nvSpPr>
        <p:spPr>
          <a:xfrm>
            <a:off x="8083662"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111094"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by type · shaft</a:t>
            </a:r>
            <a:endParaRPr lang="en-US" sz="1050" dirty="0"/>
          </a:p>
        </p:txBody>
      </p:sp>
      <p:sp>
        <p:nvSpPr>
          <p:cNvPr id="27" name="Shape 25"/>
          <p:cNvSpPr/>
          <p:nvPr/>
        </p:nvSpPr>
        <p:spPr>
          <a:xfrm>
            <a:off x="9702150" y="3154680"/>
            <a:ext cx="258409" cy="0"/>
          </a:xfrm>
          <a:prstGeom prst="line">
            <a:avLst/>
          </a:prstGeom>
          <a:noFill/>
          <a:ln w="25400">
            <a:solidFill>
              <a:srgbClr val="9A8248"/>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F4EFE4"/>
          </a:solidFill>
          <a:ln w="19050">
            <a:solidFill>
              <a:srgbClr val="7C5F2A"/>
            </a:solidFill>
            <a:prstDash val="solid"/>
          </a:ln>
        </p:spPr>
      </p:sp>
      <p:sp>
        <p:nvSpPr>
          <p:cNvPr id="29" name="Shape 27"/>
          <p:cNvSpPr/>
          <p:nvPr/>
        </p:nvSpPr>
        <p:spPr>
          <a:xfrm>
            <a:off x="10673791" y="2633472"/>
            <a:ext cx="182880" cy="182880"/>
          </a:xfrm>
          <a:prstGeom prst="ellipse">
            <a:avLst/>
          </a:prstGeom>
          <a:solidFill>
            <a:srgbClr val="7C5F2A"/>
          </a:solidFill>
          <a:ln/>
        </p:spPr>
      </p:sp>
      <p:sp>
        <p:nvSpPr>
          <p:cNvPr id="30" name="Text 28"/>
          <p:cNvSpPr/>
          <p:nvPr/>
        </p:nvSpPr>
        <p:spPr>
          <a:xfrm>
            <a:off x="9951415"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78847"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SAFE/CAUTION/DANGER</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9A8248"/>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5A4420"/>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5A4420"/>
                </a:solidFill>
                <a:latin typeface="Calibri" pitchFamily="34" charset="0"/>
                <a:ea typeface="Calibri" pitchFamily="34" charset="-122"/>
                <a:cs typeface="Calibri" pitchFamily="34" charset="-120"/>
              </a:rPr>
              <a:t>Every sensor window is checked against the hard limits at the fog node itself; alerts fire in the same process that measured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31D13"/>
                </a:solidFill>
                <a:latin typeface="Times New Roman" pitchFamily="34" charset="0"/>
                <a:ea typeface="Times New Roman" pitchFamily="34" charset="-122"/>
                <a:cs typeface="Times New Roman"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7C5F2A"/>
                </a:solidFill>
                <a:latin typeface="Consolas" pitchFamily="34" charset="0"/>
                <a:ea typeface="Consolas" pitchFamily="34" charset="-122"/>
                <a:cs typeface="Consolas" pitchFamily="34" charset="-120"/>
              </a:rPr>
              <a:t>msm-frontend-639210843493.s3.us-east-1.amazonaws.com</a:t>
            </a:r>
            <a:endParaRPr lang="en-US" sz="1400" dirty="0"/>
          </a:p>
        </p:txBody>
      </p:sp>
      <p:sp>
        <p:nvSpPr>
          <p:cNvPr id="4" name="Shape 2"/>
          <p:cNvSpPr/>
          <p:nvPr/>
        </p:nvSpPr>
        <p:spPr>
          <a:xfrm>
            <a:off x="640080" y="1828800"/>
            <a:ext cx="10881360" cy="1371600"/>
          </a:xfrm>
          <a:prstGeom prst="roundRect">
            <a:avLst>
              <a:gd name="adj" fmla="val 6667"/>
            </a:avLst>
          </a:prstGeom>
          <a:solidFill>
            <a:srgbClr val="F4EFE4"/>
          </a:solidFill>
          <a:ln w="15240">
            <a:solidFill>
              <a:srgbClr val="7C5F2A"/>
            </a:solidFill>
            <a:prstDash val="solid"/>
          </a:ln>
        </p:spPr>
      </p:sp>
      <p:sp>
        <p:nvSpPr>
          <p:cNvPr id="5" name="Shape 3"/>
          <p:cNvSpPr/>
          <p:nvPr/>
        </p:nvSpPr>
        <p:spPr>
          <a:xfrm>
            <a:off x="960120" y="2203704"/>
            <a:ext cx="621792" cy="621792"/>
          </a:xfrm>
          <a:prstGeom prst="ellipse">
            <a:avLst/>
          </a:prstGeom>
          <a:solidFill>
            <a:srgbClr val="5A4420"/>
          </a:solidFill>
          <a:ln/>
        </p:spPr>
      </p:sp>
      <p:sp>
        <p:nvSpPr>
          <p:cNvPr id="6" name="Text 4"/>
          <p:cNvSpPr/>
          <p:nvPr/>
        </p:nvSpPr>
        <p:spPr>
          <a:xfrm>
            <a:off x="960120" y="2203704"/>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1</a:t>
            </a:r>
            <a:endParaRPr lang="en-US" sz="2200" dirty="0"/>
          </a:p>
        </p:txBody>
      </p:sp>
      <p:sp>
        <p:nvSpPr>
          <p:cNvPr id="7" name="Text 5"/>
          <p:cNvSpPr/>
          <p:nvPr/>
        </p:nvSpPr>
        <p:spPr>
          <a:xfrm>
            <a:off x="1828800" y="2029968"/>
            <a:ext cx="9418320" cy="411480"/>
          </a:xfrm>
          <a:prstGeom prst="rect">
            <a:avLst/>
          </a:prstGeom>
          <a:noFill/>
          <a:ln/>
        </p:spPr>
        <p:txBody>
          <a:bodyPr wrap="square" lIns="0" tIns="0" rIns="0" bIns="0" rtlCol="0" anchor="ctr"/>
          <a:lstStyle/>
          <a:p>
            <a:pPr indent="0" marL="0">
              <a:buNone/>
            </a:pPr>
            <a:r>
              <a:rPr lang="en-US" sz="1700" b="1" dirty="0">
                <a:solidFill>
                  <a:srgbClr val="231D13"/>
                </a:solidFill>
                <a:latin typeface="Calibri" pitchFamily="34" charset="0"/>
                <a:ea typeface="Calibri" pitchFamily="34" charset="-122"/>
                <a:cs typeface="Calibri" pitchFamily="34" charset="-120"/>
              </a:rPr>
              <a:t>SAFE, CAUTION or DANGER per shaft</a:t>
            </a:r>
            <a:endParaRPr lang="en-US" sz="1700" dirty="0"/>
          </a:p>
        </p:txBody>
      </p:sp>
      <p:sp>
        <p:nvSpPr>
          <p:cNvPr id="8" name="Text 6"/>
          <p:cNvSpPr/>
          <p:nvPr/>
        </p:nvSpPr>
        <p:spPr>
          <a:xfrm>
            <a:off x="1828800" y="2450592"/>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6E6248"/>
                </a:solidFill>
                <a:latin typeface="Calibri" pitchFamily="34" charset="0"/>
                <a:ea typeface="Calibri" pitchFamily="34" charset="-122"/>
                <a:cs typeface="Calibri" pitchFamily="34" charset="-120"/>
              </a:rPr>
              <a:t>Each shaft carries a single live verdict rolled up from methane, CO, dust, vibration and airflow against their hard limits.</a:t>
            </a:r>
            <a:endParaRPr lang="en-US" sz="1300" dirty="0"/>
          </a:p>
        </p:txBody>
      </p:sp>
      <p:sp>
        <p:nvSpPr>
          <p:cNvPr id="9" name="Shape 7"/>
          <p:cNvSpPr/>
          <p:nvPr/>
        </p:nvSpPr>
        <p:spPr>
          <a:xfrm>
            <a:off x="640080" y="3401568"/>
            <a:ext cx="5303520" cy="2606040"/>
          </a:xfrm>
          <a:prstGeom prst="roundRect">
            <a:avLst>
              <a:gd name="adj" fmla="val 3509"/>
            </a:avLst>
          </a:prstGeom>
          <a:solidFill>
            <a:srgbClr val="F4EFE4"/>
          </a:solidFill>
          <a:ln w="15240">
            <a:solidFill>
              <a:srgbClr val="7C5F2A"/>
            </a:solidFill>
            <a:prstDash val="solid"/>
          </a:ln>
        </p:spPr>
      </p:sp>
      <p:sp>
        <p:nvSpPr>
          <p:cNvPr id="10" name="Shape 8"/>
          <p:cNvSpPr/>
          <p:nvPr/>
        </p:nvSpPr>
        <p:spPr>
          <a:xfrm>
            <a:off x="914400" y="3675888"/>
            <a:ext cx="603504" cy="603504"/>
          </a:xfrm>
          <a:prstGeom prst="ellipse">
            <a:avLst/>
          </a:prstGeom>
          <a:solidFill>
            <a:srgbClr val="5A4420"/>
          </a:solidFill>
          <a:ln/>
        </p:spPr>
      </p:sp>
      <p:sp>
        <p:nvSpPr>
          <p:cNvPr id="11" name="Text 9"/>
          <p:cNvSpPr/>
          <p:nvPr/>
        </p:nvSpPr>
        <p:spPr>
          <a:xfrm>
            <a:off x="914400" y="367588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2</a:t>
            </a:r>
            <a:endParaRPr lang="en-US" sz="2200" dirty="0"/>
          </a:p>
        </p:txBody>
      </p:sp>
      <p:sp>
        <p:nvSpPr>
          <p:cNvPr id="12" name="Text 10"/>
          <p:cNvSpPr/>
          <p:nvPr/>
        </p:nvSpPr>
        <p:spPr>
          <a:xfrm>
            <a:off x="914400" y="4425696"/>
            <a:ext cx="4754880" cy="777240"/>
          </a:xfrm>
          <a:prstGeom prst="rect">
            <a:avLst/>
          </a:prstGeom>
          <a:noFill/>
          <a:ln/>
        </p:spPr>
        <p:txBody>
          <a:bodyPr wrap="square" lIns="0" tIns="0" rIns="0" bIns="0" rtlCol="0" anchor="ctr"/>
          <a:lstStyle/>
          <a:p>
            <a:pPr indent="0" marL="0">
              <a:buNone/>
            </a:pPr>
            <a:r>
              <a:rPr lang="en-US" sz="1600" b="1" dirty="0">
                <a:solidFill>
                  <a:srgbClr val="231D13"/>
                </a:solidFill>
                <a:latin typeface="Calibri" pitchFamily="34" charset="0"/>
                <a:ea typeface="Calibri" pitchFamily="34" charset="-122"/>
                <a:cs typeface="Calibri" pitchFamily="34" charset="-120"/>
              </a:rPr>
              <a:t>A DANGER classification on real data</a:t>
            </a:r>
            <a:endParaRPr lang="en-US" sz="1600" dirty="0"/>
          </a:p>
        </p:txBody>
      </p:sp>
      <p:sp>
        <p:nvSpPr>
          <p:cNvPr id="13" name="Text 11"/>
          <p:cNvSpPr/>
          <p:nvPr/>
        </p:nvSpPr>
        <p:spPr>
          <a:xfrm>
            <a:off x="914400" y="5184648"/>
            <a:ext cx="4754880" cy="640080"/>
          </a:xfrm>
          <a:prstGeom prst="rect">
            <a:avLst/>
          </a:prstGeom>
          <a:noFill/>
          <a:ln/>
        </p:spPr>
        <p:txBody>
          <a:bodyPr wrap="square" lIns="0" tIns="0" rIns="0" bIns="0" rtlCol="0" anchor="ctr"/>
          <a:lstStyle/>
          <a:p>
            <a:pPr indent="0" marL="0">
              <a:lnSpc>
                <a:spcPct val="106000"/>
              </a:lnSpc>
              <a:buNone/>
            </a:pPr>
            <a:r>
              <a:rPr lang="en-US" sz="1250" dirty="0">
                <a:solidFill>
                  <a:srgbClr val="6E6248"/>
                </a:solidFill>
                <a:latin typeface="Calibri" pitchFamily="34" charset="0"/>
                <a:ea typeface="Calibri" pitchFamily="34" charset="-122"/>
                <a:cs typeface="Calibri" pitchFamily="34" charset="-120"/>
              </a:rPr>
              <a:t>A silica-dust breach classifies shaft-A as DANGER while shaft-B holds SAFE, with zero console or CORS errors.</a:t>
            </a:r>
            <a:endParaRPr lang="en-US" sz="1250" dirty="0"/>
          </a:p>
        </p:txBody>
      </p:sp>
      <p:sp>
        <p:nvSpPr>
          <p:cNvPr id="14" name="Shape 12"/>
          <p:cNvSpPr/>
          <p:nvPr/>
        </p:nvSpPr>
        <p:spPr>
          <a:xfrm>
            <a:off x="6217920" y="3401568"/>
            <a:ext cx="5303520" cy="2606040"/>
          </a:xfrm>
          <a:prstGeom prst="roundRect">
            <a:avLst>
              <a:gd name="adj" fmla="val 3509"/>
            </a:avLst>
          </a:prstGeom>
          <a:solidFill>
            <a:srgbClr val="F4EFE4"/>
          </a:solidFill>
          <a:ln w="15240">
            <a:solidFill>
              <a:srgbClr val="7C5F2A"/>
            </a:solidFill>
            <a:prstDash val="solid"/>
          </a:ln>
        </p:spPr>
      </p:sp>
      <p:sp>
        <p:nvSpPr>
          <p:cNvPr id="15" name="Shape 13"/>
          <p:cNvSpPr/>
          <p:nvPr/>
        </p:nvSpPr>
        <p:spPr>
          <a:xfrm>
            <a:off x="6492240" y="3675888"/>
            <a:ext cx="603504" cy="603504"/>
          </a:xfrm>
          <a:prstGeom prst="ellipse">
            <a:avLst/>
          </a:prstGeom>
          <a:solidFill>
            <a:srgbClr val="5A4420"/>
          </a:solidFill>
          <a:ln/>
        </p:spPr>
      </p:sp>
      <p:sp>
        <p:nvSpPr>
          <p:cNvPr id="16" name="Text 14"/>
          <p:cNvSpPr/>
          <p:nvPr/>
        </p:nvSpPr>
        <p:spPr>
          <a:xfrm>
            <a:off x="6492240" y="367588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3</a:t>
            </a:r>
            <a:endParaRPr lang="en-US" sz="2200" dirty="0"/>
          </a:p>
        </p:txBody>
      </p:sp>
      <p:sp>
        <p:nvSpPr>
          <p:cNvPr id="17" name="Text 15"/>
          <p:cNvSpPr/>
          <p:nvPr/>
        </p:nvSpPr>
        <p:spPr>
          <a:xfrm>
            <a:off x="6492240" y="4425696"/>
            <a:ext cx="4754880" cy="777240"/>
          </a:xfrm>
          <a:prstGeom prst="rect">
            <a:avLst/>
          </a:prstGeom>
          <a:noFill/>
          <a:ln/>
        </p:spPr>
        <p:txBody>
          <a:bodyPr wrap="square" lIns="0" tIns="0" rIns="0" bIns="0" rtlCol="0" anchor="ctr"/>
          <a:lstStyle/>
          <a:p>
            <a:pPr indent="0" marL="0">
              <a:buNone/>
            </a:pPr>
            <a:r>
              <a:rPr lang="en-US" sz="1600" b="1" dirty="0">
                <a:solidFill>
                  <a:srgbClr val="231D13"/>
                </a:solidFill>
                <a:latin typeface="Calibri" pitchFamily="34" charset="0"/>
                <a:ea typeface="Calibri" pitchFamily="34" charset="-122"/>
                <a:cs typeface="Calibri" pitchFamily="34" charset="-120"/>
              </a:rPr>
              <a:t>Data climbing live</a:t>
            </a:r>
            <a:endParaRPr lang="en-US" sz="1600" dirty="0"/>
          </a:p>
        </p:txBody>
      </p:sp>
      <p:sp>
        <p:nvSpPr>
          <p:cNvPr id="18" name="Text 16"/>
          <p:cNvSpPr/>
          <p:nvPr/>
        </p:nvSpPr>
        <p:spPr>
          <a:xfrm>
            <a:off x="6492240" y="5184648"/>
            <a:ext cx="4754880" cy="640080"/>
          </a:xfrm>
          <a:prstGeom prst="rect">
            <a:avLst/>
          </a:prstGeom>
          <a:noFill/>
          <a:ln/>
        </p:spPr>
        <p:txBody>
          <a:bodyPr wrap="square" lIns="0" tIns="0" rIns="0" bIns="0" rtlCol="0" anchor="ctr"/>
          <a:lstStyle/>
          <a:p>
            <a:pPr indent="0" marL="0">
              <a:lnSpc>
                <a:spcPct val="106000"/>
              </a:lnSpc>
              <a:buNone/>
            </a:pPr>
            <a:r>
              <a:rPr lang="en-US" sz="1250" dirty="0">
                <a:solidFill>
                  <a:srgbClr val="6E6248"/>
                </a:solidFill>
                <a:latin typeface="Calibri" pitchFamily="34" charset="0"/>
                <a:ea typeface="Calibri" pitchFamily="34" charset="-122"/>
                <a:cs typeface="Calibri" pitchFamily="34" charset="-120"/>
              </a:rPr>
              <a:t>Stored readings pass 1,400 during the verification window and keep rising, so the board reads live data.</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231D13"/>
                </a:solidFill>
                <a:latin typeface="Times New Roman" pitchFamily="34" charset="0"/>
                <a:ea typeface="Times New Roman" pitchFamily="34" charset="-122"/>
                <a:cs typeface="Times New Roman" pitchFamily="34" charset="-120"/>
              </a:rPr>
              <a:t>Hardest Part — a credential defect the audit caught first</a:t>
            </a:r>
            <a:endParaRPr lang="en-US" sz="2800" dirty="0"/>
          </a:p>
        </p:txBody>
      </p:sp>
      <p:sp>
        <p:nvSpPr>
          <p:cNvPr id="3" name="Shape 1"/>
          <p:cNvSpPr/>
          <p:nvPr/>
        </p:nvSpPr>
        <p:spPr>
          <a:xfrm>
            <a:off x="731520" y="1920240"/>
            <a:ext cx="10698480" cy="1965960"/>
          </a:xfrm>
          <a:prstGeom prst="roundRect">
            <a:avLst>
              <a:gd name="adj" fmla="val 4651"/>
            </a:avLst>
          </a:prstGeom>
          <a:solidFill>
            <a:srgbClr val="F4EFE4"/>
          </a:solidFill>
          <a:ln w="19050">
            <a:solidFill>
              <a:srgbClr val="D9A62E"/>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D9A62E"/>
                </a:solidFill>
                <a:latin typeface="Times New Roman" pitchFamily="34" charset="0"/>
                <a:ea typeface="Times New Roman" pitchFamily="34" charset="-122"/>
                <a:cs typeface="Times New Roman"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231D13"/>
                </a:solidFill>
                <a:latin typeface="Calibri" pitchFamily="34" charset="0"/>
                <a:ea typeface="Calibri" pitchFamily="34" charset="-122"/>
                <a:cs typeface="Calibri" pitchFamily="34" charset="-120"/>
              </a:rPr>
              <a:t>All three AWS-facing classes — dashboard, processor and queue publisher — hardcoded a fixed pair of test credentials into every client they built. LocalStack expects exactly those test values, so all 90 tests passed and every local run looked perfect. On real AWS, the same pair overrides the IAM role, and every call to DynamoDB, SQS or Lambda would fail authentication.</a:t>
            </a:r>
            <a:endParaRPr lang="en-US" sz="1300" dirty="0"/>
          </a:p>
        </p:txBody>
      </p:sp>
      <p:sp>
        <p:nvSpPr>
          <p:cNvPr id="6" name="Shape 4"/>
          <p:cNvSpPr/>
          <p:nvPr/>
        </p:nvSpPr>
        <p:spPr>
          <a:xfrm>
            <a:off x="731520" y="4041648"/>
            <a:ext cx="10698480" cy="1965960"/>
          </a:xfrm>
          <a:prstGeom prst="roundRect">
            <a:avLst>
              <a:gd name="adj" fmla="val 4651"/>
            </a:avLst>
          </a:prstGeom>
          <a:solidFill>
            <a:srgbClr val="F4EFE4"/>
          </a:solidFill>
          <a:ln w="19050">
            <a:solidFill>
              <a:srgbClr val="7C5F2A"/>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7C5F2A"/>
                </a:solidFill>
                <a:latin typeface="Times New Roman" pitchFamily="34" charset="0"/>
                <a:ea typeface="Times New Roman" pitchFamily="34" charset="-122"/>
                <a:cs typeface="Times New Roman"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231D13"/>
                </a:solidFill>
                <a:latin typeface="Calibri" pitchFamily="34" charset="0"/>
                <a:ea typeface="Calibri" pitchFamily="34" charset="-122"/>
                <a:cs typeface="Calibri" pitchFamily="34" charset="-120"/>
              </a:rPr>
              <a:t>Build static credentials only when a LocalStack endpoint is configured; otherwise fall through to the Lambda role or EC2 instance profile. All three constructors were audited side by side before deployment — so the bug never reached the live account, and four of four health checks were true on the very first live check.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2026-07-24T07:20:53Z</dcterms:created>
  <dcterms:modified xsi:type="dcterms:W3CDTF">2026-07-24T07:20:53Z</dcterms:modified>
</cp:coreProperties>
</file>