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34"/>
        </a:solidFill>
      </p:bgPr>
    </p:bg>
    <p:spTree>
      <p:nvGrpSpPr>
        <p:cNvPr id="1" name=""/>
        <p:cNvGrpSpPr/>
        <p:nvPr/>
      </p:nvGrpSpPr>
      <p:grpSpPr>
        <a:xfrm>
          <a:off x="0" y="0"/>
          <a:ext cx="0" cy="0"/>
          <a:chOff x="0" y="0"/>
          <a:chExt cx="0" cy="0"/>
        </a:xfrm>
      </p:grpSpPr>
      <p:sp>
        <p:nvSpPr>
          <p:cNvPr id="2" name="Text 0"/>
          <p:cNvSpPr/>
          <p:nvPr/>
        </p:nvSpPr>
        <p:spPr>
          <a:xfrm>
            <a:off x="640080" y="914400"/>
            <a:ext cx="10972800" cy="128016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Smart Port Container Terminal Monitoring</a:t>
            </a:r>
            <a:endParaRPr lang="en-US" sz="3400" dirty="0"/>
          </a:p>
        </p:txBody>
      </p:sp>
      <p:sp>
        <p:nvSpPr>
          <p:cNvPr id="3" name="Text 1"/>
          <p:cNvSpPr/>
          <p:nvPr/>
        </p:nvSpPr>
        <p:spPr>
          <a:xfrm>
            <a:off x="658368" y="2148840"/>
            <a:ext cx="10972800" cy="365760"/>
          </a:xfrm>
          <a:prstGeom prst="rect">
            <a:avLst/>
          </a:prstGeom>
          <a:noFill/>
          <a:ln/>
        </p:spPr>
        <p:txBody>
          <a:bodyPr wrap="square" rtlCol="0" anchor="ctr"/>
          <a:lstStyle/>
          <a:p>
            <a:pPr indent="0" marL="0">
              <a:buNone/>
            </a:pPr>
            <a:r>
              <a:rPr lang="en-US" sz="1600" dirty="0">
                <a:solidFill>
                  <a:srgbClr val="4F98B8"/>
                </a:solidFill>
                <a:latin typeface="Calibri" pitchFamily="34" charset="0"/>
                <a:ea typeface="Calibri" pitchFamily="34" charset="-122"/>
                <a:cs typeface="Calibri" pitchFamily="34" charset="-120"/>
              </a:rPr>
              <a:t>Uday Kiran Reddy Dodda   ·   X25166484</a:t>
            </a:r>
            <a:endParaRPr lang="en-US" sz="1600" dirty="0"/>
          </a:p>
        </p:txBody>
      </p:sp>
      <p:sp>
        <p:nvSpPr>
          <p:cNvPr id="4" name="Text 2"/>
          <p:cNvSpPr/>
          <p:nvPr/>
        </p:nvSpPr>
        <p:spPr>
          <a:xfrm>
            <a:off x="658368" y="2697480"/>
            <a:ext cx="10424160" cy="1371600"/>
          </a:xfrm>
          <a:prstGeom prst="rect">
            <a:avLst/>
          </a:prstGeom>
          <a:noFill/>
          <a:ln/>
        </p:spPr>
        <p:txBody>
          <a:bodyPr wrap="square" rtlCol="0" anchor="ctr"/>
          <a:lstStyle/>
          <a:p>
            <a:pPr indent="0" marL="0">
              <a:lnSpc>
                <a:spcPct val="110000"/>
              </a:lnSpc>
              <a:buNone/>
            </a:pPr>
            <a:r>
              <a:rPr lang="en-US" sz="2000" dirty="0">
                <a:solidFill>
                  <a:srgbClr val="CFE2EC"/>
                </a:solidFill>
                <a:latin typeface="Calibri" pitchFamily="34" charset="0"/>
                <a:ea typeface="Calibri" pitchFamily="34" charset="-122"/>
                <a:cs typeface="Calibri" pitchFamily="34" charset="-120"/>
              </a:rPr>
              <a:t>The dangerous moments at a quayside are transient — one gust over the wind limit, one overloaded lift, one reefer drifting warm — and a paper log catches them only after the fact.</a:t>
            </a:r>
            <a:endParaRPr lang="en-US" sz="2000" dirty="0"/>
          </a:p>
        </p:txBody>
      </p:sp>
      <p:sp>
        <p:nvSpPr>
          <p:cNvPr id="5" name="Shape 3"/>
          <p:cNvSpPr/>
          <p:nvPr/>
        </p:nvSpPr>
        <p:spPr>
          <a:xfrm>
            <a:off x="658368" y="4206240"/>
            <a:ext cx="2651760" cy="566928"/>
          </a:xfrm>
          <a:prstGeom prst="roundRect">
            <a:avLst>
              <a:gd name="adj" fmla="val 50000"/>
            </a:avLst>
          </a:prstGeom>
          <a:solidFill>
            <a:srgbClr val="163A4E"/>
          </a:solidFill>
          <a:ln w="12700">
            <a:solidFill>
              <a:srgbClr val="E4A63C"/>
            </a:solidFill>
            <a:prstDash val="solid"/>
          </a:ln>
        </p:spPr>
      </p:sp>
      <p:sp>
        <p:nvSpPr>
          <p:cNvPr id="6" name="Text 4"/>
          <p:cNvSpPr/>
          <p:nvPr/>
        </p:nvSpPr>
        <p:spPr>
          <a:xfrm>
            <a:off x="658368" y="4206240"/>
            <a:ext cx="2651760" cy="566928"/>
          </a:xfrm>
          <a:prstGeom prst="rect">
            <a:avLst/>
          </a:prstGeom>
          <a:noFill/>
          <a:ln/>
        </p:spPr>
        <p:txBody>
          <a:bodyPr wrap="square" lIns="0" tIns="0" rIns="0" bIns="0" rtlCol="0" anchor="ctr"/>
          <a:lstStyle/>
          <a:p>
            <a:pPr algn="ctr" indent="0" marL="0">
              <a:buNone/>
            </a:pPr>
            <a:r>
              <a:rPr lang="en-US" sz="1400" b="1" dirty="0">
                <a:solidFill>
                  <a:srgbClr val="E4A63C"/>
                </a:solidFill>
                <a:latin typeface="Calibri" pitchFamily="34" charset="0"/>
                <a:ea typeface="Calibri" pitchFamily="34" charset="-122"/>
                <a:cs typeface="Calibri" pitchFamily="34" charset="-120"/>
              </a:rPr>
              <a:t>Wind &gt; 34 kn halts lifts</a:t>
            </a:r>
            <a:endParaRPr lang="en-US" sz="1400" dirty="0"/>
          </a:p>
        </p:txBody>
      </p:sp>
      <p:sp>
        <p:nvSpPr>
          <p:cNvPr id="7" name="Shape 5"/>
          <p:cNvSpPr/>
          <p:nvPr/>
        </p:nvSpPr>
        <p:spPr>
          <a:xfrm>
            <a:off x="3538728" y="4206240"/>
            <a:ext cx="2651760" cy="566928"/>
          </a:xfrm>
          <a:prstGeom prst="roundRect">
            <a:avLst>
              <a:gd name="adj" fmla="val 50000"/>
            </a:avLst>
          </a:prstGeom>
          <a:solidFill>
            <a:srgbClr val="163A4E"/>
          </a:solidFill>
          <a:ln w="12700">
            <a:solidFill>
              <a:srgbClr val="E4A63C"/>
            </a:solidFill>
            <a:prstDash val="solid"/>
          </a:ln>
        </p:spPr>
      </p:sp>
      <p:sp>
        <p:nvSpPr>
          <p:cNvPr id="8" name="Text 6"/>
          <p:cNvSpPr/>
          <p:nvPr/>
        </p:nvSpPr>
        <p:spPr>
          <a:xfrm>
            <a:off x="3538728" y="4206240"/>
            <a:ext cx="2651760" cy="566928"/>
          </a:xfrm>
          <a:prstGeom prst="rect">
            <a:avLst/>
          </a:prstGeom>
          <a:noFill/>
          <a:ln/>
        </p:spPr>
        <p:txBody>
          <a:bodyPr wrap="square" lIns="0" tIns="0" rIns="0" bIns="0" rtlCol="0" anchor="ctr"/>
          <a:lstStyle/>
          <a:p>
            <a:pPr algn="ctr" indent="0" marL="0">
              <a:buNone/>
            </a:pPr>
            <a:r>
              <a:rPr lang="en-US" sz="1400" b="1" dirty="0">
                <a:solidFill>
                  <a:srgbClr val="E4A63C"/>
                </a:solidFill>
                <a:latin typeface="Calibri" pitchFamily="34" charset="0"/>
                <a:ea typeface="Calibri" pitchFamily="34" charset="-122"/>
                <a:cs typeface="Calibri" pitchFamily="34" charset="-120"/>
              </a:rPr>
              <a:t>Crane load &gt; 32,000 kg</a:t>
            </a:r>
            <a:endParaRPr lang="en-US" sz="1400" dirty="0"/>
          </a:p>
        </p:txBody>
      </p:sp>
      <p:sp>
        <p:nvSpPr>
          <p:cNvPr id="9" name="Shape 7"/>
          <p:cNvSpPr/>
          <p:nvPr/>
        </p:nvSpPr>
        <p:spPr>
          <a:xfrm>
            <a:off x="6419088" y="4206240"/>
            <a:ext cx="2651760" cy="566928"/>
          </a:xfrm>
          <a:prstGeom prst="roundRect">
            <a:avLst>
              <a:gd name="adj" fmla="val 50000"/>
            </a:avLst>
          </a:prstGeom>
          <a:solidFill>
            <a:srgbClr val="163A4E"/>
          </a:solidFill>
          <a:ln w="12700">
            <a:solidFill>
              <a:srgbClr val="E4A63C"/>
            </a:solidFill>
            <a:prstDash val="solid"/>
          </a:ln>
        </p:spPr>
      </p:sp>
      <p:sp>
        <p:nvSpPr>
          <p:cNvPr id="10" name="Text 8"/>
          <p:cNvSpPr/>
          <p:nvPr/>
        </p:nvSpPr>
        <p:spPr>
          <a:xfrm>
            <a:off x="6419088" y="4206240"/>
            <a:ext cx="2651760" cy="566928"/>
          </a:xfrm>
          <a:prstGeom prst="rect">
            <a:avLst/>
          </a:prstGeom>
          <a:noFill/>
          <a:ln/>
        </p:spPr>
        <p:txBody>
          <a:bodyPr wrap="square" lIns="0" tIns="0" rIns="0" bIns="0" rtlCol="0" anchor="ctr"/>
          <a:lstStyle/>
          <a:p>
            <a:pPr algn="ctr" indent="0" marL="0">
              <a:buNone/>
            </a:pPr>
            <a:r>
              <a:rPr lang="en-US" sz="1400" b="1" dirty="0">
                <a:solidFill>
                  <a:srgbClr val="E4A63C"/>
                </a:solidFill>
                <a:latin typeface="Calibri" pitchFamily="34" charset="0"/>
                <a:ea typeface="Calibri" pitchFamily="34" charset="-122"/>
                <a:cs typeface="Calibri" pitchFamily="34" charset="-120"/>
              </a:rPr>
              <a:t>Reefer &gt; −10 °C</a:t>
            </a:r>
            <a:endParaRPr lang="en-US" sz="1400" dirty="0"/>
          </a:p>
        </p:txBody>
      </p:sp>
      <p:sp>
        <p:nvSpPr>
          <p:cNvPr id="11" name="Text 9"/>
          <p:cNvSpPr/>
          <p:nvPr/>
        </p:nvSpPr>
        <p:spPr>
          <a:xfrm>
            <a:off x="658368" y="6126480"/>
            <a:ext cx="10972800" cy="365760"/>
          </a:xfrm>
          <a:prstGeom prst="rect">
            <a:avLst/>
          </a:prstGeom>
          <a:noFill/>
          <a:ln/>
        </p:spPr>
        <p:txBody>
          <a:bodyPr wrap="square" rtlCol="0" anchor="ctr"/>
          <a:lstStyle/>
          <a:p>
            <a:pPr indent="0" marL="0">
              <a:buNone/>
            </a:pPr>
            <a:r>
              <a:rPr lang="en-US" sz="1300" dirty="0">
                <a:solidFill>
                  <a:srgbClr val="567480"/>
                </a:solidFill>
                <a:latin typeface="Calibri" pitchFamily="34" charset="0"/>
                <a:ea typeface="Calibri" pitchFamily="34" charset="-122"/>
                <a:cs typeface="Calibri" pitchFamily="34" charset="-120"/>
              </a:rPr>
              <a:t>Fog &amp; Edge Computing (H9FECC)   ·   deployed live on AWS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000" b="1" dirty="0">
                <a:solidFill>
                  <a:srgbClr val="112634"/>
                </a:solidFill>
                <a:latin typeface="Cambria" pitchFamily="34" charset="0"/>
                <a:ea typeface="Cambria" pitchFamily="34" charset="-122"/>
                <a:cs typeface="Cambria" pitchFamily="34" charset="-120"/>
              </a:rPr>
              <a:t>What I Built — Sensors to Live Dashboard</a:t>
            </a:r>
            <a:endParaRPr lang="en-US" sz="3000" dirty="0"/>
          </a:p>
        </p:txBody>
      </p:sp>
      <p:sp>
        <p:nvSpPr>
          <p:cNvPr id="3" name="Shape 1"/>
          <p:cNvSpPr/>
          <p:nvPr/>
        </p:nvSpPr>
        <p:spPr>
          <a:xfrm>
            <a:off x="640080" y="2468880"/>
            <a:ext cx="1572768" cy="1371600"/>
          </a:xfrm>
          <a:prstGeom prst="roundRect">
            <a:avLst>
              <a:gd name="adj" fmla="val 6667"/>
            </a:avLst>
          </a:prstGeom>
          <a:solidFill>
            <a:srgbClr val="EDF4F8"/>
          </a:solidFill>
          <a:ln w="19050">
            <a:solidFill>
              <a:srgbClr val="4F98B8"/>
            </a:solidFill>
            <a:prstDash val="solid"/>
          </a:ln>
        </p:spPr>
      </p:sp>
      <p:sp>
        <p:nvSpPr>
          <p:cNvPr id="4" name="Shape 2"/>
          <p:cNvSpPr/>
          <p:nvPr/>
        </p:nvSpPr>
        <p:spPr>
          <a:xfrm>
            <a:off x="1325880" y="2670048"/>
            <a:ext cx="201168" cy="201168"/>
          </a:xfrm>
          <a:prstGeom prst="ellipse">
            <a:avLst/>
          </a:prstGeom>
          <a:solidFill>
            <a:srgbClr val="4F98B8"/>
          </a:solidFill>
          <a:ln/>
        </p:spPr>
      </p:sp>
      <p:sp>
        <p:nvSpPr>
          <p:cNvPr id="5" name="Text 3"/>
          <p:cNvSpPr/>
          <p:nvPr/>
        </p:nvSpPr>
        <p:spPr>
          <a:xfrm>
            <a:off x="594360" y="2926080"/>
            <a:ext cx="1664208" cy="411480"/>
          </a:xfrm>
          <a:prstGeom prst="rect">
            <a:avLst/>
          </a:prstGeom>
          <a:noFill/>
          <a:ln/>
        </p:spPr>
        <p:txBody>
          <a:bodyPr wrap="square" lIns="0" tIns="0" rIns="0" bIns="0" rtlCol="0" anchor="ctr"/>
          <a:lstStyle/>
          <a:p>
            <a:pPr algn="ctr" indent="0" marL="0">
              <a:buNone/>
            </a:pPr>
            <a:r>
              <a:rPr lang="en-US" sz="1450" b="1" dirty="0">
                <a:solidFill>
                  <a:srgbClr val="112634"/>
                </a:solidFill>
                <a:latin typeface="Calibri" pitchFamily="34" charset="0"/>
                <a:ea typeface="Calibri" pitchFamily="34" charset="-122"/>
                <a:cs typeface="Calibri" pitchFamily="34" charset="-120"/>
              </a:rPr>
              <a:t>Berth sensors</a:t>
            </a:r>
            <a:endParaRPr lang="en-US" sz="1450" dirty="0"/>
          </a:p>
        </p:txBody>
      </p:sp>
      <p:sp>
        <p:nvSpPr>
          <p:cNvPr id="6" name="Text 4"/>
          <p:cNvSpPr/>
          <p:nvPr/>
        </p:nvSpPr>
        <p:spPr>
          <a:xfrm>
            <a:off x="621792" y="3310128"/>
            <a:ext cx="1609344" cy="457200"/>
          </a:xfrm>
          <a:prstGeom prst="rect">
            <a:avLst/>
          </a:prstGeom>
          <a:noFill/>
          <a:ln/>
        </p:spPr>
        <p:txBody>
          <a:bodyPr wrap="square" lIns="0" tIns="0" rIns="0" bIns="0" rtlCol="0" anchor="t"/>
          <a:lstStyle/>
          <a:p>
            <a:pPr algn="ctr" indent="0" marL="0">
              <a:buNone/>
            </a:pPr>
            <a:r>
              <a:rPr lang="en-US" sz="1050" dirty="0">
                <a:solidFill>
                  <a:srgbClr val="567480"/>
                </a:solidFill>
                <a:latin typeface="Calibri" pitchFamily="34" charset="0"/>
                <a:ea typeface="Calibri" pitchFamily="34" charset="-122"/>
                <a:cs typeface="Calibri" pitchFamily="34" charset="-120"/>
              </a:rPr>
              <a:t>10 · 2 berths</a:t>
            </a:r>
            <a:endParaRPr lang="en-US" sz="1050" dirty="0"/>
          </a:p>
        </p:txBody>
      </p:sp>
      <p:sp>
        <p:nvSpPr>
          <p:cNvPr id="7" name="Shape 5"/>
          <p:cNvSpPr/>
          <p:nvPr/>
        </p:nvSpPr>
        <p:spPr>
          <a:xfrm>
            <a:off x="2231136" y="3154680"/>
            <a:ext cx="258409" cy="0"/>
          </a:xfrm>
          <a:prstGeom prst="line">
            <a:avLst/>
          </a:prstGeom>
          <a:noFill/>
          <a:ln w="25400">
            <a:solidFill>
              <a:srgbClr val="4F98B8"/>
            </a:solidFill>
            <a:prstDash val="solid"/>
            <a:tailEnd type="triangle"/>
          </a:ln>
        </p:spPr>
      </p:sp>
      <p:sp>
        <p:nvSpPr>
          <p:cNvPr id="8" name="Shape 6"/>
          <p:cNvSpPr/>
          <p:nvPr/>
        </p:nvSpPr>
        <p:spPr>
          <a:xfrm>
            <a:off x="2507833" y="2468880"/>
            <a:ext cx="1572768" cy="1371600"/>
          </a:xfrm>
          <a:prstGeom prst="roundRect">
            <a:avLst>
              <a:gd name="adj" fmla="val 6667"/>
            </a:avLst>
          </a:prstGeom>
          <a:solidFill>
            <a:srgbClr val="EDF4F8"/>
          </a:solidFill>
          <a:ln w="19050">
            <a:solidFill>
              <a:srgbClr val="4F98B8"/>
            </a:solidFill>
            <a:prstDash val="solid"/>
          </a:ln>
        </p:spPr>
      </p:sp>
      <p:sp>
        <p:nvSpPr>
          <p:cNvPr id="9" name="Shape 7"/>
          <p:cNvSpPr/>
          <p:nvPr/>
        </p:nvSpPr>
        <p:spPr>
          <a:xfrm>
            <a:off x="3193633" y="2670048"/>
            <a:ext cx="201168" cy="201168"/>
          </a:xfrm>
          <a:prstGeom prst="ellipse">
            <a:avLst/>
          </a:prstGeom>
          <a:solidFill>
            <a:srgbClr val="4F98B8"/>
          </a:solidFill>
          <a:ln/>
        </p:spPr>
      </p:sp>
      <p:sp>
        <p:nvSpPr>
          <p:cNvPr id="10" name="Text 8"/>
          <p:cNvSpPr/>
          <p:nvPr/>
        </p:nvSpPr>
        <p:spPr>
          <a:xfrm>
            <a:off x="2462113" y="2926080"/>
            <a:ext cx="1664208" cy="411480"/>
          </a:xfrm>
          <a:prstGeom prst="rect">
            <a:avLst/>
          </a:prstGeom>
          <a:noFill/>
          <a:ln/>
        </p:spPr>
        <p:txBody>
          <a:bodyPr wrap="square" lIns="0" tIns="0" rIns="0" bIns="0" rtlCol="0" anchor="ctr"/>
          <a:lstStyle/>
          <a:p>
            <a:pPr algn="ctr" indent="0" marL="0">
              <a:buNone/>
            </a:pPr>
            <a:r>
              <a:rPr lang="en-US" sz="1450" b="1" dirty="0">
                <a:solidFill>
                  <a:srgbClr val="112634"/>
                </a:solidFill>
                <a:latin typeface="Calibri" pitchFamily="34" charset="0"/>
                <a:ea typeface="Calibri" pitchFamily="34" charset="-122"/>
                <a:cs typeface="Calibri" pitchFamily="34" charset="-120"/>
              </a:rPr>
              <a:t>Fog node</a:t>
            </a:r>
            <a:endParaRPr lang="en-US" sz="1450" dirty="0"/>
          </a:p>
        </p:txBody>
      </p:sp>
      <p:sp>
        <p:nvSpPr>
          <p:cNvPr id="11" name="Text 9"/>
          <p:cNvSpPr/>
          <p:nvPr/>
        </p:nvSpPr>
        <p:spPr>
          <a:xfrm>
            <a:off x="2489545" y="3310128"/>
            <a:ext cx="1609344" cy="457200"/>
          </a:xfrm>
          <a:prstGeom prst="rect">
            <a:avLst/>
          </a:prstGeom>
          <a:noFill/>
          <a:ln/>
        </p:spPr>
        <p:txBody>
          <a:bodyPr wrap="square" lIns="0" tIns="0" rIns="0" bIns="0" rtlCol="0" anchor="t"/>
          <a:lstStyle/>
          <a:p>
            <a:pPr algn="ctr" indent="0" marL="0">
              <a:buNone/>
            </a:pPr>
            <a:r>
              <a:rPr lang="en-US" sz="1050" dirty="0">
                <a:solidFill>
                  <a:srgbClr val="567480"/>
                </a:solidFill>
                <a:latin typeface="Calibri" pitchFamily="34" charset="0"/>
                <a:ea typeface="Calibri" pitchFamily="34" charset="-122"/>
                <a:cs typeface="Calibri" pitchFamily="34" charset="-120"/>
              </a:rPr>
              <a:t>windows · safety rules</a:t>
            </a:r>
            <a:endParaRPr lang="en-US" sz="1050" dirty="0"/>
          </a:p>
        </p:txBody>
      </p:sp>
      <p:sp>
        <p:nvSpPr>
          <p:cNvPr id="12" name="Shape 10"/>
          <p:cNvSpPr/>
          <p:nvPr/>
        </p:nvSpPr>
        <p:spPr>
          <a:xfrm>
            <a:off x="4098889" y="3154680"/>
            <a:ext cx="258409" cy="0"/>
          </a:xfrm>
          <a:prstGeom prst="line">
            <a:avLst/>
          </a:prstGeom>
          <a:noFill/>
          <a:ln w="25400">
            <a:solidFill>
              <a:srgbClr val="4F98B8"/>
            </a:solidFill>
            <a:prstDash val="solid"/>
            <a:tailEnd type="triangle"/>
          </a:ln>
        </p:spPr>
      </p:sp>
      <p:sp>
        <p:nvSpPr>
          <p:cNvPr id="13" name="Shape 11"/>
          <p:cNvSpPr/>
          <p:nvPr/>
        </p:nvSpPr>
        <p:spPr>
          <a:xfrm>
            <a:off x="4375587" y="2468880"/>
            <a:ext cx="1572768" cy="1371600"/>
          </a:xfrm>
          <a:prstGeom prst="roundRect">
            <a:avLst>
              <a:gd name="adj" fmla="val 6667"/>
            </a:avLst>
          </a:prstGeom>
          <a:solidFill>
            <a:srgbClr val="EDF4F8"/>
          </a:solidFill>
          <a:ln w="19050">
            <a:solidFill>
              <a:srgbClr val="124C6E"/>
            </a:solidFill>
            <a:prstDash val="solid"/>
          </a:ln>
        </p:spPr>
      </p:sp>
      <p:sp>
        <p:nvSpPr>
          <p:cNvPr id="14" name="Shape 12"/>
          <p:cNvSpPr/>
          <p:nvPr/>
        </p:nvSpPr>
        <p:spPr>
          <a:xfrm>
            <a:off x="5061387" y="2670048"/>
            <a:ext cx="201168" cy="201168"/>
          </a:xfrm>
          <a:prstGeom prst="ellipse">
            <a:avLst/>
          </a:prstGeom>
          <a:solidFill>
            <a:srgbClr val="124C6E"/>
          </a:solidFill>
          <a:ln/>
        </p:spPr>
      </p:sp>
      <p:sp>
        <p:nvSpPr>
          <p:cNvPr id="15" name="Text 13"/>
          <p:cNvSpPr/>
          <p:nvPr/>
        </p:nvSpPr>
        <p:spPr>
          <a:xfrm>
            <a:off x="4329867" y="2926080"/>
            <a:ext cx="1664208" cy="411480"/>
          </a:xfrm>
          <a:prstGeom prst="rect">
            <a:avLst/>
          </a:prstGeom>
          <a:noFill/>
          <a:ln/>
        </p:spPr>
        <p:txBody>
          <a:bodyPr wrap="square" lIns="0" tIns="0" rIns="0" bIns="0" rtlCol="0" anchor="ctr"/>
          <a:lstStyle/>
          <a:p>
            <a:pPr algn="ctr" indent="0" marL="0">
              <a:buNone/>
            </a:pPr>
            <a:r>
              <a:rPr lang="en-US" sz="1450" b="1" dirty="0">
                <a:solidFill>
                  <a:srgbClr val="112634"/>
                </a:solidFill>
                <a:latin typeface="Calibri" pitchFamily="34" charset="0"/>
                <a:ea typeface="Calibri" pitchFamily="34" charset="-122"/>
                <a:cs typeface="Calibri" pitchFamily="34" charset="-120"/>
              </a:rPr>
              <a:t>Amazon SQS</a:t>
            </a:r>
            <a:endParaRPr lang="en-US" sz="1450" dirty="0"/>
          </a:p>
        </p:txBody>
      </p:sp>
      <p:sp>
        <p:nvSpPr>
          <p:cNvPr id="16" name="Text 14"/>
          <p:cNvSpPr/>
          <p:nvPr/>
        </p:nvSpPr>
        <p:spPr>
          <a:xfrm>
            <a:off x="4357299" y="3310128"/>
            <a:ext cx="1609344" cy="457200"/>
          </a:xfrm>
          <a:prstGeom prst="rect">
            <a:avLst/>
          </a:prstGeom>
          <a:noFill/>
          <a:ln/>
        </p:spPr>
        <p:txBody>
          <a:bodyPr wrap="square" lIns="0" tIns="0" rIns="0" bIns="0" rtlCol="0" anchor="t"/>
          <a:lstStyle/>
          <a:p>
            <a:pPr algn="ctr" indent="0" marL="0">
              <a:buNone/>
            </a:pPr>
            <a:r>
              <a:rPr lang="en-US" sz="1050" dirty="0">
                <a:solidFill>
                  <a:srgbClr val="567480"/>
                </a:solidFill>
                <a:latin typeface="Calibri" pitchFamily="34" charset="0"/>
                <a:ea typeface="Calibri" pitchFamily="34" charset="-122"/>
                <a:cs typeface="Calibri" pitchFamily="34" charset="-120"/>
              </a:rPr>
              <a:t>1 batched msg / cycle</a:t>
            </a:r>
            <a:endParaRPr lang="en-US" sz="1050" dirty="0"/>
          </a:p>
        </p:txBody>
      </p:sp>
      <p:sp>
        <p:nvSpPr>
          <p:cNvPr id="17" name="Shape 15"/>
          <p:cNvSpPr/>
          <p:nvPr/>
        </p:nvSpPr>
        <p:spPr>
          <a:xfrm>
            <a:off x="5966643" y="3154680"/>
            <a:ext cx="258409" cy="0"/>
          </a:xfrm>
          <a:prstGeom prst="line">
            <a:avLst/>
          </a:prstGeom>
          <a:noFill/>
          <a:ln w="25400">
            <a:solidFill>
              <a:srgbClr val="4F98B8"/>
            </a:solidFill>
            <a:prstDash val="solid"/>
            <a:tailEnd type="triangle"/>
          </a:ln>
        </p:spPr>
      </p:sp>
      <p:sp>
        <p:nvSpPr>
          <p:cNvPr id="18" name="Shape 16"/>
          <p:cNvSpPr/>
          <p:nvPr/>
        </p:nvSpPr>
        <p:spPr>
          <a:xfrm>
            <a:off x="6243340" y="2468880"/>
            <a:ext cx="1572768" cy="1371600"/>
          </a:xfrm>
          <a:prstGeom prst="roundRect">
            <a:avLst>
              <a:gd name="adj" fmla="val 6667"/>
            </a:avLst>
          </a:prstGeom>
          <a:solidFill>
            <a:srgbClr val="EDF4F8"/>
          </a:solidFill>
          <a:ln w="19050">
            <a:solidFill>
              <a:srgbClr val="124C6E"/>
            </a:solidFill>
            <a:prstDash val="solid"/>
          </a:ln>
        </p:spPr>
      </p:sp>
      <p:sp>
        <p:nvSpPr>
          <p:cNvPr id="19" name="Shape 17"/>
          <p:cNvSpPr/>
          <p:nvPr/>
        </p:nvSpPr>
        <p:spPr>
          <a:xfrm>
            <a:off x="6929140" y="2670048"/>
            <a:ext cx="201168" cy="201168"/>
          </a:xfrm>
          <a:prstGeom prst="ellipse">
            <a:avLst/>
          </a:prstGeom>
          <a:solidFill>
            <a:srgbClr val="124C6E"/>
          </a:solidFill>
          <a:ln/>
        </p:spPr>
      </p:sp>
      <p:sp>
        <p:nvSpPr>
          <p:cNvPr id="20" name="Text 18"/>
          <p:cNvSpPr/>
          <p:nvPr/>
        </p:nvSpPr>
        <p:spPr>
          <a:xfrm>
            <a:off x="6197620" y="2926080"/>
            <a:ext cx="1664208" cy="411480"/>
          </a:xfrm>
          <a:prstGeom prst="rect">
            <a:avLst/>
          </a:prstGeom>
          <a:noFill/>
          <a:ln/>
        </p:spPr>
        <p:txBody>
          <a:bodyPr wrap="square" lIns="0" tIns="0" rIns="0" bIns="0" rtlCol="0" anchor="ctr"/>
          <a:lstStyle/>
          <a:p>
            <a:pPr algn="ctr" indent="0" marL="0">
              <a:buNone/>
            </a:pPr>
            <a:r>
              <a:rPr lang="en-US" sz="1450" b="1" dirty="0">
                <a:solidFill>
                  <a:srgbClr val="112634"/>
                </a:solidFill>
                <a:latin typeface="Calibri" pitchFamily="34" charset="0"/>
                <a:ea typeface="Calibri" pitchFamily="34" charset="-122"/>
                <a:cs typeface="Calibri" pitchFamily="34" charset="-120"/>
              </a:rPr>
              <a:t>AWS Lambda</a:t>
            </a:r>
            <a:endParaRPr lang="en-US" sz="1450" dirty="0"/>
          </a:p>
        </p:txBody>
      </p:sp>
      <p:sp>
        <p:nvSpPr>
          <p:cNvPr id="21" name="Text 19"/>
          <p:cNvSpPr/>
          <p:nvPr/>
        </p:nvSpPr>
        <p:spPr>
          <a:xfrm>
            <a:off x="6225052" y="3310128"/>
            <a:ext cx="1609344" cy="457200"/>
          </a:xfrm>
          <a:prstGeom prst="rect">
            <a:avLst/>
          </a:prstGeom>
          <a:noFill/>
          <a:ln/>
        </p:spPr>
        <p:txBody>
          <a:bodyPr wrap="square" lIns="0" tIns="0" rIns="0" bIns="0" rtlCol="0" anchor="t"/>
          <a:lstStyle/>
          <a:p>
            <a:pPr algn="ctr" indent="0" marL="0">
              <a:buNone/>
            </a:pPr>
            <a:r>
              <a:rPr lang="en-US" sz="1050" dirty="0">
                <a:solidFill>
                  <a:srgbClr val="567480"/>
                </a:solidFill>
                <a:latin typeface="Calibri" pitchFamily="34" charset="0"/>
                <a:ea typeface="Calibri" pitchFamily="34" charset="-122"/>
                <a:cs typeface="Calibri" pitchFamily="34" charset="-120"/>
              </a:rPr>
              <a:t>java17 ingest</a:t>
            </a:r>
            <a:endParaRPr lang="en-US" sz="1050" dirty="0"/>
          </a:p>
        </p:txBody>
      </p:sp>
      <p:sp>
        <p:nvSpPr>
          <p:cNvPr id="22" name="Shape 20"/>
          <p:cNvSpPr/>
          <p:nvPr/>
        </p:nvSpPr>
        <p:spPr>
          <a:xfrm>
            <a:off x="7834396" y="3154680"/>
            <a:ext cx="258409" cy="0"/>
          </a:xfrm>
          <a:prstGeom prst="line">
            <a:avLst/>
          </a:prstGeom>
          <a:noFill/>
          <a:ln w="25400">
            <a:solidFill>
              <a:srgbClr val="4F98B8"/>
            </a:solidFill>
            <a:prstDash val="solid"/>
            <a:tailEnd type="triangle"/>
          </a:ln>
        </p:spPr>
      </p:sp>
      <p:sp>
        <p:nvSpPr>
          <p:cNvPr id="23" name="Shape 21"/>
          <p:cNvSpPr/>
          <p:nvPr/>
        </p:nvSpPr>
        <p:spPr>
          <a:xfrm>
            <a:off x="8111094" y="2468880"/>
            <a:ext cx="1572768" cy="1371600"/>
          </a:xfrm>
          <a:prstGeom prst="roundRect">
            <a:avLst>
              <a:gd name="adj" fmla="val 6667"/>
            </a:avLst>
          </a:prstGeom>
          <a:solidFill>
            <a:srgbClr val="EDF4F8"/>
          </a:solidFill>
          <a:ln w="19050">
            <a:solidFill>
              <a:srgbClr val="124C6E"/>
            </a:solidFill>
            <a:prstDash val="solid"/>
          </a:ln>
        </p:spPr>
      </p:sp>
      <p:sp>
        <p:nvSpPr>
          <p:cNvPr id="24" name="Shape 22"/>
          <p:cNvSpPr/>
          <p:nvPr/>
        </p:nvSpPr>
        <p:spPr>
          <a:xfrm>
            <a:off x="8796894" y="2670048"/>
            <a:ext cx="201168" cy="201168"/>
          </a:xfrm>
          <a:prstGeom prst="ellipse">
            <a:avLst/>
          </a:prstGeom>
          <a:solidFill>
            <a:srgbClr val="124C6E"/>
          </a:solidFill>
          <a:ln/>
        </p:spPr>
      </p:sp>
      <p:sp>
        <p:nvSpPr>
          <p:cNvPr id="25" name="Text 23"/>
          <p:cNvSpPr/>
          <p:nvPr/>
        </p:nvSpPr>
        <p:spPr>
          <a:xfrm>
            <a:off x="8065374" y="2926080"/>
            <a:ext cx="1664208" cy="411480"/>
          </a:xfrm>
          <a:prstGeom prst="rect">
            <a:avLst/>
          </a:prstGeom>
          <a:noFill/>
          <a:ln/>
        </p:spPr>
        <p:txBody>
          <a:bodyPr wrap="square" lIns="0" tIns="0" rIns="0" bIns="0" rtlCol="0" anchor="ctr"/>
          <a:lstStyle/>
          <a:p>
            <a:pPr algn="ctr" indent="0" marL="0">
              <a:buNone/>
            </a:pPr>
            <a:r>
              <a:rPr lang="en-US" sz="1450" b="1" dirty="0">
                <a:solidFill>
                  <a:srgbClr val="112634"/>
                </a:solidFill>
                <a:latin typeface="Calibri" pitchFamily="34" charset="0"/>
                <a:ea typeface="Calibri" pitchFamily="34" charset="-122"/>
                <a:cs typeface="Calibri" pitchFamily="34" charset="-120"/>
              </a:rPr>
              <a:t>DynamoDB</a:t>
            </a:r>
            <a:endParaRPr lang="en-US" sz="1450" dirty="0"/>
          </a:p>
        </p:txBody>
      </p:sp>
      <p:sp>
        <p:nvSpPr>
          <p:cNvPr id="26" name="Text 24"/>
          <p:cNvSpPr/>
          <p:nvPr/>
        </p:nvSpPr>
        <p:spPr>
          <a:xfrm>
            <a:off x="8092806" y="3310128"/>
            <a:ext cx="1609344" cy="457200"/>
          </a:xfrm>
          <a:prstGeom prst="rect">
            <a:avLst/>
          </a:prstGeom>
          <a:noFill/>
          <a:ln/>
        </p:spPr>
        <p:txBody>
          <a:bodyPr wrap="square" lIns="0" tIns="0" rIns="0" bIns="0" rtlCol="0" anchor="t"/>
          <a:lstStyle/>
          <a:p>
            <a:pPr algn="ctr" indent="0" marL="0">
              <a:buNone/>
            </a:pPr>
            <a:r>
              <a:rPr lang="en-US" sz="1050" dirty="0">
                <a:solidFill>
                  <a:srgbClr val="567480"/>
                </a:solidFill>
                <a:latin typeface="Calibri" pitchFamily="34" charset="0"/>
                <a:ea typeface="Calibri" pitchFamily="34" charset="-122"/>
                <a:cs typeface="Calibri" pitchFamily="34" charset="-120"/>
              </a:rPr>
              <a:t>time-ordered store</a:t>
            </a:r>
            <a:endParaRPr lang="en-US" sz="1050" dirty="0"/>
          </a:p>
        </p:txBody>
      </p:sp>
      <p:sp>
        <p:nvSpPr>
          <p:cNvPr id="27" name="Shape 25"/>
          <p:cNvSpPr/>
          <p:nvPr/>
        </p:nvSpPr>
        <p:spPr>
          <a:xfrm>
            <a:off x="9702150" y="3154680"/>
            <a:ext cx="258409" cy="0"/>
          </a:xfrm>
          <a:prstGeom prst="line">
            <a:avLst/>
          </a:prstGeom>
          <a:noFill/>
          <a:ln w="25400">
            <a:solidFill>
              <a:srgbClr val="4F98B8"/>
            </a:solidFill>
            <a:prstDash val="solid"/>
            <a:tailEnd type="triangle"/>
          </a:ln>
        </p:spPr>
      </p:sp>
      <p:sp>
        <p:nvSpPr>
          <p:cNvPr id="28" name="Shape 26"/>
          <p:cNvSpPr/>
          <p:nvPr/>
        </p:nvSpPr>
        <p:spPr>
          <a:xfrm>
            <a:off x="9978847" y="2468880"/>
            <a:ext cx="1572768" cy="1371600"/>
          </a:xfrm>
          <a:prstGeom prst="roundRect">
            <a:avLst>
              <a:gd name="adj" fmla="val 6667"/>
            </a:avLst>
          </a:prstGeom>
          <a:solidFill>
            <a:srgbClr val="EDF4F8"/>
          </a:solidFill>
          <a:ln w="19050">
            <a:solidFill>
              <a:srgbClr val="1E739A"/>
            </a:solidFill>
            <a:prstDash val="solid"/>
          </a:ln>
        </p:spPr>
      </p:sp>
      <p:sp>
        <p:nvSpPr>
          <p:cNvPr id="29" name="Shape 27"/>
          <p:cNvSpPr/>
          <p:nvPr/>
        </p:nvSpPr>
        <p:spPr>
          <a:xfrm>
            <a:off x="10664647" y="2670048"/>
            <a:ext cx="201168" cy="201168"/>
          </a:xfrm>
          <a:prstGeom prst="ellipse">
            <a:avLst/>
          </a:prstGeom>
          <a:solidFill>
            <a:srgbClr val="1E739A"/>
          </a:solidFill>
          <a:ln/>
        </p:spPr>
      </p:sp>
      <p:sp>
        <p:nvSpPr>
          <p:cNvPr id="30" name="Text 28"/>
          <p:cNvSpPr/>
          <p:nvPr/>
        </p:nvSpPr>
        <p:spPr>
          <a:xfrm>
            <a:off x="9933127" y="2926080"/>
            <a:ext cx="1664208" cy="411480"/>
          </a:xfrm>
          <a:prstGeom prst="rect">
            <a:avLst/>
          </a:prstGeom>
          <a:noFill/>
          <a:ln/>
        </p:spPr>
        <p:txBody>
          <a:bodyPr wrap="square" lIns="0" tIns="0" rIns="0" bIns="0" rtlCol="0" anchor="ctr"/>
          <a:lstStyle/>
          <a:p>
            <a:pPr algn="ctr" indent="0" marL="0">
              <a:buNone/>
            </a:pPr>
            <a:r>
              <a:rPr lang="en-US" sz="1450" b="1" dirty="0">
                <a:solidFill>
                  <a:srgbClr val="112634"/>
                </a:solidFill>
                <a:latin typeface="Calibri" pitchFamily="34" charset="0"/>
                <a:ea typeface="Calibri" pitchFamily="34" charset="-122"/>
                <a:cs typeface="Calibri" pitchFamily="34" charset="-120"/>
              </a:rPr>
              <a:t>API GW + S3</a:t>
            </a:r>
            <a:endParaRPr lang="en-US" sz="1450" dirty="0"/>
          </a:p>
        </p:txBody>
      </p:sp>
      <p:sp>
        <p:nvSpPr>
          <p:cNvPr id="31" name="Text 29"/>
          <p:cNvSpPr/>
          <p:nvPr/>
        </p:nvSpPr>
        <p:spPr>
          <a:xfrm>
            <a:off x="9960559" y="3310128"/>
            <a:ext cx="1609344" cy="457200"/>
          </a:xfrm>
          <a:prstGeom prst="rect">
            <a:avLst/>
          </a:prstGeom>
          <a:noFill/>
          <a:ln/>
        </p:spPr>
        <p:txBody>
          <a:bodyPr wrap="square" lIns="0" tIns="0" rIns="0" bIns="0" rtlCol="0" anchor="t"/>
          <a:lstStyle/>
          <a:p>
            <a:pPr algn="ctr" indent="0" marL="0">
              <a:buNone/>
            </a:pPr>
            <a:r>
              <a:rPr lang="en-US" sz="1050" dirty="0">
                <a:solidFill>
                  <a:srgbClr val="567480"/>
                </a:solidFill>
                <a:latin typeface="Calibri" pitchFamily="34" charset="0"/>
                <a:ea typeface="Calibri" pitchFamily="34" charset="-122"/>
                <a:cs typeface="Calibri" pitchFamily="34" charset="-120"/>
              </a:rPr>
              <a:t>live view</a:t>
            </a:r>
            <a:endParaRPr lang="en-US" sz="1050" dirty="0"/>
          </a:p>
        </p:txBody>
      </p:sp>
      <p:sp>
        <p:nvSpPr>
          <p:cNvPr id="32" name="Text 30"/>
          <p:cNvSpPr/>
          <p:nvPr/>
        </p:nvSpPr>
        <p:spPr>
          <a:xfrm>
            <a:off x="640080" y="3977640"/>
            <a:ext cx="3440521" cy="274320"/>
          </a:xfrm>
          <a:prstGeom prst="rect">
            <a:avLst/>
          </a:prstGeom>
          <a:noFill/>
          <a:ln/>
        </p:spPr>
        <p:txBody>
          <a:bodyPr wrap="square" rtlCol="0" anchor="ctr"/>
          <a:lstStyle/>
          <a:p>
            <a:pPr algn="ctr" indent="0" marL="0">
              <a:buNone/>
            </a:pPr>
            <a:r>
              <a:rPr lang="en-US" sz="1100" b="1" spc="200" kern="0" dirty="0">
                <a:solidFill>
                  <a:srgbClr val="4F98B8"/>
                </a:solidFill>
                <a:latin typeface="Calibri" pitchFamily="34" charset="0"/>
                <a:ea typeface="Calibri" pitchFamily="34" charset="-122"/>
                <a:cs typeface="Calibri" pitchFamily="34" charset="-120"/>
              </a:rPr>
              <a:t>EDGE</a:t>
            </a:r>
            <a:endParaRPr lang="en-US" sz="1100" dirty="0"/>
          </a:p>
        </p:txBody>
      </p:sp>
      <p:sp>
        <p:nvSpPr>
          <p:cNvPr id="33" name="Text 31"/>
          <p:cNvSpPr/>
          <p:nvPr/>
        </p:nvSpPr>
        <p:spPr>
          <a:xfrm>
            <a:off x="4375587" y="3977640"/>
            <a:ext cx="7176028" cy="274320"/>
          </a:xfrm>
          <a:prstGeom prst="rect">
            <a:avLst/>
          </a:prstGeom>
          <a:noFill/>
          <a:ln/>
        </p:spPr>
        <p:txBody>
          <a:bodyPr wrap="square" rtlCol="0" anchor="ctr"/>
          <a:lstStyle/>
          <a:p>
            <a:pPr algn="ctr" indent="0" marL="0">
              <a:buNone/>
            </a:pPr>
            <a:r>
              <a:rPr lang="en-US" sz="1100" b="1" spc="200" kern="0" dirty="0">
                <a:solidFill>
                  <a:srgbClr val="124C6E"/>
                </a:solidFill>
                <a:latin typeface="Calibri" pitchFamily="34" charset="0"/>
                <a:ea typeface="Calibri" pitchFamily="34" charset="-122"/>
                <a:cs typeface="Calibri" pitchFamily="34" charset="-120"/>
              </a:rPr>
              <a:t>CLOUD</a:t>
            </a:r>
            <a:endParaRPr lang="en-US" sz="1100" dirty="0"/>
          </a:p>
        </p:txBody>
      </p:sp>
      <p:sp>
        <p:nvSpPr>
          <p:cNvPr id="34" name="Text 32"/>
          <p:cNvSpPr/>
          <p:nvPr/>
        </p:nvSpPr>
        <p:spPr>
          <a:xfrm>
            <a:off x="640080" y="5212080"/>
            <a:ext cx="10972800" cy="640080"/>
          </a:xfrm>
          <a:prstGeom prst="rect">
            <a:avLst/>
          </a:prstGeom>
          <a:noFill/>
          <a:ln/>
        </p:spPr>
        <p:txBody>
          <a:bodyPr wrap="square" rtlCol="0" anchor="ctr"/>
          <a:lstStyle/>
          <a:p>
            <a:pPr algn="ctr" indent="0" marL="0">
              <a:buNone/>
            </a:pPr>
            <a:r>
              <a:rPr lang="en-US" sz="1500" i="1" dirty="0">
                <a:solidFill>
                  <a:srgbClr val="124C6E"/>
                </a:solidFill>
                <a:latin typeface="Calibri" pitchFamily="34" charset="0"/>
                <a:ea typeface="Calibri" pitchFamily="34" charset="-122"/>
                <a:cs typeface="Calibri" pitchFamily="34" charset="-120"/>
              </a:rPr>
              <a:t>Every ten-second window collapses raw readings into one aggregate per sensor per berth, and the safety rules fire right there, so raw noise never leaves the terminal.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000" b="1" dirty="0">
                <a:solidFill>
                  <a:srgbClr val="112634"/>
                </a:solidFill>
                <a:latin typeface="Cambria" pitchFamily="34" charset="0"/>
                <a:ea typeface="Cambria" pitchFamily="34" charset="-122"/>
                <a:cs typeface="Cambria" pitchFamily="34" charset="-120"/>
              </a:rPr>
              <a:t>Live Demo</a:t>
            </a:r>
            <a:endParaRPr lang="en-US" sz="3000" dirty="0"/>
          </a:p>
        </p:txBody>
      </p:sp>
      <p:sp>
        <p:nvSpPr>
          <p:cNvPr id="3" name="Text 1"/>
          <p:cNvSpPr/>
          <p:nvPr/>
        </p:nvSpPr>
        <p:spPr>
          <a:xfrm>
            <a:off x="658368" y="1143000"/>
            <a:ext cx="10972800" cy="365760"/>
          </a:xfrm>
          <a:prstGeom prst="rect">
            <a:avLst/>
          </a:prstGeom>
          <a:noFill/>
          <a:ln/>
        </p:spPr>
        <p:txBody>
          <a:bodyPr wrap="square" rtlCol="0" anchor="ctr"/>
          <a:lstStyle/>
          <a:p>
            <a:pPr indent="0" marL="0">
              <a:buNone/>
            </a:pPr>
            <a:r>
              <a:rPr lang="en-US" sz="1400" dirty="0">
                <a:solidFill>
                  <a:srgbClr val="1E739A"/>
                </a:solidFill>
                <a:latin typeface="Consolas" pitchFamily="34" charset="0"/>
                <a:ea typeface="Consolas" pitchFamily="34" charset="-122"/>
                <a:cs typeface="Consolas" pitchFamily="34" charset="-120"/>
              </a:rPr>
              <a:t>spc-frontend-659211701832.s3.us-east-1.amazonaws.com</a:t>
            </a:r>
            <a:endParaRPr lang="en-US" sz="1400" dirty="0"/>
          </a:p>
        </p:txBody>
      </p:sp>
      <p:sp>
        <p:nvSpPr>
          <p:cNvPr id="4" name="Shape 2"/>
          <p:cNvSpPr/>
          <p:nvPr/>
        </p:nvSpPr>
        <p:spPr>
          <a:xfrm>
            <a:off x="731520" y="1965960"/>
            <a:ext cx="685800" cy="685800"/>
          </a:xfrm>
          <a:prstGeom prst="ellipse">
            <a:avLst/>
          </a:prstGeom>
          <a:solidFill>
            <a:srgbClr val="124C6E"/>
          </a:solidFill>
          <a:ln/>
        </p:spPr>
      </p:sp>
      <p:sp>
        <p:nvSpPr>
          <p:cNvPr id="5" name="Text 3"/>
          <p:cNvSpPr/>
          <p:nvPr/>
        </p:nvSpPr>
        <p:spPr>
          <a:xfrm>
            <a:off x="731520" y="196596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1691640" y="1920240"/>
            <a:ext cx="9875520" cy="411480"/>
          </a:xfrm>
          <a:prstGeom prst="rect">
            <a:avLst/>
          </a:prstGeom>
          <a:noFill/>
          <a:ln/>
        </p:spPr>
        <p:txBody>
          <a:bodyPr wrap="square" lIns="0" tIns="0" rIns="0" bIns="0" rtlCol="0" anchor="ctr"/>
          <a:lstStyle/>
          <a:p>
            <a:pPr indent="0" marL="0">
              <a:buNone/>
            </a:pPr>
            <a:r>
              <a:rPr lang="en-US" sz="1800" b="1" dirty="0">
                <a:solidFill>
                  <a:srgbClr val="112634"/>
                </a:solidFill>
                <a:latin typeface="Calibri" pitchFamily="34" charset="0"/>
                <a:ea typeface="Calibri" pitchFamily="34" charset="-122"/>
                <a:cs typeface="Calibri" pitchFamily="34" charset="-120"/>
              </a:rPr>
              <a:t>Pipeline health, all green</a:t>
            </a:r>
            <a:endParaRPr lang="en-US" sz="1800" dirty="0"/>
          </a:p>
        </p:txBody>
      </p:sp>
      <p:sp>
        <p:nvSpPr>
          <p:cNvPr id="7" name="Text 5"/>
          <p:cNvSpPr/>
          <p:nvPr/>
        </p:nvSpPr>
        <p:spPr>
          <a:xfrm>
            <a:off x="1691640" y="2340864"/>
            <a:ext cx="9875520" cy="640080"/>
          </a:xfrm>
          <a:prstGeom prst="rect">
            <a:avLst/>
          </a:prstGeom>
          <a:noFill/>
          <a:ln/>
        </p:spPr>
        <p:txBody>
          <a:bodyPr wrap="square" lIns="0" tIns="0" rIns="0" bIns="0" rtlCol="0" anchor="ctr"/>
          <a:lstStyle/>
          <a:p>
            <a:pPr indent="0" marL="0">
              <a:buNone/>
            </a:pPr>
            <a:r>
              <a:rPr lang="en-US" sz="1350" dirty="0">
                <a:solidFill>
                  <a:srgbClr val="567480"/>
                </a:solidFill>
                <a:latin typeface="Calibri" pitchFamily="34" charset="0"/>
                <a:ea typeface="Calibri" pitchFamily="34" charset="-122"/>
                <a:cs typeface="Calibri" pitchFamily="34" charset="-120"/>
              </a:rPr>
              <a:t>Four of four checks green on the real AWS account, freshest data only seconds old.</a:t>
            </a:r>
            <a:endParaRPr lang="en-US" sz="1350" dirty="0"/>
          </a:p>
        </p:txBody>
      </p:sp>
      <p:sp>
        <p:nvSpPr>
          <p:cNvPr id="8" name="Shape 6"/>
          <p:cNvSpPr/>
          <p:nvPr/>
        </p:nvSpPr>
        <p:spPr>
          <a:xfrm>
            <a:off x="731520" y="3383280"/>
            <a:ext cx="685800" cy="685800"/>
          </a:xfrm>
          <a:prstGeom prst="ellipse">
            <a:avLst/>
          </a:prstGeom>
          <a:solidFill>
            <a:srgbClr val="124C6E"/>
          </a:solidFill>
          <a:ln/>
        </p:spPr>
      </p:sp>
      <p:sp>
        <p:nvSpPr>
          <p:cNvPr id="9" name="Text 7"/>
          <p:cNvSpPr/>
          <p:nvPr/>
        </p:nvSpPr>
        <p:spPr>
          <a:xfrm>
            <a:off x="731520" y="33832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1691640" y="3337560"/>
            <a:ext cx="9875520" cy="411480"/>
          </a:xfrm>
          <a:prstGeom prst="rect">
            <a:avLst/>
          </a:prstGeom>
          <a:noFill/>
          <a:ln/>
        </p:spPr>
        <p:txBody>
          <a:bodyPr wrap="square" lIns="0" tIns="0" rIns="0" bIns="0" rtlCol="0" anchor="ctr"/>
          <a:lstStyle/>
          <a:p>
            <a:pPr indent="0" marL="0">
              <a:buNone/>
            </a:pPr>
            <a:r>
              <a:rPr lang="en-US" sz="1800" b="1" dirty="0">
                <a:solidFill>
                  <a:srgbClr val="112634"/>
                </a:solidFill>
                <a:latin typeface="Calibri" pitchFamily="34" charset="0"/>
                <a:ea typeface="Calibri" pitchFamily="34" charset="-122"/>
                <a:cs typeface="Calibri" pitchFamily="34" charset="-120"/>
              </a:rPr>
              <a:t>Two berths, live</a:t>
            </a:r>
            <a:endParaRPr lang="en-US" sz="1800" dirty="0"/>
          </a:p>
        </p:txBody>
      </p:sp>
      <p:sp>
        <p:nvSpPr>
          <p:cNvPr id="11" name="Text 9"/>
          <p:cNvSpPr/>
          <p:nvPr/>
        </p:nvSpPr>
        <p:spPr>
          <a:xfrm>
            <a:off x="1691640" y="3758184"/>
            <a:ext cx="9875520" cy="640080"/>
          </a:xfrm>
          <a:prstGeom prst="rect">
            <a:avLst/>
          </a:prstGeom>
          <a:noFill/>
          <a:ln/>
        </p:spPr>
        <p:txBody>
          <a:bodyPr wrap="square" lIns="0" tIns="0" rIns="0" bIns="0" rtlCol="0" anchor="ctr"/>
          <a:lstStyle/>
          <a:p>
            <a:pPr indent="0" marL="0">
              <a:buNone/>
            </a:pPr>
            <a:r>
              <a:rPr lang="en-US" sz="1350" dirty="0">
                <a:solidFill>
                  <a:srgbClr val="567480"/>
                </a:solidFill>
                <a:latin typeface="Calibri" pitchFamily="34" charset="0"/>
                <a:ea typeface="Calibri" pitchFamily="34" charset="-122"/>
                <a:cs typeface="Calibri" pitchFamily="34" charset="-120"/>
              </a:rPr>
              <a:t>Crane, wind and cold-chain alerts across two berths, every alert tracing to a real code-defined threshold.</a:t>
            </a:r>
            <a:endParaRPr lang="en-US" sz="1350" dirty="0"/>
          </a:p>
        </p:txBody>
      </p:sp>
      <p:sp>
        <p:nvSpPr>
          <p:cNvPr id="12" name="Shape 10"/>
          <p:cNvSpPr/>
          <p:nvPr/>
        </p:nvSpPr>
        <p:spPr>
          <a:xfrm>
            <a:off x="731520" y="4800600"/>
            <a:ext cx="685800" cy="685800"/>
          </a:xfrm>
          <a:prstGeom prst="ellipse">
            <a:avLst/>
          </a:prstGeom>
          <a:solidFill>
            <a:srgbClr val="124C6E"/>
          </a:solidFill>
          <a:ln/>
        </p:spPr>
      </p:sp>
      <p:sp>
        <p:nvSpPr>
          <p:cNvPr id="13" name="Text 11"/>
          <p:cNvSpPr/>
          <p:nvPr/>
        </p:nvSpPr>
        <p:spPr>
          <a:xfrm>
            <a:off x="731520" y="48006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1691640" y="4754880"/>
            <a:ext cx="9875520" cy="411480"/>
          </a:xfrm>
          <a:prstGeom prst="rect">
            <a:avLst/>
          </a:prstGeom>
          <a:noFill/>
          <a:ln/>
        </p:spPr>
        <p:txBody>
          <a:bodyPr wrap="square" lIns="0" tIns="0" rIns="0" bIns="0" rtlCol="0" anchor="ctr"/>
          <a:lstStyle/>
          <a:p>
            <a:pPr indent="0" marL="0">
              <a:buNone/>
            </a:pPr>
            <a:r>
              <a:rPr lang="en-US" sz="1800" b="1" dirty="0">
                <a:solidFill>
                  <a:srgbClr val="112634"/>
                </a:solidFill>
                <a:latin typeface="Calibri" pitchFamily="34" charset="0"/>
                <a:ea typeface="Calibri" pitchFamily="34" charset="-122"/>
                <a:cs typeface="Calibri" pitchFamily="34" charset="-120"/>
              </a:rPr>
              <a:t>Tested and scales</a:t>
            </a:r>
            <a:endParaRPr lang="en-US" sz="1800" dirty="0"/>
          </a:p>
        </p:txBody>
      </p:sp>
      <p:sp>
        <p:nvSpPr>
          <p:cNvPr id="15" name="Text 13"/>
          <p:cNvSpPr/>
          <p:nvPr/>
        </p:nvSpPr>
        <p:spPr>
          <a:xfrm>
            <a:off x="1691640" y="5175504"/>
            <a:ext cx="9875520" cy="640080"/>
          </a:xfrm>
          <a:prstGeom prst="rect">
            <a:avLst/>
          </a:prstGeom>
          <a:noFill/>
          <a:ln/>
        </p:spPr>
        <p:txBody>
          <a:bodyPr wrap="square" lIns="0" tIns="0" rIns="0" bIns="0" rtlCol="0" anchor="ctr"/>
          <a:lstStyle/>
          <a:p>
            <a:pPr indent="0" marL="0">
              <a:buNone/>
            </a:pPr>
            <a:r>
              <a:rPr lang="en-US" sz="1350" dirty="0">
                <a:solidFill>
                  <a:srgbClr val="567480"/>
                </a:solidFill>
                <a:latin typeface="Calibri" pitchFamily="34" charset="0"/>
                <a:ea typeface="Calibri" pitchFamily="34" charset="-122"/>
                <a:cs typeface="Calibri" pitchFamily="34" charset="-120"/>
              </a:rPr>
              <a:t>95 automated tests pass across the sensor, fog, processor and dashboard modules; a 2,000-message burst drains fully.</a:t>
            </a:r>
            <a:endParaRPr lang="en-US" sz="1350" dirty="0"/>
          </a:p>
        </p:txBody>
      </p:sp>
      <p:sp>
        <p:nvSpPr>
          <p:cNvPr id="16" name="Text 14"/>
          <p:cNvSpPr/>
          <p:nvPr/>
        </p:nvSpPr>
        <p:spPr>
          <a:xfrm>
            <a:off x="640080" y="6263640"/>
            <a:ext cx="10972800" cy="365760"/>
          </a:xfrm>
          <a:prstGeom prst="rect">
            <a:avLst/>
          </a:prstGeom>
          <a:noFill/>
          <a:ln/>
        </p:spPr>
        <p:txBody>
          <a:bodyPr wrap="square" rtlCol="0" anchor="ctr"/>
          <a:lstStyle/>
          <a:p>
            <a:pPr indent="0" marL="0">
              <a:buNone/>
            </a:pPr>
            <a:r>
              <a:rPr lang="en-US" sz="1300" i="1" dirty="0">
                <a:solidFill>
                  <a:srgbClr val="4F98B8"/>
                </a:solidFill>
                <a:latin typeface="Calibri" pitchFamily="34" charset="0"/>
                <a:ea typeface="Calibri" pitchFamily="34" charset="-122"/>
                <a:cs typeface="Calibri" pitchFamily="34" charset="-120"/>
              </a:rPr>
              <a:t>Switch to the live dashboard here — backup video ready.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534"/>
        </a:solidFill>
      </p:bgPr>
    </p:bg>
    <p:spTree>
      <p:nvGrpSpPr>
        <p:cNvPr id="1" name=""/>
        <p:cNvGrpSpPr/>
        <p:nvPr/>
      </p:nvGrpSpPr>
      <p:grpSpPr>
        <a:xfrm>
          <a:off x="0" y="0"/>
          <a:ext cx="0" cy="0"/>
          <a:chOff x="0" y="0"/>
          <a:chExt cx="0" cy="0"/>
        </a:xfrm>
      </p:grpSpPr>
      <p:sp>
        <p:nvSpPr>
          <p:cNvPr id="2" name="Text 0"/>
          <p:cNvSpPr/>
          <p:nvPr/>
        </p:nvSpPr>
        <p:spPr>
          <a:xfrm>
            <a:off x="640080" y="640080"/>
            <a:ext cx="109728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Hardest Part — a numbered-ticket window boundary</a:t>
            </a:r>
            <a:endParaRPr lang="en-US" sz="3000" dirty="0"/>
          </a:p>
        </p:txBody>
      </p:sp>
      <p:sp>
        <p:nvSpPr>
          <p:cNvPr id="3" name="Shape 1"/>
          <p:cNvSpPr/>
          <p:nvPr/>
        </p:nvSpPr>
        <p:spPr>
          <a:xfrm>
            <a:off x="731520" y="1920240"/>
            <a:ext cx="10698480" cy="1965960"/>
          </a:xfrm>
          <a:prstGeom prst="roundRect">
            <a:avLst>
              <a:gd name="adj" fmla="val 4651"/>
            </a:avLst>
          </a:prstGeom>
          <a:solidFill>
            <a:srgbClr val="184556"/>
          </a:solidFill>
          <a:ln w="15875">
            <a:solidFill>
              <a:srgbClr val="E4A63C"/>
            </a:solidFill>
            <a:prstDash val="solid"/>
          </a:ln>
        </p:spPr>
      </p:sp>
      <p:sp>
        <p:nvSpPr>
          <p:cNvPr id="4" name="Text 2"/>
          <p:cNvSpPr/>
          <p:nvPr/>
        </p:nvSpPr>
        <p:spPr>
          <a:xfrm>
            <a:off x="1005840" y="2103120"/>
            <a:ext cx="3657600" cy="457200"/>
          </a:xfrm>
          <a:prstGeom prst="rect">
            <a:avLst/>
          </a:prstGeom>
          <a:noFill/>
          <a:ln/>
        </p:spPr>
        <p:txBody>
          <a:bodyPr wrap="square" lIns="0" tIns="0" rIns="0" bIns="0" rtlCol="0" anchor="ctr"/>
          <a:lstStyle/>
          <a:p>
            <a:pPr indent="0" marL="0">
              <a:buNone/>
            </a:pPr>
            <a:r>
              <a:rPr lang="en-US" sz="1900" b="1" dirty="0">
                <a:solidFill>
                  <a:srgbClr val="E4A63C"/>
                </a:solidFill>
                <a:latin typeface="Cambria" pitchFamily="34" charset="0"/>
                <a:ea typeface="Cambria" pitchFamily="34" charset="-122"/>
                <a:cs typeface="Cambria" pitchFamily="34" charset="-120"/>
              </a:rPr>
              <a:t>Problem</a:t>
            </a:r>
            <a:endParaRPr lang="en-US" sz="1900" dirty="0"/>
          </a:p>
        </p:txBody>
      </p:sp>
      <p:sp>
        <p:nvSpPr>
          <p:cNvPr id="5" name="Text 3"/>
          <p:cNvSpPr/>
          <p:nvPr/>
        </p:nvSpPr>
        <p:spPr>
          <a:xfrm>
            <a:off x="1005840" y="2578608"/>
            <a:ext cx="9966960" cy="1188720"/>
          </a:xfrm>
          <a:prstGeom prst="rect">
            <a:avLst/>
          </a:prstGeom>
          <a:noFill/>
          <a:ln/>
        </p:spPr>
        <p:txBody>
          <a:bodyPr wrap="square" lIns="0" tIns="0" rIns="0" bIns="0" rtlCol="0" anchor="ctr"/>
          <a:lstStyle/>
          <a:p>
            <a:pPr indent="0" marL="0">
              <a:lnSpc>
                <a:spcPct val="105000"/>
              </a:lnSpc>
              <a:buNone/>
            </a:pPr>
            <a:r>
              <a:rPr lang="en-US" sz="1300" dirty="0">
                <a:solidFill>
                  <a:srgbClr val="CFE2EC"/>
                </a:solidFill>
                <a:latin typeface="Calibri" pitchFamily="34" charset="0"/>
                <a:ea typeface="Calibri" pitchFamily="34" charset="-122"/>
                <a:cs typeface="Calibri" pitchFamily="34" charset="-120"/>
              </a:rPr>
              <a:t>Every ten seconds the fog node must close the current window and publish aggregates, while ten sensors keep posting new readings into the very same buffer. Lock the buffer and ingest stalls on every flush; clear it naively and any reading that lands mid-drain is lost, or counted twice in the next window.</a:t>
            </a:r>
            <a:endParaRPr lang="en-US" sz="1300" dirty="0"/>
          </a:p>
        </p:txBody>
      </p:sp>
      <p:sp>
        <p:nvSpPr>
          <p:cNvPr id="6" name="Shape 4"/>
          <p:cNvSpPr/>
          <p:nvPr/>
        </p:nvSpPr>
        <p:spPr>
          <a:xfrm>
            <a:off x="731520" y="4041648"/>
            <a:ext cx="10698480" cy="1965960"/>
          </a:xfrm>
          <a:prstGeom prst="roundRect">
            <a:avLst>
              <a:gd name="adj" fmla="val 4651"/>
            </a:avLst>
          </a:prstGeom>
          <a:solidFill>
            <a:srgbClr val="184556"/>
          </a:solidFill>
          <a:ln w="15875">
            <a:solidFill>
              <a:srgbClr val="4F98B8"/>
            </a:solidFill>
            <a:prstDash val="solid"/>
          </a:ln>
        </p:spPr>
      </p:sp>
      <p:sp>
        <p:nvSpPr>
          <p:cNvPr id="7" name="Text 5"/>
          <p:cNvSpPr/>
          <p:nvPr/>
        </p:nvSpPr>
        <p:spPr>
          <a:xfrm>
            <a:off x="1005840" y="4224528"/>
            <a:ext cx="3657600" cy="457200"/>
          </a:xfrm>
          <a:prstGeom prst="rect">
            <a:avLst/>
          </a:prstGeom>
          <a:noFill/>
          <a:ln/>
        </p:spPr>
        <p:txBody>
          <a:bodyPr wrap="square" lIns="0" tIns="0" rIns="0" bIns="0" rtlCol="0" anchor="ctr"/>
          <a:lstStyle/>
          <a:p>
            <a:pPr indent="0" marL="0">
              <a:buNone/>
            </a:pPr>
            <a:r>
              <a:rPr lang="en-US" sz="1900" b="1" dirty="0">
                <a:solidFill>
                  <a:srgbClr val="4F98B8"/>
                </a:solidFill>
                <a:latin typeface="Cambria" pitchFamily="34" charset="0"/>
                <a:ea typeface="Cambria" pitchFamily="34" charset="-122"/>
                <a:cs typeface="Cambria" pitchFamily="34" charset="-120"/>
              </a:rPr>
              <a:t>Solution</a:t>
            </a:r>
            <a:endParaRPr lang="en-US" sz="1900" dirty="0"/>
          </a:p>
        </p:txBody>
      </p:sp>
      <p:sp>
        <p:nvSpPr>
          <p:cNvPr id="8" name="Text 6"/>
          <p:cNvSpPr/>
          <p:nvPr/>
        </p:nvSpPr>
        <p:spPr>
          <a:xfrm>
            <a:off x="1005840" y="4700016"/>
            <a:ext cx="9966960" cy="1188720"/>
          </a:xfrm>
          <a:prstGeom prst="rect">
            <a:avLst/>
          </a:prstGeom>
          <a:noFill/>
          <a:ln/>
        </p:spPr>
        <p:txBody>
          <a:bodyPr wrap="square" lIns="0" tIns="0" rIns="0" bIns="0" rtlCol="0" anchor="ctr"/>
          <a:lstStyle/>
          <a:p>
            <a:pPr indent="0" marL="0">
              <a:lnSpc>
                <a:spcPct val="105000"/>
              </a:lnSpc>
              <a:buNone/>
            </a:pPr>
            <a:r>
              <a:rPr lang="en-US" sz="1300" dirty="0">
                <a:solidFill>
                  <a:srgbClr val="CFE2EC"/>
                </a:solidFill>
                <a:latin typeface="Calibri" pitchFamily="34" charset="0"/>
                <a:ea typeface="Calibri" pitchFamily="34" charset="-122"/>
                <a:cs typeface="Calibri" pitchFamily="34" charset="-120"/>
              </a:rPr>
              <a:t>Every reading takes a numbered ticket on arrival. A flush snapshots the latest number as a boundary, then aggregates and removes only readings below it. Later arrivals roll into the next window — no locks, nothing lost, nothing counted twice. Backed by the fog module's 48 automated tests, including ingest exercised over a real HTTP server.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2026-07-24T06:34:26Z</dcterms:created>
  <dcterms:modified xsi:type="dcterms:W3CDTF">2026-07-24T06:34:26Z</dcterms:modified>
</cp:coreProperties>
</file>