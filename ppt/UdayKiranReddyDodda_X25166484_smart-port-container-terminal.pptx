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534"/>
        </a:solidFill>
      </p:bgPr>
    </p:bg>
    <p:spTree>
      <p:nvGrpSpPr>
        <p:cNvPr id="1" name=""/>
        <p:cNvGrpSpPr/>
        <p:nvPr/>
      </p:nvGrpSpPr>
      <p:grpSpPr>
        <a:xfrm>
          <a:off x="0" y="0"/>
          <a:ext cx="0" cy="0"/>
          <a:chOff x="0" y="0"/>
          <a:chExt cx="0" cy="0"/>
        </a:xfrm>
      </p:grpSpPr>
      <p:sp>
        <p:nvSpPr>
          <p:cNvPr id="2" name="Shape 0"/>
          <p:cNvSpPr/>
          <p:nvPr/>
        </p:nvSpPr>
        <p:spPr>
          <a:xfrm>
            <a:off x="7528255" y="0"/>
            <a:ext cx="4663440" cy="6858000"/>
          </a:xfrm>
          <a:prstGeom prst="rect">
            <a:avLst/>
          </a:prstGeom>
          <a:solidFill>
            <a:srgbClr val="124C6E"/>
          </a:solidFill>
          <a:ln/>
        </p:spPr>
      </p:sp>
      <p:sp>
        <p:nvSpPr>
          <p:cNvPr id="3" name="Text 1"/>
          <p:cNvSpPr/>
          <p:nvPr/>
        </p:nvSpPr>
        <p:spPr>
          <a:xfrm>
            <a:off x="7939735" y="1280160"/>
            <a:ext cx="3749040" cy="2377440"/>
          </a:xfrm>
          <a:prstGeom prst="rect">
            <a:avLst/>
          </a:prstGeom>
          <a:noFill/>
          <a:ln/>
        </p:spPr>
        <p:txBody>
          <a:bodyPr wrap="square"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Smart Port Container Terminal Monitoring</a:t>
            </a:r>
            <a:endParaRPr lang="en-US" sz="3400" dirty="0"/>
          </a:p>
        </p:txBody>
      </p:sp>
      <p:sp>
        <p:nvSpPr>
          <p:cNvPr id="4" name="Text 2"/>
          <p:cNvSpPr/>
          <p:nvPr/>
        </p:nvSpPr>
        <p:spPr>
          <a:xfrm>
            <a:off x="7958023" y="5394960"/>
            <a:ext cx="3840480" cy="731520"/>
          </a:xfrm>
          <a:prstGeom prst="rect">
            <a:avLst/>
          </a:prstGeom>
          <a:noFill/>
          <a:ln/>
        </p:spPr>
        <p:txBody>
          <a:bodyPr wrap="square" rtlCol="0" anchor="ctr"/>
          <a:lstStyle/>
          <a:p>
            <a:pPr indent="0" marL="0">
              <a:buNone/>
            </a:pPr>
            <a:r>
              <a:rPr lang="en-US" sz="1500" dirty="0">
                <a:solidFill>
                  <a:srgbClr val="CFE2EC"/>
                </a:solidFill>
                <a:latin typeface="Calibri" pitchFamily="34" charset="0"/>
                <a:ea typeface="Calibri" pitchFamily="34" charset="-122"/>
                <a:cs typeface="Calibri" pitchFamily="34" charset="-120"/>
              </a:rPr>
              <a:t>Uday Kiran Reddy Dodda   ·   X25166484</a:t>
            </a:r>
            <a:endParaRPr lang="en-US" sz="1500" dirty="0"/>
          </a:p>
        </p:txBody>
      </p:sp>
      <p:sp>
        <p:nvSpPr>
          <p:cNvPr id="5" name="Text 3"/>
          <p:cNvSpPr/>
          <p:nvPr/>
        </p:nvSpPr>
        <p:spPr>
          <a:xfrm>
            <a:off x="548640" y="1371600"/>
            <a:ext cx="6492240" cy="2011680"/>
          </a:xfrm>
          <a:prstGeom prst="rect">
            <a:avLst/>
          </a:prstGeom>
          <a:noFill/>
          <a:ln/>
        </p:spPr>
        <p:txBody>
          <a:bodyPr wrap="square" rtlCol="0" anchor="ctr"/>
          <a:lstStyle/>
          <a:p>
            <a:pPr indent="0" marL="0">
              <a:lnSpc>
                <a:spcPct val="112000"/>
              </a:lnSpc>
              <a:buNone/>
            </a:pPr>
            <a:r>
              <a:rPr lang="en-US" sz="2000" dirty="0">
                <a:solidFill>
                  <a:srgbClr val="CFE2EC"/>
                </a:solidFill>
                <a:latin typeface="Calibri" pitchFamily="34" charset="0"/>
                <a:ea typeface="Calibri" pitchFamily="34" charset="-122"/>
                <a:cs typeface="Calibri" pitchFamily="34" charset="-120"/>
              </a:rPr>
              <a:t>The dangerous moments at a quayside are transient — one gust over the wind limit, one overloaded lift, one reefer drifting warm — and a paper log catches them only after the fact.</a:t>
            </a:r>
            <a:endParaRPr lang="en-US" sz="2000" dirty="0"/>
          </a:p>
        </p:txBody>
      </p:sp>
      <p:sp>
        <p:nvSpPr>
          <p:cNvPr id="6" name="Shape 4"/>
          <p:cNvSpPr/>
          <p:nvPr/>
        </p:nvSpPr>
        <p:spPr>
          <a:xfrm>
            <a:off x="548640" y="4023360"/>
            <a:ext cx="2926080" cy="566928"/>
          </a:xfrm>
          <a:prstGeom prst="roundRect">
            <a:avLst>
              <a:gd name="adj" fmla="val 50000"/>
            </a:avLst>
          </a:prstGeom>
          <a:solidFill>
            <a:srgbClr val="163A4E"/>
          </a:solidFill>
          <a:ln w="12700">
            <a:solidFill>
              <a:srgbClr val="E4A63C"/>
            </a:solidFill>
            <a:prstDash val="solid"/>
          </a:ln>
        </p:spPr>
      </p:sp>
      <p:sp>
        <p:nvSpPr>
          <p:cNvPr id="7" name="Text 5"/>
          <p:cNvSpPr/>
          <p:nvPr/>
        </p:nvSpPr>
        <p:spPr>
          <a:xfrm>
            <a:off x="548640" y="4023360"/>
            <a:ext cx="292608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Wind &gt; 34 kn halts lifts</a:t>
            </a:r>
            <a:endParaRPr lang="en-US" sz="1350" dirty="0"/>
          </a:p>
        </p:txBody>
      </p:sp>
      <p:sp>
        <p:nvSpPr>
          <p:cNvPr id="8" name="Shape 6"/>
          <p:cNvSpPr/>
          <p:nvPr/>
        </p:nvSpPr>
        <p:spPr>
          <a:xfrm>
            <a:off x="548640" y="4709160"/>
            <a:ext cx="2926080" cy="566928"/>
          </a:xfrm>
          <a:prstGeom prst="roundRect">
            <a:avLst>
              <a:gd name="adj" fmla="val 50000"/>
            </a:avLst>
          </a:prstGeom>
          <a:solidFill>
            <a:srgbClr val="163A4E"/>
          </a:solidFill>
          <a:ln w="12700">
            <a:solidFill>
              <a:srgbClr val="E4A63C"/>
            </a:solidFill>
            <a:prstDash val="solid"/>
          </a:ln>
        </p:spPr>
      </p:sp>
      <p:sp>
        <p:nvSpPr>
          <p:cNvPr id="9" name="Text 7"/>
          <p:cNvSpPr/>
          <p:nvPr/>
        </p:nvSpPr>
        <p:spPr>
          <a:xfrm>
            <a:off x="548640" y="4709160"/>
            <a:ext cx="292608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Crane load &gt; 32,000 kg</a:t>
            </a:r>
            <a:endParaRPr lang="en-US" sz="1350" dirty="0"/>
          </a:p>
        </p:txBody>
      </p:sp>
      <p:sp>
        <p:nvSpPr>
          <p:cNvPr id="10" name="Shape 8"/>
          <p:cNvSpPr/>
          <p:nvPr/>
        </p:nvSpPr>
        <p:spPr>
          <a:xfrm>
            <a:off x="548640" y="5394960"/>
            <a:ext cx="2926080" cy="566928"/>
          </a:xfrm>
          <a:prstGeom prst="roundRect">
            <a:avLst>
              <a:gd name="adj" fmla="val 50000"/>
            </a:avLst>
          </a:prstGeom>
          <a:solidFill>
            <a:srgbClr val="163A4E"/>
          </a:solidFill>
          <a:ln w="12700">
            <a:solidFill>
              <a:srgbClr val="E4A63C"/>
            </a:solidFill>
            <a:prstDash val="solid"/>
          </a:ln>
        </p:spPr>
      </p:sp>
      <p:sp>
        <p:nvSpPr>
          <p:cNvPr id="11" name="Text 9"/>
          <p:cNvSpPr/>
          <p:nvPr/>
        </p:nvSpPr>
        <p:spPr>
          <a:xfrm>
            <a:off x="548640" y="5394960"/>
            <a:ext cx="292608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Reefer &gt; −10 °C</a:t>
            </a:r>
            <a:endParaRPr lang="en-US" sz="1350" dirty="0"/>
          </a:p>
        </p:txBody>
      </p:sp>
      <p:sp>
        <p:nvSpPr>
          <p:cNvPr id="12" name="Text 10"/>
          <p:cNvSpPr/>
          <p:nvPr/>
        </p:nvSpPr>
        <p:spPr>
          <a:xfrm>
            <a:off x="548640" y="6172200"/>
            <a:ext cx="6217920" cy="365760"/>
          </a:xfrm>
          <a:prstGeom prst="rect">
            <a:avLst/>
          </a:prstGeom>
          <a:noFill/>
          <a:ln/>
        </p:spPr>
        <p:txBody>
          <a:bodyPr wrap="square" rtlCol="0" anchor="ctr"/>
          <a:lstStyle/>
          <a:p>
            <a:pPr indent="0" marL="0">
              <a:buNone/>
            </a:pPr>
            <a:r>
              <a:rPr lang="en-US" sz="1250" dirty="0">
                <a:solidFill>
                  <a:srgbClr val="567480"/>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12634"/>
                </a:solidFill>
                <a:latin typeface="Cambria" pitchFamily="34" charset="0"/>
                <a:ea typeface="Cambria" pitchFamily="34" charset="-122"/>
                <a:cs typeface="Cambria" pitchFamily="34" charset="-120"/>
              </a:rPr>
              <a:t>What I Built — Sensors to Live Dashboard</a:t>
            </a:r>
            <a:endParaRPr lang="en-US" sz="3000" dirty="0"/>
          </a:p>
        </p:txBody>
      </p:sp>
      <p:sp>
        <p:nvSpPr>
          <p:cNvPr id="3" name="Shape 1"/>
          <p:cNvSpPr/>
          <p:nvPr/>
        </p:nvSpPr>
        <p:spPr>
          <a:xfrm>
            <a:off x="3992728" y="1234440"/>
            <a:ext cx="4206240" cy="658368"/>
          </a:xfrm>
          <a:prstGeom prst="roundRect">
            <a:avLst>
              <a:gd name="adj" fmla="val 11111"/>
            </a:avLst>
          </a:prstGeom>
          <a:solidFill>
            <a:srgbClr val="EDF4F8"/>
          </a:solidFill>
          <a:ln w="17780">
            <a:solidFill>
              <a:srgbClr val="4F98B8"/>
            </a:solidFill>
            <a:prstDash val="solid"/>
          </a:ln>
        </p:spPr>
      </p:sp>
      <p:sp>
        <p:nvSpPr>
          <p:cNvPr id="4" name="Shape 2"/>
          <p:cNvSpPr/>
          <p:nvPr/>
        </p:nvSpPr>
        <p:spPr>
          <a:xfrm>
            <a:off x="4193896" y="1481328"/>
            <a:ext cx="164592" cy="164592"/>
          </a:xfrm>
          <a:prstGeom prst="ellipse">
            <a:avLst/>
          </a:prstGeom>
          <a:solidFill>
            <a:srgbClr val="4F98B8"/>
          </a:solidFill>
          <a:ln/>
        </p:spPr>
      </p:sp>
      <p:sp>
        <p:nvSpPr>
          <p:cNvPr id="5" name="Text 3"/>
          <p:cNvSpPr/>
          <p:nvPr/>
        </p:nvSpPr>
        <p:spPr>
          <a:xfrm>
            <a:off x="4495648" y="1234440"/>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Berth sensors</a:t>
            </a:r>
            <a:endParaRPr lang="en-US" sz="1350" dirty="0"/>
          </a:p>
        </p:txBody>
      </p:sp>
      <p:sp>
        <p:nvSpPr>
          <p:cNvPr id="6" name="Text 4"/>
          <p:cNvSpPr/>
          <p:nvPr/>
        </p:nvSpPr>
        <p:spPr>
          <a:xfrm>
            <a:off x="6644488" y="1234440"/>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10 · 2 berths</a:t>
            </a:r>
            <a:endParaRPr lang="en-US" sz="950" dirty="0"/>
          </a:p>
        </p:txBody>
      </p:sp>
      <p:sp>
        <p:nvSpPr>
          <p:cNvPr id="7" name="Shape 5"/>
          <p:cNvSpPr/>
          <p:nvPr/>
        </p:nvSpPr>
        <p:spPr>
          <a:xfrm>
            <a:off x="6095848" y="1892808"/>
            <a:ext cx="0" cy="219456"/>
          </a:xfrm>
          <a:prstGeom prst="line">
            <a:avLst/>
          </a:prstGeom>
          <a:noFill/>
          <a:ln w="25400">
            <a:solidFill>
              <a:srgbClr val="4F98B8"/>
            </a:solidFill>
            <a:prstDash val="solid"/>
            <a:tailEnd type="triangle"/>
          </a:ln>
        </p:spPr>
      </p:sp>
      <p:sp>
        <p:nvSpPr>
          <p:cNvPr id="8" name="Shape 6"/>
          <p:cNvSpPr/>
          <p:nvPr/>
        </p:nvSpPr>
        <p:spPr>
          <a:xfrm>
            <a:off x="3992728" y="2112264"/>
            <a:ext cx="4206240" cy="658368"/>
          </a:xfrm>
          <a:prstGeom prst="roundRect">
            <a:avLst>
              <a:gd name="adj" fmla="val 11111"/>
            </a:avLst>
          </a:prstGeom>
          <a:solidFill>
            <a:srgbClr val="EDF4F8"/>
          </a:solidFill>
          <a:ln w="17780">
            <a:solidFill>
              <a:srgbClr val="4F98B8"/>
            </a:solidFill>
            <a:prstDash val="solid"/>
          </a:ln>
        </p:spPr>
      </p:sp>
      <p:sp>
        <p:nvSpPr>
          <p:cNvPr id="9" name="Shape 7"/>
          <p:cNvSpPr/>
          <p:nvPr/>
        </p:nvSpPr>
        <p:spPr>
          <a:xfrm>
            <a:off x="4193896" y="2359152"/>
            <a:ext cx="164592" cy="164592"/>
          </a:xfrm>
          <a:prstGeom prst="ellipse">
            <a:avLst/>
          </a:prstGeom>
          <a:solidFill>
            <a:srgbClr val="4F98B8"/>
          </a:solidFill>
          <a:ln/>
        </p:spPr>
      </p:sp>
      <p:sp>
        <p:nvSpPr>
          <p:cNvPr id="10" name="Text 8"/>
          <p:cNvSpPr/>
          <p:nvPr/>
        </p:nvSpPr>
        <p:spPr>
          <a:xfrm>
            <a:off x="4495648" y="2112264"/>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Fog node</a:t>
            </a:r>
            <a:endParaRPr lang="en-US" sz="1350" dirty="0"/>
          </a:p>
        </p:txBody>
      </p:sp>
      <p:sp>
        <p:nvSpPr>
          <p:cNvPr id="11" name="Text 9"/>
          <p:cNvSpPr/>
          <p:nvPr/>
        </p:nvSpPr>
        <p:spPr>
          <a:xfrm>
            <a:off x="6644488" y="2112264"/>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windows · safety rules</a:t>
            </a:r>
            <a:endParaRPr lang="en-US" sz="950" dirty="0"/>
          </a:p>
        </p:txBody>
      </p:sp>
      <p:sp>
        <p:nvSpPr>
          <p:cNvPr id="12" name="Shape 10"/>
          <p:cNvSpPr/>
          <p:nvPr/>
        </p:nvSpPr>
        <p:spPr>
          <a:xfrm>
            <a:off x="6095848" y="2770632"/>
            <a:ext cx="0" cy="219456"/>
          </a:xfrm>
          <a:prstGeom prst="line">
            <a:avLst/>
          </a:prstGeom>
          <a:noFill/>
          <a:ln w="25400">
            <a:solidFill>
              <a:srgbClr val="4F98B8"/>
            </a:solidFill>
            <a:prstDash val="solid"/>
            <a:tailEnd type="triangle"/>
          </a:ln>
        </p:spPr>
      </p:sp>
      <p:sp>
        <p:nvSpPr>
          <p:cNvPr id="13" name="Shape 11"/>
          <p:cNvSpPr/>
          <p:nvPr/>
        </p:nvSpPr>
        <p:spPr>
          <a:xfrm>
            <a:off x="3992728" y="2990088"/>
            <a:ext cx="4206240" cy="658368"/>
          </a:xfrm>
          <a:prstGeom prst="roundRect">
            <a:avLst>
              <a:gd name="adj" fmla="val 11111"/>
            </a:avLst>
          </a:prstGeom>
          <a:solidFill>
            <a:srgbClr val="EDF4F8"/>
          </a:solidFill>
          <a:ln w="17780">
            <a:solidFill>
              <a:srgbClr val="124C6E"/>
            </a:solidFill>
            <a:prstDash val="solid"/>
          </a:ln>
        </p:spPr>
      </p:sp>
      <p:sp>
        <p:nvSpPr>
          <p:cNvPr id="14" name="Shape 12"/>
          <p:cNvSpPr/>
          <p:nvPr/>
        </p:nvSpPr>
        <p:spPr>
          <a:xfrm>
            <a:off x="4193896" y="3236976"/>
            <a:ext cx="164592" cy="164592"/>
          </a:xfrm>
          <a:prstGeom prst="ellipse">
            <a:avLst/>
          </a:prstGeom>
          <a:solidFill>
            <a:srgbClr val="124C6E"/>
          </a:solidFill>
          <a:ln/>
        </p:spPr>
      </p:sp>
      <p:sp>
        <p:nvSpPr>
          <p:cNvPr id="15" name="Text 13"/>
          <p:cNvSpPr/>
          <p:nvPr/>
        </p:nvSpPr>
        <p:spPr>
          <a:xfrm>
            <a:off x="4495648" y="2990088"/>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Amazon SQS</a:t>
            </a:r>
            <a:endParaRPr lang="en-US" sz="1350" dirty="0"/>
          </a:p>
        </p:txBody>
      </p:sp>
      <p:sp>
        <p:nvSpPr>
          <p:cNvPr id="16" name="Text 14"/>
          <p:cNvSpPr/>
          <p:nvPr/>
        </p:nvSpPr>
        <p:spPr>
          <a:xfrm>
            <a:off x="6644488" y="2990088"/>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1 batched msg / cycle</a:t>
            </a:r>
            <a:endParaRPr lang="en-US" sz="950" dirty="0"/>
          </a:p>
        </p:txBody>
      </p:sp>
      <p:sp>
        <p:nvSpPr>
          <p:cNvPr id="17" name="Shape 15"/>
          <p:cNvSpPr/>
          <p:nvPr/>
        </p:nvSpPr>
        <p:spPr>
          <a:xfrm>
            <a:off x="6095848" y="3648456"/>
            <a:ext cx="0" cy="219456"/>
          </a:xfrm>
          <a:prstGeom prst="line">
            <a:avLst/>
          </a:prstGeom>
          <a:noFill/>
          <a:ln w="25400">
            <a:solidFill>
              <a:srgbClr val="4F98B8"/>
            </a:solidFill>
            <a:prstDash val="solid"/>
            <a:tailEnd type="triangle"/>
          </a:ln>
        </p:spPr>
      </p:sp>
      <p:sp>
        <p:nvSpPr>
          <p:cNvPr id="18" name="Shape 16"/>
          <p:cNvSpPr/>
          <p:nvPr/>
        </p:nvSpPr>
        <p:spPr>
          <a:xfrm>
            <a:off x="3992728" y="3867912"/>
            <a:ext cx="4206240" cy="658368"/>
          </a:xfrm>
          <a:prstGeom prst="roundRect">
            <a:avLst>
              <a:gd name="adj" fmla="val 11111"/>
            </a:avLst>
          </a:prstGeom>
          <a:solidFill>
            <a:srgbClr val="EDF4F8"/>
          </a:solidFill>
          <a:ln w="17780">
            <a:solidFill>
              <a:srgbClr val="124C6E"/>
            </a:solidFill>
            <a:prstDash val="solid"/>
          </a:ln>
        </p:spPr>
      </p:sp>
      <p:sp>
        <p:nvSpPr>
          <p:cNvPr id="19" name="Shape 17"/>
          <p:cNvSpPr/>
          <p:nvPr/>
        </p:nvSpPr>
        <p:spPr>
          <a:xfrm>
            <a:off x="4193896" y="4114800"/>
            <a:ext cx="164592" cy="164592"/>
          </a:xfrm>
          <a:prstGeom prst="ellipse">
            <a:avLst/>
          </a:prstGeom>
          <a:solidFill>
            <a:srgbClr val="124C6E"/>
          </a:solidFill>
          <a:ln/>
        </p:spPr>
      </p:sp>
      <p:sp>
        <p:nvSpPr>
          <p:cNvPr id="20" name="Text 18"/>
          <p:cNvSpPr/>
          <p:nvPr/>
        </p:nvSpPr>
        <p:spPr>
          <a:xfrm>
            <a:off x="4495648" y="3867912"/>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AWS Lambda</a:t>
            </a:r>
            <a:endParaRPr lang="en-US" sz="1350" dirty="0"/>
          </a:p>
        </p:txBody>
      </p:sp>
      <p:sp>
        <p:nvSpPr>
          <p:cNvPr id="21" name="Text 19"/>
          <p:cNvSpPr/>
          <p:nvPr/>
        </p:nvSpPr>
        <p:spPr>
          <a:xfrm>
            <a:off x="6644488" y="3867912"/>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java17 ingest</a:t>
            </a:r>
            <a:endParaRPr lang="en-US" sz="950" dirty="0"/>
          </a:p>
        </p:txBody>
      </p:sp>
      <p:sp>
        <p:nvSpPr>
          <p:cNvPr id="22" name="Shape 20"/>
          <p:cNvSpPr/>
          <p:nvPr/>
        </p:nvSpPr>
        <p:spPr>
          <a:xfrm>
            <a:off x="6095848" y="4526280"/>
            <a:ext cx="0" cy="219456"/>
          </a:xfrm>
          <a:prstGeom prst="line">
            <a:avLst/>
          </a:prstGeom>
          <a:noFill/>
          <a:ln w="25400">
            <a:solidFill>
              <a:srgbClr val="4F98B8"/>
            </a:solidFill>
            <a:prstDash val="solid"/>
            <a:tailEnd type="triangle"/>
          </a:ln>
        </p:spPr>
      </p:sp>
      <p:sp>
        <p:nvSpPr>
          <p:cNvPr id="23" name="Shape 21"/>
          <p:cNvSpPr/>
          <p:nvPr/>
        </p:nvSpPr>
        <p:spPr>
          <a:xfrm>
            <a:off x="3992728" y="4745736"/>
            <a:ext cx="4206240" cy="658368"/>
          </a:xfrm>
          <a:prstGeom prst="roundRect">
            <a:avLst>
              <a:gd name="adj" fmla="val 11111"/>
            </a:avLst>
          </a:prstGeom>
          <a:solidFill>
            <a:srgbClr val="EDF4F8"/>
          </a:solidFill>
          <a:ln w="17780">
            <a:solidFill>
              <a:srgbClr val="124C6E"/>
            </a:solidFill>
            <a:prstDash val="solid"/>
          </a:ln>
        </p:spPr>
      </p:sp>
      <p:sp>
        <p:nvSpPr>
          <p:cNvPr id="24" name="Shape 22"/>
          <p:cNvSpPr/>
          <p:nvPr/>
        </p:nvSpPr>
        <p:spPr>
          <a:xfrm>
            <a:off x="4193896" y="4992624"/>
            <a:ext cx="164592" cy="164592"/>
          </a:xfrm>
          <a:prstGeom prst="ellipse">
            <a:avLst/>
          </a:prstGeom>
          <a:solidFill>
            <a:srgbClr val="124C6E"/>
          </a:solidFill>
          <a:ln/>
        </p:spPr>
      </p:sp>
      <p:sp>
        <p:nvSpPr>
          <p:cNvPr id="25" name="Text 23"/>
          <p:cNvSpPr/>
          <p:nvPr/>
        </p:nvSpPr>
        <p:spPr>
          <a:xfrm>
            <a:off x="4495648" y="4745736"/>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DynamoDB</a:t>
            </a:r>
            <a:endParaRPr lang="en-US" sz="1350" dirty="0"/>
          </a:p>
        </p:txBody>
      </p:sp>
      <p:sp>
        <p:nvSpPr>
          <p:cNvPr id="26" name="Text 24"/>
          <p:cNvSpPr/>
          <p:nvPr/>
        </p:nvSpPr>
        <p:spPr>
          <a:xfrm>
            <a:off x="6644488" y="4745736"/>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time-ordered store</a:t>
            </a:r>
            <a:endParaRPr lang="en-US" sz="950" dirty="0"/>
          </a:p>
        </p:txBody>
      </p:sp>
      <p:sp>
        <p:nvSpPr>
          <p:cNvPr id="27" name="Shape 25"/>
          <p:cNvSpPr/>
          <p:nvPr/>
        </p:nvSpPr>
        <p:spPr>
          <a:xfrm>
            <a:off x="6095848" y="5404104"/>
            <a:ext cx="0" cy="219456"/>
          </a:xfrm>
          <a:prstGeom prst="line">
            <a:avLst/>
          </a:prstGeom>
          <a:noFill/>
          <a:ln w="25400">
            <a:solidFill>
              <a:srgbClr val="4F98B8"/>
            </a:solidFill>
            <a:prstDash val="solid"/>
            <a:tailEnd type="triangle"/>
          </a:ln>
        </p:spPr>
      </p:sp>
      <p:sp>
        <p:nvSpPr>
          <p:cNvPr id="28" name="Shape 26"/>
          <p:cNvSpPr/>
          <p:nvPr/>
        </p:nvSpPr>
        <p:spPr>
          <a:xfrm>
            <a:off x="3992728" y="5623560"/>
            <a:ext cx="4206240" cy="658368"/>
          </a:xfrm>
          <a:prstGeom prst="roundRect">
            <a:avLst>
              <a:gd name="adj" fmla="val 11111"/>
            </a:avLst>
          </a:prstGeom>
          <a:solidFill>
            <a:srgbClr val="EDF4F8"/>
          </a:solidFill>
          <a:ln w="17780">
            <a:solidFill>
              <a:srgbClr val="1E739A"/>
            </a:solidFill>
            <a:prstDash val="solid"/>
          </a:ln>
        </p:spPr>
      </p:sp>
      <p:sp>
        <p:nvSpPr>
          <p:cNvPr id="29" name="Shape 27"/>
          <p:cNvSpPr/>
          <p:nvPr/>
        </p:nvSpPr>
        <p:spPr>
          <a:xfrm>
            <a:off x="4193896" y="5870448"/>
            <a:ext cx="164592" cy="164592"/>
          </a:xfrm>
          <a:prstGeom prst="ellipse">
            <a:avLst/>
          </a:prstGeom>
          <a:solidFill>
            <a:srgbClr val="1E739A"/>
          </a:solidFill>
          <a:ln/>
        </p:spPr>
      </p:sp>
      <p:sp>
        <p:nvSpPr>
          <p:cNvPr id="30" name="Text 28"/>
          <p:cNvSpPr/>
          <p:nvPr/>
        </p:nvSpPr>
        <p:spPr>
          <a:xfrm>
            <a:off x="4495648" y="5623560"/>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API GW + S3</a:t>
            </a:r>
            <a:endParaRPr lang="en-US" sz="1350" dirty="0"/>
          </a:p>
        </p:txBody>
      </p:sp>
      <p:sp>
        <p:nvSpPr>
          <p:cNvPr id="31" name="Text 29"/>
          <p:cNvSpPr/>
          <p:nvPr/>
        </p:nvSpPr>
        <p:spPr>
          <a:xfrm>
            <a:off x="6644488" y="5623560"/>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live view</a:t>
            </a:r>
            <a:endParaRPr lang="en-US" sz="950" dirty="0"/>
          </a:p>
        </p:txBody>
      </p:sp>
      <p:sp>
        <p:nvSpPr>
          <p:cNvPr id="32" name="Text 30"/>
          <p:cNvSpPr/>
          <p:nvPr/>
        </p:nvSpPr>
        <p:spPr>
          <a:xfrm>
            <a:off x="2438248" y="1234440"/>
            <a:ext cx="1371600" cy="365760"/>
          </a:xfrm>
          <a:prstGeom prst="rect">
            <a:avLst/>
          </a:prstGeom>
          <a:noFill/>
          <a:ln/>
        </p:spPr>
        <p:txBody>
          <a:bodyPr wrap="square" rtlCol="0" anchor="ctr"/>
          <a:lstStyle/>
          <a:p>
            <a:pPr algn="r" indent="0" marL="0">
              <a:buNone/>
            </a:pPr>
            <a:r>
              <a:rPr lang="en-US" sz="1100" b="1" spc="200" kern="0" dirty="0">
                <a:solidFill>
                  <a:srgbClr val="4F98B8"/>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2438248" y="2990088"/>
            <a:ext cx="1371600" cy="365760"/>
          </a:xfrm>
          <a:prstGeom prst="rect">
            <a:avLst/>
          </a:prstGeom>
          <a:noFill/>
          <a:ln/>
        </p:spPr>
        <p:txBody>
          <a:bodyPr wrap="square" rtlCol="0" anchor="ctr"/>
          <a:lstStyle/>
          <a:p>
            <a:pPr algn="r" indent="0" marL="0">
              <a:buNone/>
            </a:pPr>
            <a:r>
              <a:rPr lang="en-US" sz="1100" b="1" spc="200" kern="0" dirty="0">
                <a:solidFill>
                  <a:srgbClr val="124C6E"/>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8656168" y="2743200"/>
            <a:ext cx="3291840" cy="2194560"/>
          </a:xfrm>
          <a:prstGeom prst="rect">
            <a:avLst/>
          </a:prstGeom>
          <a:noFill/>
          <a:ln/>
        </p:spPr>
        <p:txBody>
          <a:bodyPr wrap="square" rtlCol="0" anchor="ctr"/>
          <a:lstStyle/>
          <a:p>
            <a:pPr indent="0" marL="0">
              <a:buNone/>
            </a:pPr>
            <a:r>
              <a:rPr lang="en-US" sz="1500" i="1" dirty="0">
                <a:solidFill>
                  <a:srgbClr val="124C6E"/>
                </a:solidFill>
                <a:latin typeface="Calibri" pitchFamily="34" charset="0"/>
                <a:ea typeface="Calibri" pitchFamily="34" charset="-122"/>
                <a:cs typeface="Calibri" pitchFamily="34" charset="-120"/>
              </a:rPr>
              <a:t>Every ten-second window collapses raw readings into one aggregate per sensor per berth, and the safety rules fire right there, so raw noise never leaves the terminal.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12634"/>
                </a:solidFill>
                <a:latin typeface="Cambria" pitchFamily="34" charset="0"/>
                <a:ea typeface="Cambria" pitchFamily="34" charset="-122"/>
                <a:cs typeface="Cambria"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1E739A"/>
                </a:solidFill>
                <a:latin typeface="Consolas" pitchFamily="34" charset="0"/>
                <a:ea typeface="Consolas" pitchFamily="34" charset="-122"/>
                <a:cs typeface="Consolas" pitchFamily="34" charset="-120"/>
              </a:rPr>
              <a:t>spc-frontend-659211701832.s3.us-east-1.amazonaws.com</a:t>
            </a:r>
            <a:endParaRPr lang="en-US" sz="1400" dirty="0"/>
          </a:p>
        </p:txBody>
      </p:sp>
      <p:sp>
        <p:nvSpPr>
          <p:cNvPr id="4" name="Shape 2"/>
          <p:cNvSpPr/>
          <p:nvPr/>
        </p:nvSpPr>
        <p:spPr>
          <a:xfrm>
            <a:off x="731520" y="1965960"/>
            <a:ext cx="685800" cy="685800"/>
          </a:xfrm>
          <a:prstGeom prst="ellipse">
            <a:avLst/>
          </a:prstGeom>
          <a:solidFill>
            <a:srgbClr val="124C6E"/>
          </a:solidFill>
          <a:ln/>
        </p:spPr>
      </p:sp>
      <p:sp>
        <p:nvSpPr>
          <p:cNvPr id="5" name="Text 3"/>
          <p:cNvSpPr/>
          <p:nvPr/>
        </p:nvSpPr>
        <p:spPr>
          <a:xfrm>
            <a:off x="731520" y="196596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6" name="Text 4"/>
          <p:cNvSpPr/>
          <p:nvPr/>
        </p:nvSpPr>
        <p:spPr>
          <a:xfrm>
            <a:off x="1691640" y="1920240"/>
            <a:ext cx="9875520" cy="411480"/>
          </a:xfrm>
          <a:prstGeom prst="rect">
            <a:avLst/>
          </a:prstGeom>
          <a:noFill/>
          <a:ln/>
        </p:spPr>
        <p:txBody>
          <a:bodyPr wrap="square" lIns="0" tIns="0" rIns="0" bIns="0" rtlCol="0" anchor="ctr"/>
          <a:lstStyle/>
          <a:p>
            <a:pPr indent="0" marL="0">
              <a:buNone/>
            </a:pPr>
            <a:r>
              <a:rPr lang="en-US" sz="1800" b="1" dirty="0">
                <a:solidFill>
                  <a:srgbClr val="112634"/>
                </a:solidFill>
                <a:latin typeface="Calibri" pitchFamily="34" charset="0"/>
                <a:ea typeface="Calibri" pitchFamily="34" charset="-122"/>
                <a:cs typeface="Calibri" pitchFamily="34" charset="-120"/>
              </a:rPr>
              <a:t>Two berths, five quayside signals</a:t>
            </a:r>
            <a:endParaRPr lang="en-US" sz="1800" dirty="0"/>
          </a:p>
        </p:txBody>
      </p:sp>
      <p:sp>
        <p:nvSpPr>
          <p:cNvPr id="7" name="Text 5"/>
          <p:cNvSpPr/>
          <p:nvPr/>
        </p:nvSpPr>
        <p:spPr>
          <a:xfrm>
            <a:off x="1691640" y="2340864"/>
            <a:ext cx="9875520" cy="640080"/>
          </a:xfrm>
          <a:prstGeom prst="rect">
            <a:avLst/>
          </a:prstGeom>
          <a:noFill/>
          <a:ln/>
        </p:spPr>
        <p:txBody>
          <a:bodyPr wrap="square" lIns="0" tIns="0" rIns="0" bIns="0" rtlCol="0" anchor="ctr"/>
          <a:lstStyle/>
          <a:p>
            <a:pPr indent="0" marL="0">
              <a:buNone/>
            </a:pPr>
            <a:r>
              <a:rPr lang="en-US" sz="1350" dirty="0">
                <a:solidFill>
                  <a:srgbClr val="567480"/>
                </a:solidFill>
                <a:latin typeface="Calibri" pitchFamily="34" charset="0"/>
                <a:ea typeface="Calibri" pitchFamily="34" charset="-122"/>
                <a:cs typeface="Calibri" pitchFamily="34" charset="-120"/>
              </a:rPr>
              <a:t>Crane load, container stacks, wind, occupancy and reefer temperature live for both berths.</a:t>
            </a:r>
            <a:endParaRPr lang="en-US" sz="1350" dirty="0"/>
          </a:p>
        </p:txBody>
      </p:sp>
      <p:sp>
        <p:nvSpPr>
          <p:cNvPr id="8" name="Shape 6"/>
          <p:cNvSpPr/>
          <p:nvPr/>
        </p:nvSpPr>
        <p:spPr>
          <a:xfrm>
            <a:off x="731520" y="3383280"/>
            <a:ext cx="685800" cy="685800"/>
          </a:xfrm>
          <a:prstGeom prst="ellipse">
            <a:avLst/>
          </a:prstGeom>
          <a:solidFill>
            <a:srgbClr val="124C6E"/>
          </a:solidFill>
          <a:ln/>
        </p:spPr>
      </p:sp>
      <p:sp>
        <p:nvSpPr>
          <p:cNvPr id="9" name="Text 7"/>
          <p:cNvSpPr/>
          <p:nvPr/>
        </p:nvSpPr>
        <p:spPr>
          <a:xfrm>
            <a:off x="731520" y="338328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0" name="Text 8"/>
          <p:cNvSpPr/>
          <p:nvPr/>
        </p:nvSpPr>
        <p:spPr>
          <a:xfrm>
            <a:off x="1691640" y="3337560"/>
            <a:ext cx="9875520" cy="411480"/>
          </a:xfrm>
          <a:prstGeom prst="rect">
            <a:avLst/>
          </a:prstGeom>
          <a:noFill/>
          <a:ln/>
        </p:spPr>
        <p:txBody>
          <a:bodyPr wrap="square" lIns="0" tIns="0" rIns="0" bIns="0" rtlCol="0" anchor="ctr"/>
          <a:lstStyle/>
          <a:p>
            <a:pPr indent="0" marL="0">
              <a:buNone/>
            </a:pPr>
            <a:r>
              <a:rPr lang="en-US" sz="1800" b="1" dirty="0">
                <a:solidFill>
                  <a:srgbClr val="112634"/>
                </a:solidFill>
                <a:latin typeface="Calibri" pitchFamily="34" charset="0"/>
                <a:ea typeface="Calibri" pitchFamily="34" charset="-122"/>
                <a:cs typeface="Calibri" pitchFamily="34" charset="-120"/>
              </a:rPr>
              <a:t>Crane, wind and cold-chain alerts</a:t>
            </a:r>
            <a:endParaRPr lang="en-US" sz="1800" dirty="0"/>
          </a:p>
        </p:txBody>
      </p:sp>
      <p:sp>
        <p:nvSpPr>
          <p:cNvPr id="11" name="Text 9"/>
          <p:cNvSpPr/>
          <p:nvPr/>
        </p:nvSpPr>
        <p:spPr>
          <a:xfrm>
            <a:off x="1691640" y="3758184"/>
            <a:ext cx="9875520" cy="640080"/>
          </a:xfrm>
          <a:prstGeom prst="rect">
            <a:avLst/>
          </a:prstGeom>
          <a:noFill/>
          <a:ln/>
        </p:spPr>
        <p:txBody>
          <a:bodyPr wrap="square" lIns="0" tIns="0" rIns="0" bIns="0" rtlCol="0" anchor="ctr"/>
          <a:lstStyle/>
          <a:p>
            <a:pPr indent="0" marL="0">
              <a:buNone/>
            </a:pPr>
            <a:r>
              <a:rPr lang="en-US" sz="1350" dirty="0">
                <a:solidFill>
                  <a:srgbClr val="567480"/>
                </a:solidFill>
                <a:latin typeface="Calibri" pitchFamily="34" charset="0"/>
                <a:ea typeface="Calibri" pitchFamily="34" charset="-122"/>
                <a:cs typeface="Calibri" pitchFamily="34" charset="-120"/>
              </a:rPr>
              <a:t>A gust over the 34-knot limit halts crane lifts, an overloaded lift and a warm reefer each raise their own alert on the window.</a:t>
            </a:r>
            <a:endParaRPr lang="en-US" sz="1350" dirty="0"/>
          </a:p>
        </p:txBody>
      </p:sp>
      <p:sp>
        <p:nvSpPr>
          <p:cNvPr id="12" name="Shape 10"/>
          <p:cNvSpPr/>
          <p:nvPr/>
        </p:nvSpPr>
        <p:spPr>
          <a:xfrm>
            <a:off x="731520" y="4800600"/>
            <a:ext cx="685800" cy="685800"/>
          </a:xfrm>
          <a:prstGeom prst="ellipse">
            <a:avLst/>
          </a:prstGeom>
          <a:solidFill>
            <a:srgbClr val="124C6E"/>
          </a:solidFill>
          <a:ln/>
        </p:spPr>
      </p:sp>
      <p:sp>
        <p:nvSpPr>
          <p:cNvPr id="13" name="Text 11"/>
          <p:cNvSpPr/>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4" name="Text 12"/>
          <p:cNvSpPr/>
          <p:nvPr/>
        </p:nvSpPr>
        <p:spPr>
          <a:xfrm>
            <a:off x="1691640" y="4754880"/>
            <a:ext cx="9875520" cy="411480"/>
          </a:xfrm>
          <a:prstGeom prst="rect">
            <a:avLst/>
          </a:prstGeom>
          <a:noFill/>
          <a:ln/>
        </p:spPr>
        <p:txBody>
          <a:bodyPr wrap="square" lIns="0" tIns="0" rIns="0" bIns="0" rtlCol="0" anchor="ctr"/>
          <a:lstStyle/>
          <a:p>
            <a:pPr indent="0" marL="0">
              <a:buNone/>
            </a:pPr>
            <a:r>
              <a:rPr lang="en-US" sz="1800" b="1" dirty="0">
                <a:solidFill>
                  <a:srgbClr val="112634"/>
                </a:solidFill>
                <a:latin typeface="Calibri" pitchFamily="34" charset="0"/>
                <a:ea typeface="Calibri" pitchFamily="34" charset="-122"/>
                <a:cs typeface="Calibri" pitchFamily="34" charset="-120"/>
              </a:rPr>
              <a:t>Every alert traces to a real rule</a:t>
            </a:r>
            <a:endParaRPr lang="en-US" sz="1800" dirty="0"/>
          </a:p>
        </p:txBody>
      </p:sp>
      <p:sp>
        <p:nvSpPr>
          <p:cNvPr id="15" name="Text 13"/>
          <p:cNvSpPr/>
          <p:nvPr/>
        </p:nvSpPr>
        <p:spPr>
          <a:xfrm>
            <a:off x="1691640" y="5175504"/>
            <a:ext cx="9875520" cy="640080"/>
          </a:xfrm>
          <a:prstGeom prst="rect">
            <a:avLst/>
          </a:prstGeom>
          <a:noFill/>
          <a:ln/>
        </p:spPr>
        <p:txBody>
          <a:bodyPr wrap="square" lIns="0" tIns="0" rIns="0" bIns="0" rtlCol="0" anchor="ctr"/>
          <a:lstStyle/>
          <a:p>
            <a:pPr indent="0" marL="0">
              <a:buNone/>
            </a:pPr>
            <a:r>
              <a:rPr lang="en-US" sz="1350" dirty="0">
                <a:solidFill>
                  <a:srgbClr val="567480"/>
                </a:solidFill>
                <a:latin typeface="Calibri" pitchFamily="34" charset="0"/>
                <a:ea typeface="Calibri" pitchFamily="34" charset="-122"/>
                <a:cs typeface="Calibri" pitchFamily="34" charset="-120"/>
              </a:rPr>
              <a:t>Each banner maps to a code-defined threshold — 34 knots, 32,000 kg, -10 C, 90% occupancy — not a demo constant.</a:t>
            </a:r>
            <a:endParaRPr lang="en-US" sz="1350" dirty="0"/>
          </a:p>
        </p:txBody>
      </p:sp>
      <p:sp>
        <p:nvSpPr>
          <p:cNvPr id="16" name="Text 14"/>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4F98B8"/>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12634"/>
                </a:solidFill>
                <a:latin typeface="Cambria" pitchFamily="34" charset="0"/>
                <a:ea typeface="Cambria" pitchFamily="34" charset="-122"/>
                <a:cs typeface="Cambria" pitchFamily="34" charset="-120"/>
              </a:rPr>
              <a:t>Hardest Part — a numbered-ticket window boundary</a:t>
            </a:r>
            <a:endParaRPr lang="en-US" sz="2800" dirty="0"/>
          </a:p>
        </p:txBody>
      </p:sp>
      <p:sp>
        <p:nvSpPr>
          <p:cNvPr id="3" name="Shape 1"/>
          <p:cNvSpPr/>
          <p:nvPr/>
        </p:nvSpPr>
        <p:spPr>
          <a:xfrm>
            <a:off x="640080" y="1874520"/>
            <a:ext cx="4937760" cy="4160520"/>
          </a:xfrm>
          <a:prstGeom prst="roundRect">
            <a:avLst>
              <a:gd name="adj" fmla="val 2198"/>
            </a:avLst>
          </a:prstGeom>
          <a:solidFill>
            <a:srgbClr val="EDF4F8"/>
          </a:solidFill>
          <a:ln w="19050">
            <a:solidFill>
              <a:srgbClr val="E4A63C"/>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4A63C"/>
                </a:solidFill>
                <a:latin typeface="Cambria" pitchFamily="34" charset="0"/>
                <a:ea typeface="Cambria" pitchFamily="34" charset="-122"/>
                <a:cs typeface="Cambria"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12634"/>
                </a:solidFill>
                <a:latin typeface="Calibri" pitchFamily="34" charset="0"/>
                <a:ea typeface="Calibri" pitchFamily="34" charset="-122"/>
                <a:cs typeface="Calibri" pitchFamily="34" charset="-120"/>
              </a:rPr>
              <a:t>Every ten seconds the fog node must close the current window and publish aggregates, while ten sensors keep posting new readings into the very same buffer. Lock the buffer and ingest stalls on every flush; clear it naively and any reading that lands mid-drain is lost, or counted twice in the next window.</a:t>
            </a:r>
            <a:endParaRPr lang="en-US" sz="1350" dirty="0"/>
          </a:p>
        </p:txBody>
      </p:sp>
      <p:sp>
        <p:nvSpPr>
          <p:cNvPr id="6" name="Shape 4"/>
          <p:cNvSpPr/>
          <p:nvPr/>
        </p:nvSpPr>
        <p:spPr>
          <a:xfrm>
            <a:off x="6611112" y="1874520"/>
            <a:ext cx="4937760" cy="4160520"/>
          </a:xfrm>
          <a:prstGeom prst="roundRect">
            <a:avLst>
              <a:gd name="adj" fmla="val 2198"/>
            </a:avLst>
          </a:prstGeom>
          <a:solidFill>
            <a:srgbClr val="EDF4F8"/>
          </a:solidFill>
          <a:ln w="19050">
            <a:solidFill>
              <a:srgbClr val="1E739A"/>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1E739A"/>
                </a:solidFill>
                <a:latin typeface="Cambria" pitchFamily="34" charset="0"/>
                <a:ea typeface="Cambria" pitchFamily="34" charset="-122"/>
                <a:cs typeface="Cambria"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12634"/>
                </a:solidFill>
                <a:latin typeface="Calibri" pitchFamily="34" charset="0"/>
                <a:ea typeface="Calibri" pitchFamily="34" charset="-122"/>
                <a:cs typeface="Calibri" pitchFamily="34" charset="-120"/>
              </a:rPr>
              <a:t>Every reading takes a numbered ticket on arrival. A flush snapshots the latest number as a boundary, then aggregates and removes only readings below it. Later arrivals roll into the next window — no locks, nothing lost, nothing counted twice. Backed by the fog module's 48 automated tests, including ingest exercised over a real HTTP server.</a:t>
            </a:r>
            <a:endParaRPr lang="en-US" sz="1350" dirty="0"/>
          </a:p>
        </p:txBody>
      </p:sp>
      <p:sp>
        <p:nvSpPr>
          <p:cNvPr id="9" name="Shape 7"/>
          <p:cNvSpPr/>
          <p:nvPr/>
        </p:nvSpPr>
        <p:spPr>
          <a:xfrm>
            <a:off x="5669280" y="3703320"/>
            <a:ext cx="841248" cy="512064"/>
          </a:xfrm>
          <a:prstGeom prst="rightArrow">
            <a:avLst/>
          </a:prstGeom>
          <a:solidFill>
            <a:srgbClr val="124C6E"/>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2026-07-24T07:12:02Z</dcterms:created>
  <dcterms:modified xsi:type="dcterms:W3CDTF">2026-07-24T07:12:02Z</dcterms:modified>
</cp:coreProperties>
</file>