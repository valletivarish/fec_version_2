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384D"/>
        </a:solidFill>
      </p:bgPr>
    </p:bg>
    <p:spTree>
      <p:nvGrpSpPr>
        <p:cNvPr id="1" name=""/>
        <p:cNvGrpSpPr/>
        <p:nvPr/>
      </p:nvGrpSpPr>
      <p:grpSpPr>
        <a:xfrm>
          <a:off x="0" y="0"/>
          <a:ext cx="0" cy="0"/>
          <a:chOff x="0" y="0"/>
          <a:chExt cx="0" cy="0"/>
        </a:xfrm>
      </p:grpSpPr>
      <p:sp>
        <p:nvSpPr>
          <p:cNvPr id="2" name="Shape 0"/>
          <p:cNvSpPr/>
          <p:nvPr/>
        </p:nvSpPr>
        <p:spPr>
          <a:xfrm>
            <a:off x="411480" y="411480"/>
            <a:ext cx="11368735" cy="6035040"/>
          </a:xfrm>
          <a:prstGeom prst="rect">
            <a:avLst/>
          </a:prstGeom>
          <a:ln w="19050">
            <a:solidFill>
              <a:srgbClr val="C13B15"/>
            </a:solidFill>
            <a:prstDash val="solid"/>
          </a:ln>
        </p:spPr>
      </p:sp>
      <p:sp>
        <p:nvSpPr>
          <p:cNvPr id="3" name="Text 1"/>
          <p:cNvSpPr/>
          <p:nvPr/>
        </p:nvSpPr>
        <p:spPr>
          <a:xfrm>
            <a:off x="941832" y="1645920"/>
            <a:ext cx="10271455" cy="1645920"/>
          </a:xfrm>
          <a:prstGeom prst="rect">
            <a:avLst/>
          </a:prstGeom>
          <a:noFill/>
          <a:ln/>
        </p:spPr>
        <p:txBody>
          <a:bodyPr wrap="square" rtlCol="0" anchor="t"/>
          <a:lstStyle/>
          <a:p>
            <a:pPr indent="0" marL="0">
              <a:lnSpc>
                <a:spcPct val="98000"/>
              </a:lnSpc>
              <a:buNone/>
            </a:pPr>
            <a:r>
              <a:rPr lang="en-US" sz="3800" b="1" dirty="0">
                <a:solidFill>
                  <a:srgbClr val="EEF4F8"/>
                </a:solidFill>
                <a:latin typeface="Times New Roman" pitchFamily="34" charset="0"/>
                <a:ea typeface="Times New Roman" pitchFamily="34" charset="-122"/>
                <a:cs typeface="Times New Roman" pitchFamily="34" charset="-120"/>
              </a:rPr>
              <a:t>Smart Port Container Terminal Monitoring</a:t>
            </a:r>
            <a:endParaRPr lang="en-US" sz="3800" dirty="0"/>
          </a:p>
        </p:txBody>
      </p:sp>
      <p:sp>
        <p:nvSpPr>
          <p:cNvPr id="4" name="Text 2"/>
          <p:cNvSpPr/>
          <p:nvPr/>
        </p:nvSpPr>
        <p:spPr>
          <a:xfrm>
            <a:off x="960120" y="3337560"/>
            <a:ext cx="10271455" cy="365760"/>
          </a:xfrm>
          <a:prstGeom prst="rect">
            <a:avLst/>
          </a:prstGeom>
          <a:noFill/>
          <a:ln/>
        </p:spPr>
        <p:txBody>
          <a:bodyPr wrap="square" rtlCol="0" anchor="ctr"/>
          <a:lstStyle/>
          <a:p>
            <a:pPr indent="0" marL="0">
              <a:buNone/>
            </a:pPr>
            <a:r>
              <a:rPr lang="en-US" sz="1450" dirty="0">
                <a:solidFill>
                  <a:srgbClr val="8B98A6"/>
                </a:solidFill>
                <a:latin typeface="Calibri" pitchFamily="34" charset="0"/>
                <a:ea typeface="Calibri" pitchFamily="34" charset="-122"/>
                <a:cs typeface="Calibri" pitchFamily="34" charset="-120"/>
              </a:rPr>
              <a:t>Uday Kiran Reddy Dodda   ·   X25166484</a:t>
            </a:r>
            <a:endParaRPr lang="en-US" sz="1450" dirty="0"/>
          </a:p>
        </p:txBody>
      </p:sp>
      <p:sp>
        <p:nvSpPr>
          <p:cNvPr id="5" name="Text 3"/>
          <p:cNvSpPr/>
          <p:nvPr/>
        </p:nvSpPr>
        <p:spPr>
          <a:xfrm>
            <a:off x="960120" y="3931920"/>
            <a:ext cx="8138160" cy="1325880"/>
          </a:xfrm>
          <a:prstGeom prst="rect">
            <a:avLst/>
          </a:prstGeom>
          <a:noFill/>
          <a:ln/>
        </p:spPr>
        <p:txBody>
          <a:bodyPr wrap="square" rtlCol="0" anchor="t"/>
          <a:lstStyle/>
          <a:p>
            <a:pPr indent="0" marL="0">
              <a:lnSpc>
                <a:spcPct val="130000"/>
              </a:lnSpc>
              <a:buNone/>
            </a:pPr>
            <a:r>
              <a:rPr lang="en-US" sz="1400" dirty="0">
                <a:solidFill>
                  <a:srgbClr val="EEF4F8"/>
                </a:solidFill>
                <a:latin typeface="Calibri" pitchFamily="34" charset="0"/>
                <a:ea typeface="Calibri" pitchFamily="34" charset="-122"/>
                <a:cs typeface="Calibri" pitchFamily="34" charset="-120"/>
              </a:rPr>
              <a:t>The dangerous moments at a quayside are transient — one gust over the wind limit, one overloaded lift, one reefer drifting warm — and a paper log catches them only after the fact.</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384D"/>
        </a:solidFill>
      </p:bgPr>
    </p:bg>
    <p:spTree>
      <p:nvGrpSpPr>
        <p:cNvPr id="1" name=""/>
        <p:cNvGrpSpPr/>
        <p:nvPr/>
      </p:nvGrpSpPr>
      <p:grpSpPr>
        <a:xfrm>
          <a:off x="0" y="0"/>
          <a:ext cx="0" cy="0"/>
          <a:chOff x="0" y="0"/>
          <a:chExt cx="0" cy="0"/>
        </a:xfrm>
      </p:grpSpPr>
      <p:sp>
        <p:nvSpPr>
          <p:cNvPr id="2" name="Shape 0"/>
          <p:cNvSpPr/>
          <p:nvPr/>
        </p:nvSpPr>
        <p:spPr>
          <a:xfrm>
            <a:off x="411480" y="411480"/>
            <a:ext cx="11368735" cy="6035040"/>
          </a:xfrm>
          <a:prstGeom prst="rect">
            <a:avLst/>
          </a:prstGeom>
          <a:ln w="19050">
            <a:solidFill>
              <a:srgbClr val="C13B15"/>
            </a:solidFill>
            <a:prstDash val="solid"/>
          </a:ln>
        </p:spPr>
      </p:sp>
      <p:sp>
        <p:nvSpPr>
          <p:cNvPr id="3" name="Text 1"/>
          <p:cNvSpPr/>
          <p:nvPr/>
        </p:nvSpPr>
        <p:spPr>
          <a:xfrm>
            <a:off x="960120" y="868680"/>
            <a:ext cx="914400" cy="640080"/>
          </a:xfrm>
          <a:prstGeom prst="rect">
            <a:avLst/>
          </a:prstGeom>
          <a:noFill/>
          <a:ln/>
        </p:spPr>
        <p:txBody>
          <a:bodyPr wrap="square" lIns="0" tIns="0" rIns="0" bIns="0" rtlCol="0" anchor="ctr"/>
          <a:lstStyle/>
          <a:p>
            <a:pPr indent="0" marL="0">
              <a:buNone/>
            </a:pPr>
            <a:r>
              <a:rPr lang="en-US" sz="3000" b="1" dirty="0">
                <a:solidFill>
                  <a:srgbClr val="C13B15"/>
                </a:solidFill>
                <a:latin typeface="Times New Roman" pitchFamily="34" charset="0"/>
                <a:ea typeface="Times New Roman" pitchFamily="34" charset="-122"/>
                <a:cs typeface="Times New Roman" pitchFamily="34" charset="-120"/>
              </a:rPr>
              <a:t>01</a:t>
            </a:r>
            <a:endParaRPr lang="en-US" sz="3000" dirty="0"/>
          </a:p>
        </p:txBody>
      </p:sp>
      <p:sp>
        <p:nvSpPr>
          <p:cNvPr id="4" name="Text 2"/>
          <p:cNvSpPr/>
          <p:nvPr/>
        </p:nvSpPr>
        <p:spPr>
          <a:xfrm>
            <a:off x="1828800" y="1042416"/>
            <a:ext cx="9402775" cy="274320"/>
          </a:xfrm>
          <a:prstGeom prst="rect">
            <a:avLst/>
          </a:prstGeom>
          <a:noFill/>
          <a:ln/>
        </p:spPr>
        <p:txBody>
          <a:bodyPr wrap="square" lIns="0" tIns="0" rIns="0" bIns="0" rtlCol="0" anchor="ctr"/>
          <a:lstStyle/>
          <a:p>
            <a:pPr indent="0" marL="0">
              <a:buNone/>
            </a:pPr>
            <a:r>
              <a:rPr lang="en-US" sz="1100" b="1" spc="200" kern="0" dirty="0">
                <a:solidFill>
                  <a:srgbClr val="8B98A6"/>
                </a:solidFill>
                <a:latin typeface="Calibri" pitchFamily="34" charset="0"/>
                <a:ea typeface="Calibri" pitchFamily="34" charset="-122"/>
                <a:cs typeface="Calibri" pitchFamily="34" charset="-120"/>
              </a:rPr>
              <a:t>ARCHITECTURE</a:t>
            </a:r>
            <a:endParaRPr lang="en-US" sz="1100" dirty="0"/>
          </a:p>
        </p:txBody>
      </p:sp>
      <p:sp>
        <p:nvSpPr>
          <p:cNvPr id="5" name="Text 3"/>
          <p:cNvSpPr/>
          <p:nvPr/>
        </p:nvSpPr>
        <p:spPr>
          <a:xfrm>
            <a:off x="960120" y="1517904"/>
            <a:ext cx="10271455" cy="640080"/>
          </a:xfrm>
          <a:prstGeom prst="rect">
            <a:avLst/>
          </a:prstGeom>
          <a:noFill/>
          <a:ln/>
        </p:spPr>
        <p:txBody>
          <a:bodyPr wrap="square" lIns="0" tIns="0" rIns="0" bIns="0" rtlCol="0" anchor="ctr"/>
          <a:lstStyle/>
          <a:p>
            <a:pPr indent="0" marL="0">
              <a:buNone/>
            </a:pPr>
            <a:r>
              <a:rPr lang="en-US" sz="2300" b="1" dirty="0">
                <a:solidFill>
                  <a:srgbClr val="EEF4F8"/>
                </a:solidFill>
                <a:latin typeface="Times New Roman" pitchFamily="34" charset="0"/>
                <a:ea typeface="Times New Roman" pitchFamily="34" charset="-122"/>
                <a:cs typeface="Times New Roman" pitchFamily="34" charset="-120"/>
              </a:rPr>
              <a:t>What I Built — Sensors to Live Dashboard</a:t>
            </a:r>
            <a:endParaRPr lang="en-US" sz="2300" dirty="0"/>
          </a:p>
        </p:txBody>
      </p:sp>
      <p:sp>
        <p:nvSpPr>
          <p:cNvPr id="6" name="Shape 4"/>
          <p:cNvSpPr/>
          <p:nvPr/>
        </p:nvSpPr>
        <p:spPr>
          <a:xfrm>
            <a:off x="960120" y="3108960"/>
            <a:ext cx="1330909" cy="1965960"/>
          </a:xfrm>
          <a:prstGeom prst="roundRect">
            <a:avLst/>
          </a:prstGeom>
          <a:solidFill>
            <a:srgbClr val="C13B15"/>
          </a:solidFill>
          <a:ln w="12700">
            <a:solidFill>
              <a:srgbClr val="C13B15"/>
            </a:solidFill>
            <a:prstDash val="solid"/>
          </a:ln>
        </p:spPr>
      </p:sp>
      <p:sp>
        <p:nvSpPr>
          <p:cNvPr id="7" name="Text 5"/>
          <p:cNvSpPr/>
          <p:nvPr/>
        </p:nvSpPr>
        <p:spPr>
          <a:xfrm>
            <a:off x="1106424" y="3291840"/>
            <a:ext cx="1038301" cy="320040"/>
          </a:xfrm>
          <a:prstGeom prst="rect">
            <a:avLst/>
          </a:prstGeom>
          <a:noFill/>
          <a:ln/>
        </p:spPr>
        <p:txBody>
          <a:bodyPr wrap="square" lIns="0" tIns="0" rIns="0" bIns="0" rtlCol="0" anchor="ctr"/>
          <a:lstStyle/>
          <a:p>
            <a:pPr indent="0" marL="0">
              <a:buNone/>
            </a:pPr>
            <a:r>
              <a:rPr lang="en-US" sz="1100" dirty="0">
                <a:solidFill>
                  <a:srgbClr val="FFFFFF"/>
                </a:solidFill>
                <a:latin typeface="Consolas" pitchFamily="34" charset="0"/>
                <a:ea typeface="Consolas" pitchFamily="34" charset="-122"/>
                <a:cs typeface="Consolas" pitchFamily="34" charset="-120"/>
              </a:rPr>
              <a:t>01</a:t>
            </a:r>
            <a:endParaRPr lang="en-US" sz="1100" dirty="0"/>
          </a:p>
        </p:txBody>
      </p:sp>
      <p:sp>
        <p:nvSpPr>
          <p:cNvPr id="8" name="Text 6"/>
          <p:cNvSpPr/>
          <p:nvPr/>
        </p:nvSpPr>
        <p:spPr>
          <a:xfrm>
            <a:off x="1106424" y="3730752"/>
            <a:ext cx="1038301" cy="868680"/>
          </a:xfrm>
          <a:prstGeom prst="rect">
            <a:avLst/>
          </a:prstGeom>
          <a:noFill/>
          <a:ln/>
        </p:spPr>
        <p:txBody>
          <a:bodyPr wrap="square" lIns="0" tIns="0" rIns="0" bIns="0" rtlCol="0" anchor="t"/>
          <a:lstStyle/>
          <a:p>
            <a:pPr indent="0" marL="0">
              <a:lnSpc>
                <a:spcPct val="96000"/>
              </a:lnSpc>
              <a:buNone/>
            </a:pPr>
            <a:r>
              <a:rPr lang="en-US" sz="1300" b="1" dirty="0">
                <a:solidFill>
                  <a:srgbClr val="FFFFFF"/>
                </a:solidFill>
                <a:latin typeface="Times New Roman" pitchFamily="34" charset="0"/>
                <a:ea typeface="Times New Roman" pitchFamily="34" charset="-122"/>
                <a:cs typeface="Times New Roman" pitchFamily="34" charset="-120"/>
              </a:rPr>
              <a:t>Berth sensors</a:t>
            </a:r>
            <a:endParaRPr lang="en-US" sz="1300" dirty="0"/>
          </a:p>
        </p:txBody>
      </p:sp>
      <p:sp>
        <p:nvSpPr>
          <p:cNvPr id="9" name="Text 7"/>
          <p:cNvSpPr/>
          <p:nvPr/>
        </p:nvSpPr>
        <p:spPr>
          <a:xfrm>
            <a:off x="1106424" y="4590288"/>
            <a:ext cx="1038301" cy="365760"/>
          </a:xfrm>
          <a:prstGeom prst="rect">
            <a:avLst/>
          </a:prstGeom>
          <a:noFill/>
          <a:ln/>
        </p:spPr>
        <p:txBody>
          <a:bodyPr wrap="square" lIns="0" tIns="0" rIns="0" bIns="0" rtlCol="0" anchor="ctr"/>
          <a:lstStyle/>
          <a:p>
            <a:pPr indent="0" marL="0">
              <a:buNone/>
            </a:pPr>
            <a:r>
              <a:rPr lang="en-US" sz="900" dirty="0">
                <a:solidFill>
                  <a:srgbClr val="FFFFFF"/>
                </a:solidFill>
                <a:latin typeface="Calibri" pitchFamily="34" charset="0"/>
                <a:ea typeface="Calibri" pitchFamily="34" charset="-122"/>
                <a:cs typeface="Calibri" pitchFamily="34" charset="-120"/>
              </a:rPr>
              <a:t>10 · 2 berths</a:t>
            </a:r>
            <a:endParaRPr lang="en-US" sz="900" dirty="0"/>
          </a:p>
        </p:txBody>
      </p:sp>
      <p:sp>
        <p:nvSpPr>
          <p:cNvPr id="10" name="Shape 8"/>
          <p:cNvSpPr/>
          <p:nvPr/>
        </p:nvSpPr>
        <p:spPr>
          <a:xfrm>
            <a:off x="2364181" y="3982212"/>
            <a:ext cx="310896" cy="219456"/>
          </a:xfrm>
          <a:prstGeom prst="rightArrow">
            <a:avLst/>
          </a:prstGeom>
          <a:solidFill>
            <a:srgbClr val="8B98A6"/>
          </a:solidFill>
          <a:ln/>
        </p:spPr>
      </p:sp>
      <p:sp>
        <p:nvSpPr>
          <p:cNvPr id="11" name="Shape 9"/>
          <p:cNvSpPr/>
          <p:nvPr/>
        </p:nvSpPr>
        <p:spPr>
          <a:xfrm>
            <a:off x="2748229" y="3108960"/>
            <a:ext cx="1330909" cy="1965960"/>
          </a:xfrm>
          <a:prstGeom prst="roundRect">
            <a:avLst/>
          </a:prstGeom>
          <a:solidFill>
            <a:srgbClr val="C13B15"/>
          </a:solidFill>
          <a:ln w="12700">
            <a:solidFill>
              <a:srgbClr val="C13B15"/>
            </a:solidFill>
            <a:prstDash val="solid"/>
          </a:ln>
        </p:spPr>
      </p:sp>
      <p:sp>
        <p:nvSpPr>
          <p:cNvPr id="12" name="Text 10"/>
          <p:cNvSpPr/>
          <p:nvPr/>
        </p:nvSpPr>
        <p:spPr>
          <a:xfrm>
            <a:off x="2894533" y="3291840"/>
            <a:ext cx="1038301" cy="320040"/>
          </a:xfrm>
          <a:prstGeom prst="rect">
            <a:avLst/>
          </a:prstGeom>
          <a:noFill/>
          <a:ln/>
        </p:spPr>
        <p:txBody>
          <a:bodyPr wrap="square" lIns="0" tIns="0" rIns="0" bIns="0" rtlCol="0" anchor="ctr"/>
          <a:lstStyle/>
          <a:p>
            <a:pPr indent="0" marL="0">
              <a:buNone/>
            </a:pPr>
            <a:r>
              <a:rPr lang="en-US" sz="1100" dirty="0">
                <a:solidFill>
                  <a:srgbClr val="FFFFFF"/>
                </a:solidFill>
                <a:latin typeface="Consolas" pitchFamily="34" charset="0"/>
                <a:ea typeface="Consolas" pitchFamily="34" charset="-122"/>
                <a:cs typeface="Consolas" pitchFamily="34" charset="-120"/>
              </a:rPr>
              <a:t>02</a:t>
            </a:r>
            <a:endParaRPr lang="en-US" sz="1100" dirty="0"/>
          </a:p>
        </p:txBody>
      </p:sp>
      <p:sp>
        <p:nvSpPr>
          <p:cNvPr id="13" name="Text 11"/>
          <p:cNvSpPr/>
          <p:nvPr/>
        </p:nvSpPr>
        <p:spPr>
          <a:xfrm>
            <a:off x="2894533" y="3730752"/>
            <a:ext cx="1038301" cy="868680"/>
          </a:xfrm>
          <a:prstGeom prst="rect">
            <a:avLst/>
          </a:prstGeom>
          <a:noFill/>
          <a:ln/>
        </p:spPr>
        <p:txBody>
          <a:bodyPr wrap="square" lIns="0" tIns="0" rIns="0" bIns="0" rtlCol="0" anchor="t"/>
          <a:lstStyle/>
          <a:p>
            <a:pPr indent="0" marL="0">
              <a:lnSpc>
                <a:spcPct val="96000"/>
              </a:lnSpc>
              <a:buNone/>
            </a:pPr>
            <a:r>
              <a:rPr lang="en-US" sz="1300" b="1" dirty="0">
                <a:solidFill>
                  <a:srgbClr val="FFFFFF"/>
                </a:solidFill>
                <a:latin typeface="Times New Roman" pitchFamily="34" charset="0"/>
                <a:ea typeface="Times New Roman" pitchFamily="34" charset="-122"/>
                <a:cs typeface="Times New Roman" pitchFamily="34" charset="-120"/>
              </a:rPr>
              <a:t>Fog node</a:t>
            </a:r>
            <a:endParaRPr lang="en-US" sz="1300" dirty="0"/>
          </a:p>
        </p:txBody>
      </p:sp>
      <p:sp>
        <p:nvSpPr>
          <p:cNvPr id="14" name="Text 12"/>
          <p:cNvSpPr/>
          <p:nvPr/>
        </p:nvSpPr>
        <p:spPr>
          <a:xfrm>
            <a:off x="2894533" y="4590288"/>
            <a:ext cx="1038301" cy="365760"/>
          </a:xfrm>
          <a:prstGeom prst="rect">
            <a:avLst/>
          </a:prstGeom>
          <a:noFill/>
          <a:ln/>
        </p:spPr>
        <p:txBody>
          <a:bodyPr wrap="square" lIns="0" tIns="0" rIns="0" bIns="0" rtlCol="0" anchor="ctr"/>
          <a:lstStyle/>
          <a:p>
            <a:pPr indent="0" marL="0">
              <a:buNone/>
            </a:pPr>
            <a:r>
              <a:rPr lang="en-US" sz="900" dirty="0">
                <a:solidFill>
                  <a:srgbClr val="FFFFFF"/>
                </a:solidFill>
                <a:latin typeface="Calibri" pitchFamily="34" charset="0"/>
                <a:ea typeface="Calibri" pitchFamily="34" charset="-122"/>
                <a:cs typeface="Calibri" pitchFamily="34" charset="-120"/>
              </a:rPr>
              <a:t>windows · safety rules</a:t>
            </a:r>
            <a:endParaRPr lang="en-US" sz="900" dirty="0"/>
          </a:p>
        </p:txBody>
      </p:sp>
      <p:sp>
        <p:nvSpPr>
          <p:cNvPr id="15" name="Shape 13"/>
          <p:cNvSpPr/>
          <p:nvPr/>
        </p:nvSpPr>
        <p:spPr>
          <a:xfrm>
            <a:off x="4152290" y="3982212"/>
            <a:ext cx="310896" cy="219456"/>
          </a:xfrm>
          <a:prstGeom prst="rightArrow">
            <a:avLst/>
          </a:prstGeom>
          <a:solidFill>
            <a:srgbClr val="8B98A6"/>
          </a:solidFill>
          <a:ln/>
        </p:spPr>
      </p:sp>
      <p:sp>
        <p:nvSpPr>
          <p:cNvPr id="16" name="Shape 14"/>
          <p:cNvSpPr/>
          <p:nvPr/>
        </p:nvSpPr>
        <p:spPr>
          <a:xfrm>
            <a:off x="4536338" y="3108960"/>
            <a:ext cx="1330909" cy="1965960"/>
          </a:xfrm>
          <a:prstGeom prst="roundRect">
            <a:avLst/>
          </a:prstGeom>
          <a:solidFill>
            <a:srgbClr val="1C4E6B"/>
          </a:solidFill>
          <a:ln w="12700">
            <a:solidFill>
              <a:srgbClr val="30627F"/>
            </a:solidFill>
            <a:prstDash val="solid"/>
          </a:ln>
        </p:spPr>
      </p:sp>
      <p:sp>
        <p:nvSpPr>
          <p:cNvPr id="17" name="Text 15"/>
          <p:cNvSpPr/>
          <p:nvPr/>
        </p:nvSpPr>
        <p:spPr>
          <a:xfrm>
            <a:off x="4682642" y="3291840"/>
            <a:ext cx="1038301" cy="320040"/>
          </a:xfrm>
          <a:prstGeom prst="rect">
            <a:avLst/>
          </a:prstGeom>
          <a:noFill/>
          <a:ln/>
        </p:spPr>
        <p:txBody>
          <a:bodyPr wrap="square" lIns="0" tIns="0" rIns="0" bIns="0" rtlCol="0" anchor="ctr"/>
          <a:lstStyle/>
          <a:p>
            <a:pPr indent="0" marL="0">
              <a:buNone/>
            </a:pPr>
            <a:r>
              <a:rPr lang="en-US" sz="1100" dirty="0">
                <a:solidFill>
                  <a:srgbClr val="C13B15"/>
                </a:solidFill>
                <a:latin typeface="Consolas" pitchFamily="34" charset="0"/>
                <a:ea typeface="Consolas" pitchFamily="34" charset="-122"/>
                <a:cs typeface="Consolas" pitchFamily="34" charset="-120"/>
              </a:rPr>
              <a:t>03</a:t>
            </a:r>
            <a:endParaRPr lang="en-US" sz="1100" dirty="0"/>
          </a:p>
        </p:txBody>
      </p:sp>
      <p:sp>
        <p:nvSpPr>
          <p:cNvPr id="18" name="Text 16"/>
          <p:cNvSpPr/>
          <p:nvPr/>
        </p:nvSpPr>
        <p:spPr>
          <a:xfrm>
            <a:off x="4682642" y="3730752"/>
            <a:ext cx="1038301" cy="868680"/>
          </a:xfrm>
          <a:prstGeom prst="rect">
            <a:avLst/>
          </a:prstGeom>
          <a:noFill/>
          <a:ln/>
        </p:spPr>
        <p:txBody>
          <a:bodyPr wrap="square" lIns="0" tIns="0" rIns="0" bIns="0" rtlCol="0" anchor="t"/>
          <a:lstStyle/>
          <a:p>
            <a:pPr indent="0" marL="0">
              <a:lnSpc>
                <a:spcPct val="96000"/>
              </a:lnSpc>
              <a:buNone/>
            </a:pPr>
            <a:r>
              <a:rPr lang="en-US" sz="1300" b="1" dirty="0">
                <a:solidFill>
                  <a:srgbClr val="EEF4F8"/>
                </a:solidFill>
                <a:latin typeface="Times New Roman" pitchFamily="34" charset="0"/>
                <a:ea typeface="Times New Roman" pitchFamily="34" charset="-122"/>
                <a:cs typeface="Times New Roman" pitchFamily="34" charset="-120"/>
              </a:rPr>
              <a:t>Amazon SQS</a:t>
            </a:r>
            <a:endParaRPr lang="en-US" sz="1300" dirty="0"/>
          </a:p>
        </p:txBody>
      </p:sp>
      <p:sp>
        <p:nvSpPr>
          <p:cNvPr id="19" name="Text 17"/>
          <p:cNvSpPr/>
          <p:nvPr/>
        </p:nvSpPr>
        <p:spPr>
          <a:xfrm>
            <a:off x="4682642" y="4590288"/>
            <a:ext cx="1038301" cy="365760"/>
          </a:xfrm>
          <a:prstGeom prst="rect">
            <a:avLst/>
          </a:prstGeom>
          <a:noFill/>
          <a:ln/>
        </p:spPr>
        <p:txBody>
          <a:bodyPr wrap="square" lIns="0" tIns="0" rIns="0" bIns="0" rtlCol="0" anchor="ctr"/>
          <a:lstStyle/>
          <a:p>
            <a:pPr indent="0" marL="0">
              <a:buNone/>
            </a:pPr>
            <a:r>
              <a:rPr lang="en-US" sz="900" dirty="0">
                <a:solidFill>
                  <a:srgbClr val="8B98A6"/>
                </a:solidFill>
                <a:latin typeface="Calibri" pitchFamily="34" charset="0"/>
                <a:ea typeface="Calibri" pitchFamily="34" charset="-122"/>
                <a:cs typeface="Calibri" pitchFamily="34" charset="-120"/>
              </a:rPr>
              <a:t>1 batched msg / cycle</a:t>
            </a:r>
            <a:endParaRPr lang="en-US" sz="900" dirty="0"/>
          </a:p>
        </p:txBody>
      </p:sp>
      <p:sp>
        <p:nvSpPr>
          <p:cNvPr id="20" name="Shape 18"/>
          <p:cNvSpPr/>
          <p:nvPr/>
        </p:nvSpPr>
        <p:spPr>
          <a:xfrm>
            <a:off x="5940400" y="3982212"/>
            <a:ext cx="310896" cy="219456"/>
          </a:xfrm>
          <a:prstGeom prst="rightArrow">
            <a:avLst/>
          </a:prstGeom>
          <a:solidFill>
            <a:srgbClr val="8B98A6"/>
          </a:solidFill>
          <a:ln/>
        </p:spPr>
      </p:sp>
      <p:sp>
        <p:nvSpPr>
          <p:cNvPr id="21" name="Shape 19"/>
          <p:cNvSpPr/>
          <p:nvPr/>
        </p:nvSpPr>
        <p:spPr>
          <a:xfrm>
            <a:off x="6324448" y="3108960"/>
            <a:ext cx="1330909" cy="1965960"/>
          </a:xfrm>
          <a:prstGeom prst="roundRect">
            <a:avLst/>
          </a:prstGeom>
          <a:solidFill>
            <a:srgbClr val="1C4E6B"/>
          </a:solidFill>
          <a:ln w="12700">
            <a:solidFill>
              <a:srgbClr val="30627F"/>
            </a:solidFill>
            <a:prstDash val="solid"/>
          </a:ln>
        </p:spPr>
      </p:sp>
      <p:sp>
        <p:nvSpPr>
          <p:cNvPr id="22" name="Text 20"/>
          <p:cNvSpPr/>
          <p:nvPr/>
        </p:nvSpPr>
        <p:spPr>
          <a:xfrm>
            <a:off x="6470752" y="3291840"/>
            <a:ext cx="1038301" cy="320040"/>
          </a:xfrm>
          <a:prstGeom prst="rect">
            <a:avLst/>
          </a:prstGeom>
          <a:noFill/>
          <a:ln/>
        </p:spPr>
        <p:txBody>
          <a:bodyPr wrap="square" lIns="0" tIns="0" rIns="0" bIns="0" rtlCol="0" anchor="ctr"/>
          <a:lstStyle/>
          <a:p>
            <a:pPr indent="0" marL="0">
              <a:buNone/>
            </a:pPr>
            <a:r>
              <a:rPr lang="en-US" sz="1100" dirty="0">
                <a:solidFill>
                  <a:srgbClr val="C13B15"/>
                </a:solidFill>
                <a:latin typeface="Consolas" pitchFamily="34" charset="0"/>
                <a:ea typeface="Consolas" pitchFamily="34" charset="-122"/>
                <a:cs typeface="Consolas" pitchFamily="34" charset="-120"/>
              </a:rPr>
              <a:t>04</a:t>
            </a:r>
            <a:endParaRPr lang="en-US" sz="1100" dirty="0"/>
          </a:p>
        </p:txBody>
      </p:sp>
      <p:sp>
        <p:nvSpPr>
          <p:cNvPr id="23" name="Text 21"/>
          <p:cNvSpPr/>
          <p:nvPr/>
        </p:nvSpPr>
        <p:spPr>
          <a:xfrm>
            <a:off x="6470752" y="3730752"/>
            <a:ext cx="1038301" cy="868680"/>
          </a:xfrm>
          <a:prstGeom prst="rect">
            <a:avLst/>
          </a:prstGeom>
          <a:noFill/>
          <a:ln/>
        </p:spPr>
        <p:txBody>
          <a:bodyPr wrap="square" lIns="0" tIns="0" rIns="0" bIns="0" rtlCol="0" anchor="t"/>
          <a:lstStyle/>
          <a:p>
            <a:pPr indent="0" marL="0">
              <a:lnSpc>
                <a:spcPct val="96000"/>
              </a:lnSpc>
              <a:buNone/>
            </a:pPr>
            <a:r>
              <a:rPr lang="en-US" sz="1300" b="1" dirty="0">
                <a:solidFill>
                  <a:srgbClr val="EEF4F8"/>
                </a:solidFill>
                <a:latin typeface="Times New Roman" pitchFamily="34" charset="0"/>
                <a:ea typeface="Times New Roman" pitchFamily="34" charset="-122"/>
                <a:cs typeface="Times New Roman" pitchFamily="34" charset="-120"/>
              </a:rPr>
              <a:t>AWS Lambda</a:t>
            </a:r>
            <a:endParaRPr lang="en-US" sz="1300" dirty="0"/>
          </a:p>
        </p:txBody>
      </p:sp>
      <p:sp>
        <p:nvSpPr>
          <p:cNvPr id="24" name="Text 22"/>
          <p:cNvSpPr/>
          <p:nvPr/>
        </p:nvSpPr>
        <p:spPr>
          <a:xfrm>
            <a:off x="6470752" y="4590288"/>
            <a:ext cx="1038301" cy="365760"/>
          </a:xfrm>
          <a:prstGeom prst="rect">
            <a:avLst/>
          </a:prstGeom>
          <a:noFill/>
          <a:ln/>
        </p:spPr>
        <p:txBody>
          <a:bodyPr wrap="square" lIns="0" tIns="0" rIns="0" bIns="0" rtlCol="0" anchor="ctr"/>
          <a:lstStyle/>
          <a:p>
            <a:pPr indent="0" marL="0">
              <a:buNone/>
            </a:pPr>
            <a:r>
              <a:rPr lang="en-US" sz="900" dirty="0">
                <a:solidFill>
                  <a:srgbClr val="8B98A6"/>
                </a:solidFill>
                <a:latin typeface="Calibri" pitchFamily="34" charset="0"/>
                <a:ea typeface="Calibri" pitchFamily="34" charset="-122"/>
                <a:cs typeface="Calibri" pitchFamily="34" charset="-120"/>
              </a:rPr>
              <a:t>java17 ingest</a:t>
            </a:r>
            <a:endParaRPr lang="en-US" sz="900" dirty="0"/>
          </a:p>
        </p:txBody>
      </p:sp>
      <p:sp>
        <p:nvSpPr>
          <p:cNvPr id="25" name="Shape 23"/>
          <p:cNvSpPr/>
          <p:nvPr/>
        </p:nvSpPr>
        <p:spPr>
          <a:xfrm>
            <a:off x="7728509" y="3982212"/>
            <a:ext cx="310896" cy="219456"/>
          </a:xfrm>
          <a:prstGeom prst="rightArrow">
            <a:avLst/>
          </a:prstGeom>
          <a:solidFill>
            <a:srgbClr val="8B98A6"/>
          </a:solidFill>
          <a:ln/>
        </p:spPr>
      </p:sp>
      <p:sp>
        <p:nvSpPr>
          <p:cNvPr id="26" name="Shape 24"/>
          <p:cNvSpPr/>
          <p:nvPr/>
        </p:nvSpPr>
        <p:spPr>
          <a:xfrm>
            <a:off x="8112557" y="3108960"/>
            <a:ext cx="1330909" cy="1965960"/>
          </a:xfrm>
          <a:prstGeom prst="roundRect">
            <a:avLst/>
          </a:prstGeom>
          <a:solidFill>
            <a:srgbClr val="1C4E6B"/>
          </a:solidFill>
          <a:ln w="12700">
            <a:solidFill>
              <a:srgbClr val="30627F"/>
            </a:solidFill>
            <a:prstDash val="solid"/>
          </a:ln>
        </p:spPr>
      </p:sp>
      <p:sp>
        <p:nvSpPr>
          <p:cNvPr id="27" name="Text 25"/>
          <p:cNvSpPr/>
          <p:nvPr/>
        </p:nvSpPr>
        <p:spPr>
          <a:xfrm>
            <a:off x="8258861" y="3291840"/>
            <a:ext cx="1038301" cy="320040"/>
          </a:xfrm>
          <a:prstGeom prst="rect">
            <a:avLst/>
          </a:prstGeom>
          <a:noFill/>
          <a:ln/>
        </p:spPr>
        <p:txBody>
          <a:bodyPr wrap="square" lIns="0" tIns="0" rIns="0" bIns="0" rtlCol="0" anchor="ctr"/>
          <a:lstStyle/>
          <a:p>
            <a:pPr indent="0" marL="0">
              <a:buNone/>
            </a:pPr>
            <a:r>
              <a:rPr lang="en-US" sz="1100" dirty="0">
                <a:solidFill>
                  <a:srgbClr val="C13B15"/>
                </a:solidFill>
                <a:latin typeface="Consolas" pitchFamily="34" charset="0"/>
                <a:ea typeface="Consolas" pitchFamily="34" charset="-122"/>
                <a:cs typeface="Consolas" pitchFamily="34" charset="-120"/>
              </a:rPr>
              <a:t>05</a:t>
            </a:r>
            <a:endParaRPr lang="en-US" sz="1100" dirty="0"/>
          </a:p>
        </p:txBody>
      </p:sp>
      <p:sp>
        <p:nvSpPr>
          <p:cNvPr id="28" name="Text 26"/>
          <p:cNvSpPr/>
          <p:nvPr/>
        </p:nvSpPr>
        <p:spPr>
          <a:xfrm>
            <a:off x="8258861" y="3730752"/>
            <a:ext cx="1038301" cy="868680"/>
          </a:xfrm>
          <a:prstGeom prst="rect">
            <a:avLst/>
          </a:prstGeom>
          <a:noFill/>
          <a:ln/>
        </p:spPr>
        <p:txBody>
          <a:bodyPr wrap="square" lIns="0" tIns="0" rIns="0" bIns="0" rtlCol="0" anchor="t"/>
          <a:lstStyle/>
          <a:p>
            <a:pPr indent="0" marL="0">
              <a:lnSpc>
                <a:spcPct val="96000"/>
              </a:lnSpc>
              <a:buNone/>
            </a:pPr>
            <a:r>
              <a:rPr lang="en-US" sz="1300" b="1" dirty="0">
                <a:solidFill>
                  <a:srgbClr val="EEF4F8"/>
                </a:solidFill>
                <a:latin typeface="Times New Roman" pitchFamily="34" charset="0"/>
                <a:ea typeface="Times New Roman" pitchFamily="34" charset="-122"/>
                <a:cs typeface="Times New Roman" pitchFamily="34" charset="-120"/>
              </a:rPr>
              <a:t>DynamoDB</a:t>
            </a:r>
            <a:endParaRPr lang="en-US" sz="1300" dirty="0"/>
          </a:p>
        </p:txBody>
      </p:sp>
      <p:sp>
        <p:nvSpPr>
          <p:cNvPr id="29" name="Text 27"/>
          <p:cNvSpPr/>
          <p:nvPr/>
        </p:nvSpPr>
        <p:spPr>
          <a:xfrm>
            <a:off x="8258861" y="4590288"/>
            <a:ext cx="1038301" cy="365760"/>
          </a:xfrm>
          <a:prstGeom prst="rect">
            <a:avLst/>
          </a:prstGeom>
          <a:noFill/>
          <a:ln/>
        </p:spPr>
        <p:txBody>
          <a:bodyPr wrap="square" lIns="0" tIns="0" rIns="0" bIns="0" rtlCol="0" anchor="ctr"/>
          <a:lstStyle/>
          <a:p>
            <a:pPr indent="0" marL="0">
              <a:buNone/>
            </a:pPr>
            <a:r>
              <a:rPr lang="en-US" sz="900" dirty="0">
                <a:solidFill>
                  <a:srgbClr val="8B98A6"/>
                </a:solidFill>
                <a:latin typeface="Calibri" pitchFamily="34" charset="0"/>
                <a:ea typeface="Calibri" pitchFamily="34" charset="-122"/>
                <a:cs typeface="Calibri" pitchFamily="34" charset="-120"/>
              </a:rPr>
              <a:t>time-ordered store</a:t>
            </a:r>
            <a:endParaRPr lang="en-US" sz="900" dirty="0"/>
          </a:p>
        </p:txBody>
      </p:sp>
      <p:sp>
        <p:nvSpPr>
          <p:cNvPr id="30" name="Shape 28"/>
          <p:cNvSpPr/>
          <p:nvPr/>
        </p:nvSpPr>
        <p:spPr>
          <a:xfrm>
            <a:off x="9516618" y="3982212"/>
            <a:ext cx="310896" cy="219456"/>
          </a:xfrm>
          <a:prstGeom prst="rightArrow">
            <a:avLst/>
          </a:prstGeom>
          <a:solidFill>
            <a:srgbClr val="8B98A6"/>
          </a:solidFill>
          <a:ln/>
        </p:spPr>
      </p:sp>
      <p:sp>
        <p:nvSpPr>
          <p:cNvPr id="31" name="Shape 29"/>
          <p:cNvSpPr/>
          <p:nvPr/>
        </p:nvSpPr>
        <p:spPr>
          <a:xfrm>
            <a:off x="9900666" y="3108960"/>
            <a:ext cx="1330909" cy="1965960"/>
          </a:xfrm>
          <a:prstGeom prst="roundRect">
            <a:avLst/>
          </a:prstGeom>
          <a:solidFill>
            <a:srgbClr val="1C4E6B"/>
          </a:solidFill>
          <a:ln w="12700">
            <a:solidFill>
              <a:srgbClr val="30627F"/>
            </a:solidFill>
            <a:prstDash val="solid"/>
          </a:ln>
        </p:spPr>
      </p:sp>
      <p:sp>
        <p:nvSpPr>
          <p:cNvPr id="32" name="Text 30"/>
          <p:cNvSpPr/>
          <p:nvPr/>
        </p:nvSpPr>
        <p:spPr>
          <a:xfrm>
            <a:off x="10046970" y="3291840"/>
            <a:ext cx="1038301" cy="320040"/>
          </a:xfrm>
          <a:prstGeom prst="rect">
            <a:avLst/>
          </a:prstGeom>
          <a:noFill/>
          <a:ln/>
        </p:spPr>
        <p:txBody>
          <a:bodyPr wrap="square" lIns="0" tIns="0" rIns="0" bIns="0" rtlCol="0" anchor="ctr"/>
          <a:lstStyle/>
          <a:p>
            <a:pPr indent="0" marL="0">
              <a:buNone/>
            </a:pPr>
            <a:r>
              <a:rPr lang="en-US" sz="1100" dirty="0">
                <a:solidFill>
                  <a:srgbClr val="C13B15"/>
                </a:solidFill>
                <a:latin typeface="Consolas" pitchFamily="34" charset="0"/>
                <a:ea typeface="Consolas" pitchFamily="34" charset="-122"/>
                <a:cs typeface="Consolas" pitchFamily="34" charset="-120"/>
              </a:rPr>
              <a:t>06</a:t>
            </a:r>
            <a:endParaRPr lang="en-US" sz="1100" dirty="0"/>
          </a:p>
        </p:txBody>
      </p:sp>
      <p:sp>
        <p:nvSpPr>
          <p:cNvPr id="33" name="Text 31"/>
          <p:cNvSpPr/>
          <p:nvPr/>
        </p:nvSpPr>
        <p:spPr>
          <a:xfrm>
            <a:off x="10046970" y="3730752"/>
            <a:ext cx="1038301" cy="868680"/>
          </a:xfrm>
          <a:prstGeom prst="rect">
            <a:avLst/>
          </a:prstGeom>
          <a:noFill/>
          <a:ln/>
        </p:spPr>
        <p:txBody>
          <a:bodyPr wrap="square" lIns="0" tIns="0" rIns="0" bIns="0" rtlCol="0" anchor="t"/>
          <a:lstStyle/>
          <a:p>
            <a:pPr indent="0" marL="0">
              <a:lnSpc>
                <a:spcPct val="96000"/>
              </a:lnSpc>
              <a:buNone/>
            </a:pPr>
            <a:r>
              <a:rPr lang="en-US" sz="1300" b="1" dirty="0">
                <a:solidFill>
                  <a:srgbClr val="EEF4F8"/>
                </a:solidFill>
                <a:latin typeface="Times New Roman" pitchFamily="34" charset="0"/>
                <a:ea typeface="Times New Roman" pitchFamily="34" charset="-122"/>
                <a:cs typeface="Times New Roman" pitchFamily="34" charset="-120"/>
              </a:rPr>
              <a:t>API GW + S3</a:t>
            </a:r>
            <a:endParaRPr lang="en-US" sz="1300" dirty="0"/>
          </a:p>
        </p:txBody>
      </p:sp>
      <p:sp>
        <p:nvSpPr>
          <p:cNvPr id="34" name="Text 32"/>
          <p:cNvSpPr/>
          <p:nvPr/>
        </p:nvSpPr>
        <p:spPr>
          <a:xfrm>
            <a:off x="10046970" y="4590288"/>
            <a:ext cx="1038301" cy="365760"/>
          </a:xfrm>
          <a:prstGeom prst="rect">
            <a:avLst/>
          </a:prstGeom>
          <a:noFill/>
          <a:ln/>
        </p:spPr>
        <p:txBody>
          <a:bodyPr wrap="square" lIns="0" tIns="0" rIns="0" bIns="0" rtlCol="0" anchor="ctr"/>
          <a:lstStyle/>
          <a:p>
            <a:pPr indent="0" marL="0">
              <a:buNone/>
            </a:pPr>
            <a:r>
              <a:rPr lang="en-US" sz="900" dirty="0">
                <a:solidFill>
                  <a:srgbClr val="8B98A6"/>
                </a:solidFill>
                <a:latin typeface="Calibri" pitchFamily="34" charset="0"/>
                <a:ea typeface="Calibri" pitchFamily="34" charset="-122"/>
                <a:cs typeface="Calibri" pitchFamily="34" charset="-120"/>
              </a:rPr>
              <a:t>live view</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384D"/>
        </a:solidFill>
      </p:bgPr>
    </p:bg>
    <p:spTree>
      <p:nvGrpSpPr>
        <p:cNvPr id="1" name=""/>
        <p:cNvGrpSpPr/>
        <p:nvPr/>
      </p:nvGrpSpPr>
      <p:grpSpPr>
        <a:xfrm>
          <a:off x="0" y="0"/>
          <a:ext cx="0" cy="0"/>
          <a:chOff x="0" y="0"/>
          <a:chExt cx="0" cy="0"/>
        </a:xfrm>
      </p:grpSpPr>
      <p:sp>
        <p:nvSpPr>
          <p:cNvPr id="2" name="Shape 0"/>
          <p:cNvSpPr/>
          <p:nvPr/>
        </p:nvSpPr>
        <p:spPr>
          <a:xfrm>
            <a:off x="411480" y="411480"/>
            <a:ext cx="11368735" cy="6035040"/>
          </a:xfrm>
          <a:prstGeom prst="rect">
            <a:avLst/>
          </a:prstGeom>
          <a:ln w="19050">
            <a:solidFill>
              <a:srgbClr val="C13B15"/>
            </a:solidFill>
            <a:prstDash val="solid"/>
          </a:ln>
        </p:spPr>
      </p:sp>
      <p:sp>
        <p:nvSpPr>
          <p:cNvPr id="3" name="Text 1"/>
          <p:cNvSpPr/>
          <p:nvPr/>
        </p:nvSpPr>
        <p:spPr>
          <a:xfrm>
            <a:off x="960120" y="868680"/>
            <a:ext cx="914400" cy="640080"/>
          </a:xfrm>
          <a:prstGeom prst="rect">
            <a:avLst/>
          </a:prstGeom>
          <a:noFill/>
          <a:ln/>
        </p:spPr>
        <p:txBody>
          <a:bodyPr wrap="square" lIns="0" tIns="0" rIns="0" bIns="0" rtlCol="0" anchor="ctr"/>
          <a:lstStyle/>
          <a:p>
            <a:pPr indent="0" marL="0">
              <a:buNone/>
            </a:pPr>
            <a:r>
              <a:rPr lang="en-US" sz="3000" b="1" dirty="0">
                <a:solidFill>
                  <a:srgbClr val="C13B15"/>
                </a:solidFill>
                <a:latin typeface="Times New Roman" pitchFamily="34" charset="0"/>
                <a:ea typeface="Times New Roman" pitchFamily="34" charset="-122"/>
                <a:cs typeface="Times New Roman" pitchFamily="34" charset="-120"/>
              </a:rPr>
              <a:t>02</a:t>
            </a:r>
            <a:endParaRPr lang="en-US" sz="3000" dirty="0"/>
          </a:p>
        </p:txBody>
      </p:sp>
      <p:sp>
        <p:nvSpPr>
          <p:cNvPr id="4" name="Text 2"/>
          <p:cNvSpPr/>
          <p:nvPr/>
        </p:nvSpPr>
        <p:spPr>
          <a:xfrm>
            <a:off x="1828800" y="1042416"/>
            <a:ext cx="9402775" cy="274320"/>
          </a:xfrm>
          <a:prstGeom prst="rect">
            <a:avLst/>
          </a:prstGeom>
          <a:noFill/>
          <a:ln/>
        </p:spPr>
        <p:txBody>
          <a:bodyPr wrap="square" lIns="0" tIns="0" rIns="0" bIns="0" rtlCol="0" anchor="ctr"/>
          <a:lstStyle/>
          <a:p>
            <a:pPr indent="0" marL="0">
              <a:buNone/>
            </a:pPr>
            <a:r>
              <a:rPr lang="en-US" sz="1100" b="1" spc="200" kern="0" dirty="0">
                <a:solidFill>
                  <a:srgbClr val="8B98A6"/>
                </a:solidFill>
                <a:latin typeface="Calibri" pitchFamily="34" charset="0"/>
                <a:ea typeface="Calibri" pitchFamily="34" charset="-122"/>
                <a:cs typeface="Calibri" pitchFamily="34" charset="-120"/>
              </a:rPr>
              <a:t>LIVE DEMO</a:t>
            </a:r>
            <a:endParaRPr lang="en-US" sz="1100" dirty="0"/>
          </a:p>
        </p:txBody>
      </p:sp>
      <p:sp>
        <p:nvSpPr>
          <p:cNvPr id="5" name="Text 3"/>
          <p:cNvSpPr/>
          <p:nvPr/>
        </p:nvSpPr>
        <p:spPr>
          <a:xfrm>
            <a:off x="960120" y="1517904"/>
            <a:ext cx="10271455" cy="640080"/>
          </a:xfrm>
          <a:prstGeom prst="rect">
            <a:avLst/>
          </a:prstGeom>
          <a:noFill/>
          <a:ln/>
        </p:spPr>
        <p:txBody>
          <a:bodyPr wrap="square" lIns="0" tIns="0" rIns="0" bIns="0" rtlCol="0" anchor="ctr"/>
          <a:lstStyle/>
          <a:p>
            <a:pPr indent="0" marL="0">
              <a:buNone/>
            </a:pPr>
            <a:r>
              <a:rPr lang="en-US" sz="2300" b="1" dirty="0">
                <a:solidFill>
                  <a:srgbClr val="EEF4F8"/>
                </a:solidFill>
                <a:latin typeface="Times New Roman" pitchFamily="34" charset="0"/>
                <a:ea typeface="Times New Roman" pitchFamily="34" charset="-122"/>
                <a:cs typeface="Times New Roman" pitchFamily="34" charset="-120"/>
              </a:rPr>
              <a:t>See it running on AWS</a:t>
            </a:r>
            <a:endParaRPr lang="en-US" sz="2300" dirty="0"/>
          </a:p>
        </p:txBody>
      </p:sp>
      <p:sp>
        <p:nvSpPr>
          <p:cNvPr id="6" name="Text 4"/>
          <p:cNvSpPr/>
          <p:nvPr/>
        </p:nvSpPr>
        <p:spPr>
          <a:xfrm>
            <a:off x="960120" y="2039112"/>
            <a:ext cx="10271455" cy="274320"/>
          </a:xfrm>
          <a:prstGeom prst="rect">
            <a:avLst/>
          </a:prstGeom>
          <a:noFill/>
          <a:ln/>
        </p:spPr>
        <p:txBody>
          <a:bodyPr wrap="square" rtlCol="0" anchor="ctr"/>
          <a:lstStyle/>
          <a:p>
            <a:pPr indent="0" marL="0">
              <a:buNone/>
            </a:pPr>
            <a:r>
              <a:rPr lang="en-US" sz="1100" dirty="0">
                <a:solidFill>
                  <a:srgbClr val="C13B15"/>
                </a:solidFill>
                <a:latin typeface="Consolas" pitchFamily="34" charset="0"/>
                <a:ea typeface="Consolas" pitchFamily="34" charset="-122"/>
                <a:cs typeface="Consolas" pitchFamily="34" charset="-120"/>
              </a:rPr>
              <a:t>spc-frontend-659211701832.s3.us-east-1.amazonaws.com</a:t>
            </a:r>
            <a:endParaRPr lang="en-US" sz="1100" dirty="0"/>
          </a:p>
        </p:txBody>
      </p:sp>
      <p:sp>
        <p:nvSpPr>
          <p:cNvPr id="7" name="Shape 5"/>
          <p:cNvSpPr/>
          <p:nvPr/>
        </p:nvSpPr>
        <p:spPr>
          <a:xfrm>
            <a:off x="960120" y="2651760"/>
            <a:ext cx="3179978" cy="3200400"/>
          </a:xfrm>
          <a:prstGeom prst="roundRect">
            <a:avLst/>
          </a:prstGeom>
          <a:solidFill>
            <a:srgbClr val="1C4E6B"/>
          </a:solidFill>
          <a:ln w="12700">
            <a:solidFill>
              <a:srgbClr val="30627F"/>
            </a:solidFill>
            <a:prstDash val="solid"/>
          </a:ln>
        </p:spPr>
      </p:sp>
      <p:sp>
        <p:nvSpPr>
          <p:cNvPr id="8" name="Text 6"/>
          <p:cNvSpPr/>
          <p:nvPr/>
        </p:nvSpPr>
        <p:spPr>
          <a:xfrm>
            <a:off x="1234440" y="2889504"/>
            <a:ext cx="1828800" cy="777240"/>
          </a:xfrm>
          <a:prstGeom prst="rect">
            <a:avLst/>
          </a:prstGeom>
          <a:noFill/>
          <a:ln/>
        </p:spPr>
        <p:txBody>
          <a:bodyPr wrap="square" lIns="0" tIns="0" rIns="0" bIns="0" rtlCol="0" anchor="ctr"/>
          <a:lstStyle/>
          <a:p>
            <a:pPr indent="0" marL="0">
              <a:buNone/>
            </a:pPr>
            <a:r>
              <a:rPr lang="en-US" sz="3800" b="1" dirty="0">
                <a:solidFill>
                  <a:srgbClr val="C13B15"/>
                </a:solidFill>
                <a:latin typeface="Times New Roman" pitchFamily="34" charset="0"/>
                <a:ea typeface="Times New Roman" pitchFamily="34" charset="-122"/>
                <a:cs typeface="Times New Roman" pitchFamily="34" charset="-120"/>
              </a:rPr>
              <a:t>01</a:t>
            </a:r>
            <a:endParaRPr lang="en-US" sz="3800" dirty="0"/>
          </a:p>
        </p:txBody>
      </p:sp>
      <p:sp>
        <p:nvSpPr>
          <p:cNvPr id="9" name="Text 7"/>
          <p:cNvSpPr/>
          <p:nvPr/>
        </p:nvSpPr>
        <p:spPr>
          <a:xfrm>
            <a:off x="1252728" y="3703320"/>
            <a:ext cx="2631338" cy="868680"/>
          </a:xfrm>
          <a:prstGeom prst="rect">
            <a:avLst/>
          </a:prstGeom>
          <a:noFill/>
          <a:ln/>
        </p:spPr>
        <p:txBody>
          <a:bodyPr wrap="square" lIns="0" tIns="0" rIns="0" bIns="0" rtlCol="0" anchor="t"/>
          <a:lstStyle/>
          <a:p>
            <a:pPr indent="0" marL="0">
              <a:lnSpc>
                <a:spcPct val="100000"/>
              </a:lnSpc>
              <a:buNone/>
            </a:pPr>
            <a:r>
              <a:rPr lang="en-US" sz="1550" b="1" dirty="0">
                <a:solidFill>
                  <a:srgbClr val="EEF4F8"/>
                </a:solidFill>
                <a:latin typeface="Times New Roman" pitchFamily="34" charset="0"/>
                <a:ea typeface="Times New Roman" pitchFamily="34" charset="-122"/>
                <a:cs typeface="Times New Roman" pitchFamily="34" charset="-120"/>
              </a:rPr>
              <a:t>Two berths, five quayside signals</a:t>
            </a:r>
            <a:endParaRPr lang="en-US" sz="1550" dirty="0"/>
          </a:p>
        </p:txBody>
      </p:sp>
      <p:sp>
        <p:nvSpPr>
          <p:cNvPr id="10" name="Text 8"/>
          <p:cNvSpPr/>
          <p:nvPr/>
        </p:nvSpPr>
        <p:spPr>
          <a:xfrm>
            <a:off x="1252728" y="4572000"/>
            <a:ext cx="2631338" cy="1097280"/>
          </a:xfrm>
          <a:prstGeom prst="rect">
            <a:avLst/>
          </a:prstGeom>
          <a:noFill/>
          <a:ln/>
        </p:spPr>
        <p:txBody>
          <a:bodyPr wrap="square" lIns="0" tIns="0" rIns="0" bIns="0" rtlCol="0" anchor="ctr"/>
          <a:lstStyle/>
          <a:p>
            <a:pPr indent="0" marL="0">
              <a:lnSpc>
                <a:spcPct val="120000"/>
              </a:lnSpc>
              <a:buNone/>
            </a:pPr>
            <a:r>
              <a:rPr lang="en-US" sz="1200" dirty="0">
                <a:solidFill>
                  <a:srgbClr val="8B98A6"/>
                </a:solidFill>
                <a:latin typeface="Calibri" pitchFamily="34" charset="0"/>
                <a:ea typeface="Calibri" pitchFamily="34" charset="-122"/>
                <a:cs typeface="Calibri" pitchFamily="34" charset="-120"/>
              </a:rPr>
              <a:t>Crane load, container stacks, wind, occupancy and reefer temperature live for both berths.</a:t>
            </a:r>
            <a:endParaRPr lang="en-US" sz="1200" dirty="0"/>
          </a:p>
        </p:txBody>
      </p:sp>
      <p:sp>
        <p:nvSpPr>
          <p:cNvPr id="11" name="Shape 9"/>
          <p:cNvSpPr/>
          <p:nvPr/>
        </p:nvSpPr>
        <p:spPr>
          <a:xfrm>
            <a:off x="4505858" y="2651760"/>
            <a:ext cx="3179978" cy="3200400"/>
          </a:xfrm>
          <a:prstGeom prst="roundRect">
            <a:avLst/>
          </a:prstGeom>
          <a:solidFill>
            <a:srgbClr val="1C4E6B"/>
          </a:solidFill>
          <a:ln w="12700">
            <a:solidFill>
              <a:srgbClr val="30627F"/>
            </a:solidFill>
            <a:prstDash val="solid"/>
          </a:ln>
        </p:spPr>
      </p:sp>
      <p:sp>
        <p:nvSpPr>
          <p:cNvPr id="12" name="Text 10"/>
          <p:cNvSpPr/>
          <p:nvPr/>
        </p:nvSpPr>
        <p:spPr>
          <a:xfrm>
            <a:off x="4780178" y="2889504"/>
            <a:ext cx="1828800" cy="777240"/>
          </a:xfrm>
          <a:prstGeom prst="rect">
            <a:avLst/>
          </a:prstGeom>
          <a:noFill/>
          <a:ln/>
        </p:spPr>
        <p:txBody>
          <a:bodyPr wrap="square" lIns="0" tIns="0" rIns="0" bIns="0" rtlCol="0" anchor="ctr"/>
          <a:lstStyle/>
          <a:p>
            <a:pPr indent="0" marL="0">
              <a:buNone/>
            </a:pPr>
            <a:r>
              <a:rPr lang="en-US" sz="3800" b="1" dirty="0">
                <a:solidFill>
                  <a:srgbClr val="C13B15"/>
                </a:solidFill>
                <a:latin typeface="Times New Roman" pitchFamily="34" charset="0"/>
                <a:ea typeface="Times New Roman" pitchFamily="34" charset="-122"/>
                <a:cs typeface="Times New Roman" pitchFamily="34" charset="-120"/>
              </a:rPr>
              <a:t>02</a:t>
            </a:r>
            <a:endParaRPr lang="en-US" sz="3800" dirty="0"/>
          </a:p>
        </p:txBody>
      </p:sp>
      <p:sp>
        <p:nvSpPr>
          <p:cNvPr id="13" name="Text 11"/>
          <p:cNvSpPr/>
          <p:nvPr/>
        </p:nvSpPr>
        <p:spPr>
          <a:xfrm>
            <a:off x="4798466" y="3703320"/>
            <a:ext cx="2631338" cy="868680"/>
          </a:xfrm>
          <a:prstGeom prst="rect">
            <a:avLst/>
          </a:prstGeom>
          <a:noFill/>
          <a:ln/>
        </p:spPr>
        <p:txBody>
          <a:bodyPr wrap="square" lIns="0" tIns="0" rIns="0" bIns="0" rtlCol="0" anchor="t"/>
          <a:lstStyle/>
          <a:p>
            <a:pPr indent="0" marL="0">
              <a:lnSpc>
                <a:spcPct val="100000"/>
              </a:lnSpc>
              <a:buNone/>
            </a:pPr>
            <a:r>
              <a:rPr lang="en-US" sz="1550" b="1" dirty="0">
                <a:solidFill>
                  <a:srgbClr val="EEF4F8"/>
                </a:solidFill>
                <a:latin typeface="Times New Roman" pitchFamily="34" charset="0"/>
                <a:ea typeface="Times New Roman" pitchFamily="34" charset="-122"/>
                <a:cs typeface="Times New Roman" pitchFamily="34" charset="-120"/>
              </a:rPr>
              <a:t>Crane, wind and cold-chain alerts</a:t>
            </a:r>
            <a:endParaRPr lang="en-US" sz="1550" dirty="0"/>
          </a:p>
        </p:txBody>
      </p:sp>
      <p:sp>
        <p:nvSpPr>
          <p:cNvPr id="14" name="Text 12"/>
          <p:cNvSpPr/>
          <p:nvPr/>
        </p:nvSpPr>
        <p:spPr>
          <a:xfrm>
            <a:off x="4798466" y="4572000"/>
            <a:ext cx="2631338" cy="1097280"/>
          </a:xfrm>
          <a:prstGeom prst="rect">
            <a:avLst/>
          </a:prstGeom>
          <a:noFill/>
          <a:ln/>
        </p:spPr>
        <p:txBody>
          <a:bodyPr wrap="square" lIns="0" tIns="0" rIns="0" bIns="0" rtlCol="0" anchor="ctr"/>
          <a:lstStyle/>
          <a:p>
            <a:pPr indent="0" marL="0">
              <a:lnSpc>
                <a:spcPct val="120000"/>
              </a:lnSpc>
              <a:buNone/>
            </a:pPr>
            <a:r>
              <a:rPr lang="en-US" sz="1200" dirty="0">
                <a:solidFill>
                  <a:srgbClr val="8B98A6"/>
                </a:solidFill>
                <a:latin typeface="Calibri" pitchFamily="34" charset="0"/>
                <a:ea typeface="Calibri" pitchFamily="34" charset="-122"/>
                <a:cs typeface="Calibri" pitchFamily="34" charset="-120"/>
              </a:rPr>
              <a:t>A gust over the 34-knot limit halts crane lifts, an overloaded lift and a warm reefer each raise their own alert on the window.</a:t>
            </a:r>
            <a:endParaRPr lang="en-US" sz="1200" dirty="0"/>
          </a:p>
        </p:txBody>
      </p:sp>
      <p:sp>
        <p:nvSpPr>
          <p:cNvPr id="15" name="Shape 13"/>
          <p:cNvSpPr/>
          <p:nvPr/>
        </p:nvSpPr>
        <p:spPr>
          <a:xfrm>
            <a:off x="8051597" y="2651760"/>
            <a:ext cx="3179978" cy="3200400"/>
          </a:xfrm>
          <a:prstGeom prst="roundRect">
            <a:avLst/>
          </a:prstGeom>
          <a:solidFill>
            <a:srgbClr val="1C4E6B"/>
          </a:solidFill>
          <a:ln w="12700">
            <a:solidFill>
              <a:srgbClr val="30627F"/>
            </a:solidFill>
            <a:prstDash val="solid"/>
          </a:ln>
        </p:spPr>
      </p:sp>
      <p:sp>
        <p:nvSpPr>
          <p:cNvPr id="16" name="Text 14"/>
          <p:cNvSpPr/>
          <p:nvPr/>
        </p:nvSpPr>
        <p:spPr>
          <a:xfrm>
            <a:off x="8325917" y="2889504"/>
            <a:ext cx="1828800" cy="777240"/>
          </a:xfrm>
          <a:prstGeom prst="rect">
            <a:avLst/>
          </a:prstGeom>
          <a:noFill/>
          <a:ln/>
        </p:spPr>
        <p:txBody>
          <a:bodyPr wrap="square" lIns="0" tIns="0" rIns="0" bIns="0" rtlCol="0" anchor="ctr"/>
          <a:lstStyle/>
          <a:p>
            <a:pPr indent="0" marL="0">
              <a:buNone/>
            </a:pPr>
            <a:r>
              <a:rPr lang="en-US" sz="3800" b="1" dirty="0">
                <a:solidFill>
                  <a:srgbClr val="C13B15"/>
                </a:solidFill>
                <a:latin typeface="Times New Roman" pitchFamily="34" charset="0"/>
                <a:ea typeface="Times New Roman" pitchFamily="34" charset="-122"/>
                <a:cs typeface="Times New Roman" pitchFamily="34" charset="-120"/>
              </a:rPr>
              <a:t>03</a:t>
            </a:r>
            <a:endParaRPr lang="en-US" sz="3800" dirty="0"/>
          </a:p>
        </p:txBody>
      </p:sp>
      <p:sp>
        <p:nvSpPr>
          <p:cNvPr id="17" name="Text 15"/>
          <p:cNvSpPr/>
          <p:nvPr/>
        </p:nvSpPr>
        <p:spPr>
          <a:xfrm>
            <a:off x="8344205" y="3703320"/>
            <a:ext cx="2631338" cy="868680"/>
          </a:xfrm>
          <a:prstGeom prst="rect">
            <a:avLst/>
          </a:prstGeom>
          <a:noFill/>
          <a:ln/>
        </p:spPr>
        <p:txBody>
          <a:bodyPr wrap="square" lIns="0" tIns="0" rIns="0" bIns="0" rtlCol="0" anchor="t"/>
          <a:lstStyle/>
          <a:p>
            <a:pPr indent="0" marL="0">
              <a:lnSpc>
                <a:spcPct val="100000"/>
              </a:lnSpc>
              <a:buNone/>
            </a:pPr>
            <a:r>
              <a:rPr lang="en-US" sz="1550" b="1" dirty="0">
                <a:solidFill>
                  <a:srgbClr val="EEF4F8"/>
                </a:solidFill>
                <a:latin typeface="Times New Roman" pitchFamily="34" charset="0"/>
                <a:ea typeface="Times New Roman" pitchFamily="34" charset="-122"/>
                <a:cs typeface="Times New Roman" pitchFamily="34" charset="-120"/>
              </a:rPr>
              <a:t>Every alert traces to a real rule</a:t>
            </a:r>
            <a:endParaRPr lang="en-US" sz="1550" dirty="0"/>
          </a:p>
        </p:txBody>
      </p:sp>
      <p:sp>
        <p:nvSpPr>
          <p:cNvPr id="18" name="Text 16"/>
          <p:cNvSpPr/>
          <p:nvPr/>
        </p:nvSpPr>
        <p:spPr>
          <a:xfrm>
            <a:off x="8344205" y="4572000"/>
            <a:ext cx="2631338" cy="1097280"/>
          </a:xfrm>
          <a:prstGeom prst="rect">
            <a:avLst/>
          </a:prstGeom>
          <a:noFill/>
          <a:ln/>
        </p:spPr>
        <p:txBody>
          <a:bodyPr wrap="square" lIns="0" tIns="0" rIns="0" bIns="0" rtlCol="0" anchor="ctr"/>
          <a:lstStyle/>
          <a:p>
            <a:pPr indent="0" marL="0">
              <a:lnSpc>
                <a:spcPct val="120000"/>
              </a:lnSpc>
              <a:buNone/>
            </a:pPr>
            <a:r>
              <a:rPr lang="en-US" sz="1200" dirty="0">
                <a:solidFill>
                  <a:srgbClr val="8B98A6"/>
                </a:solidFill>
                <a:latin typeface="Calibri" pitchFamily="34" charset="0"/>
                <a:ea typeface="Calibri" pitchFamily="34" charset="-122"/>
                <a:cs typeface="Calibri" pitchFamily="34" charset="-120"/>
              </a:rPr>
              <a:t>Each banner maps to a code-defined threshold — 34 knots, 32,000 kg, -10 C, 90% occupancy — not a demo constant.</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384D"/>
        </a:solidFill>
      </p:bgPr>
    </p:bg>
    <p:spTree>
      <p:nvGrpSpPr>
        <p:cNvPr id="1" name=""/>
        <p:cNvGrpSpPr/>
        <p:nvPr/>
      </p:nvGrpSpPr>
      <p:grpSpPr>
        <a:xfrm>
          <a:off x="0" y="0"/>
          <a:ext cx="0" cy="0"/>
          <a:chOff x="0" y="0"/>
          <a:chExt cx="0" cy="0"/>
        </a:xfrm>
      </p:grpSpPr>
      <p:sp>
        <p:nvSpPr>
          <p:cNvPr id="2" name="Shape 0"/>
          <p:cNvSpPr/>
          <p:nvPr/>
        </p:nvSpPr>
        <p:spPr>
          <a:xfrm>
            <a:off x="411480" y="411480"/>
            <a:ext cx="11368735" cy="6035040"/>
          </a:xfrm>
          <a:prstGeom prst="rect">
            <a:avLst/>
          </a:prstGeom>
          <a:ln w="19050">
            <a:solidFill>
              <a:srgbClr val="C13B15"/>
            </a:solidFill>
            <a:prstDash val="solid"/>
          </a:ln>
        </p:spPr>
      </p:sp>
      <p:sp>
        <p:nvSpPr>
          <p:cNvPr id="3" name="Text 1"/>
          <p:cNvSpPr/>
          <p:nvPr/>
        </p:nvSpPr>
        <p:spPr>
          <a:xfrm>
            <a:off x="960120" y="868680"/>
            <a:ext cx="914400" cy="640080"/>
          </a:xfrm>
          <a:prstGeom prst="rect">
            <a:avLst/>
          </a:prstGeom>
          <a:noFill/>
          <a:ln/>
        </p:spPr>
        <p:txBody>
          <a:bodyPr wrap="square" lIns="0" tIns="0" rIns="0" bIns="0" rtlCol="0" anchor="ctr"/>
          <a:lstStyle/>
          <a:p>
            <a:pPr indent="0" marL="0">
              <a:buNone/>
            </a:pPr>
            <a:r>
              <a:rPr lang="en-US" sz="3000" b="1" dirty="0">
                <a:solidFill>
                  <a:srgbClr val="C13B15"/>
                </a:solidFill>
                <a:latin typeface="Times New Roman" pitchFamily="34" charset="0"/>
                <a:ea typeface="Times New Roman" pitchFamily="34" charset="-122"/>
                <a:cs typeface="Times New Roman" pitchFamily="34" charset="-120"/>
              </a:rPr>
              <a:t>03</a:t>
            </a:r>
            <a:endParaRPr lang="en-US" sz="3000" dirty="0"/>
          </a:p>
        </p:txBody>
      </p:sp>
      <p:sp>
        <p:nvSpPr>
          <p:cNvPr id="4" name="Text 2"/>
          <p:cNvSpPr/>
          <p:nvPr/>
        </p:nvSpPr>
        <p:spPr>
          <a:xfrm>
            <a:off x="1828800" y="1042416"/>
            <a:ext cx="9402775" cy="274320"/>
          </a:xfrm>
          <a:prstGeom prst="rect">
            <a:avLst/>
          </a:prstGeom>
          <a:noFill/>
          <a:ln/>
        </p:spPr>
        <p:txBody>
          <a:bodyPr wrap="square" lIns="0" tIns="0" rIns="0" bIns="0" rtlCol="0" anchor="ctr"/>
          <a:lstStyle/>
          <a:p>
            <a:pPr indent="0" marL="0">
              <a:buNone/>
            </a:pPr>
            <a:r>
              <a:rPr lang="en-US" sz="1100" b="1" spc="200" kern="0" dirty="0">
                <a:solidFill>
                  <a:srgbClr val="8B98A6"/>
                </a:solidFill>
                <a:latin typeface="Calibri" pitchFamily="34" charset="0"/>
                <a:ea typeface="Calibri" pitchFamily="34" charset="-122"/>
                <a:cs typeface="Calibri" pitchFamily="34" charset="-120"/>
              </a:rPr>
              <a:t>CHALLENGE</a:t>
            </a:r>
            <a:endParaRPr lang="en-US" sz="1100" dirty="0"/>
          </a:p>
        </p:txBody>
      </p:sp>
      <p:sp>
        <p:nvSpPr>
          <p:cNvPr id="5" name="Text 3"/>
          <p:cNvSpPr/>
          <p:nvPr/>
        </p:nvSpPr>
        <p:spPr>
          <a:xfrm>
            <a:off x="960120" y="1517904"/>
            <a:ext cx="10271455" cy="640080"/>
          </a:xfrm>
          <a:prstGeom prst="rect">
            <a:avLst/>
          </a:prstGeom>
          <a:noFill/>
          <a:ln/>
        </p:spPr>
        <p:txBody>
          <a:bodyPr wrap="square" lIns="0" tIns="0" rIns="0" bIns="0" rtlCol="0" anchor="ctr"/>
          <a:lstStyle/>
          <a:p>
            <a:pPr indent="0" marL="0">
              <a:buNone/>
            </a:pPr>
            <a:r>
              <a:rPr lang="en-US" sz="2300" b="1" dirty="0">
                <a:solidFill>
                  <a:srgbClr val="EEF4F8"/>
                </a:solidFill>
                <a:latin typeface="Times New Roman" pitchFamily="34" charset="0"/>
                <a:ea typeface="Times New Roman" pitchFamily="34" charset="-122"/>
                <a:cs typeface="Times New Roman" pitchFamily="34" charset="-120"/>
              </a:rPr>
              <a:t>only alarm what has a rule</a:t>
            </a:r>
            <a:endParaRPr lang="en-US" sz="2300" dirty="0"/>
          </a:p>
        </p:txBody>
      </p:sp>
      <p:sp>
        <p:nvSpPr>
          <p:cNvPr id="6" name="Shape 4"/>
          <p:cNvSpPr/>
          <p:nvPr/>
        </p:nvSpPr>
        <p:spPr>
          <a:xfrm>
            <a:off x="960120" y="2560320"/>
            <a:ext cx="4907128" cy="3291840"/>
          </a:xfrm>
          <a:prstGeom prst="roundRect">
            <a:avLst/>
          </a:prstGeom>
          <a:solidFill>
            <a:srgbClr val="1C4E6B"/>
          </a:solidFill>
          <a:ln w="12700">
            <a:solidFill>
              <a:srgbClr val="30627F"/>
            </a:solidFill>
            <a:prstDash val="solid"/>
          </a:ln>
        </p:spPr>
      </p:sp>
      <p:sp>
        <p:nvSpPr>
          <p:cNvPr id="7" name="Text 5"/>
          <p:cNvSpPr/>
          <p:nvPr/>
        </p:nvSpPr>
        <p:spPr>
          <a:xfrm>
            <a:off x="1280160" y="2834640"/>
            <a:ext cx="4267048" cy="320040"/>
          </a:xfrm>
          <a:prstGeom prst="rect">
            <a:avLst/>
          </a:prstGeom>
          <a:noFill/>
          <a:ln/>
        </p:spPr>
        <p:txBody>
          <a:bodyPr wrap="square" lIns="0" tIns="0" rIns="0" bIns="0" rtlCol="0" anchor="ctr"/>
          <a:lstStyle/>
          <a:p>
            <a:pPr indent="0" marL="0">
              <a:buNone/>
            </a:pPr>
            <a:r>
              <a:rPr lang="en-US" sz="1200" b="1" spc="200" kern="0" dirty="0">
                <a:solidFill>
                  <a:srgbClr val="D1584E"/>
                </a:solidFill>
                <a:latin typeface="Calibri" pitchFamily="34" charset="0"/>
                <a:ea typeface="Calibri" pitchFamily="34" charset="-122"/>
                <a:cs typeface="Calibri" pitchFamily="34" charset="-120"/>
              </a:rPr>
              <a:t>PROBLEM</a:t>
            </a:r>
            <a:endParaRPr lang="en-US" sz="1200" dirty="0"/>
          </a:p>
        </p:txBody>
      </p:sp>
      <p:sp>
        <p:nvSpPr>
          <p:cNvPr id="8" name="Shape 6"/>
          <p:cNvSpPr/>
          <p:nvPr/>
        </p:nvSpPr>
        <p:spPr>
          <a:xfrm>
            <a:off x="1280160" y="3218688"/>
            <a:ext cx="4267048" cy="0"/>
          </a:xfrm>
          <a:prstGeom prst="line">
            <a:avLst/>
          </a:prstGeom>
          <a:noFill/>
          <a:ln w="19050">
            <a:solidFill>
              <a:srgbClr val="D1584E"/>
            </a:solidFill>
            <a:prstDash val="solid"/>
          </a:ln>
        </p:spPr>
      </p:sp>
      <p:sp>
        <p:nvSpPr>
          <p:cNvPr id="9" name="Text 7"/>
          <p:cNvSpPr/>
          <p:nvPr/>
        </p:nvSpPr>
        <p:spPr>
          <a:xfrm>
            <a:off x="1280160" y="3383280"/>
            <a:ext cx="4267048" cy="2286000"/>
          </a:xfrm>
          <a:prstGeom prst="rect">
            <a:avLst/>
          </a:prstGeom>
          <a:noFill/>
          <a:ln/>
        </p:spPr>
        <p:txBody>
          <a:bodyPr wrap="square" lIns="0" tIns="0" rIns="0" bIns="0" rtlCol="0" anchor="t"/>
          <a:lstStyle/>
          <a:p>
            <a:pPr indent="0" marL="0">
              <a:lnSpc>
                <a:spcPct val="128000"/>
              </a:lnSpc>
              <a:buNone/>
            </a:pPr>
            <a:r>
              <a:rPr lang="en-US" sz="1350" dirty="0">
                <a:solidFill>
                  <a:srgbClr val="EEF4F8"/>
                </a:solidFill>
                <a:latin typeface="Calibri" pitchFamily="34" charset="0"/>
                <a:ea typeface="Calibri" pitchFamily="34" charset="-122"/>
                <a:cs typeface="Calibri" pitchFamily="34" charset="-120"/>
              </a:rPr>
              <a:t>A container terminal streams signals of two kinds: some carry a real safety rule — crane overload, reefer temperature, high-wind crane halt — and some, like container stack height, are useful context but should never raise an alarm. If the dashboard advertised a threshold for every signal, the operator's alarm list would fill with numbers that can never actually fire.</a:t>
            </a:r>
            <a:endParaRPr lang="en-US" sz="1350" dirty="0"/>
          </a:p>
        </p:txBody>
      </p:sp>
      <p:sp>
        <p:nvSpPr>
          <p:cNvPr id="10" name="Shape 8"/>
          <p:cNvSpPr/>
          <p:nvPr/>
        </p:nvSpPr>
        <p:spPr>
          <a:xfrm>
            <a:off x="6324448" y="2560320"/>
            <a:ext cx="4907128" cy="3291840"/>
          </a:xfrm>
          <a:prstGeom prst="roundRect">
            <a:avLst/>
          </a:prstGeom>
          <a:solidFill>
            <a:srgbClr val="1C4E6B"/>
          </a:solidFill>
          <a:ln w="12700">
            <a:solidFill>
              <a:srgbClr val="30627F"/>
            </a:solidFill>
            <a:prstDash val="solid"/>
          </a:ln>
        </p:spPr>
      </p:sp>
      <p:sp>
        <p:nvSpPr>
          <p:cNvPr id="11" name="Text 9"/>
          <p:cNvSpPr/>
          <p:nvPr/>
        </p:nvSpPr>
        <p:spPr>
          <a:xfrm>
            <a:off x="6644488" y="2834640"/>
            <a:ext cx="4267048" cy="320040"/>
          </a:xfrm>
          <a:prstGeom prst="rect">
            <a:avLst/>
          </a:prstGeom>
          <a:noFill/>
          <a:ln/>
        </p:spPr>
        <p:txBody>
          <a:bodyPr wrap="square" lIns="0" tIns="0" rIns="0" bIns="0" rtlCol="0" anchor="ctr"/>
          <a:lstStyle/>
          <a:p>
            <a:pPr indent="0" marL="0">
              <a:buNone/>
            </a:pPr>
            <a:r>
              <a:rPr lang="en-US" sz="1200" b="1" spc="200" kern="0" dirty="0">
                <a:solidFill>
                  <a:srgbClr val="3FAE6A"/>
                </a:solidFill>
                <a:latin typeface="Calibri" pitchFamily="34" charset="0"/>
                <a:ea typeface="Calibri" pitchFamily="34" charset="-122"/>
                <a:cs typeface="Calibri" pitchFamily="34" charset="-120"/>
              </a:rPr>
              <a:t>SOLUTION</a:t>
            </a:r>
            <a:endParaRPr lang="en-US" sz="1200" dirty="0"/>
          </a:p>
        </p:txBody>
      </p:sp>
      <p:sp>
        <p:nvSpPr>
          <p:cNvPr id="12" name="Shape 10"/>
          <p:cNvSpPr/>
          <p:nvPr/>
        </p:nvSpPr>
        <p:spPr>
          <a:xfrm>
            <a:off x="6644488" y="3218688"/>
            <a:ext cx="4267048" cy="0"/>
          </a:xfrm>
          <a:prstGeom prst="line">
            <a:avLst/>
          </a:prstGeom>
          <a:noFill/>
          <a:ln w="19050">
            <a:solidFill>
              <a:srgbClr val="3FAE6A"/>
            </a:solidFill>
            <a:prstDash val="solid"/>
          </a:ln>
        </p:spPr>
      </p:sp>
      <p:sp>
        <p:nvSpPr>
          <p:cNvPr id="13" name="Text 11"/>
          <p:cNvSpPr/>
          <p:nvPr/>
        </p:nvSpPr>
        <p:spPr>
          <a:xfrm>
            <a:off x="6644488" y="3383280"/>
            <a:ext cx="4267048" cy="2286000"/>
          </a:xfrm>
          <a:prstGeom prst="rect">
            <a:avLst/>
          </a:prstGeom>
          <a:noFill/>
          <a:ln/>
        </p:spPr>
        <p:txBody>
          <a:bodyPr wrap="square" lIns="0" tIns="0" rIns="0" bIns="0" rtlCol="0" anchor="t"/>
          <a:lstStyle/>
          <a:p>
            <a:pPr indent="0" marL="0">
              <a:lnSpc>
                <a:spcPct val="128000"/>
              </a:lnSpc>
              <a:buNone/>
            </a:pPr>
            <a:r>
              <a:rPr lang="en-US" sz="1350" dirty="0">
                <a:solidFill>
                  <a:srgbClr val="EEF4F8"/>
                </a:solidFill>
                <a:latin typeface="Calibri" pitchFamily="34" charset="0"/>
                <a:ea typeface="Calibri" pitchFamily="34" charset="-122"/>
                <a:cs typeface="Calibri" pitchFamily="34" charset="-120"/>
              </a:rPr>
              <a:t>The fog gateway's published thresholds expose only the signals that carry an active rule; context-only signals are still aggregated and trended but are deliberately omitted from the threshold list. The tests assert that stack height never appears among the rules, so what the operator sees as monitored for breach is exactly what the edge will actually alarm on.</a:t>
            </a:r>
            <a:endParaRPr lang="en-US" sz="13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2026-07-24T09:15:28Z</dcterms:created>
  <dcterms:modified xsi:type="dcterms:W3CDTF">2026-07-24T09:15:28Z</dcterms:modified>
</cp:coreProperties>
</file>