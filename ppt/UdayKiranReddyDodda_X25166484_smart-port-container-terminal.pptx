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534"/>
        </a:solidFill>
      </p:bgPr>
    </p:bg>
    <p:spTree>
      <p:nvGrpSpPr>
        <p:cNvPr id="1" name=""/>
        <p:cNvGrpSpPr/>
        <p:nvPr/>
      </p:nvGrpSpPr>
      <p:grpSpPr>
        <a:xfrm>
          <a:off x="0" y="0"/>
          <a:ext cx="0" cy="0"/>
          <a:chOff x="0" y="0"/>
          <a:chExt cx="0" cy="0"/>
        </a:xfrm>
      </p:grpSpPr>
      <p:sp>
        <p:nvSpPr>
          <p:cNvPr id="2" name="Text 0"/>
          <p:cNvSpPr/>
          <p:nvPr/>
        </p:nvSpPr>
        <p:spPr>
          <a:xfrm>
            <a:off x="548640" y="1051560"/>
            <a:ext cx="11064240" cy="1188720"/>
          </a:xfrm>
          <a:prstGeom prst="rect">
            <a:avLst/>
          </a:prstGeom>
          <a:noFill/>
          <a:ln/>
        </p:spPr>
        <p:txBody>
          <a:bodyPr wrap="square"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Smart Port Container Terminal Monitoring</a:t>
            </a:r>
            <a:endParaRPr lang="en-US" sz="3400" dirty="0"/>
          </a:p>
        </p:txBody>
      </p:sp>
      <p:sp>
        <p:nvSpPr>
          <p:cNvPr id="3" name="Text 1"/>
          <p:cNvSpPr/>
          <p:nvPr/>
        </p:nvSpPr>
        <p:spPr>
          <a:xfrm>
            <a:off x="548640" y="2286000"/>
            <a:ext cx="11064240" cy="365760"/>
          </a:xfrm>
          <a:prstGeom prst="rect">
            <a:avLst/>
          </a:prstGeom>
          <a:noFill/>
          <a:ln/>
        </p:spPr>
        <p:txBody>
          <a:bodyPr wrap="square" rtlCol="0" anchor="ctr"/>
          <a:lstStyle/>
          <a:p>
            <a:pPr algn="ctr" indent="0" marL="0">
              <a:buNone/>
            </a:pPr>
            <a:r>
              <a:rPr lang="en-US" sz="1600" dirty="0">
                <a:solidFill>
                  <a:srgbClr val="4F98B8"/>
                </a:solidFill>
                <a:latin typeface="Calibri" pitchFamily="34" charset="0"/>
                <a:ea typeface="Calibri" pitchFamily="34" charset="-122"/>
                <a:cs typeface="Calibri" pitchFamily="34" charset="-120"/>
              </a:rPr>
              <a:t>Uday Kiran Reddy Dodda   ·   X25166484</a:t>
            </a:r>
            <a:endParaRPr lang="en-US" sz="1600" dirty="0"/>
          </a:p>
        </p:txBody>
      </p:sp>
      <p:sp>
        <p:nvSpPr>
          <p:cNvPr id="4" name="Text 2"/>
          <p:cNvSpPr/>
          <p:nvPr/>
        </p:nvSpPr>
        <p:spPr>
          <a:xfrm>
            <a:off x="1463040" y="2926080"/>
            <a:ext cx="9235440" cy="1371600"/>
          </a:xfrm>
          <a:prstGeom prst="rect">
            <a:avLst/>
          </a:prstGeom>
          <a:noFill/>
          <a:ln/>
        </p:spPr>
        <p:txBody>
          <a:bodyPr wrap="square" rtlCol="0" anchor="ctr"/>
          <a:lstStyle/>
          <a:p>
            <a:pPr algn="ctr" indent="0" marL="0">
              <a:lnSpc>
                <a:spcPct val="110000"/>
              </a:lnSpc>
              <a:buNone/>
            </a:pPr>
            <a:r>
              <a:rPr lang="en-US" sz="2000" dirty="0">
                <a:solidFill>
                  <a:srgbClr val="CFE2EC"/>
                </a:solidFill>
                <a:latin typeface="Calibri" pitchFamily="34" charset="0"/>
                <a:ea typeface="Calibri" pitchFamily="34" charset="-122"/>
                <a:cs typeface="Calibri" pitchFamily="34" charset="-120"/>
              </a:rPr>
              <a:t>The dangerous moments at a quayside are transient — one gust over the wind limit, one overloaded lift, one reefer drifting warm — and a paper log catches them only after the fact.</a:t>
            </a:r>
            <a:endParaRPr lang="en-US" sz="2000" dirty="0"/>
          </a:p>
        </p:txBody>
      </p:sp>
      <p:sp>
        <p:nvSpPr>
          <p:cNvPr id="5" name="Shape 3"/>
          <p:cNvSpPr/>
          <p:nvPr/>
        </p:nvSpPr>
        <p:spPr>
          <a:xfrm>
            <a:off x="1889608" y="4526280"/>
            <a:ext cx="2651760" cy="566928"/>
          </a:xfrm>
          <a:prstGeom prst="roundRect">
            <a:avLst>
              <a:gd name="adj" fmla="val 50000"/>
            </a:avLst>
          </a:prstGeom>
          <a:solidFill>
            <a:srgbClr val="163A4E"/>
          </a:solidFill>
          <a:ln w="12700">
            <a:solidFill>
              <a:srgbClr val="E4A63C"/>
            </a:solidFill>
            <a:prstDash val="solid"/>
          </a:ln>
        </p:spPr>
      </p:sp>
      <p:sp>
        <p:nvSpPr>
          <p:cNvPr id="6" name="Text 4"/>
          <p:cNvSpPr/>
          <p:nvPr/>
        </p:nvSpPr>
        <p:spPr>
          <a:xfrm>
            <a:off x="1889608" y="4526280"/>
            <a:ext cx="265176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Wind &gt; 34 kn halts lifts</a:t>
            </a:r>
            <a:endParaRPr lang="en-US" sz="1350" dirty="0"/>
          </a:p>
        </p:txBody>
      </p:sp>
      <p:sp>
        <p:nvSpPr>
          <p:cNvPr id="7" name="Shape 5"/>
          <p:cNvSpPr/>
          <p:nvPr/>
        </p:nvSpPr>
        <p:spPr>
          <a:xfrm>
            <a:off x="4769968" y="4526280"/>
            <a:ext cx="2651760" cy="566928"/>
          </a:xfrm>
          <a:prstGeom prst="roundRect">
            <a:avLst>
              <a:gd name="adj" fmla="val 50000"/>
            </a:avLst>
          </a:prstGeom>
          <a:solidFill>
            <a:srgbClr val="163A4E"/>
          </a:solidFill>
          <a:ln w="12700">
            <a:solidFill>
              <a:srgbClr val="E4A63C"/>
            </a:solidFill>
            <a:prstDash val="solid"/>
          </a:ln>
        </p:spPr>
      </p:sp>
      <p:sp>
        <p:nvSpPr>
          <p:cNvPr id="8" name="Text 6"/>
          <p:cNvSpPr/>
          <p:nvPr/>
        </p:nvSpPr>
        <p:spPr>
          <a:xfrm>
            <a:off x="4769968" y="4526280"/>
            <a:ext cx="265176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Crane load &gt; 32,000 kg</a:t>
            </a:r>
            <a:endParaRPr lang="en-US" sz="1350" dirty="0"/>
          </a:p>
        </p:txBody>
      </p:sp>
      <p:sp>
        <p:nvSpPr>
          <p:cNvPr id="9" name="Shape 7"/>
          <p:cNvSpPr/>
          <p:nvPr/>
        </p:nvSpPr>
        <p:spPr>
          <a:xfrm>
            <a:off x="7650328" y="4526280"/>
            <a:ext cx="2651760" cy="566928"/>
          </a:xfrm>
          <a:prstGeom prst="roundRect">
            <a:avLst>
              <a:gd name="adj" fmla="val 50000"/>
            </a:avLst>
          </a:prstGeom>
          <a:solidFill>
            <a:srgbClr val="163A4E"/>
          </a:solidFill>
          <a:ln w="12700">
            <a:solidFill>
              <a:srgbClr val="E4A63C"/>
            </a:solidFill>
            <a:prstDash val="solid"/>
          </a:ln>
        </p:spPr>
      </p:sp>
      <p:sp>
        <p:nvSpPr>
          <p:cNvPr id="10" name="Text 8"/>
          <p:cNvSpPr/>
          <p:nvPr/>
        </p:nvSpPr>
        <p:spPr>
          <a:xfrm>
            <a:off x="7650328" y="4526280"/>
            <a:ext cx="265176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Reefer &gt; −10 °C</a:t>
            </a:r>
            <a:endParaRPr lang="en-US" sz="1350" dirty="0"/>
          </a:p>
        </p:txBody>
      </p:sp>
      <p:sp>
        <p:nvSpPr>
          <p:cNvPr id="11" name="Text 9"/>
          <p:cNvSpPr/>
          <p:nvPr/>
        </p:nvSpPr>
        <p:spPr>
          <a:xfrm>
            <a:off x="548640" y="6126480"/>
            <a:ext cx="11064240" cy="365760"/>
          </a:xfrm>
          <a:prstGeom prst="rect">
            <a:avLst/>
          </a:prstGeom>
          <a:noFill/>
          <a:ln/>
        </p:spPr>
        <p:txBody>
          <a:bodyPr wrap="square" rtlCol="0" anchor="ctr"/>
          <a:lstStyle/>
          <a:p>
            <a:pPr algn="ctr" indent="0" marL="0">
              <a:buNone/>
            </a:pPr>
            <a:r>
              <a:rPr lang="en-US" sz="1300" dirty="0">
                <a:solidFill>
                  <a:srgbClr val="567480"/>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What I Built — Sensors to Live Dashboard</a:t>
            </a:r>
            <a:endParaRPr lang="en-US" sz="3000" dirty="0"/>
          </a:p>
        </p:txBody>
      </p:sp>
      <p:sp>
        <p:nvSpPr>
          <p:cNvPr id="3" name="Shape 1"/>
          <p:cNvSpPr/>
          <p:nvPr/>
        </p:nvSpPr>
        <p:spPr>
          <a:xfrm>
            <a:off x="640080" y="2468880"/>
            <a:ext cx="1572768" cy="1371600"/>
          </a:xfrm>
          <a:prstGeom prst="roundRect">
            <a:avLst>
              <a:gd name="adj" fmla="val 6667"/>
            </a:avLst>
          </a:prstGeom>
          <a:solidFill>
            <a:srgbClr val="EDF4F8"/>
          </a:solidFill>
          <a:ln w="19050">
            <a:solidFill>
              <a:srgbClr val="4F98B8"/>
            </a:solidFill>
            <a:prstDash val="solid"/>
          </a:ln>
        </p:spPr>
      </p:sp>
      <p:sp>
        <p:nvSpPr>
          <p:cNvPr id="4" name="Shape 2"/>
          <p:cNvSpPr/>
          <p:nvPr/>
        </p:nvSpPr>
        <p:spPr>
          <a:xfrm>
            <a:off x="1335024" y="2633472"/>
            <a:ext cx="182880" cy="182880"/>
          </a:xfrm>
          <a:prstGeom prst="ellipse">
            <a:avLst/>
          </a:prstGeom>
          <a:solidFill>
            <a:srgbClr val="4F98B8"/>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Berth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10 · 2 berths</a:t>
            </a:r>
            <a:endParaRPr lang="en-US" sz="1050" dirty="0"/>
          </a:p>
        </p:txBody>
      </p:sp>
      <p:sp>
        <p:nvSpPr>
          <p:cNvPr id="7" name="Shape 5"/>
          <p:cNvSpPr/>
          <p:nvPr/>
        </p:nvSpPr>
        <p:spPr>
          <a:xfrm>
            <a:off x="2231136" y="3154680"/>
            <a:ext cx="258409" cy="0"/>
          </a:xfrm>
          <a:prstGeom prst="line">
            <a:avLst/>
          </a:prstGeom>
          <a:noFill/>
          <a:ln w="25400">
            <a:solidFill>
              <a:srgbClr val="4F98B8"/>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DF4F8"/>
          </a:solidFill>
          <a:ln w="19050">
            <a:solidFill>
              <a:srgbClr val="4F98B8"/>
            </a:solidFill>
            <a:prstDash val="solid"/>
          </a:ln>
        </p:spPr>
      </p:sp>
      <p:sp>
        <p:nvSpPr>
          <p:cNvPr id="9" name="Shape 7"/>
          <p:cNvSpPr/>
          <p:nvPr/>
        </p:nvSpPr>
        <p:spPr>
          <a:xfrm>
            <a:off x="3202777" y="2633472"/>
            <a:ext cx="182880" cy="182880"/>
          </a:xfrm>
          <a:prstGeom prst="ellipse">
            <a:avLst/>
          </a:prstGeom>
          <a:solidFill>
            <a:srgbClr val="4F98B8"/>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windows · safety rules</a:t>
            </a:r>
            <a:endParaRPr lang="en-US" sz="1050" dirty="0"/>
          </a:p>
        </p:txBody>
      </p:sp>
      <p:sp>
        <p:nvSpPr>
          <p:cNvPr id="12" name="Shape 10"/>
          <p:cNvSpPr/>
          <p:nvPr/>
        </p:nvSpPr>
        <p:spPr>
          <a:xfrm>
            <a:off x="4098889" y="3154680"/>
            <a:ext cx="258409" cy="0"/>
          </a:xfrm>
          <a:prstGeom prst="line">
            <a:avLst/>
          </a:prstGeom>
          <a:noFill/>
          <a:ln w="25400">
            <a:solidFill>
              <a:srgbClr val="4F98B8"/>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DF4F8"/>
          </a:solidFill>
          <a:ln w="19050">
            <a:solidFill>
              <a:srgbClr val="124C6E"/>
            </a:solidFill>
            <a:prstDash val="solid"/>
          </a:ln>
        </p:spPr>
      </p:sp>
      <p:sp>
        <p:nvSpPr>
          <p:cNvPr id="14" name="Shape 12"/>
          <p:cNvSpPr/>
          <p:nvPr/>
        </p:nvSpPr>
        <p:spPr>
          <a:xfrm>
            <a:off x="5070531" y="2633472"/>
            <a:ext cx="182880" cy="182880"/>
          </a:xfrm>
          <a:prstGeom prst="ellipse">
            <a:avLst/>
          </a:prstGeom>
          <a:solidFill>
            <a:srgbClr val="124C6E"/>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1 batched msg / cycle</a:t>
            </a:r>
            <a:endParaRPr lang="en-US" sz="1050" dirty="0"/>
          </a:p>
        </p:txBody>
      </p:sp>
      <p:sp>
        <p:nvSpPr>
          <p:cNvPr id="17" name="Shape 15"/>
          <p:cNvSpPr/>
          <p:nvPr/>
        </p:nvSpPr>
        <p:spPr>
          <a:xfrm>
            <a:off x="5966643" y="3154680"/>
            <a:ext cx="258409" cy="0"/>
          </a:xfrm>
          <a:prstGeom prst="line">
            <a:avLst/>
          </a:prstGeom>
          <a:noFill/>
          <a:ln w="25400">
            <a:solidFill>
              <a:srgbClr val="4F98B8"/>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DF4F8"/>
          </a:solidFill>
          <a:ln w="19050">
            <a:solidFill>
              <a:srgbClr val="124C6E"/>
            </a:solidFill>
            <a:prstDash val="solid"/>
          </a:ln>
        </p:spPr>
      </p:sp>
      <p:sp>
        <p:nvSpPr>
          <p:cNvPr id="19" name="Shape 17"/>
          <p:cNvSpPr/>
          <p:nvPr/>
        </p:nvSpPr>
        <p:spPr>
          <a:xfrm>
            <a:off x="6938284" y="2633472"/>
            <a:ext cx="182880" cy="182880"/>
          </a:xfrm>
          <a:prstGeom prst="ellipse">
            <a:avLst/>
          </a:prstGeom>
          <a:solidFill>
            <a:srgbClr val="124C6E"/>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4F98B8"/>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DF4F8"/>
          </a:solidFill>
          <a:ln w="19050">
            <a:solidFill>
              <a:srgbClr val="124C6E"/>
            </a:solidFill>
            <a:prstDash val="solid"/>
          </a:ln>
        </p:spPr>
      </p:sp>
      <p:sp>
        <p:nvSpPr>
          <p:cNvPr id="24" name="Shape 22"/>
          <p:cNvSpPr/>
          <p:nvPr/>
        </p:nvSpPr>
        <p:spPr>
          <a:xfrm>
            <a:off x="8806038" y="2633472"/>
            <a:ext cx="182880" cy="182880"/>
          </a:xfrm>
          <a:prstGeom prst="ellipse">
            <a:avLst/>
          </a:prstGeom>
          <a:solidFill>
            <a:srgbClr val="124C6E"/>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time-ordered store</a:t>
            </a:r>
            <a:endParaRPr lang="en-US" sz="1050" dirty="0"/>
          </a:p>
        </p:txBody>
      </p:sp>
      <p:sp>
        <p:nvSpPr>
          <p:cNvPr id="27" name="Shape 25"/>
          <p:cNvSpPr/>
          <p:nvPr/>
        </p:nvSpPr>
        <p:spPr>
          <a:xfrm>
            <a:off x="9702150" y="3154680"/>
            <a:ext cx="258409" cy="0"/>
          </a:xfrm>
          <a:prstGeom prst="line">
            <a:avLst/>
          </a:prstGeom>
          <a:noFill/>
          <a:ln w="25400">
            <a:solidFill>
              <a:srgbClr val="4F98B8"/>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DF4F8"/>
          </a:solidFill>
          <a:ln w="19050">
            <a:solidFill>
              <a:srgbClr val="1E739A"/>
            </a:solidFill>
            <a:prstDash val="solid"/>
          </a:ln>
        </p:spPr>
      </p:sp>
      <p:sp>
        <p:nvSpPr>
          <p:cNvPr id="29" name="Shape 27"/>
          <p:cNvSpPr/>
          <p:nvPr/>
        </p:nvSpPr>
        <p:spPr>
          <a:xfrm>
            <a:off x="10673791" y="2633472"/>
            <a:ext cx="182880" cy="182880"/>
          </a:xfrm>
          <a:prstGeom prst="ellipse">
            <a:avLst/>
          </a:prstGeom>
          <a:solidFill>
            <a:srgbClr val="1E739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live view</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4F98B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124C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24C6E"/>
                </a:solidFill>
                <a:latin typeface="Calibri" pitchFamily="34" charset="0"/>
                <a:ea typeface="Calibri" pitchFamily="34" charset="-122"/>
                <a:cs typeface="Calibri" pitchFamily="34" charset="-120"/>
              </a:rPr>
              <a:t>Every ten-second window collapses raw readings into one aggregate per sensor per berth, and the safety rules fire right there, so raw noise never leaves the terminal.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39A"/>
                </a:solidFill>
                <a:latin typeface="Consolas" pitchFamily="34" charset="0"/>
                <a:ea typeface="Consolas" pitchFamily="34" charset="-122"/>
                <a:cs typeface="Consolas" pitchFamily="34" charset="-120"/>
              </a:rPr>
              <a:t>spc-frontend-659211701832.s3.us-east-1.amazonaws.com</a:t>
            </a:r>
            <a:endParaRPr lang="en-US" sz="1400" dirty="0"/>
          </a:p>
        </p:txBody>
      </p:sp>
      <p:sp>
        <p:nvSpPr>
          <p:cNvPr id="4" name="Shape 2"/>
          <p:cNvSpPr/>
          <p:nvPr/>
        </p:nvSpPr>
        <p:spPr>
          <a:xfrm>
            <a:off x="731520" y="1965960"/>
            <a:ext cx="685800" cy="685800"/>
          </a:xfrm>
          <a:prstGeom prst="ellipse">
            <a:avLst/>
          </a:prstGeom>
          <a:solidFill>
            <a:srgbClr val="124C6E"/>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Two berths, five quayside signals</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Crane load, container stacks, wind, occupancy and reefer temperature live for both berths.</a:t>
            </a:r>
            <a:endParaRPr lang="en-US" sz="1350" dirty="0"/>
          </a:p>
        </p:txBody>
      </p:sp>
      <p:sp>
        <p:nvSpPr>
          <p:cNvPr id="8" name="Shape 6"/>
          <p:cNvSpPr/>
          <p:nvPr/>
        </p:nvSpPr>
        <p:spPr>
          <a:xfrm>
            <a:off x="731520" y="3383280"/>
            <a:ext cx="685800" cy="685800"/>
          </a:xfrm>
          <a:prstGeom prst="ellipse">
            <a:avLst/>
          </a:prstGeom>
          <a:solidFill>
            <a:srgbClr val="124C6E"/>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Crane, wind and cold-chain alerts</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A gust over the 34-knot limit halts crane lifts, an overloaded lift and a warm reefer each raise their own alert on the window.</a:t>
            </a:r>
            <a:endParaRPr lang="en-US" sz="1350" dirty="0"/>
          </a:p>
        </p:txBody>
      </p:sp>
      <p:sp>
        <p:nvSpPr>
          <p:cNvPr id="12" name="Shape 10"/>
          <p:cNvSpPr/>
          <p:nvPr/>
        </p:nvSpPr>
        <p:spPr>
          <a:xfrm>
            <a:off x="731520" y="4800600"/>
            <a:ext cx="685800" cy="685800"/>
          </a:xfrm>
          <a:prstGeom prst="ellipse">
            <a:avLst/>
          </a:prstGeom>
          <a:solidFill>
            <a:srgbClr val="124C6E"/>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Every alert traces to a real rule</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Each banner maps to a code-defined threshold — 34 knots, 32,000 kg, -10 C, 90% occupancy — not a demo constant.</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4F98B8"/>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534"/>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Hardest Part — a numbered-ticket window boundary</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200" b="1" dirty="0">
                <a:solidFill>
                  <a:srgbClr val="E4A63C"/>
                </a:solidFill>
                <a:latin typeface="Cambria" pitchFamily="34" charset="0"/>
                <a:ea typeface="Cambria" pitchFamily="34" charset="-122"/>
                <a:cs typeface="Cambria" pitchFamily="34" charset="-120"/>
              </a:rPr>
              <a:t>Problem</a:t>
            </a:r>
            <a:endParaRPr lang="en-US" sz="2200" dirty="0"/>
          </a:p>
        </p:txBody>
      </p:sp>
      <p:sp>
        <p:nvSpPr>
          <p:cNvPr id="4" name="Shape 2"/>
          <p:cNvSpPr/>
          <p:nvPr/>
        </p:nvSpPr>
        <p:spPr>
          <a:xfrm>
            <a:off x="3200400" y="1920240"/>
            <a:ext cx="0" cy="1737360"/>
          </a:xfrm>
          <a:prstGeom prst="line">
            <a:avLst/>
          </a:prstGeom>
          <a:noFill/>
          <a:ln w="25400">
            <a:solidFill>
              <a:srgbClr val="E4A63C"/>
            </a:solidFill>
            <a:prstDash val="solid"/>
          </a:ln>
        </p:spPr>
      </p:sp>
      <p:sp>
        <p:nvSpPr>
          <p:cNvPr id="5" name="Text 3"/>
          <p:cNvSpPr/>
          <p:nvPr/>
        </p:nvSpPr>
        <p:spPr>
          <a:xfrm>
            <a:off x="3474720" y="192024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CFE2EC"/>
                </a:solidFill>
                <a:latin typeface="Calibri" pitchFamily="34" charset="0"/>
                <a:ea typeface="Calibri" pitchFamily="34" charset="-122"/>
                <a:cs typeface="Calibri" pitchFamily="34" charset="-120"/>
              </a:rPr>
              <a:t>Every ten seconds the fog node must close the current window and publish aggregates, while ten sensors keep posting new readings into the very same buffer. Lock the buffer and ingest stalls on every flush; clear it naively and any reading that lands mid-drain is lost, or counted twice in the next window.</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200" b="1" dirty="0">
                <a:solidFill>
                  <a:srgbClr val="4F98B8"/>
                </a:solidFill>
                <a:latin typeface="Cambria" pitchFamily="34" charset="0"/>
                <a:ea typeface="Cambria" pitchFamily="34" charset="-122"/>
                <a:cs typeface="Cambria" pitchFamily="34" charset="-120"/>
              </a:rPr>
              <a:t>Solution</a:t>
            </a:r>
            <a:endParaRPr lang="en-US" sz="2200" dirty="0"/>
          </a:p>
        </p:txBody>
      </p:sp>
      <p:sp>
        <p:nvSpPr>
          <p:cNvPr id="7" name="Shape 5"/>
          <p:cNvSpPr/>
          <p:nvPr/>
        </p:nvSpPr>
        <p:spPr>
          <a:xfrm>
            <a:off x="3200400" y="4069080"/>
            <a:ext cx="0" cy="1737360"/>
          </a:xfrm>
          <a:prstGeom prst="line">
            <a:avLst/>
          </a:prstGeom>
          <a:noFill/>
          <a:ln w="25400">
            <a:solidFill>
              <a:srgbClr val="4F98B8"/>
            </a:solidFill>
            <a:prstDash val="solid"/>
          </a:ln>
        </p:spPr>
      </p:sp>
      <p:sp>
        <p:nvSpPr>
          <p:cNvPr id="8" name="Text 6"/>
          <p:cNvSpPr/>
          <p:nvPr/>
        </p:nvSpPr>
        <p:spPr>
          <a:xfrm>
            <a:off x="3474720" y="406908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CFE2EC"/>
                </a:solidFill>
                <a:latin typeface="Calibri" pitchFamily="34" charset="0"/>
                <a:ea typeface="Calibri" pitchFamily="34" charset="-122"/>
                <a:cs typeface="Calibri" pitchFamily="34" charset="-120"/>
              </a:rPr>
              <a:t>Every reading takes a numbered ticket on arrival. A flush snapshots the latest number as a boundary, then aggregates and removes only readings below it. Later arrivals roll into the next window — no locks, nothing lost, nothing counted twice. Backed by the fog module's 48 automated tests, including ingest exercised over a real HTTP server.</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2026-07-24T07:00:28Z</dcterms:created>
  <dcterms:modified xsi:type="dcterms:W3CDTF">2026-07-24T07:00:28Z</dcterms:modified>
</cp:coreProperties>
</file>