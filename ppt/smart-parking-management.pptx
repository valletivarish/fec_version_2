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4200" b="1" i="0">
                <a:solidFill>
                  <a:srgbClr val="FFFFFF"/>
                </a:solidFill>
                <a:latin typeface="Trebuchet MS"/>
              </a:rPr>
              <a:t>Smart Parking Management</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CFD4DE"/>
                </a:solidFill>
                <a:latin typeface="Calibri"/>
              </a:rPr>
              <a:t>Two car parks, ten live sensor streams, one real-time capacity console.</a:t>
            </a:r>
          </a:p>
        </p:txBody>
      </p:sp>
      <p:sp>
        <p:nvSpPr>
          <p:cNvPr id="5" name="Rectangle 4"/>
          <p:cNvSpPr/>
          <p:nvPr/>
        </p:nvSpPr>
        <p:spPr>
          <a:xfrm>
            <a:off x="-91440" y="5257800"/>
            <a:ext cx="12435840" cy="1691640"/>
          </a:xfrm>
          <a:prstGeom prst="rect">
            <a:avLst/>
          </a:prstGeom>
          <a:solidFill>
            <a:srgbClr val="2735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250" b="0" i="0">
                <a:solidFill>
                  <a:srgbClr val="C9CFDA"/>
                </a:solidFill>
                <a:latin typeface="Calibri"/>
              </a:rPr>
              <a:t>MSc in Cloud Computing   ·   Fog and Edge Computing (H9FECC)</a:t>
            </a:r>
          </a:p>
          <a:p>
            <a:pPr algn="l"/>
            <a:r>
              <a:rPr sz="1250" b="0" i="0">
                <a:solidFill>
                  <a:srgbClr val="C9CFDA"/>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A car park changes faster than anyone can check it</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1">
                <a:solidFill>
                  <a:srgbClr val="40567E"/>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How it works: sensor to live console</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1">
                <a:solidFill>
                  <a:srgbClr val="40567E"/>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Demonstration highlights</a:t>
            </a:r>
          </a:p>
        </p:txBody>
      </p:sp>
      <p:sp>
        <p:nvSpPr>
          <p:cNvPr id="3" name="Content Placeholder 2"/>
          <p:cNvSpPr>
            <a:spLocks noGrp="1"/>
          </p:cNvSpPr>
          <p:nvPr>
            <p:ph idx="1"/>
          </p:nvPr>
        </p:nvSpPr>
        <p:spPr>
          <a:xfrm>
            <a:off x="960120" y="1371600"/>
            <a:ext cx="5394960" cy="475488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1">
                <a:solidFill>
                  <a:srgbClr val="40567E"/>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pic>
        <p:nvPicPr>
          <p:cNvPr id="6" name="Picture 5" descr="dashboard-desktop.png"/>
          <p:cNvPicPr>
            <a:picLocks noChangeAspect="1"/>
          </p:cNvPicPr>
          <p:nvPr/>
        </p:nvPicPr>
        <p:blipFill>
          <a:blip r:embed="rId2"/>
          <a:stretch>
            <a:fillRect/>
          </a:stretch>
        </p:blipFill>
        <p:spPr>
          <a:xfrm>
            <a:off x="6883836" y="1463040"/>
            <a:ext cx="3971687" cy="44805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1900">
                <a:solidFill>
                  <a:srgbClr val="FFFFFF"/>
                </a:solidFill>
                <a:latin typeface="Trebuchet MS"/>
              </a:rPr>
              <a:t>The hardest part: a fog node that never falls over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600"/>
              </a:spcAft>
            </a:pPr>
            <a:r>
              <a:rPr sz="1500" b="1">
                <a:solidFill>
                  <a:srgbClr val="40567E"/>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1">
                <a:solidFill>
                  <a:srgbClr val="40567E"/>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1">
                <a:solidFill>
                  <a:srgbClr val="40567E"/>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1">
                <a:solidFill>
                  <a:srgbClr val="40567E"/>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ounded Rectangle 3"/>
          <p:cNvSpPr/>
          <p:nvPr/>
        </p:nvSpPr>
        <p:spPr>
          <a:xfrm>
            <a:off x="502920" y="457200"/>
            <a:ext cx="11183112" cy="5943600"/>
          </a:xfrm>
          <a:prstGeom prst="roundRect">
            <a:avLst/>
          </a:prstGeom>
          <a:solidFill>
            <a:srgbClr val="E8EAEF"/>
          </a:solidFill>
          <a:ln w="15240">
            <a:solidFill>
              <a:srgbClr val="4056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457200"/>
            <a:ext cx="11183112" cy="640080"/>
          </a:xfrm>
          <a:prstGeom prst="rect">
            <a:avLst/>
          </a:prstGeom>
          <a:solidFill>
            <a:srgbClr val="4056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822960" y="457200"/>
            <a:ext cx="10515600" cy="640080"/>
          </a:xfrm>
        </p:spPr>
        <p:txBody>
          <a:bodyPr wrap="square" anchor="ctr"/>
          <a:lstStyle/>
          <a:p>
            <a:pPr algn="l"/>
            <a:r>
              <a:rPr b="1" sz="2200">
                <a:solidFill>
                  <a:srgbClr val="FFFFFF"/>
                </a:solidFill>
                <a:latin typeface="Trebuchet MS"/>
              </a:rPr>
              <a:t>What to remember</a:t>
            </a:r>
          </a:p>
        </p:txBody>
      </p:sp>
      <p:sp>
        <p:nvSpPr>
          <p:cNvPr id="3" name="Content Placeholder 2"/>
          <p:cNvSpPr>
            <a:spLocks noGrp="1"/>
          </p:cNvSpPr>
          <p:nvPr>
            <p:ph idx="1"/>
          </p:nvPr>
        </p:nvSpPr>
        <p:spPr>
          <a:xfrm>
            <a:off x="960120" y="1371600"/>
            <a:ext cx="10241280" cy="4754880"/>
          </a:xfrm>
        </p:spPr>
        <p:txBody>
          <a:bodyPr wrap="square">
            <a:normAutofit/>
          </a:bodyPr>
          <a:lstStyle/>
          <a:p>
            <a:pPr>
              <a:spcAft>
                <a:spcPts val="900"/>
              </a:spcAft>
            </a:pPr>
            <a:r>
              <a:rPr sz="1700" b="1">
                <a:solidFill>
                  <a:srgbClr val="40567E"/>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1">
                <a:solidFill>
                  <a:srgbClr val="40567E"/>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1">
                <a:solidFill>
                  <a:srgbClr val="40567E"/>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