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371600" y="1280160"/>
            <a:ext cx="9445752" cy="4297680"/>
          </a:xfrm>
          <a:prstGeom prst="roundRect">
            <a:avLst/>
          </a:prstGeom>
          <a:solidFill>
            <a:srgbClr val="E8EAEF"/>
          </a:solidFill>
          <a:ln w="1905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280160"/>
            <a:ext cx="9445752" cy="146304"/>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20240" y="2103120"/>
            <a:ext cx="8321040" cy="1371600"/>
          </a:xfrm>
          <a:prstGeom prst="rect">
            <a:avLst/>
          </a:prstGeom>
          <a:noFill/>
        </p:spPr>
        <p:txBody>
          <a:bodyPr wrap="square" anchor="ctr">
            <a:spAutoFit/>
          </a:bodyPr>
          <a:lstStyle/>
          <a:p>
            <a:pPr algn="ctr"/>
            <a:r>
              <a:rPr sz="3600" b="1">
                <a:solidFill>
                  <a:srgbClr val="40567E"/>
                </a:solidFill>
                <a:latin typeface="Trebuchet MS"/>
              </a:rPr>
              <a:t>Smart Parking Management</a:t>
            </a:r>
          </a:p>
        </p:txBody>
      </p:sp>
      <p:sp>
        <p:nvSpPr>
          <p:cNvPr id="5" name="TextBox 4"/>
          <p:cNvSpPr txBox="1"/>
          <p:nvPr/>
        </p:nvSpPr>
        <p:spPr>
          <a:xfrm>
            <a:off x="1920240" y="3383280"/>
            <a:ext cx="8321040" cy="1828800"/>
          </a:xfrm>
          <a:prstGeom prst="rect">
            <a:avLst/>
          </a:prstGeom>
          <a:noFill/>
        </p:spPr>
        <p:txBody>
          <a:bodyPr wrap="square" anchor="t">
            <a:spAutoFit/>
          </a:bodyPr>
          <a:lstStyle/>
          <a:p>
            <a:pPr algn="ctr"/>
            <a:r>
              <a:rPr sz="1700" b="0">
                <a:solidFill>
                  <a:srgbClr val="5C655F"/>
                </a:solidFill>
                <a:latin typeface="Calibri"/>
              </a:rPr>
              <a:t>Two car parks, ten live sensor streams, one real-time capacity console.</a:t>
            </a:r>
          </a:p>
          <a:p>
            <a:pPr algn="ctr"/>
            <a:r>
              <a:rPr sz="1500" b="1">
                <a:solidFill>
                  <a:srgbClr val="232A26"/>
                </a:solidFill>
                <a:latin typeface="Calibri"/>
              </a:rPr>
              <a:t/>
            </a:r>
          </a:p>
          <a:p>
            <a:pPr algn="ctr"/>
            <a:r>
              <a:rPr sz="1200" b="0">
                <a:solidFill>
                  <a:srgbClr val="5C655F"/>
                </a:solidFill>
                <a:latin typeface="Calibri"/>
              </a:rPr>
              <a:t>Fog and Edge Computing (H9FECC), 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A car park changes faster than anyone can check it</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1">
                <a:solidFill>
                  <a:srgbClr val="40567E"/>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How it works: sensor to live console</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1">
                <a:solidFill>
                  <a:srgbClr val="40567E"/>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Demonstration highlights</a:t>
            </a:r>
          </a:p>
        </p:txBody>
      </p:sp>
      <p:sp>
        <p:nvSpPr>
          <p:cNvPr id="3" name="Content Placeholder 2"/>
          <p:cNvSpPr>
            <a:spLocks noGrp="1"/>
          </p:cNvSpPr>
          <p:nvPr>
            <p:ph idx="1"/>
          </p:nvPr>
        </p:nvSpPr>
        <p:spPr>
          <a:xfrm>
            <a:off x="960120" y="1371600"/>
            <a:ext cx="5394960" cy="475488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1">
                <a:solidFill>
                  <a:srgbClr val="40567E"/>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pic>
        <p:nvPicPr>
          <p:cNvPr id="6" name="Picture 5" descr="dashboard-desktop.png"/>
          <p:cNvPicPr>
            <a:picLocks noChangeAspect="1"/>
          </p:cNvPicPr>
          <p:nvPr/>
        </p:nvPicPr>
        <p:blipFill>
          <a:blip r:embed="rId2"/>
          <a:stretch>
            <a:fillRect/>
          </a:stretch>
        </p:blipFill>
        <p:spPr>
          <a:xfrm>
            <a:off x="6883836" y="1463040"/>
            <a:ext cx="3971687"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The hardest part: a fog node that never falls over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1">
                <a:solidFill>
                  <a:srgbClr val="40567E"/>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1">
                <a:solidFill>
                  <a:srgbClr val="40567E"/>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1">
                <a:solidFill>
                  <a:srgbClr val="40567E"/>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What to remember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900"/>
              </a:spcAft>
            </a:pPr>
            <a:r>
              <a:rPr sz="1700" b="1">
                <a:solidFill>
                  <a:srgbClr val="40567E"/>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1">
                <a:solidFill>
                  <a:srgbClr val="40567E"/>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1">
                <a:solidFill>
                  <a:srgbClr val="40567E"/>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