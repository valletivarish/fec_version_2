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132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91440"/>
            <a:ext cx="12435840" cy="416052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10332720" cy="1965960"/>
          </a:xfrm>
          <a:prstGeom prst="rect">
            <a:avLst/>
          </a:prstGeom>
          <a:noFill/>
        </p:spPr>
        <p:txBody>
          <a:bodyPr wrap="square" anchor="ctr">
            <a:spAutoFit/>
          </a:bodyPr>
          <a:lstStyle/>
          <a:p>
            <a:pPr algn="ctr"/>
            <a:r>
              <a:rPr sz="4200" b="1" i="0">
                <a:solidFill>
                  <a:srgbClr val="FFFFFF"/>
                </a:solidFill>
                <a:latin typeface="Tahoma"/>
              </a:rPr>
              <a:t>Smart Parking Management</a:t>
            </a:r>
          </a:p>
        </p:txBody>
      </p:sp>
      <p:sp>
        <p:nvSpPr>
          <p:cNvPr id="5" name="TextBox 4"/>
          <p:cNvSpPr txBox="1"/>
          <p:nvPr/>
        </p:nvSpPr>
        <p:spPr>
          <a:xfrm>
            <a:off x="1371600" y="4434840"/>
            <a:ext cx="9418320" cy="548640"/>
          </a:xfrm>
          <a:prstGeom prst="rect">
            <a:avLst/>
          </a:prstGeom>
          <a:noFill/>
        </p:spPr>
        <p:txBody>
          <a:bodyPr wrap="square" anchor="t">
            <a:spAutoFit/>
          </a:bodyPr>
          <a:lstStyle/>
          <a:p>
            <a:pPr algn="ctr"/>
            <a:r>
              <a:rPr sz="1800" b="0" i="1">
                <a:solidFill>
                  <a:srgbClr val="995518"/>
                </a:solidFill>
                <a:latin typeface="Calibri"/>
              </a:rPr>
              <a:t>Two car parks, ten live sensor streams, one real-time capacity console.</a:t>
            </a:r>
          </a:p>
        </p:txBody>
      </p:sp>
      <p:sp>
        <p:nvSpPr>
          <p:cNvPr id="6" name="TextBox 5"/>
          <p:cNvSpPr txBox="1"/>
          <p:nvPr/>
        </p:nvSpPr>
        <p:spPr>
          <a:xfrm>
            <a:off x="1371600" y="5212080"/>
            <a:ext cx="9418320" cy="1371600"/>
          </a:xfrm>
          <a:prstGeom prst="rect">
            <a:avLst/>
          </a:prstGeom>
          <a:noFill/>
        </p:spPr>
        <p:txBody>
          <a:bodyPr wrap="square" anchor="t">
            <a:spAutoFit/>
          </a:bodyPr>
          <a:lstStyle/>
          <a:p>
            <a:pPr algn="ctr"/>
            <a:r>
              <a:rPr sz="1250" b="0" i="0">
                <a:solidFill>
                  <a:srgbClr val="5A635C"/>
                </a:solidFill>
                <a:latin typeface="Calibri"/>
              </a:rPr>
              <a:t>MSc in Cloud Computing   ·   Fog and Edge Computing (H9FECC)</a:t>
            </a:r>
          </a:p>
          <a:p>
            <a:pPr algn="ctr"/>
            <a:r>
              <a:rPr sz="1250" b="0" i="0">
                <a:solidFill>
                  <a:srgbClr val="5A635C"/>
                </a:solidFill>
                <a:latin typeface="Calibri"/>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400">
                <a:solidFill>
                  <a:srgbClr val="B5651D"/>
                </a:solidFill>
                <a:latin typeface="Tahoma"/>
              </a:rPr>
              <a:t>A car park changes faster than anyone can check it</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600"/>
              </a:spcAft>
            </a:pPr>
            <a:r>
              <a:rPr sz="1500" b="0">
                <a:solidFill>
                  <a:srgbClr val="232A26"/>
                </a:solidFill>
                <a:latin typeface="Calibri"/>
              </a:rPr>
              <a:t>Occupancy, entry and exit flow, dwell time and gate health shift minute by minute; a manual count is stale almost as soon as it is written down.</a:t>
            </a:r>
          </a:p>
          <a:p>
            <a:pPr>
              <a:spcAft>
                <a:spcPts val="600"/>
              </a:spcAft>
            </a:pPr>
            <a:r>
              <a:rPr sz="1500" b="0">
                <a:solidFill>
                  <a:srgbClr val="232A26"/>
                </a:solidFill>
                <a:latin typeface="Calibri"/>
              </a:rPr>
              <a:t>Periodic walk-throughs sample each lot a few times a day, so drivers queue and circle on information that no longer describes the building.</a:t>
            </a:r>
          </a:p>
          <a:p>
            <a:pPr>
              <a:spcAft>
                <a:spcPts val="600"/>
              </a:spcAft>
            </a:pPr>
            <a:r>
              <a:rPr sz="1500" b="0">
                <a:solidFill>
                  <a:srgbClr val="232A26"/>
                </a:solidFill>
                <a:latin typeface="Calibri"/>
              </a:rPr>
              <a:t>A faulty entry gate quietly chokes a whole level, and between rounds nobody sees it happening.</a:t>
            </a:r>
          </a:p>
          <a:p>
            <a:pPr>
              <a:spcAft>
                <a:spcPts val="600"/>
              </a:spcAft>
            </a:pPr>
            <a:r>
              <a:rPr sz="1500" b="0">
                <a:solidFill>
                  <a:srgbClr val="232A26"/>
                </a:solidFill>
                <a:latin typeface="Calibri"/>
              </a:rPr>
              <a:t>By the time a lot is 90% full, 270 of its 300 spaces, drivers need redirecting immediately, not at the next scheduled check.</a:t>
            </a:r>
          </a:p>
          <a:p>
            <a:pPr>
              <a:spcAft>
                <a:spcPts val="600"/>
              </a:spcAft>
            </a:pPr>
            <a:r>
              <a:rPr sz="1500" b="0">
                <a:solidFill>
                  <a:srgbClr val="232A26"/>
                </a:solidFill>
                <a:latin typeface="Calibri"/>
              </a:rPr>
              <a:t>The scale to track:</a:t>
            </a:r>
          </a:p>
          <a:p>
            <a:pPr lvl="1">
              <a:spcAft>
                <a:spcPts val="600"/>
              </a:spcAft>
            </a:pPr>
            <a:r>
              <a:rPr sz="1300" b="0">
                <a:solidFill>
                  <a:srgbClr val="232A26"/>
                </a:solidFill>
                <a:latin typeface="Calibri"/>
              </a:rPr>
              <a:t>600 spaces across two multi-level lots, 300 each.</a:t>
            </a:r>
          </a:p>
          <a:p>
            <a:pPr lvl="1">
              <a:spcAft>
                <a:spcPts val="600"/>
              </a:spcAft>
            </a:pPr>
            <a:r>
              <a:rPr sz="1300" b="0">
                <a:solidFill>
                  <a:srgbClr val="232A26"/>
                </a:solidFill>
                <a:latin typeface="Calibri"/>
              </a:rPr>
              <a:t>10 continuous sensor streams, five metrics for each lot.</a:t>
            </a:r>
          </a:p>
          <a:p>
            <a:pPr lvl="1">
              <a:spcAft>
                <a:spcPts val="600"/>
              </a:spcAft>
            </a:pPr>
            <a:r>
              <a:rPr sz="1300" b="0">
                <a:solidFill>
                  <a:srgbClr val="232A26"/>
                </a:solidFill>
                <a:latin typeface="Calibri"/>
              </a:rPr>
              <a:t>Fresh readings every 2 to 5 seconds from every sensor, far too fast to poll by hand.</a:t>
            </a:r>
          </a:p>
        </p:txBody>
      </p:sp>
      <p:sp>
        <p:nvSpPr>
          <p:cNvPr id="4" name="Rectangle 3"/>
          <p:cNvSpPr/>
          <p:nvPr/>
        </p:nvSpPr>
        <p:spPr>
          <a:xfrm>
            <a:off x="11140135" y="0"/>
            <a:ext cx="105156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25880"/>
            <a:ext cx="2926080" cy="36576"/>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B5651D"/>
                </a:solidFill>
                <a:latin typeface="Tahoma"/>
              </a:rPr>
              <a:t>How it works: sensor to live console</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600"/>
              </a:spcAft>
            </a:pPr>
            <a:r>
              <a:rPr sz="1500" b="0">
                <a:solidFill>
                  <a:srgbClr val="232A26"/>
                </a:solidFill>
                <a:latin typeface="Calibri"/>
              </a:rPr>
              <a:t>At the car park (edge):</a:t>
            </a:r>
          </a:p>
          <a:p>
            <a:pPr lvl="1">
              <a:spcAft>
                <a:spcPts val="600"/>
              </a:spcAft>
            </a:pPr>
            <a:r>
              <a:rPr sz="1300" b="0">
                <a:solidFill>
                  <a:srgbClr val="232A26"/>
                </a:solidFill>
                <a:latin typeface="Calibri"/>
              </a:rPr>
              <a:t>Parking sensors: ten live streams across two lots covering occupancy, entry and exit rates, dwell time, and gate faults.</a:t>
            </a:r>
          </a:p>
          <a:p>
            <a:pPr lvl="1">
              <a:spcAft>
                <a:spcPts val="600"/>
              </a:spcAft>
            </a:pPr>
            <a:r>
              <a:rPr sz="1300" b="0">
                <a:solidFill>
                  <a:srgbClr val="232A26"/>
                </a:solidFill>
                <a:latin typeface="Calibri"/>
              </a:rPr>
              <a:t>Fog node: windows each stream, aggregates it, and raises threshold alerts right at the edge.</a:t>
            </a:r>
          </a:p>
          <a:p>
            <a:pPr>
              <a:spcAft>
                <a:spcPts val="600"/>
              </a:spcAft>
            </a:pPr>
            <a:r>
              <a:rPr sz="1500" b="0">
                <a:solidFill>
                  <a:srgbClr val="232A26"/>
                </a:solidFill>
                <a:latin typeface="Calibri"/>
              </a:rPr>
              <a:t>In the AWS cloud:</a:t>
            </a:r>
          </a:p>
          <a:p>
            <a:pPr lvl="1">
              <a:spcAft>
                <a:spcPts val="600"/>
              </a:spcAft>
            </a:pPr>
            <a:r>
              <a:rPr sz="1300" b="0">
                <a:solidFill>
                  <a:srgbClr val="232A26"/>
                </a:solidFill>
                <a:latin typeface="Calibri"/>
              </a:rPr>
              <a:t>Amazon SQS: one compact aggregate per window enters the queue, not every raw reading.</a:t>
            </a:r>
          </a:p>
          <a:p>
            <a:pPr lvl="1">
              <a:spcAft>
                <a:spcPts val="600"/>
              </a:spcAft>
            </a:pPr>
            <a:r>
              <a:rPr sz="1300" b="0">
                <a:solidFill>
                  <a:srgbClr val="232A26"/>
                </a:solidFill>
                <a:latin typeface="Calibri"/>
              </a:rPr>
              <a:t>AWS Lambda: serverless ingest consumes the queue and transforms each record.</a:t>
            </a:r>
          </a:p>
          <a:p>
            <a:pPr lvl="1">
              <a:spcAft>
                <a:spcPts val="600"/>
              </a:spcAft>
            </a:pPr>
            <a:r>
              <a:rPr sz="1300" b="0">
                <a:solidFill>
                  <a:srgbClr val="232A26"/>
                </a:solidFill>
                <a:latin typeface="Calibri"/>
              </a:rPr>
              <a:t>Amazon DynamoDB: every window stored for history, trends and pipeline health checks.</a:t>
            </a:r>
          </a:p>
          <a:p>
            <a:pPr lvl="1">
              <a:spcAft>
                <a:spcPts val="600"/>
              </a:spcAft>
            </a:pPr>
            <a:r>
              <a:rPr sz="1300" b="0">
                <a:solidFill>
                  <a:srgbClr val="232A26"/>
                </a:solidFill>
                <a:latin typeface="Calibri"/>
              </a:rPr>
              <a:t>Live dashboard: per-lot capacity console hosted on Amazon S3, with data served via Amazon API Gateway.</a:t>
            </a:r>
          </a:p>
          <a:p>
            <a:pPr>
              <a:spcAft>
                <a:spcPts val="600"/>
              </a:spcAft>
            </a:pPr>
            <a:r>
              <a:rPr sz="1500" b="0">
                <a:solidFill>
                  <a:srgbClr val="232A26"/>
                </a:solidFill>
                <a:latin typeface="Calibri"/>
              </a:rPr>
              <a:t>Running end-to-end today on Docker with a local AWS emulator; the same pipeline deploys to AWS with a single scripted step.</a:t>
            </a:r>
          </a:p>
        </p:txBody>
      </p:sp>
      <p:sp>
        <p:nvSpPr>
          <p:cNvPr id="4" name="Rectangle 3"/>
          <p:cNvSpPr/>
          <p:nvPr/>
        </p:nvSpPr>
        <p:spPr>
          <a:xfrm>
            <a:off x="11140135" y="0"/>
            <a:ext cx="105156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25880"/>
            <a:ext cx="2926080" cy="36576"/>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B5651D"/>
                </a:solidFill>
                <a:latin typeface="Tahoma"/>
              </a:rPr>
              <a:t>Demonstration highlights</a:t>
            </a:r>
          </a:p>
        </p:txBody>
      </p:sp>
      <p:sp>
        <p:nvSpPr>
          <p:cNvPr id="3" name="Content Placeholder 2"/>
          <p:cNvSpPr>
            <a:spLocks noGrp="1"/>
          </p:cNvSpPr>
          <p:nvPr>
            <p:ph idx="1"/>
          </p:nvPr>
        </p:nvSpPr>
        <p:spPr>
          <a:xfrm>
            <a:off x="658368" y="1508760"/>
            <a:ext cx="5577840" cy="4754880"/>
          </a:xfrm>
        </p:spPr>
        <p:txBody>
          <a:bodyPr wrap="square">
            <a:normAutofit/>
          </a:bodyPr>
          <a:lstStyle/>
          <a:p>
            <a:pPr>
              <a:spcAft>
                <a:spcPts val="800"/>
              </a:spcAft>
            </a:pPr>
            <a:r>
              <a:rPr sz="1500" b="0">
                <a:solidFill>
                  <a:srgbClr val="232A26"/>
                </a:solidFill>
                <a:latin typeface="Calibri"/>
              </a:rPr>
              <a:t>Dashboard captured from the running pipeline on Docker with a local AWS emulator.</a:t>
            </a:r>
          </a:p>
          <a:p>
            <a:pPr>
              <a:spcAft>
                <a:spcPts val="800"/>
              </a:spcAft>
            </a:pPr>
            <a:r>
              <a:rPr sz="1500" b="0">
                <a:solidFill>
                  <a:srgbClr val="232A26"/>
                </a:solidFill>
                <a:latin typeface="Calibri"/>
              </a:rPr>
              <a:t>All four health checks green: gateway, queue, processor and end-to-end pipeline all report healthy.</a:t>
            </a:r>
          </a:p>
          <a:p>
            <a:pPr>
              <a:spcAft>
                <a:spcPts val="800"/>
              </a:spcAft>
            </a:pPr>
            <a:r>
              <a:rPr sz="1500" b="0">
                <a:solidFill>
                  <a:srgbClr val="232A26"/>
                </a:solidFill>
                <a:latin typeface="Calibri"/>
              </a:rPr>
              <a:t>127 automated tests pass, from window math and alert rules to real HTTP tests against live servers.</a:t>
            </a:r>
          </a:p>
          <a:p>
            <a:pPr>
              <a:spcAft>
                <a:spcPts val="800"/>
              </a:spcAft>
            </a:pPr>
            <a:r>
              <a:rPr sz="1500" b="0">
                <a:solidFill>
                  <a:srgbClr val="232A26"/>
                </a:solidFill>
                <a:latin typeface="Calibri"/>
              </a:rPr>
              <a:t>2,000-message burst absorbed: the load test floods the queue, then confirms the pipeline drains it.</a:t>
            </a:r>
          </a:p>
          <a:p>
            <a:pPr>
              <a:spcAft>
                <a:spcPts val="800"/>
              </a:spcAft>
            </a:pPr>
            <a:r>
              <a:rPr sz="1500" b="0">
                <a:solidFill>
                  <a:srgbClr val="232A26"/>
                </a:solidFill>
                <a:latin typeface="Calibri"/>
              </a:rPr>
              <a:t>Alerts fire on real thresholds: near-full flagged at 270 of 300 spaces, and gate alarms after repeated faults.</a:t>
            </a:r>
          </a:p>
        </p:txBody>
      </p:sp>
      <p:sp>
        <p:nvSpPr>
          <p:cNvPr id="4" name="Rectangle 3"/>
          <p:cNvSpPr/>
          <p:nvPr/>
        </p:nvSpPr>
        <p:spPr>
          <a:xfrm>
            <a:off x="11140135" y="0"/>
            <a:ext cx="105156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25880"/>
            <a:ext cx="2926080" cy="36576"/>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desktop.png"/>
          <p:cNvPicPr>
            <a:picLocks noChangeAspect="1"/>
          </p:cNvPicPr>
          <p:nvPr/>
        </p:nvPicPr>
        <p:blipFill>
          <a:blip r:embed="rId2"/>
          <a:stretch>
            <a:fillRect/>
          </a:stretch>
        </p:blipFill>
        <p:spPr>
          <a:xfrm>
            <a:off x="6400800" y="1637257"/>
            <a:ext cx="3824935" cy="431500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400">
                <a:solidFill>
                  <a:srgbClr val="B5651D"/>
                </a:solidFill>
                <a:latin typeface="Tahoma"/>
              </a:rPr>
              <a:t>The hardest part: a fog node that never falls over</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600"/>
              </a:spcAft>
            </a:pPr>
            <a:r>
              <a:rPr sz="1500" b="0">
                <a:solidFill>
                  <a:srgbClr val="232A26"/>
                </a:solidFill>
                <a:latin typeface="Calibri"/>
              </a:rPr>
              <a:t>The problem:</a:t>
            </a:r>
          </a:p>
          <a:p>
            <a:pPr lvl="1">
              <a:spcAft>
                <a:spcPts val="600"/>
              </a:spcAft>
            </a:pPr>
            <a:r>
              <a:rPr sz="1300" b="0">
                <a:solidFill>
                  <a:srgbClr val="232A26"/>
                </a:solidFill>
                <a:latin typeface="Calibri"/>
              </a:rPr>
              <a:t>The fog node absorbs nonstop posts from ten sensors and must hold their readings between windows, serving requests on real operating-system threads, so readings from both lots can land at exactly the same instant into the same shared buffer.</a:t>
            </a:r>
          </a:p>
          <a:p>
            <a:pPr>
              <a:spcAft>
                <a:spcPts val="600"/>
              </a:spcAft>
            </a:pPr>
            <a:r>
              <a:rPr sz="1500" b="0">
                <a:solidFill>
                  <a:srgbClr val="232A26"/>
                </a:solidFill>
                <a:latin typeface="Calibri"/>
              </a:rPr>
              <a:t>Why it was hard:</a:t>
            </a:r>
          </a:p>
          <a:p>
            <a:pPr lvl="1">
              <a:spcAft>
                <a:spcPts val="600"/>
              </a:spcAft>
            </a:pPr>
            <a:r>
              <a:rPr sz="1300" b="0">
                <a:solidFill>
                  <a:srgbClr val="232A26"/>
                </a:solidFill>
                <a:latin typeface="Calibri"/>
              </a:rPr>
              <a:t>Neither failure shows up in a quick demo: an open-ended buffer only exhausts memory after hours of traffic, and a thread race only bites when two writes collide in the same microsecond.</a:t>
            </a:r>
          </a:p>
          <a:p>
            <a:pPr>
              <a:spcAft>
                <a:spcPts val="600"/>
              </a:spcAft>
            </a:pPr>
            <a:r>
              <a:rPr sz="1500" b="0">
                <a:solidFill>
                  <a:srgbClr val="232A26"/>
                </a:solidFill>
                <a:latin typeface="Calibri"/>
              </a:rPr>
              <a:t>The fix:</a:t>
            </a:r>
          </a:p>
          <a:p>
            <a:pPr lvl="1">
              <a:spcAft>
                <a:spcPts val="600"/>
              </a:spcAft>
            </a:pPr>
            <a:r>
              <a:rPr sz="1300" b="0">
                <a:solidFill>
                  <a:srgbClr val="232A26"/>
                </a:solidFill>
                <a:latin typeface="Calibri"/>
              </a:rPr>
              <a:t>A bounded ring buffer per sensor stream, capped at 500 readings, the oldest silently evicted for the newest, with one lock guarding every write, so no stream can grow memory without limit and concurrent posts can no longer corrupt the buffer.</a:t>
            </a:r>
          </a:p>
          <a:p>
            <a:pPr>
              <a:spcAft>
                <a:spcPts val="600"/>
              </a:spcAft>
            </a:pPr>
            <a:r>
              <a:rPr sz="1500" b="0">
                <a:solidFill>
                  <a:srgbClr val="232A26"/>
                </a:solidFill>
                <a:latin typeface="Calibri"/>
              </a:rPr>
              <a:t>How we know it holds:</a:t>
            </a:r>
          </a:p>
          <a:p>
            <a:pPr lvl="1">
              <a:spcAft>
                <a:spcPts val="600"/>
              </a:spcAft>
            </a:pPr>
            <a:r>
              <a:rPr sz="1300" b="0">
                <a:solidFill>
                  <a:srgbClr val="232A26"/>
                </a:solidFill>
                <a:latin typeface="Calibri"/>
              </a:rPr>
              <a:t>Tests force the buffer past its cap and watch eviction happen.</a:t>
            </a:r>
          </a:p>
          <a:p>
            <a:pPr lvl="1">
              <a:spcAft>
                <a:spcPts val="600"/>
              </a:spcAft>
            </a:pPr>
            <a:r>
              <a:rPr sz="1300" b="0">
                <a:solidFill>
                  <a:srgbClr val="232A26"/>
                </a:solidFill>
                <a:latin typeface="Calibri"/>
              </a:rPr>
              <a:t>Real HTTP tests drive a live server, not a mocked transport.</a:t>
            </a:r>
          </a:p>
          <a:p>
            <a:pPr lvl="1">
              <a:spcAft>
                <a:spcPts val="600"/>
              </a:spcAft>
            </a:pPr>
            <a:r>
              <a:rPr sz="1300" b="0">
                <a:solidFill>
                  <a:srgbClr val="232A26"/>
                </a:solidFill>
                <a:latin typeface="Calibri"/>
              </a:rPr>
              <a:t>A 2,000-message burst test fails if the pipeline ever stalls.</a:t>
            </a:r>
          </a:p>
        </p:txBody>
      </p:sp>
      <p:sp>
        <p:nvSpPr>
          <p:cNvPr id="4" name="Rectangle 3"/>
          <p:cNvSpPr/>
          <p:nvPr/>
        </p:nvSpPr>
        <p:spPr>
          <a:xfrm>
            <a:off x="11140135" y="0"/>
            <a:ext cx="105156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25880"/>
            <a:ext cx="2926080" cy="36576"/>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40080" y="457200"/>
            <a:ext cx="9311335" cy="868680"/>
          </a:xfrm>
        </p:spPr>
        <p:txBody>
          <a:bodyPr wrap="square" anchor="t"/>
          <a:lstStyle/>
          <a:p>
            <a:pPr algn="l"/>
            <a:r>
              <a:rPr b="1" sz="2700">
                <a:solidFill>
                  <a:srgbClr val="B5651D"/>
                </a:solidFill>
                <a:latin typeface="Tahoma"/>
              </a:rPr>
              <a:t>What to remember</a:t>
            </a:r>
          </a:p>
        </p:txBody>
      </p:sp>
      <p:sp>
        <p:nvSpPr>
          <p:cNvPr id="3" name="Content Placeholder 2"/>
          <p:cNvSpPr>
            <a:spLocks noGrp="1"/>
          </p:cNvSpPr>
          <p:nvPr>
            <p:ph idx="1"/>
          </p:nvPr>
        </p:nvSpPr>
        <p:spPr>
          <a:xfrm>
            <a:off x="658368" y="1508760"/>
            <a:ext cx="9402775" cy="4846320"/>
          </a:xfrm>
        </p:spPr>
        <p:txBody>
          <a:bodyPr wrap="square">
            <a:normAutofit/>
          </a:bodyPr>
          <a:lstStyle/>
          <a:p>
            <a:pPr>
              <a:spcAft>
                <a:spcPts val="900"/>
              </a:spcAft>
            </a:pPr>
            <a:r>
              <a:rPr sz="1700" b="0">
                <a:solidFill>
                  <a:srgbClr val="232A26"/>
                </a:solidFill>
                <a:latin typeface="Calibri"/>
              </a:rPr>
              <a:t>Push intelligence to the edge:</a:t>
            </a:r>
          </a:p>
          <a:p>
            <a:pPr lvl="1">
              <a:spcAft>
                <a:spcPts val="900"/>
              </a:spcAft>
            </a:pPr>
            <a:r>
              <a:rPr sz="1500" b="0">
                <a:solidFill>
                  <a:srgbClr val="232A26"/>
                </a:solidFill>
                <a:latin typeface="Calibri"/>
              </a:rPr>
              <a:t>The fog node reduces a continuous stream of raw readings to one aggregate per window and raises alerts before the cloud is even involved.</a:t>
            </a:r>
          </a:p>
          <a:p>
            <a:pPr>
              <a:spcAft>
                <a:spcPts val="900"/>
              </a:spcAft>
            </a:pPr>
            <a:r>
              <a:rPr sz="1700" b="0">
                <a:solidFill>
                  <a:srgbClr val="232A26"/>
                </a:solidFill>
                <a:latin typeface="Calibri"/>
              </a:rPr>
              <a:t>Trust comes from evidence:</a:t>
            </a:r>
          </a:p>
          <a:p>
            <a:pPr lvl="1">
              <a:spcAft>
                <a:spcPts val="900"/>
              </a:spcAft>
            </a:pPr>
            <a:r>
              <a:rPr sz="1500" b="0">
                <a:solidFill>
                  <a:srgbClr val="232A26"/>
                </a:solidFill>
                <a:latin typeface="Calibri"/>
              </a:rPr>
              <a:t>127 automated tests, a scripted end-to-end check and a 2,000-message load test stand behind every claim on these slides.</a:t>
            </a:r>
          </a:p>
          <a:p>
            <a:pPr>
              <a:spcAft>
                <a:spcPts val="900"/>
              </a:spcAft>
            </a:pPr>
            <a:r>
              <a:rPr sz="1700" b="0">
                <a:solidFill>
                  <a:srgbClr val="232A26"/>
                </a:solidFill>
                <a:latin typeface="Calibri"/>
              </a:rPr>
              <a:t>Cloud-ready by construction:</a:t>
            </a:r>
          </a:p>
          <a:p>
            <a:pPr lvl="1">
              <a:spcAft>
                <a:spcPts val="900"/>
              </a:spcAft>
            </a:pPr>
            <a:r>
              <a:rPr sz="1500" b="0">
                <a:solidFill>
                  <a:srgbClr val="232A26"/>
                </a:solidFill>
                <a:latin typeface="Calibri"/>
              </a:rPr>
              <a:t>Built on the AWS SDK end to end, the same pipeline deploys to AWS with a single scripted step.</a:t>
            </a:r>
          </a:p>
          <a:p>
            <a:pPr>
              <a:spcAft>
                <a:spcPts val="900"/>
              </a:spcAft>
            </a:pPr>
            <a:r>
              <a:rPr sz="1700" b="0">
                <a:solidFill>
                  <a:srgbClr val="232A26"/>
                </a:solidFill>
                <a:latin typeface="Calibri"/>
              </a:rPr>
              <a:t>Thank you. Questions?</a:t>
            </a:r>
          </a:p>
        </p:txBody>
      </p:sp>
      <p:sp>
        <p:nvSpPr>
          <p:cNvPr id="4" name="Rectangle 3"/>
          <p:cNvSpPr/>
          <p:nvPr/>
        </p:nvSpPr>
        <p:spPr>
          <a:xfrm>
            <a:off x="11140135" y="0"/>
            <a:ext cx="105156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325880"/>
            <a:ext cx="2926080" cy="36576"/>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