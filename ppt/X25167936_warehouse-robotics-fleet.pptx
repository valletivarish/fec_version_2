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286000"/>
            <a:ext cx="10698480" cy="1371600"/>
          </a:xfrm>
          <a:prstGeom prst="rect">
            <a:avLst/>
          </a:prstGeom>
          <a:noFill/>
        </p:spPr>
        <p:txBody>
          <a:bodyPr wrap="square" anchor="t">
            <a:spAutoFit/>
          </a:bodyPr>
          <a:lstStyle/>
          <a:p>
            <a:pPr algn="ctr"/>
            <a:r>
              <a:rPr sz="3100" b="1">
                <a:solidFill>
                  <a:srgbClr val="B5622A"/>
                </a:solidFill>
                <a:latin typeface="Century Gothic"/>
              </a:rPr>
              <a:t>Warehouse Robotics Fleet Monitoring</a:t>
            </a:r>
          </a:p>
        </p:txBody>
      </p:sp>
      <p:sp>
        <p:nvSpPr>
          <p:cNvPr id="3" name="Rectangle 2"/>
          <p:cNvSpPr/>
          <p:nvPr/>
        </p:nvSpPr>
        <p:spPr>
          <a:xfrm>
            <a:off x="4727448" y="3657600"/>
            <a:ext cx="2743200" cy="45720"/>
          </a:xfrm>
          <a:prstGeom prst="rect">
            <a:avLst/>
          </a:prstGeom>
          <a:solidFill>
            <a:srgbClr val="B56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886200"/>
            <a:ext cx="10698480" cy="2011680"/>
          </a:xfrm>
          <a:prstGeom prst="rect">
            <a:avLst/>
          </a:prstGeom>
          <a:noFill/>
        </p:spPr>
        <p:txBody>
          <a:bodyPr wrap="square" anchor="t">
            <a:spAutoFit/>
          </a:bodyPr>
          <a:lstStyle/>
          <a:p>
            <a:pPr algn="ctr"/>
            <a:r>
              <a:rPr sz="1800" b="0">
                <a:solidFill>
                  <a:srgbClr val="5C655F"/>
                </a:solidFill>
                <a:latin typeface="Calibri"/>
              </a:rPr>
              <a:t>A fog-to-cloud pipeline for live robot health monitoring</a:t>
            </a:r>
          </a:p>
          <a:p>
            <a:pPr algn="ctr"/>
            <a:r>
              <a:rPr sz="1600" b="1">
                <a:solidFill>
                  <a:srgbClr val="232A26"/>
                </a:solidFill>
                <a:latin typeface="Calibri"/>
              </a:rPr>
              <a:t>Goutham Uppu    Student ID X25167936</a:t>
            </a:r>
          </a:p>
          <a:p>
            <a:pPr algn="ctr"/>
            <a:r>
              <a:rPr sz="1300" b="0">
                <a:solidFill>
                  <a:srgbClr val="5C655F"/>
                </a:solidFill>
                <a:latin typeface="Calibri"/>
              </a:rPr>
              <a:t>MSc in Cloud Computing   ·   Fog and Edge Computing (H9FECC)</a:t>
            </a:r>
          </a:p>
          <a:p>
            <a:pPr algn="ctr"/>
            <a:r>
              <a:rPr sz="1300" b="0">
                <a:solidFill>
                  <a:srgbClr val="5C655F"/>
                </a:solidFill>
                <a:latin typeface="Calibri"/>
              </a:rPr>
              <a:t>National College of Ireland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40080" y="384048"/>
            <a:ext cx="10972800" cy="868680"/>
          </a:xfrm>
        </p:spPr>
        <p:txBody>
          <a:bodyPr wrap="square" anchor="t"/>
          <a:lstStyle/>
          <a:p>
            <a:pPr algn="l"/>
            <a:r>
              <a:rPr b="1" sz="2700">
                <a:solidFill>
                  <a:srgbClr val="B5622A"/>
                </a:solidFill>
                <a:latin typeface="Century Gothic"/>
              </a:rPr>
              <a:t>Why scheduled checks fail a moving fleet</a:t>
            </a:r>
          </a:p>
        </p:txBody>
      </p:sp>
      <p:sp>
        <p:nvSpPr>
          <p:cNvPr id="3" name="Content Placeholder 2"/>
          <p:cNvSpPr>
            <a:spLocks noGrp="1"/>
          </p:cNvSpPr>
          <p:nvPr>
            <p:ph idx="1" sz="half"/>
          </p:nvPr>
        </p:nvSpPr>
        <p:spPr>
          <a:xfrm>
            <a:off x="658368" y="1481328"/>
            <a:ext cx="5120640" cy="4846320"/>
          </a:xfrm>
        </p:spPr>
        <p:txBody>
          <a:bodyPr wrap="square">
            <a:normAutofit/>
          </a:bodyPr>
          <a:lstStyle/>
          <a:p>
            <a:pPr>
              <a:spcAft>
                <a:spcPts val="800"/>
              </a:spcAft>
            </a:pPr>
            <a:r>
              <a:rPr sz="1500" b="0">
                <a:solidFill>
                  <a:srgbClr val="232A26"/>
                </a:solidFill>
                <a:latin typeface="Calibri"/>
              </a:rPr>
              <a:t>Ten robots ferry totes across two zones, and their condition changes faster than any inspection round.</a:t>
            </a:r>
          </a:p>
          <a:p>
            <a:pPr>
              <a:spcAft>
                <a:spcPts val="800"/>
              </a:spcAft>
            </a:pPr>
            <a:r>
              <a:rPr sz="1500" b="0">
                <a:solidFill>
                  <a:srgbClr val="232A26"/>
                </a:solidFill>
                <a:latin typeface="Calibri"/>
              </a:rPr>
              <a:t>Schedules are not condition: fleet health is usually read off nominal schedules, yet dispatch decisions measurably improve when battery, position and task load are known live.</a:t>
            </a:r>
          </a:p>
          <a:p>
            <a:pPr>
              <a:spcAft>
                <a:spcPts val="800"/>
              </a:spcAft>
            </a:pPr>
            <a:r>
              <a:rPr sz="1500" b="0">
                <a:solidFill>
                  <a:srgbClr val="232A26"/>
                </a:solidFill>
                <a:latin typeface="Calibri"/>
              </a:rPr>
              <a:t>Batteries degrade quietly: battery degradation shows up in continuous telemetry well before outright failure, and a periodic manual check misses the trend entirely.</a:t>
            </a:r>
          </a:p>
        </p:txBody>
      </p:sp>
      <p:sp>
        <p:nvSpPr>
          <p:cNvPr id="4" name="Content Placeholder 3"/>
          <p:cNvSpPr>
            <a:spLocks noGrp="1"/>
          </p:cNvSpPr>
          <p:nvPr>
            <p:ph idx="2" sz="half"/>
          </p:nvPr>
        </p:nvSpPr>
        <p:spPr>
          <a:xfrm>
            <a:off x="6355080" y="1481328"/>
            <a:ext cx="5120640" cy="4846320"/>
          </a:xfrm>
        </p:spPr>
        <p:txBody>
          <a:bodyPr wrap="square">
            <a:normAutofit/>
          </a:bodyPr>
          <a:lstStyle/>
          <a:p>
            <a:pPr>
              <a:spcAft>
                <a:spcPts val="800"/>
              </a:spcAft>
            </a:pPr>
            <a:r>
              <a:rPr sz="1500" b="0">
                <a:solidFill>
                  <a:srgbClr val="232A26"/>
                </a:solidFill>
                <a:latin typeface="Calibri"/>
              </a:rPr>
              <a:t>Known gaps in the field: surveys of warehouse robot deployments still name scheduling, power and safety as open gaps, largely because few fleets are instrumented closely enough.</a:t>
            </a:r>
          </a:p>
          <a:p>
            <a:pPr>
              <a:spcAft>
                <a:spcPts val="800"/>
              </a:spcAft>
            </a:pPr>
            <a:r>
              <a:rPr sz="1500" b="1">
                <a:solidFill>
                  <a:srgbClr val="B5622A"/>
                </a:solidFill>
                <a:latin typeface="Calibri"/>
              </a:rPr>
              <a:t>Fifty live signals: ten robots, two zones, five telemetry channels each, and no inspection round keeps up with fifty moving numbers.</a:t>
            </a:r>
          </a:p>
        </p:txBody>
      </p:sp>
      <p:sp>
        <p:nvSpPr>
          <p:cNvPr id="5" name="Rectangle 4"/>
          <p:cNvSpPr/>
          <p:nvPr/>
        </p:nvSpPr>
        <p:spPr>
          <a:xfrm>
            <a:off x="658368" y="1261872"/>
            <a:ext cx="3108960" cy="36576"/>
          </a:xfrm>
          <a:prstGeom prst="rect">
            <a:avLst/>
          </a:prstGeom>
          <a:solidFill>
            <a:srgbClr val="B56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40080" y="384048"/>
            <a:ext cx="10972800" cy="868680"/>
          </a:xfrm>
        </p:spPr>
        <p:txBody>
          <a:bodyPr wrap="square" anchor="t"/>
          <a:lstStyle/>
          <a:p>
            <a:pPr algn="l"/>
            <a:r>
              <a:rPr b="1" sz="2700">
                <a:solidFill>
                  <a:srgbClr val="B5622A"/>
                </a:solidFill>
                <a:latin typeface="Century Gothic"/>
              </a:rPr>
              <a:t>How it works: from robot to dashboard</a:t>
            </a:r>
          </a:p>
        </p:txBody>
      </p:sp>
      <p:sp>
        <p:nvSpPr>
          <p:cNvPr id="3" name="Content Placeholder 2"/>
          <p:cNvSpPr>
            <a:spLocks noGrp="1"/>
          </p:cNvSpPr>
          <p:nvPr>
            <p:ph idx="1"/>
          </p:nvPr>
        </p:nvSpPr>
        <p:spPr>
          <a:xfrm>
            <a:off x="658368" y="1481328"/>
            <a:ext cx="5760720" cy="4754880"/>
          </a:xfrm>
        </p:spPr>
        <p:txBody>
          <a:bodyPr wrap="square">
            <a:normAutofit/>
          </a:bodyPr>
          <a:lstStyle/>
          <a:p>
            <a:pPr>
              <a:spcAft>
                <a:spcPts val="800"/>
              </a:spcAft>
            </a:pPr>
            <a:r>
              <a:rPr sz="1500" b="0">
                <a:solidFill>
                  <a:srgbClr val="232A26"/>
                </a:solidFill>
                <a:latin typeface="Calibri"/>
              </a:rPr>
              <a:t>Robot sensors: 10 containers on Amazon EC2, 5 metrics per robot.</a:t>
            </a:r>
          </a:p>
          <a:p>
            <a:pPr>
              <a:spcAft>
                <a:spcPts val="800"/>
              </a:spcAft>
            </a:pPr>
            <a:r>
              <a:rPr sz="1500" b="0">
                <a:solidFill>
                  <a:srgbClr val="232A26"/>
                </a:solidFill>
                <a:latin typeface="Calibri"/>
              </a:rPr>
              <a:t>Fog gateway windows and aggregates the readings, then checks alert thresholds.</a:t>
            </a:r>
          </a:p>
          <a:p>
            <a:pPr>
              <a:spcAft>
                <a:spcPts val="800"/>
              </a:spcAft>
            </a:pPr>
            <a:r>
              <a:rPr sz="1500" b="0">
                <a:solidFill>
                  <a:srgbClr val="232A26"/>
                </a:solidFill>
                <a:latin typeface="Calibri"/>
              </a:rPr>
              <a:t>Message queue: Amazon SQS carries batches of up to 10 aggregates.</a:t>
            </a:r>
          </a:p>
          <a:p>
            <a:pPr>
              <a:spcAft>
                <a:spcPts val="800"/>
              </a:spcAft>
            </a:pPr>
            <a:r>
              <a:rPr sz="1500" b="0">
                <a:solidFill>
                  <a:srgbClr val="232A26"/>
                </a:solidFill>
                <a:latin typeface="Calibri"/>
              </a:rPr>
              <a:t>Serverless ingest: AWS Lambda writes each closed window into Amazon DynamoDB, which holds the window aggregates.</a:t>
            </a:r>
          </a:p>
          <a:p>
            <a:pPr>
              <a:spcAft>
                <a:spcPts val="800"/>
              </a:spcAft>
            </a:pPr>
            <a:r>
              <a:rPr sz="1500" b="0">
                <a:solidFill>
                  <a:srgbClr val="232A26"/>
                </a:solidFill>
                <a:latin typeface="Calibri"/>
              </a:rPr>
              <a:t>Live dashboard: Amazon API Gateway with AWS Lambda, and the frontend hosted on S3.</a:t>
            </a:r>
          </a:p>
          <a:p>
            <a:pPr>
              <a:spcAft>
                <a:spcPts val="800"/>
              </a:spcAft>
            </a:pPr>
            <a:r>
              <a:rPr sz="1500" b="1">
                <a:solidFill>
                  <a:srgbClr val="B5622A"/>
                </a:solidFill>
                <a:latin typeface="Calibri"/>
              </a:rPr>
              <a:t>Only compact window aggregates cross to the cloud; raw samples never leave the edge.</a:t>
            </a:r>
          </a:p>
        </p:txBody>
      </p:sp>
      <p:sp>
        <p:nvSpPr>
          <p:cNvPr id="4" name="Rectangle 3"/>
          <p:cNvSpPr/>
          <p:nvPr/>
        </p:nvSpPr>
        <p:spPr>
          <a:xfrm>
            <a:off x="658368" y="1261872"/>
            <a:ext cx="3108960" cy="36576"/>
          </a:xfrm>
          <a:prstGeom prst="rect">
            <a:avLst/>
          </a:prstGeom>
          <a:solidFill>
            <a:srgbClr val="B56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opology.png"/>
          <p:cNvPicPr>
            <a:picLocks noChangeAspect="1"/>
          </p:cNvPicPr>
          <p:nvPr/>
        </p:nvPicPr>
        <p:blipFill>
          <a:blip r:embed="rId2"/>
          <a:stretch>
            <a:fillRect/>
          </a:stretch>
        </p:blipFill>
        <p:spPr>
          <a:xfrm>
            <a:off x="6629400" y="2364763"/>
            <a:ext cx="5120640" cy="2878281"/>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40080" y="384048"/>
            <a:ext cx="10972800" cy="868680"/>
          </a:xfrm>
        </p:spPr>
        <p:txBody>
          <a:bodyPr wrap="square" anchor="t"/>
          <a:lstStyle/>
          <a:p>
            <a:pPr algn="l"/>
            <a:r>
              <a:rPr b="1" sz="2700">
                <a:solidFill>
                  <a:srgbClr val="B5622A"/>
                </a:solidFill>
                <a:latin typeface="Century Gothic"/>
              </a:rPr>
              <a:t>Live on AWS: the deployed dashboard</a:t>
            </a:r>
          </a:p>
        </p:txBody>
      </p:sp>
      <p:sp>
        <p:nvSpPr>
          <p:cNvPr id="3" name="Content Placeholder 2"/>
          <p:cNvSpPr>
            <a:spLocks noGrp="1"/>
          </p:cNvSpPr>
          <p:nvPr>
            <p:ph idx="1"/>
          </p:nvPr>
        </p:nvSpPr>
        <p:spPr>
          <a:xfrm>
            <a:off x="658368" y="1481328"/>
            <a:ext cx="5760720" cy="4754880"/>
          </a:xfrm>
        </p:spPr>
        <p:txBody>
          <a:bodyPr wrap="square">
            <a:normAutofit/>
          </a:bodyPr>
          <a:lstStyle/>
          <a:p>
            <a:pPr>
              <a:spcAft>
                <a:spcPts val="800"/>
              </a:spcAft>
            </a:pPr>
            <a:r>
              <a:rPr sz="1500" b="0">
                <a:solidFill>
                  <a:srgbClr val="232A26"/>
                </a:solidFill>
                <a:latin typeface="Calibri"/>
              </a:rPr>
              <a:t>Captured from the live deployment: the S3-hosted frontend calls the dashboard API through Amazon API Gateway, and the bottom status row shows all four pipeline health checks reporting healthy.</a:t>
            </a:r>
          </a:p>
          <a:p>
            <a:pPr>
              <a:spcAft>
                <a:spcPts val="800"/>
              </a:spcAft>
            </a:pPr>
            <a:r>
              <a:rPr sz="1500" b="1">
                <a:solidFill>
                  <a:srgbClr val="B5622A"/>
                </a:solidFill>
                <a:latin typeface="Calibri"/>
              </a:rPr>
              <a:t>All health checks green: gateway, queue, Lambda and pipeline all healthy, with the freshest window seconds old.</a:t>
            </a:r>
          </a:p>
          <a:p>
            <a:pPr>
              <a:spcAft>
                <a:spcPts val="800"/>
              </a:spcAft>
            </a:pPr>
            <a:r>
              <a:rPr sz="1500" b="0">
                <a:solidFill>
                  <a:srgbClr val="232A26"/>
                </a:solidFill>
                <a:latin typeface="Calibri"/>
              </a:rPr>
              <a:t>116 automated tests pass across four modules, plus a 2,000-message burst test via 32 workers.</a:t>
            </a:r>
          </a:p>
          <a:p>
            <a:pPr>
              <a:spcAft>
                <a:spcPts val="800"/>
              </a:spcAft>
            </a:pPr>
            <a:r>
              <a:rPr sz="1500" b="0">
                <a:solidFill>
                  <a:srgbClr val="232A26"/>
                </a:solidFill>
                <a:latin typeface="Calibri"/>
              </a:rPr>
              <a:t>One command to deploy: a single Terraform apply provisioned all 24 AWS resources, and item counts climbed during checks.</a:t>
            </a:r>
          </a:p>
        </p:txBody>
      </p:sp>
      <p:sp>
        <p:nvSpPr>
          <p:cNvPr id="4" name="Rectangle 3"/>
          <p:cNvSpPr/>
          <p:nvPr/>
        </p:nvSpPr>
        <p:spPr>
          <a:xfrm>
            <a:off x="658368" y="1261872"/>
            <a:ext cx="3108960" cy="36576"/>
          </a:xfrm>
          <a:prstGeom prst="rect">
            <a:avLst/>
          </a:prstGeom>
          <a:solidFill>
            <a:srgbClr val="B56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ashboard.png"/>
          <p:cNvPicPr>
            <a:picLocks noChangeAspect="1"/>
          </p:cNvPicPr>
          <p:nvPr/>
        </p:nvPicPr>
        <p:blipFill>
          <a:blip r:embed="rId2"/>
          <a:stretch>
            <a:fillRect/>
          </a:stretch>
        </p:blipFill>
        <p:spPr>
          <a:xfrm>
            <a:off x="6629400" y="2003679"/>
            <a:ext cx="5120640" cy="3600449"/>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40080" y="384048"/>
            <a:ext cx="10972800" cy="868680"/>
          </a:xfrm>
        </p:spPr>
        <p:txBody>
          <a:bodyPr wrap="square" anchor="t"/>
          <a:lstStyle/>
          <a:p>
            <a:pPr algn="l"/>
            <a:r>
              <a:rPr b="1" sz="2700">
                <a:solidFill>
                  <a:srgbClr val="B5622A"/>
                </a:solidFill>
                <a:latin typeface="Century Gothic"/>
              </a:rPr>
              <a:t>The bug only real AWS could expose</a:t>
            </a:r>
          </a:p>
        </p:txBody>
      </p:sp>
      <p:sp>
        <p:nvSpPr>
          <p:cNvPr id="3" name="Content Placeholder 2"/>
          <p:cNvSpPr>
            <a:spLocks noGrp="1"/>
          </p:cNvSpPr>
          <p:nvPr>
            <p:ph idx="1" sz="half"/>
          </p:nvPr>
        </p:nvSpPr>
        <p:spPr>
          <a:xfrm>
            <a:off x="658368" y="1481328"/>
            <a:ext cx="5120640" cy="4846320"/>
          </a:xfrm>
        </p:spPr>
        <p:txBody>
          <a:bodyPr wrap="square">
            <a:normAutofit/>
          </a:bodyPr>
          <a:lstStyle/>
          <a:p>
            <a:pPr>
              <a:spcAft>
                <a:spcPts val="800"/>
              </a:spcAft>
            </a:pPr>
            <a:r>
              <a:rPr sz="1500" b="0">
                <a:solidFill>
                  <a:srgbClr val="232A26"/>
                </a:solidFill>
                <a:latin typeface="Calibri"/>
              </a:rPr>
              <a:t>The defect: all three AWS-facing components always built static test credentials for the local emulator, and the fog publisher always applied its endpoint override, even on real AWS.</a:t>
            </a:r>
          </a:p>
          <a:p>
            <a:pPr>
              <a:spcAft>
                <a:spcPts val="800"/>
              </a:spcAft>
            </a:pPr>
            <a:r>
              <a:rPr sz="1500" b="0">
                <a:solidFill>
                  <a:srgbClr val="232A26"/>
                </a:solidFill>
                <a:latin typeface="Calibri"/>
              </a:rPr>
              <a:t>Why it was hard: every one of the 116 tests passed and the full stack ran cleanly on the local emulator. On real AWS, the Lambdas would override their execution-role credentials and be rejected, and the fog node would crash at startup on a missing endpoint.</a:t>
            </a:r>
          </a:p>
          <a:p>
            <a:pPr>
              <a:spcAft>
                <a:spcPts val="800"/>
              </a:spcAft>
            </a:pPr>
            <a:r>
              <a:rPr sz="1500" b="0">
                <a:solidFill>
                  <a:srgbClr val="232A26"/>
                </a:solidFill>
                <a:latin typeface="Calibri"/>
              </a:rPr>
              <a:t>The fix: gate on the endpoint setting itself. Present means emulator credentials, absent means the real AWS role. Deployed with this fix in place, every health check came up green on the first attempt.</a:t>
            </a:r>
          </a:p>
          <a:p>
            <a:pPr>
              <a:spcAft>
                <a:spcPts val="800"/>
              </a:spcAft>
            </a:pPr>
            <a:r>
              <a:rPr sz="1500" b="1">
                <a:solidFill>
                  <a:srgbClr val="B5622A"/>
                </a:solidFill>
                <a:latin typeface="Calibri"/>
              </a:rPr>
              <a:t>Before and after:</a:t>
            </a:r>
          </a:p>
          <a:p>
            <a:pPr lvl="1">
              <a:spcAft>
                <a:spcPts val="800"/>
              </a:spcAft>
            </a:pPr>
            <a:r>
              <a:rPr sz="1300" b="0">
                <a:solidFill>
                  <a:srgbClr val="232A26"/>
                </a:solidFill>
                <a:latin typeface="Calibri"/>
              </a:rPr>
              <a:t>Before: emulator credentials and endpoint applied unconditionally, so real calls are rejected and the fog node crashes on startup.</a:t>
            </a:r>
          </a:p>
          <a:p>
            <a:pPr lvl="1">
              <a:spcAft>
                <a:spcPts val="800"/>
              </a:spcAft>
            </a:pPr>
            <a:r>
              <a:rPr sz="1300" b="0">
                <a:solidFill>
                  <a:srgbClr val="232A26"/>
                </a:solidFill>
                <a:latin typeface="Calibri"/>
              </a:rPr>
              <a:t>After: endpoint configured means use the emulator; absent means use the real execution role, exactly as one class already did correctly.</a:t>
            </a:r>
          </a:p>
        </p:txBody>
      </p:sp>
      <p:sp>
        <p:nvSpPr>
          <p:cNvPr id="4" name="Content Placeholder 3"/>
          <p:cNvSpPr>
            <a:spLocks noGrp="1"/>
          </p:cNvSpPr>
          <p:nvPr>
            <p:ph idx="2" sz="half"/>
          </p:nvPr>
        </p:nvSpPr>
        <p:spPr>
          <a:xfrm>
            <a:off x="6355080" y="1481328"/>
            <a:ext cx="5120640" cy="4846320"/>
          </a:xfrm>
        </p:spPr>
        <p:txBody>
          <a:bodyPr wrap="square">
            <a:normAutofit/>
          </a:bodyPr>
          <a:lstStyle/>
          <a:p>
            <a:pPr>
              <a:spcAft>
                <a:spcPts val="800"/>
              </a:spcAft>
            </a:pPr>
            <a:r>
              <a:rPr sz="1500" b="1">
                <a:solidFill>
                  <a:srgbClr val="B5622A"/>
                </a:solidFill>
                <a:latin typeface="Calibri"/>
              </a:rPr>
              <a:t>One of four defects caught by a pre-deployment audit; none was visible to a green 116-test suite.</a:t>
            </a:r>
          </a:p>
        </p:txBody>
      </p:sp>
      <p:sp>
        <p:nvSpPr>
          <p:cNvPr id="5" name="Rectangle 4"/>
          <p:cNvSpPr/>
          <p:nvPr/>
        </p:nvSpPr>
        <p:spPr>
          <a:xfrm>
            <a:off x="658368" y="1261872"/>
            <a:ext cx="3108960" cy="36576"/>
          </a:xfrm>
          <a:prstGeom prst="rect">
            <a:avLst/>
          </a:prstGeom>
          <a:solidFill>
            <a:srgbClr val="B56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40080" y="384048"/>
            <a:ext cx="10972800" cy="868680"/>
          </a:xfrm>
        </p:spPr>
        <p:txBody>
          <a:bodyPr wrap="square" anchor="t"/>
          <a:lstStyle/>
          <a:p>
            <a:pPr algn="l"/>
            <a:r>
              <a:rPr b="1" sz="2700">
                <a:solidFill>
                  <a:srgbClr val="B5622A"/>
                </a:solidFill>
                <a:latin typeface="Century Gothic"/>
              </a:rPr>
              <a:t>What this project shows</a:t>
            </a:r>
          </a:p>
        </p:txBody>
      </p:sp>
      <p:sp>
        <p:nvSpPr>
          <p:cNvPr id="3" name="Content Placeholder 2"/>
          <p:cNvSpPr>
            <a:spLocks noGrp="1"/>
          </p:cNvSpPr>
          <p:nvPr>
            <p:ph idx="1" sz="half"/>
          </p:nvPr>
        </p:nvSpPr>
        <p:spPr>
          <a:xfrm>
            <a:off x="658368" y="1481328"/>
            <a:ext cx="5120640" cy="4846320"/>
          </a:xfrm>
        </p:spPr>
        <p:txBody>
          <a:bodyPr wrap="square">
            <a:normAutofit/>
          </a:bodyPr>
          <a:lstStyle/>
          <a:p>
            <a:pPr>
              <a:spcAft>
                <a:spcPts val="800"/>
              </a:spcAft>
            </a:pPr>
            <a:r>
              <a:rPr sz="1500" b="0">
                <a:solidFill>
                  <a:srgbClr val="232A26"/>
                </a:solidFill>
                <a:latin typeface="Calibri"/>
              </a:rPr>
              <a:t>Edge does the heavy lifting: windowing, aggregation and alert checks run beside the robots, and only compact summaries cross to the cloud.</a:t>
            </a:r>
          </a:p>
          <a:p>
            <a:pPr>
              <a:spcAft>
                <a:spcPts val="800"/>
              </a:spcAft>
            </a:pPr>
            <a:r>
              <a:rPr sz="1500" b="1">
                <a:solidFill>
                  <a:srgbClr val="B5622A"/>
                </a:solidFill>
                <a:latin typeface="Calibri"/>
              </a:rPr>
              <a:t>Green tests are not cloud-proof: four real defects hid at boundaries the local emulator masks, and auditing against real service behaviour is its own step.</a:t>
            </a:r>
          </a:p>
        </p:txBody>
      </p:sp>
      <p:sp>
        <p:nvSpPr>
          <p:cNvPr id="4" name="Content Placeholder 3"/>
          <p:cNvSpPr>
            <a:spLocks noGrp="1"/>
          </p:cNvSpPr>
          <p:nvPr>
            <p:ph idx="2" sz="half"/>
          </p:nvPr>
        </p:nvSpPr>
        <p:spPr>
          <a:xfrm>
            <a:off x="6355080" y="1481328"/>
            <a:ext cx="5120640" cy="4846320"/>
          </a:xfrm>
        </p:spPr>
        <p:txBody>
          <a:bodyPr wrap="square">
            <a:normAutofit/>
          </a:bodyPr>
          <a:lstStyle/>
          <a:p>
            <a:pPr>
              <a:spcAft>
                <a:spcPts val="800"/>
              </a:spcAft>
            </a:pPr>
            <a:r>
              <a:rPr sz="1500" b="0">
                <a:solidFill>
                  <a:srgbClr val="232A26"/>
                </a:solidFill>
                <a:latin typeface="Calibri"/>
              </a:rPr>
              <a:t>Declared, not scripted: one Terraform apply, 24 resources, nothing copied by hand, and teardown and rebuild are repeatable.</a:t>
            </a:r>
          </a:p>
          <a:p>
            <a:pPr>
              <a:spcAft>
                <a:spcPts val="800"/>
              </a:spcAft>
            </a:pPr>
            <a:r>
              <a:rPr sz="1500" b="0">
                <a:solidFill>
                  <a:srgbClr val="232A26"/>
                </a:solidFill>
                <a:latin typeface="Calibri"/>
              </a:rPr>
              <a:t>Thank you. Questions?</a:t>
            </a:r>
          </a:p>
        </p:txBody>
      </p:sp>
      <p:sp>
        <p:nvSpPr>
          <p:cNvPr id="5" name="Rectangle 4"/>
          <p:cNvSpPr/>
          <p:nvPr/>
        </p:nvSpPr>
        <p:spPr>
          <a:xfrm>
            <a:off x="658368" y="1261872"/>
            <a:ext cx="3108960" cy="36576"/>
          </a:xfrm>
          <a:prstGeom prst="rect">
            <a:avLst/>
          </a:prstGeom>
          <a:solidFill>
            <a:srgbClr val="B56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