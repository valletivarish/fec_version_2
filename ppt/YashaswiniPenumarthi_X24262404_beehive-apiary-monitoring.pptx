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2110"/>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algn="l" indent="0" marL="0">
              <a:buNone/>
            </a:pPr>
            <a:r>
              <a:rPr lang="en-US" sz="3600" b="1" dirty="0">
                <a:solidFill>
                  <a:srgbClr val="FFFFFF"/>
                </a:solidFill>
                <a:latin typeface="Century Schoolbook" pitchFamily="34" charset="0"/>
                <a:ea typeface="Century Schoolbook" pitchFamily="34" charset="-122"/>
                <a:cs typeface="Century Schoolbook" pitchFamily="34" charset="-120"/>
              </a:rPr>
              <a:t>Beehive &amp; Apiary Health Monitoring</a:t>
            </a:r>
            <a:endParaRPr lang="en-US" sz="36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D8AE3E"/>
                </a:solidFill>
                <a:latin typeface="Calibri" pitchFamily="34" charset="0"/>
                <a:ea typeface="Calibri" pitchFamily="34" charset="-122"/>
                <a:cs typeface="Calibri" pitchFamily="34" charset="-120"/>
              </a:rPr>
              <a:t>Yashaswini Penumarthi   ·   X24262404</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EBDCB6"/>
                </a:solidFill>
                <a:latin typeface="Calibri" pitchFamily="34" charset="0"/>
                <a:ea typeface="Calibri" pitchFamily="34" charset="-122"/>
                <a:cs typeface="Calibri" pitchFamily="34" charset="-120"/>
              </a:rPr>
              <a:t>A colony can slide into starvation, chilled brood or the run-up to a swarm within days — yet opening a hive is disruptive, so it is done only every week or two.</a:t>
            </a:r>
            <a:endParaRPr lang="en-US" sz="2000" dirty="0"/>
          </a:p>
        </p:txBody>
      </p:sp>
      <p:sp>
        <p:nvSpPr>
          <p:cNvPr id="5" name="Shape 3"/>
          <p:cNvSpPr/>
          <p:nvPr/>
        </p:nvSpPr>
        <p:spPr>
          <a:xfrm>
            <a:off x="658368" y="4206240"/>
            <a:ext cx="2651760" cy="566928"/>
          </a:xfrm>
          <a:prstGeom prst="roundRect">
            <a:avLst>
              <a:gd name="adj" fmla="val 50000"/>
            </a:avLst>
          </a:prstGeom>
          <a:solidFill>
            <a:srgbClr val="342914"/>
          </a:solidFill>
          <a:ln w="12700">
            <a:solidFill>
              <a:srgbClr val="E7C24A"/>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400" b="1" dirty="0">
                <a:solidFill>
                  <a:srgbClr val="E7C24A"/>
                </a:solidFill>
                <a:latin typeface="Calibri" pitchFamily="34" charset="0"/>
                <a:ea typeface="Calibri" pitchFamily="34" charset="-122"/>
                <a:cs typeface="Calibri" pitchFamily="34" charset="-120"/>
              </a:rPr>
              <a:t>Brood 32–36 °C band</a:t>
            </a:r>
            <a:endParaRPr lang="en-US" sz="1400" dirty="0"/>
          </a:p>
        </p:txBody>
      </p:sp>
      <p:sp>
        <p:nvSpPr>
          <p:cNvPr id="7" name="Shape 5"/>
          <p:cNvSpPr/>
          <p:nvPr/>
        </p:nvSpPr>
        <p:spPr>
          <a:xfrm>
            <a:off x="3538728" y="4206240"/>
            <a:ext cx="2651760" cy="566928"/>
          </a:xfrm>
          <a:prstGeom prst="roundRect">
            <a:avLst>
              <a:gd name="adj" fmla="val 50000"/>
            </a:avLst>
          </a:prstGeom>
          <a:solidFill>
            <a:srgbClr val="342914"/>
          </a:solidFill>
          <a:ln w="12700">
            <a:solidFill>
              <a:srgbClr val="E7C24A"/>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400" b="1" dirty="0">
                <a:solidFill>
                  <a:srgbClr val="E7C24A"/>
                </a:solidFill>
                <a:latin typeface="Calibri" pitchFamily="34" charset="0"/>
                <a:ea typeface="Calibri" pitchFamily="34" charset="-122"/>
                <a:cs typeface="Calibri" pitchFamily="34" charset="-120"/>
              </a:rPr>
              <a:t>Starvation &lt; 20 kg</a:t>
            </a:r>
            <a:endParaRPr lang="en-US" sz="1400" dirty="0"/>
          </a:p>
        </p:txBody>
      </p:sp>
      <p:sp>
        <p:nvSpPr>
          <p:cNvPr id="9" name="Shape 7"/>
          <p:cNvSpPr/>
          <p:nvPr/>
        </p:nvSpPr>
        <p:spPr>
          <a:xfrm>
            <a:off x="6419088" y="4206240"/>
            <a:ext cx="2651760" cy="566928"/>
          </a:xfrm>
          <a:prstGeom prst="roundRect">
            <a:avLst>
              <a:gd name="adj" fmla="val 50000"/>
            </a:avLst>
          </a:prstGeom>
          <a:solidFill>
            <a:srgbClr val="342914"/>
          </a:solidFill>
          <a:ln w="12700">
            <a:solidFill>
              <a:srgbClr val="E7C24A"/>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400" b="1" dirty="0">
                <a:solidFill>
                  <a:srgbClr val="E7C24A"/>
                </a:solidFill>
                <a:latin typeface="Calibri" pitchFamily="34" charset="0"/>
                <a:ea typeface="Calibri" pitchFamily="34" charset="-122"/>
                <a:cs typeface="Calibri" pitchFamily="34" charset="-120"/>
              </a:rPr>
              <a:t>Swarm buzz &gt; 350 Hz</a:t>
            </a:r>
            <a:endParaRPr lang="en-US" sz="140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r>
              <a:rPr lang="en-US" sz="1300" dirty="0">
                <a:solidFill>
                  <a:srgbClr val="6E6144"/>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81F0F"/>
                </a:solidFill>
                <a:latin typeface="Century Schoolbook" pitchFamily="34" charset="0"/>
                <a:ea typeface="Century Schoolbook" pitchFamily="34" charset="-122"/>
                <a:cs typeface="Century Schoolbook" pitchFamily="34" charset="-120"/>
              </a:rPr>
              <a:t>What I Built — Hive to Dashboard</a:t>
            </a:r>
            <a:endParaRPr lang="en-US" sz="3000" dirty="0"/>
          </a:p>
        </p:txBody>
      </p:sp>
      <p:sp>
        <p:nvSpPr>
          <p:cNvPr id="3" name="Shape 1"/>
          <p:cNvSpPr/>
          <p:nvPr/>
        </p:nvSpPr>
        <p:spPr>
          <a:xfrm>
            <a:off x="640080" y="2468880"/>
            <a:ext cx="1572768" cy="1371600"/>
          </a:xfrm>
          <a:prstGeom prst="roundRect">
            <a:avLst>
              <a:gd name="adj" fmla="val 6667"/>
            </a:avLst>
          </a:prstGeom>
          <a:solidFill>
            <a:srgbClr val="F7F2E3"/>
          </a:solidFill>
          <a:ln w="19050">
            <a:solidFill>
              <a:srgbClr val="D8AE3E"/>
            </a:solidFill>
            <a:prstDash val="solid"/>
          </a:ln>
        </p:spPr>
      </p:sp>
      <p:sp>
        <p:nvSpPr>
          <p:cNvPr id="4" name="Shape 2"/>
          <p:cNvSpPr/>
          <p:nvPr/>
        </p:nvSpPr>
        <p:spPr>
          <a:xfrm>
            <a:off x="1325880" y="2670048"/>
            <a:ext cx="201168" cy="201168"/>
          </a:xfrm>
          <a:prstGeom prst="ellipse">
            <a:avLst/>
          </a:prstGeom>
          <a:solidFill>
            <a:srgbClr val="D8AE3E"/>
          </a:solidFill>
          <a:ln/>
        </p:spPr>
      </p:sp>
      <p:sp>
        <p:nvSpPr>
          <p:cNvPr id="5" name="Text 3"/>
          <p:cNvSpPr/>
          <p:nvPr/>
        </p:nvSpPr>
        <p:spPr>
          <a:xfrm>
            <a:off x="594360" y="2926080"/>
            <a:ext cx="1664208" cy="411480"/>
          </a:xfrm>
          <a:prstGeom prst="rect">
            <a:avLst/>
          </a:prstGeom>
          <a:noFill/>
          <a:ln/>
        </p:spPr>
        <p:txBody>
          <a:bodyPr wrap="square" lIns="0" tIns="0" rIns="0" bIns="0" rtlCol="0" anchor="ctr"/>
          <a:lstStyle/>
          <a:p>
            <a:pPr algn="ctr" indent="0" marL="0">
              <a:buNone/>
            </a:pPr>
            <a:r>
              <a:rPr lang="en-US" sz="1450" b="1" dirty="0">
                <a:solidFill>
                  <a:srgbClr val="281F0F"/>
                </a:solidFill>
                <a:latin typeface="Calibri" pitchFamily="34" charset="0"/>
                <a:ea typeface="Calibri" pitchFamily="34" charset="-122"/>
                <a:cs typeface="Calibri" pitchFamily="34" charset="-120"/>
              </a:rPr>
              <a:t>Hive sensors</a:t>
            </a:r>
            <a:endParaRPr lang="en-US" sz="1450" dirty="0"/>
          </a:p>
        </p:txBody>
      </p:sp>
      <p:sp>
        <p:nvSpPr>
          <p:cNvPr id="6" name="Text 4"/>
          <p:cNvSpPr/>
          <p:nvPr/>
        </p:nvSpPr>
        <p:spPr>
          <a:xfrm>
            <a:off x="621792" y="3310128"/>
            <a:ext cx="1609344" cy="457200"/>
          </a:xfrm>
          <a:prstGeom prst="rect">
            <a:avLst/>
          </a:prstGeom>
          <a:noFill/>
          <a:ln/>
        </p:spPr>
        <p:txBody>
          <a:bodyPr wrap="square" lIns="0" tIns="0" rIns="0" bIns="0" rtlCol="0" anchor="t"/>
          <a:lstStyle/>
          <a:p>
            <a:pPr algn="ctr" indent="0" marL="0">
              <a:buNone/>
            </a:pPr>
            <a:r>
              <a:rPr lang="en-US" sz="1050" dirty="0">
                <a:solidFill>
                  <a:srgbClr val="6E6144"/>
                </a:solidFill>
                <a:latin typeface="Calibri" pitchFamily="34" charset="0"/>
                <a:ea typeface="Calibri" pitchFamily="34" charset="-122"/>
                <a:cs typeface="Calibri" pitchFamily="34" charset="-120"/>
              </a:rPr>
              <a:t>10 · 2 apiaries</a:t>
            </a:r>
            <a:endParaRPr lang="en-US" sz="1050" dirty="0"/>
          </a:p>
        </p:txBody>
      </p:sp>
      <p:sp>
        <p:nvSpPr>
          <p:cNvPr id="7" name="Shape 5"/>
          <p:cNvSpPr/>
          <p:nvPr/>
        </p:nvSpPr>
        <p:spPr>
          <a:xfrm>
            <a:off x="2231136" y="3154680"/>
            <a:ext cx="258409" cy="0"/>
          </a:xfrm>
          <a:prstGeom prst="line">
            <a:avLst/>
          </a:prstGeom>
          <a:noFill/>
          <a:ln w="25400">
            <a:solidFill>
              <a:srgbClr val="D8AE3E"/>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F7F2E3"/>
          </a:solidFill>
          <a:ln w="19050">
            <a:solidFill>
              <a:srgbClr val="D8AE3E"/>
            </a:solidFill>
            <a:prstDash val="solid"/>
          </a:ln>
        </p:spPr>
      </p:sp>
      <p:sp>
        <p:nvSpPr>
          <p:cNvPr id="9" name="Shape 7"/>
          <p:cNvSpPr/>
          <p:nvPr/>
        </p:nvSpPr>
        <p:spPr>
          <a:xfrm>
            <a:off x="3193633" y="2670048"/>
            <a:ext cx="201168" cy="201168"/>
          </a:xfrm>
          <a:prstGeom prst="ellipse">
            <a:avLst/>
          </a:prstGeom>
          <a:solidFill>
            <a:srgbClr val="D8AE3E"/>
          </a:solidFill>
          <a:ln/>
        </p:spPr>
      </p:sp>
      <p:sp>
        <p:nvSpPr>
          <p:cNvPr id="10" name="Text 8"/>
          <p:cNvSpPr/>
          <p:nvPr/>
        </p:nvSpPr>
        <p:spPr>
          <a:xfrm>
            <a:off x="2462113" y="2926080"/>
            <a:ext cx="1664208" cy="411480"/>
          </a:xfrm>
          <a:prstGeom prst="rect">
            <a:avLst/>
          </a:prstGeom>
          <a:noFill/>
          <a:ln/>
        </p:spPr>
        <p:txBody>
          <a:bodyPr wrap="square" lIns="0" tIns="0" rIns="0" bIns="0" rtlCol="0" anchor="ctr"/>
          <a:lstStyle/>
          <a:p>
            <a:pPr algn="ctr" indent="0" marL="0">
              <a:buNone/>
            </a:pPr>
            <a:r>
              <a:rPr lang="en-US" sz="1450" b="1" dirty="0">
                <a:solidFill>
                  <a:srgbClr val="281F0F"/>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2489545" y="3310128"/>
            <a:ext cx="1609344" cy="457200"/>
          </a:xfrm>
          <a:prstGeom prst="rect">
            <a:avLst/>
          </a:prstGeom>
          <a:noFill/>
          <a:ln/>
        </p:spPr>
        <p:txBody>
          <a:bodyPr wrap="square" lIns="0" tIns="0" rIns="0" bIns="0" rtlCol="0" anchor="t"/>
          <a:lstStyle/>
          <a:p>
            <a:pPr algn="ctr" indent="0" marL="0">
              <a:buNone/>
            </a:pPr>
            <a:r>
              <a:rPr lang="en-US" sz="1050" dirty="0">
                <a:solidFill>
                  <a:srgbClr val="6E6144"/>
                </a:solidFill>
                <a:latin typeface="Calibri" pitchFamily="34" charset="0"/>
                <a:ea typeface="Calibri" pitchFamily="34" charset="-122"/>
                <a:cs typeface="Calibri" pitchFamily="34" charset="-120"/>
              </a:rPr>
              <a:t>10 s windows · colony rules</a:t>
            </a:r>
            <a:endParaRPr lang="en-US" sz="1050" dirty="0"/>
          </a:p>
        </p:txBody>
      </p:sp>
      <p:sp>
        <p:nvSpPr>
          <p:cNvPr id="12" name="Shape 10"/>
          <p:cNvSpPr/>
          <p:nvPr/>
        </p:nvSpPr>
        <p:spPr>
          <a:xfrm>
            <a:off x="4098889" y="3154680"/>
            <a:ext cx="258409" cy="0"/>
          </a:xfrm>
          <a:prstGeom prst="line">
            <a:avLst/>
          </a:prstGeom>
          <a:noFill/>
          <a:ln w="25400">
            <a:solidFill>
              <a:srgbClr val="D8AE3E"/>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F7F2E3"/>
          </a:solidFill>
          <a:ln w="19050">
            <a:solidFill>
              <a:srgbClr val="8A6516"/>
            </a:solidFill>
            <a:prstDash val="solid"/>
          </a:ln>
        </p:spPr>
      </p:sp>
      <p:sp>
        <p:nvSpPr>
          <p:cNvPr id="14" name="Shape 12"/>
          <p:cNvSpPr/>
          <p:nvPr/>
        </p:nvSpPr>
        <p:spPr>
          <a:xfrm>
            <a:off x="5061387" y="2670048"/>
            <a:ext cx="201168" cy="201168"/>
          </a:xfrm>
          <a:prstGeom prst="ellipse">
            <a:avLst/>
          </a:prstGeom>
          <a:solidFill>
            <a:srgbClr val="8A6516"/>
          </a:solidFill>
          <a:ln/>
        </p:spPr>
      </p:sp>
      <p:sp>
        <p:nvSpPr>
          <p:cNvPr id="15" name="Text 13"/>
          <p:cNvSpPr/>
          <p:nvPr/>
        </p:nvSpPr>
        <p:spPr>
          <a:xfrm>
            <a:off x="4329867" y="2926080"/>
            <a:ext cx="1664208" cy="411480"/>
          </a:xfrm>
          <a:prstGeom prst="rect">
            <a:avLst/>
          </a:prstGeom>
          <a:noFill/>
          <a:ln/>
        </p:spPr>
        <p:txBody>
          <a:bodyPr wrap="square" lIns="0" tIns="0" rIns="0" bIns="0" rtlCol="0" anchor="ctr"/>
          <a:lstStyle/>
          <a:p>
            <a:pPr algn="ctr" indent="0" marL="0">
              <a:buNone/>
            </a:pPr>
            <a:r>
              <a:rPr lang="en-US" sz="1450" b="1" dirty="0">
                <a:solidFill>
                  <a:srgbClr val="281F0F"/>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57299" y="3310128"/>
            <a:ext cx="1609344" cy="457200"/>
          </a:xfrm>
          <a:prstGeom prst="rect">
            <a:avLst/>
          </a:prstGeom>
          <a:noFill/>
          <a:ln/>
        </p:spPr>
        <p:txBody>
          <a:bodyPr wrap="square" lIns="0" tIns="0" rIns="0" bIns="0" rtlCol="0" anchor="t"/>
          <a:lstStyle/>
          <a:p>
            <a:pPr algn="ctr" indent="0" marL="0">
              <a:buNone/>
            </a:pPr>
            <a:r>
              <a:rPr lang="en-US" sz="1050" dirty="0">
                <a:solidFill>
                  <a:srgbClr val="6E6144"/>
                </a:solidFill>
                <a:latin typeface="Calibri" pitchFamily="34" charset="0"/>
                <a:ea typeface="Calibri" pitchFamily="34" charset="-122"/>
                <a:cs typeface="Calibri" pitchFamily="34" charset="-120"/>
              </a:rPr>
              <a:t>1 summary / window</a:t>
            </a:r>
            <a:endParaRPr lang="en-US" sz="1050" dirty="0"/>
          </a:p>
        </p:txBody>
      </p:sp>
      <p:sp>
        <p:nvSpPr>
          <p:cNvPr id="17" name="Shape 15"/>
          <p:cNvSpPr/>
          <p:nvPr/>
        </p:nvSpPr>
        <p:spPr>
          <a:xfrm>
            <a:off x="5966643" y="3154680"/>
            <a:ext cx="258409" cy="0"/>
          </a:xfrm>
          <a:prstGeom prst="line">
            <a:avLst/>
          </a:prstGeom>
          <a:noFill/>
          <a:ln w="25400">
            <a:solidFill>
              <a:srgbClr val="D8AE3E"/>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F7F2E3"/>
          </a:solidFill>
          <a:ln w="19050">
            <a:solidFill>
              <a:srgbClr val="8A6516"/>
            </a:solidFill>
            <a:prstDash val="solid"/>
          </a:ln>
        </p:spPr>
      </p:sp>
      <p:sp>
        <p:nvSpPr>
          <p:cNvPr id="19" name="Shape 17"/>
          <p:cNvSpPr/>
          <p:nvPr/>
        </p:nvSpPr>
        <p:spPr>
          <a:xfrm>
            <a:off x="6929140" y="2670048"/>
            <a:ext cx="201168" cy="201168"/>
          </a:xfrm>
          <a:prstGeom prst="ellipse">
            <a:avLst/>
          </a:prstGeom>
          <a:solidFill>
            <a:srgbClr val="8A6516"/>
          </a:solidFill>
          <a:ln/>
        </p:spPr>
      </p:sp>
      <p:sp>
        <p:nvSpPr>
          <p:cNvPr id="20" name="Text 18"/>
          <p:cNvSpPr/>
          <p:nvPr/>
        </p:nvSpPr>
        <p:spPr>
          <a:xfrm>
            <a:off x="6197620" y="2926080"/>
            <a:ext cx="1664208" cy="411480"/>
          </a:xfrm>
          <a:prstGeom prst="rect">
            <a:avLst/>
          </a:prstGeom>
          <a:noFill/>
          <a:ln/>
        </p:spPr>
        <p:txBody>
          <a:bodyPr wrap="square" lIns="0" tIns="0" rIns="0" bIns="0" rtlCol="0" anchor="ctr"/>
          <a:lstStyle/>
          <a:p>
            <a:pPr algn="ctr" indent="0" marL="0">
              <a:buNone/>
            </a:pPr>
            <a:r>
              <a:rPr lang="en-US" sz="1450" b="1" dirty="0">
                <a:solidFill>
                  <a:srgbClr val="281F0F"/>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25052" y="3310128"/>
            <a:ext cx="1609344" cy="457200"/>
          </a:xfrm>
          <a:prstGeom prst="rect">
            <a:avLst/>
          </a:prstGeom>
          <a:noFill/>
          <a:ln/>
        </p:spPr>
        <p:txBody>
          <a:bodyPr wrap="square" lIns="0" tIns="0" rIns="0" bIns="0" rtlCol="0" anchor="t"/>
          <a:lstStyle/>
          <a:p>
            <a:pPr algn="ctr" indent="0" marL="0">
              <a:buNone/>
            </a:pPr>
            <a:r>
              <a:rPr lang="en-US" sz="1050" dirty="0">
                <a:solidFill>
                  <a:srgbClr val="6E6144"/>
                </a:solidFill>
                <a:latin typeface="Calibri" pitchFamily="34" charset="0"/>
                <a:ea typeface="Calibri" pitchFamily="34" charset="-122"/>
                <a:cs typeface="Calibri" pitchFamily="34" charset="-120"/>
              </a:rPr>
              <a:t>nodejs20 ingest</a:t>
            </a:r>
            <a:endParaRPr lang="en-US" sz="1050" dirty="0"/>
          </a:p>
        </p:txBody>
      </p:sp>
      <p:sp>
        <p:nvSpPr>
          <p:cNvPr id="22" name="Shape 20"/>
          <p:cNvSpPr/>
          <p:nvPr/>
        </p:nvSpPr>
        <p:spPr>
          <a:xfrm>
            <a:off x="7834396" y="3154680"/>
            <a:ext cx="258409" cy="0"/>
          </a:xfrm>
          <a:prstGeom prst="line">
            <a:avLst/>
          </a:prstGeom>
          <a:noFill/>
          <a:ln w="25400">
            <a:solidFill>
              <a:srgbClr val="D8AE3E"/>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F7F2E3"/>
          </a:solidFill>
          <a:ln w="19050">
            <a:solidFill>
              <a:srgbClr val="8A6516"/>
            </a:solidFill>
            <a:prstDash val="solid"/>
          </a:ln>
        </p:spPr>
      </p:sp>
      <p:sp>
        <p:nvSpPr>
          <p:cNvPr id="24" name="Shape 22"/>
          <p:cNvSpPr/>
          <p:nvPr/>
        </p:nvSpPr>
        <p:spPr>
          <a:xfrm>
            <a:off x="8796894" y="2670048"/>
            <a:ext cx="201168" cy="201168"/>
          </a:xfrm>
          <a:prstGeom prst="ellipse">
            <a:avLst/>
          </a:prstGeom>
          <a:solidFill>
            <a:srgbClr val="8A6516"/>
          </a:solidFill>
          <a:ln/>
        </p:spPr>
      </p:sp>
      <p:sp>
        <p:nvSpPr>
          <p:cNvPr id="25" name="Text 23"/>
          <p:cNvSpPr/>
          <p:nvPr/>
        </p:nvSpPr>
        <p:spPr>
          <a:xfrm>
            <a:off x="8065374" y="2926080"/>
            <a:ext cx="1664208" cy="411480"/>
          </a:xfrm>
          <a:prstGeom prst="rect">
            <a:avLst/>
          </a:prstGeom>
          <a:noFill/>
          <a:ln/>
        </p:spPr>
        <p:txBody>
          <a:bodyPr wrap="square" lIns="0" tIns="0" rIns="0" bIns="0" rtlCol="0" anchor="ctr"/>
          <a:lstStyle/>
          <a:p>
            <a:pPr algn="ctr" indent="0" marL="0">
              <a:buNone/>
            </a:pPr>
            <a:r>
              <a:rPr lang="en-US" sz="1450" b="1" dirty="0">
                <a:solidFill>
                  <a:srgbClr val="281F0F"/>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092806" y="3310128"/>
            <a:ext cx="1609344" cy="457200"/>
          </a:xfrm>
          <a:prstGeom prst="rect">
            <a:avLst/>
          </a:prstGeom>
          <a:noFill/>
          <a:ln/>
        </p:spPr>
        <p:txBody>
          <a:bodyPr wrap="square" lIns="0" tIns="0" rIns="0" bIns="0" rtlCol="0" anchor="t"/>
          <a:lstStyle/>
          <a:p>
            <a:pPr algn="ctr" indent="0" marL="0">
              <a:buNone/>
            </a:pPr>
            <a:r>
              <a:rPr lang="en-US" sz="1050" dirty="0">
                <a:solidFill>
                  <a:srgbClr val="6E6144"/>
                </a:solidFill>
                <a:latin typeface="Calibri" pitchFamily="34" charset="0"/>
                <a:ea typeface="Calibri" pitchFamily="34" charset="-122"/>
                <a:cs typeface="Calibri" pitchFamily="34" charset="-120"/>
              </a:rPr>
              <a:t>time-series store</a:t>
            </a:r>
            <a:endParaRPr lang="en-US" sz="1050" dirty="0"/>
          </a:p>
        </p:txBody>
      </p:sp>
      <p:sp>
        <p:nvSpPr>
          <p:cNvPr id="27" name="Shape 25"/>
          <p:cNvSpPr/>
          <p:nvPr/>
        </p:nvSpPr>
        <p:spPr>
          <a:xfrm>
            <a:off x="9702150" y="3154680"/>
            <a:ext cx="258409" cy="0"/>
          </a:xfrm>
          <a:prstGeom prst="line">
            <a:avLst/>
          </a:prstGeom>
          <a:noFill/>
          <a:ln w="25400">
            <a:solidFill>
              <a:srgbClr val="D8AE3E"/>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F7F2E3"/>
          </a:solidFill>
          <a:ln w="19050">
            <a:solidFill>
              <a:srgbClr val="B98A1E"/>
            </a:solidFill>
            <a:prstDash val="solid"/>
          </a:ln>
        </p:spPr>
      </p:sp>
      <p:sp>
        <p:nvSpPr>
          <p:cNvPr id="29" name="Shape 27"/>
          <p:cNvSpPr/>
          <p:nvPr/>
        </p:nvSpPr>
        <p:spPr>
          <a:xfrm>
            <a:off x="10664647" y="2670048"/>
            <a:ext cx="201168" cy="201168"/>
          </a:xfrm>
          <a:prstGeom prst="ellipse">
            <a:avLst/>
          </a:prstGeom>
          <a:solidFill>
            <a:srgbClr val="B98A1E"/>
          </a:solidFill>
          <a:ln/>
        </p:spPr>
      </p:sp>
      <p:sp>
        <p:nvSpPr>
          <p:cNvPr id="30" name="Text 28"/>
          <p:cNvSpPr/>
          <p:nvPr/>
        </p:nvSpPr>
        <p:spPr>
          <a:xfrm>
            <a:off x="9933127" y="2926080"/>
            <a:ext cx="1664208" cy="411480"/>
          </a:xfrm>
          <a:prstGeom prst="rect">
            <a:avLst/>
          </a:prstGeom>
          <a:noFill/>
          <a:ln/>
        </p:spPr>
        <p:txBody>
          <a:bodyPr wrap="square" lIns="0" tIns="0" rIns="0" bIns="0" rtlCol="0" anchor="ctr"/>
          <a:lstStyle/>
          <a:p>
            <a:pPr algn="ctr" indent="0" marL="0">
              <a:buNone/>
            </a:pPr>
            <a:r>
              <a:rPr lang="en-US" sz="1450" b="1" dirty="0">
                <a:solidFill>
                  <a:srgbClr val="281F0F"/>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60559" y="3310128"/>
            <a:ext cx="1609344" cy="457200"/>
          </a:xfrm>
          <a:prstGeom prst="rect">
            <a:avLst/>
          </a:prstGeom>
          <a:noFill/>
          <a:ln/>
        </p:spPr>
        <p:txBody>
          <a:bodyPr wrap="square" lIns="0" tIns="0" rIns="0" bIns="0" rtlCol="0" anchor="t"/>
          <a:lstStyle/>
          <a:p>
            <a:pPr algn="ctr" indent="0" marL="0">
              <a:buNone/>
            </a:pPr>
            <a:r>
              <a:rPr lang="en-US" sz="1050" dirty="0">
                <a:solidFill>
                  <a:srgbClr val="6E6144"/>
                </a:solidFill>
                <a:latin typeface="Calibri" pitchFamily="34" charset="0"/>
                <a:ea typeface="Calibri" pitchFamily="34" charset="-122"/>
                <a:cs typeface="Calibri" pitchFamily="34" charset="-120"/>
              </a:rPr>
              <a:t>colony verdict cards</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D8AE3E"/>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8A6516"/>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12080"/>
            <a:ext cx="10972800" cy="640080"/>
          </a:xfrm>
          <a:prstGeom prst="rect">
            <a:avLst/>
          </a:prstGeom>
          <a:noFill/>
          <a:ln/>
        </p:spPr>
        <p:txBody>
          <a:bodyPr wrap="square" rtlCol="0" anchor="ctr"/>
          <a:lstStyle/>
          <a:p>
            <a:pPr algn="ctr" indent="0" marL="0">
              <a:buNone/>
            </a:pPr>
            <a:r>
              <a:rPr lang="en-US" sz="1500" i="1" dirty="0">
                <a:solidFill>
                  <a:srgbClr val="8A6516"/>
                </a:solidFill>
                <a:latin typeface="Calibri" pitchFamily="34" charset="0"/>
                <a:ea typeface="Calibri" pitchFamily="34" charset="-122"/>
                <a:cs typeface="Calibri" pitchFamily="34" charset="-120"/>
              </a:rPr>
              <a:t>Colony rules, including the acoustic swarming precursor, fire the moment a 10-second window closes on site; the read tier composes a plain-language verdict.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81F0F"/>
                </a:solidFill>
                <a:latin typeface="Century Schoolbook" pitchFamily="34" charset="0"/>
                <a:ea typeface="Century Schoolbook" pitchFamily="34" charset="-122"/>
                <a:cs typeface="Century Schoolbook"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B98A1E"/>
                </a:solidFill>
                <a:latin typeface="Consolas" pitchFamily="34" charset="0"/>
                <a:ea typeface="Consolas" pitchFamily="34" charset="-122"/>
                <a:cs typeface="Consolas" pitchFamily="34" charset="-120"/>
              </a:rPr>
              <a:t>bam-frontend-881865707591.s3.us-east-1.amazonaws.com</a:t>
            </a:r>
            <a:endParaRPr lang="en-US" sz="1400" dirty="0"/>
          </a:p>
        </p:txBody>
      </p:sp>
      <p:sp>
        <p:nvSpPr>
          <p:cNvPr id="4" name="Shape 2"/>
          <p:cNvSpPr/>
          <p:nvPr/>
        </p:nvSpPr>
        <p:spPr>
          <a:xfrm>
            <a:off x="731520" y="1965960"/>
            <a:ext cx="685800" cy="685800"/>
          </a:xfrm>
          <a:prstGeom prst="ellipse">
            <a:avLst/>
          </a:prstGeom>
          <a:solidFill>
            <a:srgbClr val="8A6516"/>
          </a:solidFill>
          <a:ln/>
        </p:spPr>
      </p:sp>
      <p:sp>
        <p:nvSpPr>
          <p:cNvPr id="5" name="Text 3"/>
          <p:cNvSpPr/>
          <p:nvPr/>
        </p:nvSpPr>
        <p:spPr>
          <a:xfrm>
            <a:off x="731520" y="196596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entury Schoolbook" pitchFamily="34" charset="0"/>
                <a:ea typeface="Century Schoolbook" pitchFamily="34" charset="-122"/>
                <a:cs typeface="Century Schoolbook" pitchFamily="34" charset="-120"/>
              </a:rPr>
              <a:t>1</a:t>
            </a:r>
            <a:endParaRPr lang="en-US" sz="2600" dirty="0"/>
          </a:p>
        </p:txBody>
      </p:sp>
      <p:sp>
        <p:nvSpPr>
          <p:cNvPr id="6" name="Text 4"/>
          <p:cNvSpPr/>
          <p:nvPr/>
        </p:nvSpPr>
        <p:spPr>
          <a:xfrm>
            <a:off x="1691640" y="1920240"/>
            <a:ext cx="9875520" cy="411480"/>
          </a:xfrm>
          <a:prstGeom prst="rect">
            <a:avLst/>
          </a:prstGeom>
          <a:noFill/>
          <a:ln/>
        </p:spPr>
        <p:txBody>
          <a:bodyPr wrap="square" lIns="0" tIns="0" rIns="0" bIns="0" rtlCol="0" anchor="ctr"/>
          <a:lstStyle/>
          <a:p>
            <a:pPr indent="0" marL="0">
              <a:buNone/>
            </a:pPr>
            <a:r>
              <a:rPr lang="en-US" sz="1800" b="1" dirty="0">
                <a:solidFill>
                  <a:srgbClr val="281F0F"/>
                </a:solidFill>
                <a:latin typeface="Calibri" pitchFamily="34" charset="0"/>
                <a:ea typeface="Calibri" pitchFamily="34" charset="-122"/>
                <a:cs typeface="Calibri" pitchFamily="34" charset="-120"/>
              </a:rPr>
              <a:t>Pipeline health, all green</a:t>
            </a:r>
            <a:endParaRPr lang="en-US" sz="1800" dirty="0"/>
          </a:p>
        </p:txBody>
      </p:sp>
      <p:sp>
        <p:nvSpPr>
          <p:cNvPr id="7" name="Text 5"/>
          <p:cNvSpPr/>
          <p:nvPr/>
        </p:nvSpPr>
        <p:spPr>
          <a:xfrm>
            <a:off x="1691640" y="2340864"/>
            <a:ext cx="9875520" cy="640080"/>
          </a:xfrm>
          <a:prstGeom prst="rect">
            <a:avLst/>
          </a:prstGeom>
          <a:noFill/>
          <a:ln/>
        </p:spPr>
        <p:txBody>
          <a:bodyPr wrap="square" lIns="0" tIns="0" rIns="0" bIns="0" rtlCol="0" anchor="ctr"/>
          <a:lstStyle/>
          <a:p>
            <a:pPr indent="0" marL="0">
              <a:buNone/>
            </a:pPr>
            <a:r>
              <a:rPr lang="en-US" sz="1350" dirty="0">
                <a:solidFill>
                  <a:srgbClr val="6E6144"/>
                </a:solidFill>
                <a:latin typeface="Calibri" pitchFamily="34" charset="0"/>
                <a:ea typeface="Calibri" pitchFamily="34" charset="-122"/>
                <a:cs typeface="Calibri" pitchFamily="34" charset="-120"/>
              </a:rPr>
              <a:t>Gateway, queue, Lambda and the end-to-end pipeline all green.</a:t>
            </a:r>
            <a:endParaRPr lang="en-US" sz="1350" dirty="0"/>
          </a:p>
        </p:txBody>
      </p:sp>
      <p:sp>
        <p:nvSpPr>
          <p:cNvPr id="8" name="Shape 6"/>
          <p:cNvSpPr/>
          <p:nvPr/>
        </p:nvSpPr>
        <p:spPr>
          <a:xfrm>
            <a:off x="731520" y="3383280"/>
            <a:ext cx="685800" cy="685800"/>
          </a:xfrm>
          <a:prstGeom prst="ellipse">
            <a:avLst/>
          </a:prstGeom>
          <a:solidFill>
            <a:srgbClr val="8A6516"/>
          </a:solidFill>
          <a:ln/>
        </p:spPr>
      </p:sp>
      <p:sp>
        <p:nvSpPr>
          <p:cNvPr id="9" name="Text 7"/>
          <p:cNvSpPr/>
          <p:nvPr/>
        </p:nvSpPr>
        <p:spPr>
          <a:xfrm>
            <a:off x="731520" y="338328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entury Schoolbook" pitchFamily="34" charset="0"/>
                <a:ea typeface="Century Schoolbook" pitchFamily="34" charset="-122"/>
                <a:cs typeface="Century Schoolbook" pitchFamily="34" charset="-120"/>
              </a:rPr>
              <a:t>2</a:t>
            </a:r>
            <a:endParaRPr lang="en-US" sz="2600" dirty="0"/>
          </a:p>
        </p:txBody>
      </p:sp>
      <p:sp>
        <p:nvSpPr>
          <p:cNvPr id="10" name="Text 8"/>
          <p:cNvSpPr/>
          <p:nvPr/>
        </p:nvSpPr>
        <p:spPr>
          <a:xfrm>
            <a:off x="1691640" y="3337560"/>
            <a:ext cx="9875520" cy="411480"/>
          </a:xfrm>
          <a:prstGeom prst="rect">
            <a:avLst/>
          </a:prstGeom>
          <a:noFill/>
          <a:ln/>
        </p:spPr>
        <p:txBody>
          <a:bodyPr wrap="square" lIns="0" tIns="0" rIns="0" bIns="0" rtlCol="0" anchor="ctr"/>
          <a:lstStyle/>
          <a:p>
            <a:pPr indent="0" marL="0">
              <a:buNone/>
            </a:pPr>
            <a:r>
              <a:rPr lang="en-US" sz="1800" b="1" dirty="0">
                <a:solidFill>
                  <a:srgbClr val="281F0F"/>
                </a:solidFill>
                <a:latin typeface="Calibri" pitchFamily="34" charset="0"/>
                <a:ea typeface="Calibri" pitchFamily="34" charset="-122"/>
                <a:cs typeface="Calibri" pitchFamily="34" charset="-120"/>
              </a:rPr>
              <a:t>Live colony verdicts</a:t>
            </a:r>
            <a:endParaRPr lang="en-US" sz="1800" dirty="0"/>
          </a:p>
        </p:txBody>
      </p:sp>
      <p:sp>
        <p:nvSpPr>
          <p:cNvPr id="11" name="Text 9"/>
          <p:cNvSpPr/>
          <p:nvPr/>
        </p:nvSpPr>
        <p:spPr>
          <a:xfrm>
            <a:off x="1691640" y="3758184"/>
            <a:ext cx="9875520" cy="640080"/>
          </a:xfrm>
          <a:prstGeom prst="rect">
            <a:avLst/>
          </a:prstGeom>
          <a:noFill/>
          <a:ln/>
        </p:spPr>
        <p:txBody>
          <a:bodyPr wrap="square" lIns="0" tIns="0" rIns="0" bIns="0" rtlCol="0" anchor="ctr"/>
          <a:lstStyle/>
          <a:p>
            <a:pPr indent="0" marL="0">
              <a:buNone/>
            </a:pPr>
            <a:r>
              <a:rPr lang="en-US" sz="1350" dirty="0">
                <a:solidFill>
                  <a:srgbClr val="6E6144"/>
                </a:solidFill>
                <a:latin typeface="Calibri" pitchFamily="34" charset="0"/>
                <a:ea typeface="Calibri" pitchFamily="34" charset="-122"/>
                <a:cs typeface="Calibri" pitchFamily="34" charset="-120"/>
              </a:rPr>
              <a:t>A colony-health card per apiary with a plain-language verdict and five readings; the alert banner names two firing brood-overheat conditions.</a:t>
            </a:r>
            <a:endParaRPr lang="en-US" sz="1350" dirty="0"/>
          </a:p>
        </p:txBody>
      </p:sp>
      <p:sp>
        <p:nvSpPr>
          <p:cNvPr id="12" name="Shape 10"/>
          <p:cNvSpPr/>
          <p:nvPr/>
        </p:nvSpPr>
        <p:spPr>
          <a:xfrm>
            <a:off x="731520" y="4800600"/>
            <a:ext cx="685800" cy="685800"/>
          </a:xfrm>
          <a:prstGeom prst="ellipse">
            <a:avLst/>
          </a:prstGeom>
          <a:solidFill>
            <a:srgbClr val="8A6516"/>
          </a:solidFill>
          <a:ln/>
        </p:spPr>
      </p:sp>
      <p:sp>
        <p:nvSpPr>
          <p:cNvPr id="13" name="Text 11"/>
          <p:cNvSpPr/>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entury Schoolbook" pitchFamily="34" charset="0"/>
                <a:ea typeface="Century Schoolbook" pitchFamily="34" charset="-122"/>
                <a:cs typeface="Century Schoolbook" pitchFamily="34" charset="-120"/>
              </a:rPr>
              <a:t>3</a:t>
            </a:r>
            <a:endParaRPr lang="en-US" sz="2600" dirty="0"/>
          </a:p>
        </p:txBody>
      </p:sp>
      <p:sp>
        <p:nvSpPr>
          <p:cNvPr id="14" name="Text 12"/>
          <p:cNvSpPr/>
          <p:nvPr/>
        </p:nvSpPr>
        <p:spPr>
          <a:xfrm>
            <a:off x="1691640" y="4754880"/>
            <a:ext cx="9875520" cy="411480"/>
          </a:xfrm>
          <a:prstGeom prst="rect">
            <a:avLst/>
          </a:prstGeom>
          <a:noFill/>
          <a:ln/>
        </p:spPr>
        <p:txBody>
          <a:bodyPr wrap="square" lIns="0" tIns="0" rIns="0" bIns="0" rtlCol="0" anchor="ctr"/>
          <a:lstStyle/>
          <a:p>
            <a:pPr indent="0" marL="0">
              <a:buNone/>
            </a:pPr>
            <a:r>
              <a:rPr lang="en-US" sz="1800" b="1" dirty="0">
                <a:solidFill>
                  <a:srgbClr val="281F0F"/>
                </a:solidFill>
                <a:latin typeface="Calibri" pitchFamily="34" charset="0"/>
                <a:ea typeface="Calibri" pitchFamily="34" charset="-122"/>
                <a:cs typeface="Calibri" pitchFamily="34" charset="-120"/>
              </a:rPr>
              <a:t>Tested end to end</a:t>
            </a:r>
            <a:endParaRPr lang="en-US" sz="1800" dirty="0"/>
          </a:p>
        </p:txBody>
      </p:sp>
      <p:sp>
        <p:nvSpPr>
          <p:cNvPr id="15" name="Text 13"/>
          <p:cNvSpPr/>
          <p:nvPr/>
        </p:nvSpPr>
        <p:spPr>
          <a:xfrm>
            <a:off x="1691640" y="5175504"/>
            <a:ext cx="9875520" cy="640080"/>
          </a:xfrm>
          <a:prstGeom prst="rect">
            <a:avLst/>
          </a:prstGeom>
          <a:noFill/>
          <a:ln/>
        </p:spPr>
        <p:txBody>
          <a:bodyPr wrap="square" lIns="0" tIns="0" rIns="0" bIns="0" rtlCol="0" anchor="ctr"/>
          <a:lstStyle/>
          <a:p>
            <a:pPr indent="0" marL="0">
              <a:buNone/>
            </a:pPr>
            <a:r>
              <a:rPr lang="en-US" sz="1350" dirty="0">
                <a:solidFill>
                  <a:srgbClr val="6E6144"/>
                </a:solidFill>
                <a:latin typeface="Calibri" pitchFamily="34" charset="0"/>
                <a:ea typeface="Calibri" pitchFamily="34" charset="-122"/>
                <a:cs typeface="Calibri" pitchFamily="34" charset="-120"/>
              </a:rPr>
              <a:t>138 automated tests pass across sensors, fog, processor and dashboard.</a:t>
            </a:r>
            <a:endParaRPr lang="en-US" sz="1350" dirty="0"/>
          </a:p>
        </p:txBody>
      </p:sp>
      <p:sp>
        <p:nvSpPr>
          <p:cNvPr id="16" name="Text 14"/>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D8AE3E"/>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A2110"/>
        </a:solidFill>
      </p:bgPr>
    </p:bg>
    <p:spTree>
      <p:nvGrpSpPr>
        <p:cNvPr id="1" name=""/>
        <p:cNvGrpSpPr/>
        <p:nvPr/>
      </p:nvGrpSpPr>
      <p:grpSpPr>
        <a:xfrm>
          <a:off x="0" y="0"/>
          <a:ext cx="0" cy="0"/>
          <a:chOff x="0" y="0"/>
          <a:chExt cx="0" cy="0"/>
        </a:xfrm>
      </p:grpSpPr>
      <p:sp>
        <p:nvSpPr>
          <p:cNvPr id="2" name="Text 0"/>
          <p:cNvSpPr/>
          <p:nvPr/>
        </p:nvSpPr>
        <p:spPr>
          <a:xfrm>
            <a:off x="640080" y="640080"/>
            <a:ext cx="10972800" cy="640080"/>
          </a:xfrm>
          <a:prstGeom prst="rect">
            <a:avLst/>
          </a:prstGeom>
          <a:noFill/>
          <a:ln/>
        </p:spPr>
        <p:txBody>
          <a:bodyPr wrap="square" rtlCol="0" anchor="ctr"/>
          <a:lstStyle/>
          <a:p>
            <a:pPr indent="0" marL="0">
              <a:buNone/>
            </a:pPr>
            <a:r>
              <a:rPr lang="en-US" sz="3000" b="1" dirty="0">
                <a:solidFill>
                  <a:srgbClr val="FFFFFF"/>
                </a:solidFill>
                <a:latin typeface="Century Schoolbook" pitchFamily="34" charset="0"/>
                <a:ea typeface="Century Schoolbook" pitchFamily="34" charset="-122"/>
                <a:cs typeface="Century Schoolbook" pitchFamily="34" charset="-120"/>
              </a:rPr>
              <a:t>Hardest Part — a verdict, not a jittery number</a:t>
            </a:r>
            <a:endParaRPr lang="en-US" sz="3000" dirty="0"/>
          </a:p>
        </p:txBody>
      </p:sp>
      <p:sp>
        <p:nvSpPr>
          <p:cNvPr id="3" name="Shape 1"/>
          <p:cNvSpPr/>
          <p:nvPr/>
        </p:nvSpPr>
        <p:spPr>
          <a:xfrm>
            <a:off x="731520" y="1920240"/>
            <a:ext cx="10698480" cy="1965960"/>
          </a:xfrm>
          <a:prstGeom prst="roundRect">
            <a:avLst>
              <a:gd name="adj" fmla="val 4651"/>
            </a:avLst>
          </a:prstGeom>
          <a:solidFill>
            <a:srgbClr val="3A2E16"/>
          </a:solidFill>
          <a:ln w="15875">
            <a:solidFill>
              <a:srgbClr val="E7C24A"/>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E7C24A"/>
                </a:solidFill>
                <a:latin typeface="Century Schoolbook" pitchFamily="34" charset="0"/>
                <a:ea typeface="Century Schoolbook" pitchFamily="34" charset="-122"/>
                <a:cs typeface="Century Schoolbook"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EBDCB6"/>
                </a:solidFill>
                <a:latin typeface="Calibri" pitchFamily="34" charset="0"/>
                <a:ea typeface="Calibri" pitchFamily="34" charset="-122"/>
                <a:cs typeface="Calibri" pitchFamily="34" charset="-120"/>
              </a:rPr>
              <a:t>A beekeeper does not want five live graphs per hive; the useful answer is whether a colony is thriving, stressed, or about to swarm. But a single 10-second window is noisy — bees are loud and entrance traffic spikes — so a naive per-reading rule cries wolf, and one reading cannot tell a rising trend from a blip.</a:t>
            </a:r>
            <a:endParaRPr lang="en-US" sz="1300" dirty="0"/>
          </a:p>
        </p:txBody>
      </p:sp>
      <p:sp>
        <p:nvSpPr>
          <p:cNvPr id="6" name="Shape 4"/>
          <p:cNvSpPr/>
          <p:nvPr/>
        </p:nvSpPr>
        <p:spPr>
          <a:xfrm>
            <a:off x="731520" y="4041648"/>
            <a:ext cx="10698480" cy="1965960"/>
          </a:xfrm>
          <a:prstGeom prst="roundRect">
            <a:avLst>
              <a:gd name="adj" fmla="val 4651"/>
            </a:avLst>
          </a:prstGeom>
          <a:solidFill>
            <a:srgbClr val="3A2E16"/>
          </a:solidFill>
          <a:ln w="15875">
            <a:solidFill>
              <a:srgbClr val="D8AE3E"/>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D8AE3E"/>
                </a:solidFill>
                <a:latin typeface="Century Schoolbook" pitchFamily="34" charset="0"/>
                <a:ea typeface="Century Schoolbook" pitchFamily="34" charset="-122"/>
                <a:cs typeface="Century Schoolbook"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EBDCB6"/>
                </a:solidFill>
                <a:latin typeface="Calibri" pitchFamily="34" charset="0"/>
                <a:ea typeface="Calibri" pitchFamily="34" charset="-122"/>
                <a:cs typeface="Calibri" pitchFamily="34" charset="-120"/>
              </a:rPr>
              <a:t>Rules score the window mean or minimum, never a single sample; then the read tier reads a short history of recent windows and reduces it to a weight trend and a brood-thermal state, composed into one sentence per apiary. The judgement lives in the read tier, where that history is already at hand, so the dashboard says "weight rising, brood temperature has breached a safe threshold" rather than showing a number to interpret.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2026-07-24T06:34:26Z</dcterms:created>
  <dcterms:modified xsi:type="dcterms:W3CDTF">2026-07-24T06:34:26Z</dcterms:modified>
</cp:coreProperties>
</file>