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Lst>
  <p:notesMasterIdLst>
    <p:notesMasterId r:id="rId6"/>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4E8CE"/>
        </a:solidFill>
      </p:bgPr>
    </p:bg>
    <p:spTree>
      <p:nvGrpSpPr>
        <p:cNvPr id="1" name=""/>
        <p:cNvGrpSpPr/>
        <p:nvPr/>
      </p:nvGrpSpPr>
      <p:grpSpPr>
        <a:xfrm>
          <a:off x="0" y="0"/>
          <a:ext cx="0" cy="0"/>
          <a:chOff x="0" y="0"/>
          <a:chExt cx="0" cy="0"/>
        </a:xfrm>
      </p:grpSpPr>
      <p:sp>
        <p:nvSpPr>
          <p:cNvPr id="2" name="Shape 0"/>
          <p:cNvSpPr/>
          <p:nvPr/>
        </p:nvSpPr>
        <p:spPr>
          <a:xfrm>
            <a:off x="457200" y="457200"/>
            <a:ext cx="274320" cy="274320"/>
          </a:xfrm>
          <a:prstGeom prst="rect">
            <a:avLst/>
          </a:prstGeom>
          <a:solidFill>
            <a:srgbClr val="A35A12"/>
          </a:solidFill>
          <a:ln/>
        </p:spPr>
      </p:sp>
      <p:sp>
        <p:nvSpPr>
          <p:cNvPr id="3" name="Shape 1"/>
          <p:cNvSpPr/>
          <p:nvPr/>
        </p:nvSpPr>
        <p:spPr>
          <a:xfrm>
            <a:off x="11460175" y="6126480"/>
            <a:ext cx="274320" cy="274320"/>
          </a:xfrm>
          <a:prstGeom prst="rect">
            <a:avLst/>
          </a:prstGeom>
          <a:solidFill>
            <a:srgbClr val="A35A12"/>
          </a:solidFill>
          <a:ln/>
        </p:spPr>
      </p:sp>
      <p:sp>
        <p:nvSpPr>
          <p:cNvPr id="4" name="Text 2"/>
          <p:cNvSpPr/>
          <p:nvPr/>
        </p:nvSpPr>
        <p:spPr>
          <a:xfrm>
            <a:off x="758952" y="1645920"/>
            <a:ext cx="10637215" cy="1645920"/>
          </a:xfrm>
          <a:prstGeom prst="rect">
            <a:avLst/>
          </a:prstGeom>
          <a:noFill/>
          <a:ln/>
        </p:spPr>
        <p:txBody>
          <a:bodyPr wrap="square" rtlCol="0" anchor="t"/>
          <a:lstStyle/>
          <a:p>
            <a:pPr indent="0" marL="0">
              <a:lnSpc>
                <a:spcPct val="98000"/>
              </a:lnSpc>
              <a:buNone/>
            </a:pPr>
            <a:r>
              <a:rPr lang="en-US" sz="3800" b="1" dirty="0">
                <a:solidFill>
                  <a:srgbClr val="3B2712"/>
                </a:solidFill>
                <a:latin typeface="Century Gothic" pitchFamily="34" charset="0"/>
                <a:ea typeface="Century Gothic" pitchFamily="34" charset="-122"/>
                <a:cs typeface="Century Gothic" pitchFamily="34" charset="-120"/>
              </a:rPr>
              <a:t>Beehive &amp; Apiary Health Monitoring</a:t>
            </a:r>
            <a:endParaRPr lang="en-US" sz="3800" dirty="0"/>
          </a:p>
        </p:txBody>
      </p:sp>
      <p:sp>
        <p:nvSpPr>
          <p:cNvPr id="5" name="Text 3"/>
          <p:cNvSpPr/>
          <p:nvPr/>
        </p:nvSpPr>
        <p:spPr>
          <a:xfrm>
            <a:off x="777240" y="3337560"/>
            <a:ext cx="10637215" cy="365760"/>
          </a:xfrm>
          <a:prstGeom prst="rect">
            <a:avLst/>
          </a:prstGeom>
          <a:noFill/>
          <a:ln/>
        </p:spPr>
        <p:txBody>
          <a:bodyPr wrap="square" rtlCol="0" anchor="ctr"/>
          <a:lstStyle/>
          <a:p>
            <a:pPr indent="0" marL="0">
              <a:buNone/>
            </a:pPr>
            <a:r>
              <a:rPr lang="en-US" sz="1450" dirty="0">
                <a:solidFill>
                  <a:srgbClr val="5F6B74"/>
                </a:solidFill>
                <a:latin typeface="Calibri" pitchFamily="34" charset="0"/>
                <a:ea typeface="Calibri" pitchFamily="34" charset="-122"/>
                <a:cs typeface="Calibri" pitchFamily="34" charset="-120"/>
              </a:rPr>
              <a:t>Yashaswini Penumarthi   ·   X24262404</a:t>
            </a:r>
            <a:endParaRPr lang="en-US" sz="1450" dirty="0"/>
          </a:p>
        </p:txBody>
      </p:sp>
      <p:sp>
        <p:nvSpPr>
          <p:cNvPr id="6" name="Text 4"/>
          <p:cNvSpPr/>
          <p:nvPr/>
        </p:nvSpPr>
        <p:spPr>
          <a:xfrm>
            <a:off x="777240" y="3931920"/>
            <a:ext cx="8138160" cy="1325880"/>
          </a:xfrm>
          <a:prstGeom prst="rect">
            <a:avLst/>
          </a:prstGeom>
          <a:noFill/>
          <a:ln/>
        </p:spPr>
        <p:txBody>
          <a:bodyPr wrap="square" rtlCol="0" anchor="t"/>
          <a:lstStyle/>
          <a:p>
            <a:pPr indent="0" marL="0">
              <a:lnSpc>
                <a:spcPct val="130000"/>
              </a:lnSpc>
              <a:buNone/>
            </a:pPr>
            <a:r>
              <a:rPr lang="en-US" sz="1400" dirty="0">
                <a:solidFill>
                  <a:srgbClr val="3B2712"/>
                </a:solidFill>
                <a:latin typeface="Calibri" pitchFamily="34" charset="0"/>
                <a:ea typeface="Calibri" pitchFamily="34" charset="-122"/>
                <a:cs typeface="Calibri" pitchFamily="34" charset="-120"/>
              </a:rPr>
              <a:t>A colony can slide into starvation, chilled brood or the run-up to a swarm within days — yet opening a hive is disruptive, so it is done only every week or two.</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E8CE"/>
        </a:solidFill>
      </p:bgPr>
    </p:bg>
    <p:spTree>
      <p:nvGrpSpPr>
        <p:cNvPr id="1" name=""/>
        <p:cNvGrpSpPr/>
        <p:nvPr/>
      </p:nvGrpSpPr>
      <p:grpSpPr>
        <a:xfrm>
          <a:off x="0" y="0"/>
          <a:ext cx="0" cy="0"/>
          <a:chOff x="0" y="0"/>
          <a:chExt cx="0" cy="0"/>
        </a:xfrm>
      </p:grpSpPr>
      <p:sp>
        <p:nvSpPr>
          <p:cNvPr id="2" name="Shape 0"/>
          <p:cNvSpPr/>
          <p:nvPr/>
        </p:nvSpPr>
        <p:spPr>
          <a:xfrm>
            <a:off x="457200" y="457200"/>
            <a:ext cx="274320" cy="274320"/>
          </a:xfrm>
          <a:prstGeom prst="rect">
            <a:avLst/>
          </a:prstGeom>
          <a:solidFill>
            <a:srgbClr val="A35A12"/>
          </a:solidFill>
          <a:ln/>
        </p:spPr>
      </p:sp>
      <p:sp>
        <p:nvSpPr>
          <p:cNvPr id="3" name="Shape 1"/>
          <p:cNvSpPr/>
          <p:nvPr/>
        </p:nvSpPr>
        <p:spPr>
          <a:xfrm>
            <a:off x="11460175" y="6126480"/>
            <a:ext cx="274320" cy="274320"/>
          </a:xfrm>
          <a:prstGeom prst="rect">
            <a:avLst/>
          </a:prstGeom>
          <a:solidFill>
            <a:srgbClr val="A35A12"/>
          </a:solidFill>
          <a:ln/>
        </p:spPr>
      </p:sp>
      <p:sp>
        <p:nvSpPr>
          <p:cNvPr id="4" name="Text 2"/>
          <p:cNvSpPr/>
          <p:nvPr/>
        </p:nvSpPr>
        <p:spPr>
          <a:xfrm>
            <a:off x="777240" y="731520"/>
            <a:ext cx="914400" cy="640080"/>
          </a:xfrm>
          <a:prstGeom prst="rect">
            <a:avLst/>
          </a:prstGeom>
          <a:noFill/>
          <a:ln/>
        </p:spPr>
        <p:txBody>
          <a:bodyPr wrap="square" lIns="0" tIns="0" rIns="0" bIns="0" rtlCol="0" anchor="ctr"/>
          <a:lstStyle/>
          <a:p>
            <a:pPr indent="0" marL="0">
              <a:buNone/>
            </a:pPr>
            <a:r>
              <a:rPr lang="en-US" sz="3000" b="1" dirty="0">
                <a:solidFill>
                  <a:srgbClr val="A35A12"/>
                </a:solidFill>
                <a:latin typeface="Century Gothic" pitchFamily="34" charset="0"/>
                <a:ea typeface="Century Gothic" pitchFamily="34" charset="-122"/>
                <a:cs typeface="Century Gothic" pitchFamily="34" charset="-120"/>
              </a:rPr>
              <a:t>01</a:t>
            </a:r>
            <a:endParaRPr lang="en-US" sz="3000" dirty="0"/>
          </a:p>
        </p:txBody>
      </p:sp>
      <p:sp>
        <p:nvSpPr>
          <p:cNvPr id="5" name="Text 3"/>
          <p:cNvSpPr/>
          <p:nvPr/>
        </p:nvSpPr>
        <p:spPr>
          <a:xfrm>
            <a:off x="1645920" y="905256"/>
            <a:ext cx="9768535" cy="274320"/>
          </a:xfrm>
          <a:prstGeom prst="rect">
            <a:avLst/>
          </a:prstGeom>
          <a:noFill/>
          <a:ln/>
        </p:spPr>
        <p:txBody>
          <a:bodyPr wrap="square" lIns="0" tIns="0" rIns="0" bIns="0" rtlCol="0" anchor="ctr"/>
          <a:lstStyle/>
          <a:p>
            <a:pPr indent="0" marL="0">
              <a:buNone/>
            </a:pPr>
            <a:r>
              <a:rPr lang="en-US" sz="1100" b="1" spc="200" kern="0" dirty="0">
                <a:solidFill>
                  <a:srgbClr val="5F6B74"/>
                </a:solidFill>
                <a:latin typeface="Calibri" pitchFamily="34" charset="0"/>
                <a:ea typeface="Calibri" pitchFamily="34" charset="-122"/>
                <a:cs typeface="Calibri" pitchFamily="34" charset="-120"/>
              </a:rPr>
              <a:t>ARCHITECTURE</a:t>
            </a:r>
            <a:endParaRPr lang="en-US" sz="1100" dirty="0"/>
          </a:p>
        </p:txBody>
      </p:sp>
      <p:sp>
        <p:nvSpPr>
          <p:cNvPr id="6" name="Text 4"/>
          <p:cNvSpPr/>
          <p:nvPr/>
        </p:nvSpPr>
        <p:spPr>
          <a:xfrm>
            <a:off x="777240" y="1380744"/>
            <a:ext cx="10637215" cy="640080"/>
          </a:xfrm>
          <a:prstGeom prst="rect">
            <a:avLst/>
          </a:prstGeom>
          <a:noFill/>
          <a:ln/>
        </p:spPr>
        <p:txBody>
          <a:bodyPr wrap="square" lIns="0" tIns="0" rIns="0" bIns="0" rtlCol="0" anchor="ctr"/>
          <a:lstStyle/>
          <a:p>
            <a:pPr indent="0" marL="0">
              <a:buNone/>
            </a:pPr>
            <a:r>
              <a:rPr lang="en-US" sz="2300" b="1" dirty="0">
                <a:solidFill>
                  <a:srgbClr val="3B2712"/>
                </a:solidFill>
                <a:latin typeface="Century Gothic" pitchFamily="34" charset="0"/>
                <a:ea typeface="Century Gothic" pitchFamily="34" charset="-122"/>
                <a:cs typeface="Century Gothic" pitchFamily="34" charset="-120"/>
              </a:rPr>
              <a:t>What I Built — Hive to Dashboard</a:t>
            </a:r>
            <a:endParaRPr lang="en-US" sz="2300" dirty="0"/>
          </a:p>
        </p:txBody>
      </p:sp>
      <p:sp>
        <p:nvSpPr>
          <p:cNvPr id="7" name="Shape 5"/>
          <p:cNvSpPr/>
          <p:nvPr/>
        </p:nvSpPr>
        <p:spPr>
          <a:xfrm>
            <a:off x="777240" y="2971800"/>
            <a:ext cx="1391869" cy="1965960"/>
          </a:xfrm>
          <a:prstGeom prst="roundRect">
            <a:avLst>
              <a:gd name="adj" fmla="val 2628"/>
            </a:avLst>
          </a:prstGeom>
          <a:solidFill>
            <a:srgbClr val="A35A12"/>
          </a:solidFill>
          <a:ln w="12700">
            <a:solidFill>
              <a:srgbClr val="A35A12"/>
            </a:solidFill>
            <a:prstDash val="solid"/>
          </a:ln>
        </p:spPr>
      </p:sp>
      <p:sp>
        <p:nvSpPr>
          <p:cNvPr id="8" name="Text 6"/>
          <p:cNvSpPr/>
          <p:nvPr/>
        </p:nvSpPr>
        <p:spPr>
          <a:xfrm>
            <a:off x="923544" y="3154680"/>
            <a:ext cx="1099261" cy="320040"/>
          </a:xfrm>
          <a:prstGeom prst="rect">
            <a:avLst/>
          </a:prstGeom>
          <a:noFill/>
          <a:ln/>
        </p:spPr>
        <p:txBody>
          <a:bodyPr wrap="square" lIns="0" tIns="0" rIns="0" bIns="0" rtlCol="0" anchor="ctr"/>
          <a:lstStyle/>
          <a:p>
            <a:pPr indent="0" marL="0">
              <a:buNone/>
            </a:pPr>
            <a:r>
              <a:rPr lang="en-US" sz="1100" dirty="0">
                <a:solidFill>
                  <a:srgbClr val="FFFFFF"/>
                </a:solidFill>
                <a:latin typeface="Consolas" pitchFamily="34" charset="0"/>
                <a:ea typeface="Consolas" pitchFamily="34" charset="-122"/>
                <a:cs typeface="Consolas" pitchFamily="34" charset="-120"/>
              </a:rPr>
              <a:t>01</a:t>
            </a:r>
            <a:endParaRPr lang="en-US" sz="1100" dirty="0"/>
          </a:p>
        </p:txBody>
      </p:sp>
      <p:sp>
        <p:nvSpPr>
          <p:cNvPr id="9" name="Text 7"/>
          <p:cNvSpPr/>
          <p:nvPr/>
        </p:nvSpPr>
        <p:spPr>
          <a:xfrm>
            <a:off x="923544" y="3593592"/>
            <a:ext cx="1099261" cy="868680"/>
          </a:xfrm>
          <a:prstGeom prst="rect">
            <a:avLst/>
          </a:prstGeom>
          <a:noFill/>
          <a:ln/>
        </p:spPr>
        <p:txBody>
          <a:bodyPr wrap="square" lIns="0" tIns="0" rIns="0" bIns="0" rtlCol="0" anchor="t"/>
          <a:lstStyle/>
          <a:p>
            <a:pPr indent="0" marL="0">
              <a:lnSpc>
                <a:spcPct val="96000"/>
              </a:lnSpc>
              <a:buNone/>
            </a:pPr>
            <a:r>
              <a:rPr lang="en-US" sz="1300" b="1" dirty="0">
                <a:solidFill>
                  <a:srgbClr val="FFFFFF"/>
                </a:solidFill>
                <a:latin typeface="Century Gothic" pitchFamily="34" charset="0"/>
                <a:ea typeface="Century Gothic" pitchFamily="34" charset="-122"/>
                <a:cs typeface="Century Gothic" pitchFamily="34" charset="-120"/>
              </a:rPr>
              <a:t>Hive sensors</a:t>
            </a:r>
            <a:endParaRPr lang="en-US" sz="1300" dirty="0"/>
          </a:p>
        </p:txBody>
      </p:sp>
      <p:sp>
        <p:nvSpPr>
          <p:cNvPr id="10" name="Text 8"/>
          <p:cNvSpPr/>
          <p:nvPr/>
        </p:nvSpPr>
        <p:spPr>
          <a:xfrm>
            <a:off x="923544" y="4453128"/>
            <a:ext cx="1099261" cy="365760"/>
          </a:xfrm>
          <a:prstGeom prst="rect">
            <a:avLst/>
          </a:prstGeom>
          <a:noFill/>
          <a:ln/>
        </p:spPr>
        <p:txBody>
          <a:bodyPr wrap="square" lIns="0" tIns="0" rIns="0" bIns="0" rtlCol="0" anchor="ctr"/>
          <a:lstStyle/>
          <a:p>
            <a:pPr indent="0" marL="0">
              <a:buNone/>
            </a:pPr>
            <a:r>
              <a:rPr lang="en-US" sz="900" dirty="0">
                <a:solidFill>
                  <a:srgbClr val="FFFFFF"/>
                </a:solidFill>
                <a:latin typeface="Calibri" pitchFamily="34" charset="0"/>
                <a:ea typeface="Calibri" pitchFamily="34" charset="-122"/>
                <a:cs typeface="Calibri" pitchFamily="34" charset="-120"/>
              </a:rPr>
              <a:t>10 · 2 apiaries</a:t>
            </a:r>
            <a:endParaRPr lang="en-US" sz="900" dirty="0"/>
          </a:p>
        </p:txBody>
      </p:sp>
      <p:sp>
        <p:nvSpPr>
          <p:cNvPr id="11" name="Shape 9"/>
          <p:cNvSpPr/>
          <p:nvPr/>
        </p:nvSpPr>
        <p:spPr>
          <a:xfrm>
            <a:off x="2242261" y="3845052"/>
            <a:ext cx="310896" cy="219456"/>
          </a:xfrm>
          <a:prstGeom prst="rightArrow">
            <a:avLst/>
          </a:prstGeom>
          <a:solidFill>
            <a:srgbClr val="5F6B74"/>
          </a:solidFill>
          <a:ln/>
        </p:spPr>
      </p:sp>
      <p:sp>
        <p:nvSpPr>
          <p:cNvPr id="12" name="Shape 10"/>
          <p:cNvSpPr/>
          <p:nvPr/>
        </p:nvSpPr>
        <p:spPr>
          <a:xfrm>
            <a:off x="2626309" y="2971800"/>
            <a:ext cx="1391869" cy="1965960"/>
          </a:xfrm>
          <a:prstGeom prst="roundRect">
            <a:avLst>
              <a:gd name="adj" fmla="val 2628"/>
            </a:avLst>
          </a:prstGeom>
          <a:solidFill>
            <a:srgbClr val="A35A12"/>
          </a:solidFill>
          <a:ln w="12700">
            <a:solidFill>
              <a:srgbClr val="A35A12"/>
            </a:solidFill>
            <a:prstDash val="solid"/>
          </a:ln>
        </p:spPr>
      </p:sp>
      <p:sp>
        <p:nvSpPr>
          <p:cNvPr id="13" name="Text 11"/>
          <p:cNvSpPr/>
          <p:nvPr/>
        </p:nvSpPr>
        <p:spPr>
          <a:xfrm>
            <a:off x="2772613" y="3154680"/>
            <a:ext cx="1099261" cy="320040"/>
          </a:xfrm>
          <a:prstGeom prst="rect">
            <a:avLst/>
          </a:prstGeom>
          <a:noFill/>
          <a:ln/>
        </p:spPr>
        <p:txBody>
          <a:bodyPr wrap="square" lIns="0" tIns="0" rIns="0" bIns="0" rtlCol="0" anchor="ctr"/>
          <a:lstStyle/>
          <a:p>
            <a:pPr indent="0" marL="0">
              <a:buNone/>
            </a:pPr>
            <a:r>
              <a:rPr lang="en-US" sz="1100" dirty="0">
                <a:solidFill>
                  <a:srgbClr val="FFFFFF"/>
                </a:solidFill>
                <a:latin typeface="Consolas" pitchFamily="34" charset="0"/>
                <a:ea typeface="Consolas" pitchFamily="34" charset="-122"/>
                <a:cs typeface="Consolas" pitchFamily="34" charset="-120"/>
              </a:rPr>
              <a:t>02</a:t>
            </a:r>
            <a:endParaRPr lang="en-US" sz="1100" dirty="0"/>
          </a:p>
        </p:txBody>
      </p:sp>
      <p:sp>
        <p:nvSpPr>
          <p:cNvPr id="14" name="Text 12"/>
          <p:cNvSpPr/>
          <p:nvPr/>
        </p:nvSpPr>
        <p:spPr>
          <a:xfrm>
            <a:off x="2772613" y="3593592"/>
            <a:ext cx="1099261" cy="868680"/>
          </a:xfrm>
          <a:prstGeom prst="rect">
            <a:avLst/>
          </a:prstGeom>
          <a:noFill/>
          <a:ln/>
        </p:spPr>
        <p:txBody>
          <a:bodyPr wrap="square" lIns="0" tIns="0" rIns="0" bIns="0" rtlCol="0" anchor="t"/>
          <a:lstStyle/>
          <a:p>
            <a:pPr indent="0" marL="0">
              <a:lnSpc>
                <a:spcPct val="96000"/>
              </a:lnSpc>
              <a:buNone/>
            </a:pPr>
            <a:r>
              <a:rPr lang="en-US" sz="1300" b="1" dirty="0">
                <a:solidFill>
                  <a:srgbClr val="FFFFFF"/>
                </a:solidFill>
                <a:latin typeface="Century Gothic" pitchFamily="34" charset="0"/>
                <a:ea typeface="Century Gothic" pitchFamily="34" charset="-122"/>
                <a:cs typeface="Century Gothic" pitchFamily="34" charset="-120"/>
              </a:rPr>
              <a:t>Fog node</a:t>
            </a:r>
            <a:endParaRPr lang="en-US" sz="1300" dirty="0"/>
          </a:p>
        </p:txBody>
      </p:sp>
      <p:sp>
        <p:nvSpPr>
          <p:cNvPr id="15" name="Text 13"/>
          <p:cNvSpPr/>
          <p:nvPr/>
        </p:nvSpPr>
        <p:spPr>
          <a:xfrm>
            <a:off x="2772613" y="4453128"/>
            <a:ext cx="1099261" cy="365760"/>
          </a:xfrm>
          <a:prstGeom prst="rect">
            <a:avLst/>
          </a:prstGeom>
          <a:noFill/>
          <a:ln/>
        </p:spPr>
        <p:txBody>
          <a:bodyPr wrap="square" lIns="0" tIns="0" rIns="0" bIns="0" rtlCol="0" anchor="ctr"/>
          <a:lstStyle/>
          <a:p>
            <a:pPr indent="0" marL="0">
              <a:buNone/>
            </a:pPr>
            <a:r>
              <a:rPr lang="en-US" sz="900" dirty="0">
                <a:solidFill>
                  <a:srgbClr val="FFFFFF"/>
                </a:solidFill>
                <a:latin typeface="Calibri" pitchFamily="34" charset="0"/>
                <a:ea typeface="Calibri" pitchFamily="34" charset="-122"/>
                <a:cs typeface="Calibri" pitchFamily="34" charset="-120"/>
              </a:rPr>
              <a:t>10 s windows · colony rules</a:t>
            </a:r>
            <a:endParaRPr lang="en-US" sz="900" dirty="0"/>
          </a:p>
        </p:txBody>
      </p:sp>
      <p:sp>
        <p:nvSpPr>
          <p:cNvPr id="16" name="Shape 14"/>
          <p:cNvSpPr/>
          <p:nvPr/>
        </p:nvSpPr>
        <p:spPr>
          <a:xfrm>
            <a:off x="4091330" y="3845052"/>
            <a:ext cx="310896" cy="219456"/>
          </a:xfrm>
          <a:prstGeom prst="rightArrow">
            <a:avLst/>
          </a:prstGeom>
          <a:solidFill>
            <a:srgbClr val="5F6B74"/>
          </a:solidFill>
          <a:ln/>
        </p:spPr>
      </p:sp>
      <p:sp>
        <p:nvSpPr>
          <p:cNvPr id="17" name="Shape 15"/>
          <p:cNvSpPr/>
          <p:nvPr/>
        </p:nvSpPr>
        <p:spPr>
          <a:xfrm>
            <a:off x="4475378" y="2971800"/>
            <a:ext cx="1391869" cy="1965960"/>
          </a:xfrm>
          <a:prstGeom prst="roundRect">
            <a:avLst>
              <a:gd name="adj" fmla="val 2628"/>
            </a:avLst>
          </a:prstGeom>
          <a:solidFill>
            <a:srgbClr val="FFFAF0"/>
          </a:solidFill>
          <a:ln w="12700">
            <a:solidFill>
              <a:srgbClr val="E4E6E9"/>
            </a:solidFill>
            <a:prstDash val="solid"/>
          </a:ln>
        </p:spPr>
      </p:sp>
      <p:sp>
        <p:nvSpPr>
          <p:cNvPr id="18" name="Text 16"/>
          <p:cNvSpPr/>
          <p:nvPr/>
        </p:nvSpPr>
        <p:spPr>
          <a:xfrm>
            <a:off x="4621682" y="3154680"/>
            <a:ext cx="1099261" cy="320040"/>
          </a:xfrm>
          <a:prstGeom prst="rect">
            <a:avLst/>
          </a:prstGeom>
          <a:noFill/>
          <a:ln/>
        </p:spPr>
        <p:txBody>
          <a:bodyPr wrap="square" lIns="0" tIns="0" rIns="0" bIns="0" rtlCol="0" anchor="ctr"/>
          <a:lstStyle/>
          <a:p>
            <a:pPr indent="0" marL="0">
              <a:buNone/>
            </a:pPr>
            <a:r>
              <a:rPr lang="en-US" sz="1100" dirty="0">
                <a:solidFill>
                  <a:srgbClr val="A35A12"/>
                </a:solidFill>
                <a:latin typeface="Consolas" pitchFamily="34" charset="0"/>
                <a:ea typeface="Consolas" pitchFamily="34" charset="-122"/>
                <a:cs typeface="Consolas" pitchFamily="34" charset="-120"/>
              </a:rPr>
              <a:t>03</a:t>
            </a:r>
            <a:endParaRPr lang="en-US" sz="1100" dirty="0"/>
          </a:p>
        </p:txBody>
      </p:sp>
      <p:sp>
        <p:nvSpPr>
          <p:cNvPr id="19" name="Text 17"/>
          <p:cNvSpPr/>
          <p:nvPr/>
        </p:nvSpPr>
        <p:spPr>
          <a:xfrm>
            <a:off x="4621682" y="3593592"/>
            <a:ext cx="1099261" cy="868680"/>
          </a:xfrm>
          <a:prstGeom prst="rect">
            <a:avLst/>
          </a:prstGeom>
          <a:noFill/>
          <a:ln/>
        </p:spPr>
        <p:txBody>
          <a:bodyPr wrap="square" lIns="0" tIns="0" rIns="0" bIns="0" rtlCol="0" anchor="t"/>
          <a:lstStyle/>
          <a:p>
            <a:pPr indent="0" marL="0">
              <a:lnSpc>
                <a:spcPct val="96000"/>
              </a:lnSpc>
              <a:buNone/>
            </a:pPr>
            <a:r>
              <a:rPr lang="en-US" sz="1300" b="1" dirty="0">
                <a:solidFill>
                  <a:srgbClr val="3B2712"/>
                </a:solidFill>
                <a:latin typeface="Century Gothic" pitchFamily="34" charset="0"/>
                <a:ea typeface="Century Gothic" pitchFamily="34" charset="-122"/>
                <a:cs typeface="Century Gothic" pitchFamily="34" charset="-120"/>
              </a:rPr>
              <a:t>Amazon SQS</a:t>
            </a:r>
            <a:endParaRPr lang="en-US" sz="1300" dirty="0"/>
          </a:p>
        </p:txBody>
      </p:sp>
      <p:sp>
        <p:nvSpPr>
          <p:cNvPr id="20" name="Text 18"/>
          <p:cNvSpPr/>
          <p:nvPr/>
        </p:nvSpPr>
        <p:spPr>
          <a:xfrm>
            <a:off x="4621682" y="4453128"/>
            <a:ext cx="1099261" cy="365760"/>
          </a:xfrm>
          <a:prstGeom prst="rect">
            <a:avLst/>
          </a:prstGeom>
          <a:noFill/>
          <a:ln/>
        </p:spPr>
        <p:txBody>
          <a:bodyPr wrap="square" lIns="0" tIns="0" rIns="0" bIns="0" rtlCol="0" anchor="ctr"/>
          <a:lstStyle/>
          <a:p>
            <a:pPr indent="0" marL="0">
              <a:buNone/>
            </a:pPr>
            <a:r>
              <a:rPr lang="en-US" sz="900" dirty="0">
                <a:solidFill>
                  <a:srgbClr val="5F6B74"/>
                </a:solidFill>
                <a:latin typeface="Calibri" pitchFamily="34" charset="0"/>
                <a:ea typeface="Calibri" pitchFamily="34" charset="-122"/>
                <a:cs typeface="Calibri" pitchFamily="34" charset="-120"/>
              </a:rPr>
              <a:t>1 summary / window</a:t>
            </a:r>
            <a:endParaRPr lang="en-US" sz="900" dirty="0"/>
          </a:p>
        </p:txBody>
      </p:sp>
      <p:sp>
        <p:nvSpPr>
          <p:cNvPr id="21" name="Shape 19"/>
          <p:cNvSpPr/>
          <p:nvPr/>
        </p:nvSpPr>
        <p:spPr>
          <a:xfrm>
            <a:off x="5940400" y="3845052"/>
            <a:ext cx="310896" cy="219456"/>
          </a:xfrm>
          <a:prstGeom prst="rightArrow">
            <a:avLst/>
          </a:prstGeom>
          <a:solidFill>
            <a:srgbClr val="5F6B74"/>
          </a:solidFill>
          <a:ln/>
        </p:spPr>
      </p:sp>
      <p:sp>
        <p:nvSpPr>
          <p:cNvPr id="22" name="Shape 20"/>
          <p:cNvSpPr/>
          <p:nvPr/>
        </p:nvSpPr>
        <p:spPr>
          <a:xfrm>
            <a:off x="6324448" y="2971800"/>
            <a:ext cx="1391869" cy="1965960"/>
          </a:xfrm>
          <a:prstGeom prst="roundRect">
            <a:avLst>
              <a:gd name="adj" fmla="val 2628"/>
            </a:avLst>
          </a:prstGeom>
          <a:solidFill>
            <a:srgbClr val="FFFAF0"/>
          </a:solidFill>
          <a:ln w="12700">
            <a:solidFill>
              <a:srgbClr val="E4E6E9"/>
            </a:solidFill>
            <a:prstDash val="solid"/>
          </a:ln>
        </p:spPr>
      </p:sp>
      <p:sp>
        <p:nvSpPr>
          <p:cNvPr id="23" name="Text 21"/>
          <p:cNvSpPr/>
          <p:nvPr/>
        </p:nvSpPr>
        <p:spPr>
          <a:xfrm>
            <a:off x="6470752" y="3154680"/>
            <a:ext cx="1099261" cy="320040"/>
          </a:xfrm>
          <a:prstGeom prst="rect">
            <a:avLst/>
          </a:prstGeom>
          <a:noFill/>
          <a:ln/>
        </p:spPr>
        <p:txBody>
          <a:bodyPr wrap="square" lIns="0" tIns="0" rIns="0" bIns="0" rtlCol="0" anchor="ctr"/>
          <a:lstStyle/>
          <a:p>
            <a:pPr indent="0" marL="0">
              <a:buNone/>
            </a:pPr>
            <a:r>
              <a:rPr lang="en-US" sz="1100" dirty="0">
                <a:solidFill>
                  <a:srgbClr val="A35A12"/>
                </a:solidFill>
                <a:latin typeface="Consolas" pitchFamily="34" charset="0"/>
                <a:ea typeface="Consolas" pitchFamily="34" charset="-122"/>
                <a:cs typeface="Consolas" pitchFamily="34" charset="-120"/>
              </a:rPr>
              <a:t>04</a:t>
            </a:r>
            <a:endParaRPr lang="en-US" sz="1100" dirty="0"/>
          </a:p>
        </p:txBody>
      </p:sp>
      <p:sp>
        <p:nvSpPr>
          <p:cNvPr id="24" name="Text 22"/>
          <p:cNvSpPr/>
          <p:nvPr/>
        </p:nvSpPr>
        <p:spPr>
          <a:xfrm>
            <a:off x="6470752" y="3593592"/>
            <a:ext cx="1099261" cy="868680"/>
          </a:xfrm>
          <a:prstGeom prst="rect">
            <a:avLst/>
          </a:prstGeom>
          <a:noFill/>
          <a:ln/>
        </p:spPr>
        <p:txBody>
          <a:bodyPr wrap="square" lIns="0" tIns="0" rIns="0" bIns="0" rtlCol="0" anchor="t"/>
          <a:lstStyle/>
          <a:p>
            <a:pPr indent="0" marL="0">
              <a:lnSpc>
                <a:spcPct val="96000"/>
              </a:lnSpc>
              <a:buNone/>
            </a:pPr>
            <a:r>
              <a:rPr lang="en-US" sz="1300" b="1" dirty="0">
                <a:solidFill>
                  <a:srgbClr val="3B2712"/>
                </a:solidFill>
                <a:latin typeface="Century Gothic" pitchFamily="34" charset="0"/>
                <a:ea typeface="Century Gothic" pitchFamily="34" charset="-122"/>
                <a:cs typeface="Century Gothic" pitchFamily="34" charset="-120"/>
              </a:rPr>
              <a:t>AWS Lambda</a:t>
            </a:r>
            <a:endParaRPr lang="en-US" sz="1300" dirty="0"/>
          </a:p>
        </p:txBody>
      </p:sp>
      <p:sp>
        <p:nvSpPr>
          <p:cNvPr id="25" name="Text 23"/>
          <p:cNvSpPr/>
          <p:nvPr/>
        </p:nvSpPr>
        <p:spPr>
          <a:xfrm>
            <a:off x="6470752" y="4453128"/>
            <a:ext cx="1099261" cy="365760"/>
          </a:xfrm>
          <a:prstGeom prst="rect">
            <a:avLst/>
          </a:prstGeom>
          <a:noFill/>
          <a:ln/>
        </p:spPr>
        <p:txBody>
          <a:bodyPr wrap="square" lIns="0" tIns="0" rIns="0" bIns="0" rtlCol="0" anchor="ctr"/>
          <a:lstStyle/>
          <a:p>
            <a:pPr indent="0" marL="0">
              <a:buNone/>
            </a:pPr>
            <a:r>
              <a:rPr lang="en-US" sz="900" dirty="0">
                <a:solidFill>
                  <a:srgbClr val="5F6B74"/>
                </a:solidFill>
                <a:latin typeface="Calibri" pitchFamily="34" charset="0"/>
                <a:ea typeface="Calibri" pitchFamily="34" charset="-122"/>
                <a:cs typeface="Calibri" pitchFamily="34" charset="-120"/>
              </a:rPr>
              <a:t>nodejs20 ingest</a:t>
            </a:r>
            <a:endParaRPr lang="en-US" sz="900" dirty="0"/>
          </a:p>
        </p:txBody>
      </p:sp>
      <p:sp>
        <p:nvSpPr>
          <p:cNvPr id="26" name="Shape 24"/>
          <p:cNvSpPr/>
          <p:nvPr/>
        </p:nvSpPr>
        <p:spPr>
          <a:xfrm>
            <a:off x="7789469" y="3845052"/>
            <a:ext cx="310896" cy="219456"/>
          </a:xfrm>
          <a:prstGeom prst="rightArrow">
            <a:avLst/>
          </a:prstGeom>
          <a:solidFill>
            <a:srgbClr val="5F6B74"/>
          </a:solidFill>
          <a:ln/>
        </p:spPr>
      </p:sp>
      <p:sp>
        <p:nvSpPr>
          <p:cNvPr id="27" name="Shape 25"/>
          <p:cNvSpPr/>
          <p:nvPr/>
        </p:nvSpPr>
        <p:spPr>
          <a:xfrm>
            <a:off x="8173517" y="2971800"/>
            <a:ext cx="1391869" cy="1965960"/>
          </a:xfrm>
          <a:prstGeom prst="roundRect">
            <a:avLst>
              <a:gd name="adj" fmla="val 2628"/>
            </a:avLst>
          </a:prstGeom>
          <a:solidFill>
            <a:srgbClr val="FFFAF0"/>
          </a:solidFill>
          <a:ln w="12700">
            <a:solidFill>
              <a:srgbClr val="E4E6E9"/>
            </a:solidFill>
            <a:prstDash val="solid"/>
          </a:ln>
        </p:spPr>
      </p:sp>
      <p:sp>
        <p:nvSpPr>
          <p:cNvPr id="28" name="Text 26"/>
          <p:cNvSpPr/>
          <p:nvPr/>
        </p:nvSpPr>
        <p:spPr>
          <a:xfrm>
            <a:off x="8319821" y="3154680"/>
            <a:ext cx="1099261" cy="320040"/>
          </a:xfrm>
          <a:prstGeom prst="rect">
            <a:avLst/>
          </a:prstGeom>
          <a:noFill/>
          <a:ln/>
        </p:spPr>
        <p:txBody>
          <a:bodyPr wrap="square" lIns="0" tIns="0" rIns="0" bIns="0" rtlCol="0" anchor="ctr"/>
          <a:lstStyle/>
          <a:p>
            <a:pPr indent="0" marL="0">
              <a:buNone/>
            </a:pPr>
            <a:r>
              <a:rPr lang="en-US" sz="1100" dirty="0">
                <a:solidFill>
                  <a:srgbClr val="A35A12"/>
                </a:solidFill>
                <a:latin typeface="Consolas" pitchFamily="34" charset="0"/>
                <a:ea typeface="Consolas" pitchFamily="34" charset="-122"/>
                <a:cs typeface="Consolas" pitchFamily="34" charset="-120"/>
              </a:rPr>
              <a:t>05</a:t>
            </a:r>
            <a:endParaRPr lang="en-US" sz="1100" dirty="0"/>
          </a:p>
        </p:txBody>
      </p:sp>
      <p:sp>
        <p:nvSpPr>
          <p:cNvPr id="29" name="Text 27"/>
          <p:cNvSpPr/>
          <p:nvPr/>
        </p:nvSpPr>
        <p:spPr>
          <a:xfrm>
            <a:off x="8319821" y="3593592"/>
            <a:ext cx="1099261" cy="868680"/>
          </a:xfrm>
          <a:prstGeom prst="rect">
            <a:avLst/>
          </a:prstGeom>
          <a:noFill/>
          <a:ln/>
        </p:spPr>
        <p:txBody>
          <a:bodyPr wrap="square" lIns="0" tIns="0" rIns="0" bIns="0" rtlCol="0" anchor="t"/>
          <a:lstStyle/>
          <a:p>
            <a:pPr indent="0" marL="0">
              <a:lnSpc>
                <a:spcPct val="96000"/>
              </a:lnSpc>
              <a:buNone/>
            </a:pPr>
            <a:r>
              <a:rPr lang="en-US" sz="1300" b="1" dirty="0">
                <a:solidFill>
                  <a:srgbClr val="3B2712"/>
                </a:solidFill>
                <a:latin typeface="Century Gothic" pitchFamily="34" charset="0"/>
                <a:ea typeface="Century Gothic" pitchFamily="34" charset="-122"/>
                <a:cs typeface="Century Gothic" pitchFamily="34" charset="-120"/>
              </a:rPr>
              <a:t>DynamoDB</a:t>
            </a:r>
            <a:endParaRPr lang="en-US" sz="1300" dirty="0"/>
          </a:p>
        </p:txBody>
      </p:sp>
      <p:sp>
        <p:nvSpPr>
          <p:cNvPr id="30" name="Text 28"/>
          <p:cNvSpPr/>
          <p:nvPr/>
        </p:nvSpPr>
        <p:spPr>
          <a:xfrm>
            <a:off x="8319821" y="4453128"/>
            <a:ext cx="1099261" cy="365760"/>
          </a:xfrm>
          <a:prstGeom prst="rect">
            <a:avLst/>
          </a:prstGeom>
          <a:noFill/>
          <a:ln/>
        </p:spPr>
        <p:txBody>
          <a:bodyPr wrap="square" lIns="0" tIns="0" rIns="0" bIns="0" rtlCol="0" anchor="ctr"/>
          <a:lstStyle/>
          <a:p>
            <a:pPr indent="0" marL="0">
              <a:buNone/>
            </a:pPr>
            <a:r>
              <a:rPr lang="en-US" sz="900" dirty="0">
                <a:solidFill>
                  <a:srgbClr val="5F6B74"/>
                </a:solidFill>
                <a:latin typeface="Calibri" pitchFamily="34" charset="0"/>
                <a:ea typeface="Calibri" pitchFamily="34" charset="-122"/>
                <a:cs typeface="Calibri" pitchFamily="34" charset="-120"/>
              </a:rPr>
              <a:t>time-series store</a:t>
            </a:r>
            <a:endParaRPr lang="en-US" sz="900" dirty="0"/>
          </a:p>
        </p:txBody>
      </p:sp>
      <p:sp>
        <p:nvSpPr>
          <p:cNvPr id="31" name="Shape 29"/>
          <p:cNvSpPr/>
          <p:nvPr/>
        </p:nvSpPr>
        <p:spPr>
          <a:xfrm>
            <a:off x="9638538" y="3845052"/>
            <a:ext cx="310896" cy="219456"/>
          </a:xfrm>
          <a:prstGeom prst="rightArrow">
            <a:avLst/>
          </a:prstGeom>
          <a:solidFill>
            <a:srgbClr val="5F6B74"/>
          </a:solidFill>
          <a:ln/>
        </p:spPr>
      </p:sp>
      <p:sp>
        <p:nvSpPr>
          <p:cNvPr id="32" name="Shape 30"/>
          <p:cNvSpPr/>
          <p:nvPr/>
        </p:nvSpPr>
        <p:spPr>
          <a:xfrm>
            <a:off x="10022586" y="2971800"/>
            <a:ext cx="1391869" cy="1965960"/>
          </a:xfrm>
          <a:prstGeom prst="roundRect">
            <a:avLst>
              <a:gd name="adj" fmla="val 2628"/>
            </a:avLst>
          </a:prstGeom>
          <a:solidFill>
            <a:srgbClr val="FFFAF0"/>
          </a:solidFill>
          <a:ln w="12700">
            <a:solidFill>
              <a:srgbClr val="E4E6E9"/>
            </a:solidFill>
            <a:prstDash val="solid"/>
          </a:ln>
        </p:spPr>
      </p:sp>
      <p:sp>
        <p:nvSpPr>
          <p:cNvPr id="33" name="Text 31"/>
          <p:cNvSpPr/>
          <p:nvPr/>
        </p:nvSpPr>
        <p:spPr>
          <a:xfrm>
            <a:off x="10168890" y="3154680"/>
            <a:ext cx="1099261" cy="320040"/>
          </a:xfrm>
          <a:prstGeom prst="rect">
            <a:avLst/>
          </a:prstGeom>
          <a:noFill/>
          <a:ln/>
        </p:spPr>
        <p:txBody>
          <a:bodyPr wrap="square" lIns="0" tIns="0" rIns="0" bIns="0" rtlCol="0" anchor="ctr"/>
          <a:lstStyle/>
          <a:p>
            <a:pPr indent="0" marL="0">
              <a:buNone/>
            </a:pPr>
            <a:r>
              <a:rPr lang="en-US" sz="1100" dirty="0">
                <a:solidFill>
                  <a:srgbClr val="A35A12"/>
                </a:solidFill>
                <a:latin typeface="Consolas" pitchFamily="34" charset="0"/>
                <a:ea typeface="Consolas" pitchFamily="34" charset="-122"/>
                <a:cs typeface="Consolas" pitchFamily="34" charset="-120"/>
              </a:rPr>
              <a:t>06</a:t>
            </a:r>
            <a:endParaRPr lang="en-US" sz="1100" dirty="0"/>
          </a:p>
        </p:txBody>
      </p:sp>
      <p:sp>
        <p:nvSpPr>
          <p:cNvPr id="34" name="Text 32"/>
          <p:cNvSpPr/>
          <p:nvPr/>
        </p:nvSpPr>
        <p:spPr>
          <a:xfrm>
            <a:off x="10168890" y="3593592"/>
            <a:ext cx="1099261" cy="868680"/>
          </a:xfrm>
          <a:prstGeom prst="rect">
            <a:avLst/>
          </a:prstGeom>
          <a:noFill/>
          <a:ln/>
        </p:spPr>
        <p:txBody>
          <a:bodyPr wrap="square" lIns="0" tIns="0" rIns="0" bIns="0" rtlCol="0" anchor="t"/>
          <a:lstStyle/>
          <a:p>
            <a:pPr indent="0" marL="0">
              <a:lnSpc>
                <a:spcPct val="96000"/>
              </a:lnSpc>
              <a:buNone/>
            </a:pPr>
            <a:r>
              <a:rPr lang="en-US" sz="1300" b="1" dirty="0">
                <a:solidFill>
                  <a:srgbClr val="3B2712"/>
                </a:solidFill>
                <a:latin typeface="Century Gothic" pitchFamily="34" charset="0"/>
                <a:ea typeface="Century Gothic" pitchFamily="34" charset="-122"/>
                <a:cs typeface="Century Gothic" pitchFamily="34" charset="-120"/>
              </a:rPr>
              <a:t>API GW + S3</a:t>
            </a:r>
            <a:endParaRPr lang="en-US" sz="1300" dirty="0"/>
          </a:p>
        </p:txBody>
      </p:sp>
      <p:sp>
        <p:nvSpPr>
          <p:cNvPr id="35" name="Text 33"/>
          <p:cNvSpPr/>
          <p:nvPr/>
        </p:nvSpPr>
        <p:spPr>
          <a:xfrm>
            <a:off x="10168890" y="4453128"/>
            <a:ext cx="1099261" cy="365760"/>
          </a:xfrm>
          <a:prstGeom prst="rect">
            <a:avLst/>
          </a:prstGeom>
          <a:noFill/>
          <a:ln/>
        </p:spPr>
        <p:txBody>
          <a:bodyPr wrap="square" lIns="0" tIns="0" rIns="0" bIns="0" rtlCol="0" anchor="ctr"/>
          <a:lstStyle/>
          <a:p>
            <a:pPr indent="0" marL="0">
              <a:buNone/>
            </a:pPr>
            <a:r>
              <a:rPr lang="en-US" sz="900" dirty="0">
                <a:solidFill>
                  <a:srgbClr val="5F6B74"/>
                </a:solidFill>
                <a:latin typeface="Calibri" pitchFamily="34" charset="0"/>
                <a:ea typeface="Calibri" pitchFamily="34" charset="-122"/>
                <a:cs typeface="Calibri" pitchFamily="34" charset="-120"/>
              </a:rPr>
              <a:t>colony verdict cards</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E8CE"/>
        </a:solidFill>
      </p:bgPr>
    </p:bg>
    <p:spTree>
      <p:nvGrpSpPr>
        <p:cNvPr id="1" name=""/>
        <p:cNvGrpSpPr/>
        <p:nvPr/>
      </p:nvGrpSpPr>
      <p:grpSpPr>
        <a:xfrm>
          <a:off x="0" y="0"/>
          <a:ext cx="0" cy="0"/>
          <a:chOff x="0" y="0"/>
          <a:chExt cx="0" cy="0"/>
        </a:xfrm>
      </p:grpSpPr>
      <p:sp>
        <p:nvSpPr>
          <p:cNvPr id="2" name="Shape 0"/>
          <p:cNvSpPr/>
          <p:nvPr/>
        </p:nvSpPr>
        <p:spPr>
          <a:xfrm>
            <a:off x="457200" y="457200"/>
            <a:ext cx="274320" cy="274320"/>
          </a:xfrm>
          <a:prstGeom prst="rect">
            <a:avLst/>
          </a:prstGeom>
          <a:solidFill>
            <a:srgbClr val="A35A12"/>
          </a:solidFill>
          <a:ln/>
        </p:spPr>
      </p:sp>
      <p:sp>
        <p:nvSpPr>
          <p:cNvPr id="3" name="Shape 1"/>
          <p:cNvSpPr/>
          <p:nvPr/>
        </p:nvSpPr>
        <p:spPr>
          <a:xfrm>
            <a:off x="11460175" y="6126480"/>
            <a:ext cx="274320" cy="274320"/>
          </a:xfrm>
          <a:prstGeom prst="rect">
            <a:avLst/>
          </a:prstGeom>
          <a:solidFill>
            <a:srgbClr val="A35A12"/>
          </a:solidFill>
          <a:ln/>
        </p:spPr>
      </p:sp>
      <p:sp>
        <p:nvSpPr>
          <p:cNvPr id="4" name="Text 2"/>
          <p:cNvSpPr/>
          <p:nvPr/>
        </p:nvSpPr>
        <p:spPr>
          <a:xfrm>
            <a:off x="777240" y="731520"/>
            <a:ext cx="914400" cy="640080"/>
          </a:xfrm>
          <a:prstGeom prst="rect">
            <a:avLst/>
          </a:prstGeom>
          <a:noFill/>
          <a:ln/>
        </p:spPr>
        <p:txBody>
          <a:bodyPr wrap="square" lIns="0" tIns="0" rIns="0" bIns="0" rtlCol="0" anchor="ctr"/>
          <a:lstStyle/>
          <a:p>
            <a:pPr indent="0" marL="0">
              <a:buNone/>
            </a:pPr>
            <a:r>
              <a:rPr lang="en-US" sz="3000" b="1" dirty="0">
                <a:solidFill>
                  <a:srgbClr val="A35A12"/>
                </a:solidFill>
                <a:latin typeface="Century Gothic" pitchFamily="34" charset="0"/>
                <a:ea typeface="Century Gothic" pitchFamily="34" charset="-122"/>
                <a:cs typeface="Century Gothic" pitchFamily="34" charset="-120"/>
              </a:rPr>
              <a:t>02</a:t>
            </a:r>
            <a:endParaRPr lang="en-US" sz="3000" dirty="0"/>
          </a:p>
        </p:txBody>
      </p:sp>
      <p:sp>
        <p:nvSpPr>
          <p:cNvPr id="5" name="Text 3"/>
          <p:cNvSpPr/>
          <p:nvPr/>
        </p:nvSpPr>
        <p:spPr>
          <a:xfrm>
            <a:off x="1645920" y="905256"/>
            <a:ext cx="9768535" cy="274320"/>
          </a:xfrm>
          <a:prstGeom prst="rect">
            <a:avLst/>
          </a:prstGeom>
          <a:noFill/>
          <a:ln/>
        </p:spPr>
        <p:txBody>
          <a:bodyPr wrap="square" lIns="0" tIns="0" rIns="0" bIns="0" rtlCol="0" anchor="ctr"/>
          <a:lstStyle/>
          <a:p>
            <a:pPr indent="0" marL="0">
              <a:buNone/>
            </a:pPr>
            <a:r>
              <a:rPr lang="en-US" sz="1100" b="1" spc="200" kern="0" dirty="0">
                <a:solidFill>
                  <a:srgbClr val="5F6B74"/>
                </a:solidFill>
                <a:latin typeface="Calibri" pitchFamily="34" charset="0"/>
                <a:ea typeface="Calibri" pitchFamily="34" charset="-122"/>
                <a:cs typeface="Calibri" pitchFamily="34" charset="-120"/>
              </a:rPr>
              <a:t>LIVE DEMO</a:t>
            </a:r>
            <a:endParaRPr lang="en-US" sz="1100" dirty="0"/>
          </a:p>
        </p:txBody>
      </p:sp>
      <p:sp>
        <p:nvSpPr>
          <p:cNvPr id="6" name="Text 4"/>
          <p:cNvSpPr/>
          <p:nvPr/>
        </p:nvSpPr>
        <p:spPr>
          <a:xfrm>
            <a:off x="777240" y="1380744"/>
            <a:ext cx="10637215" cy="640080"/>
          </a:xfrm>
          <a:prstGeom prst="rect">
            <a:avLst/>
          </a:prstGeom>
          <a:noFill/>
          <a:ln/>
        </p:spPr>
        <p:txBody>
          <a:bodyPr wrap="square" lIns="0" tIns="0" rIns="0" bIns="0" rtlCol="0" anchor="ctr"/>
          <a:lstStyle/>
          <a:p>
            <a:pPr indent="0" marL="0">
              <a:buNone/>
            </a:pPr>
            <a:r>
              <a:rPr lang="en-US" sz="2300" b="1" dirty="0">
                <a:solidFill>
                  <a:srgbClr val="3B2712"/>
                </a:solidFill>
                <a:latin typeface="Century Gothic" pitchFamily="34" charset="0"/>
                <a:ea typeface="Century Gothic" pitchFamily="34" charset="-122"/>
                <a:cs typeface="Century Gothic" pitchFamily="34" charset="-120"/>
              </a:rPr>
              <a:t>See it running on AWS</a:t>
            </a:r>
            <a:endParaRPr lang="en-US" sz="2300" dirty="0"/>
          </a:p>
        </p:txBody>
      </p:sp>
      <p:sp>
        <p:nvSpPr>
          <p:cNvPr id="7" name="Text 5"/>
          <p:cNvSpPr/>
          <p:nvPr/>
        </p:nvSpPr>
        <p:spPr>
          <a:xfrm>
            <a:off x="777240" y="1901952"/>
            <a:ext cx="10637215" cy="274320"/>
          </a:xfrm>
          <a:prstGeom prst="rect">
            <a:avLst/>
          </a:prstGeom>
          <a:noFill/>
          <a:ln/>
        </p:spPr>
        <p:txBody>
          <a:bodyPr wrap="square" rtlCol="0" anchor="ctr"/>
          <a:lstStyle/>
          <a:p>
            <a:pPr indent="0" marL="0">
              <a:buNone/>
            </a:pPr>
            <a:r>
              <a:rPr lang="en-US" sz="1100" dirty="0">
                <a:solidFill>
                  <a:srgbClr val="A35A12"/>
                </a:solidFill>
                <a:latin typeface="Consolas" pitchFamily="34" charset="0"/>
                <a:ea typeface="Consolas" pitchFamily="34" charset="-122"/>
                <a:cs typeface="Consolas" pitchFamily="34" charset="-120"/>
              </a:rPr>
              <a:t>bam-frontend-881865707591.s3.us-east-1.amazonaws.com</a:t>
            </a:r>
            <a:endParaRPr lang="en-US" sz="1100" dirty="0"/>
          </a:p>
        </p:txBody>
      </p:sp>
      <p:sp>
        <p:nvSpPr>
          <p:cNvPr id="8" name="Shape 6"/>
          <p:cNvSpPr/>
          <p:nvPr/>
        </p:nvSpPr>
        <p:spPr>
          <a:xfrm>
            <a:off x="777240" y="2514600"/>
            <a:ext cx="3301898" cy="3566160"/>
          </a:xfrm>
          <a:prstGeom prst="roundRect">
            <a:avLst>
              <a:gd name="adj" fmla="val 1108"/>
            </a:avLst>
          </a:prstGeom>
          <a:solidFill>
            <a:srgbClr val="FFFAF0"/>
          </a:solidFill>
          <a:ln w="12700">
            <a:solidFill>
              <a:srgbClr val="E4E6E9"/>
            </a:solidFill>
            <a:prstDash val="solid"/>
          </a:ln>
        </p:spPr>
      </p:sp>
      <p:sp>
        <p:nvSpPr>
          <p:cNvPr id="9" name="Text 7"/>
          <p:cNvSpPr/>
          <p:nvPr/>
        </p:nvSpPr>
        <p:spPr>
          <a:xfrm>
            <a:off x="1051560" y="2752344"/>
            <a:ext cx="1828800" cy="777240"/>
          </a:xfrm>
          <a:prstGeom prst="rect">
            <a:avLst/>
          </a:prstGeom>
          <a:noFill/>
          <a:ln/>
        </p:spPr>
        <p:txBody>
          <a:bodyPr wrap="square" lIns="0" tIns="0" rIns="0" bIns="0" rtlCol="0" anchor="ctr"/>
          <a:lstStyle/>
          <a:p>
            <a:pPr indent="0" marL="0">
              <a:buNone/>
            </a:pPr>
            <a:r>
              <a:rPr lang="en-US" sz="3800" b="1" dirty="0">
                <a:solidFill>
                  <a:srgbClr val="A35A12"/>
                </a:solidFill>
                <a:latin typeface="Century Gothic" pitchFamily="34" charset="0"/>
                <a:ea typeface="Century Gothic" pitchFamily="34" charset="-122"/>
                <a:cs typeface="Century Gothic" pitchFamily="34" charset="-120"/>
              </a:rPr>
              <a:t>01</a:t>
            </a:r>
            <a:endParaRPr lang="en-US" sz="3800" dirty="0"/>
          </a:p>
        </p:txBody>
      </p:sp>
      <p:sp>
        <p:nvSpPr>
          <p:cNvPr id="10" name="Text 8"/>
          <p:cNvSpPr/>
          <p:nvPr/>
        </p:nvSpPr>
        <p:spPr>
          <a:xfrm>
            <a:off x="1069848" y="3566160"/>
            <a:ext cx="2753258" cy="868680"/>
          </a:xfrm>
          <a:prstGeom prst="rect">
            <a:avLst/>
          </a:prstGeom>
          <a:noFill/>
          <a:ln/>
        </p:spPr>
        <p:txBody>
          <a:bodyPr wrap="square" lIns="0" tIns="0" rIns="0" bIns="0" rtlCol="0" anchor="t"/>
          <a:lstStyle/>
          <a:p>
            <a:pPr indent="0" marL="0">
              <a:lnSpc>
                <a:spcPct val="100000"/>
              </a:lnSpc>
              <a:buNone/>
            </a:pPr>
            <a:r>
              <a:rPr lang="en-US" sz="1550" b="1" dirty="0">
                <a:solidFill>
                  <a:srgbClr val="3B2712"/>
                </a:solidFill>
                <a:latin typeface="Century Gothic" pitchFamily="34" charset="0"/>
                <a:ea typeface="Century Gothic" pitchFamily="34" charset="-122"/>
                <a:cs typeface="Century Gothic" pitchFamily="34" charset="-120"/>
              </a:rPr>
              <a:t>A plain-language verdict per apiary</a:t>
            </a:r>
            <a:endParaRPr lang="en-US" sz="1550" dirty="0"/>
          </a:p>
        </p:txBody>
      </p:sp>
      <p:sp>
        <p:nvSpPr>
          <p:cNvPr id="11" name="Text 9"/>
          <p:cNvSpPr/>
          <p:nvPr/>
        </p:nvSpPr>
        <p:spPr>
          <a:xfrm>
            <a:off x="1069848" y="4434840"/>
            <a:ext cx="2753258" cy="1463040"/>
          </a:xfrm>
          <a:prstGeom prst="rect">
            <a:avLst/>
          </a:prstGeom>
          <a:noFill/>
          <a:ln/>
        </p:spPr>
        <p:txBody>
          <a:bodyPr wrap="square" lIns="0" tIns="0" rIns="0" bIns="0" rtlCol="0" anchor="ctr"/>
          <a:lstStyle/>
          <a:p>
            <a:pPr indent="0" marL="0">
              <a:lnSpc>
                <a:spcPct val="120000"/>
              </a:lnSpc>
              <a:buNone/>
            </a:pPr>
            <a:r>
              <a:rPr lang="en-US" sz="1200" dirty="0">
                <a:solidFill>
                  <a:srgbClr val="5F6B74"/>
                </a:solidFill>
                <a:latin typeface="Calibri" pitchFamily="34" charset="0"/>
                <a:ea typeface="Calibri" pitchFamily="34" charset="-122"/>
                <a:cs typeface="Calibri" pitchFamily="34" charset="-120"/>
              </a:rPr>
              <a:t>Each colony card reads thriving, stressed or about to swarm — a conclusion, not five graphs to interpret.</a:t>
            </a:r>
            <a:endParaRPr lang="en-US" sz="1200" dirty="0"/>
          </a:p>
        </p:txBody>
      </p:sp>
      <p:sp>
        <p:nvSpPr>
          <p:cNvPr id="12" name="Shape 10"/>
          <p:cNvSpPr/>
          <p:nvPr/>
        </p:nvSpPr>
        <p:spPr>
          <a:xfrm>
            <a:off x="4444898" y="2514600"/>
            <a:ext cx="3301898" cy="3566160"/>
          </a:xfrm>
          <a:prstGeom prst="roundRect">
            <a:avLst>
              <a:gd name="adj" fmla="val 1108"/>
            </a:avLst>
          </a:prstGeom>
          <a:solidFill>
            <a:srgbClr val="FFFAF0"/>
          </a:solidFill>
          <a:ln w="12700">
            <a:solidFill>
              <a:srgbClr val="E4E6E9"/>
            </a:solidFill>
            <a:prstDash val="solid"/>
          </a:ln>
        </p:spPr>
      </p:sp>
      <p:sp>
        <p:nvSpPr>
          <p:cNvPr id="13" name="Text 11"/>
          <p:cNvSpPr/>
          <p:nvPr/>
        </p:nvSpPr>
        <p:spPr>
          <a:xfrm>
            <a:off x="4719218" y="2752344"/>
            <a:ext cx="1828800" cy="777240"/>
          </a:xfrm>
          <a:prstGeom prst="rect">
            <a:avLst/>
          </a:prstGeom>
          <a:noFill/>
          <a:ln/>
        </p:spPr>
        <p:txBody>
          <a:bodyPr wrap="square" lIns="0" tIns="0" rIns="0" bIns="0" rtlCol="0" anchor="ctr"/>
          <a:lstStyle/>
          <a:p>
            <a:pPr indent="0" marL="0">
              <a:buNone/>
            </a:pPr>
            <a:r>
              <a:rPr lang="en-US" sz="3800" b="1" dirty="0">
                <a:solidFill>
                  <a:srgbClr val="A35A12"/>
                </a:solidFill>
                <a:latin typeface="Century Gothic" pitchFamily="34" charset="0"/>
                <a:ea typeface="Century Gothic" pitchFamily="34" charset="-122"/>
                <a:cs typeface="Century Gothic" pitchFamily="34" charset="-120"/>
              </a:rPr>
              <a:t>02</a:t>
            </a:r>
            <a:endParaRPr lang="en-US" sz="3800" dirty="0"/>
          </a:p>
        </p:txBody>
      </p:sp>
      <p:sp>
        <p:nvSpPr>
          <p:cNvPr id="14" name="Text 12"/>
          <p:cNvSpPr/>
          <p:nvPr/>
        </p:nvSpPr>
        <p:spPr>
          <a:xfrm>
            <a:off x="4737506" y="3566160"/>
            <a:ext cx="2753258" cy="868680"/>
          </a:xfrm>
          <a:prstGeom prst="rect">
            <a:avLst/>
          </a:prstGeom>
          <a:noFill/>
          <a:ln/>
        </p:spPr>
        <p:txBody>
          <a:bodyPr wrap="square" lIns="0" tIns="0" rIns="0" bIns="0" rtlCol="0" anchor="t"/>
          <a:lstStyle/>
          <a:p>
            <a:pPr indent="0" marL="0">
              <a:lnSpc>
                <a:spcPct val="100000"/>
              </a:lnSpc>
              <a:buNone/>
            </a:pPr>
            <a:r>
              <a:rPr lang="en-US" sz="1550" b="1" dirty="0">
                <a:solidFill>
                  <a:srgbClr val="3B2712"/>
                </a:solidFill>
                <a:latin typeface="Century Gothic" pitchFamily="34" charset="0"/>
                <a:ea typeface="Century Gothic" pitchFamily="34" charset="-122"/>
                <a:cs typeface="Century Gothic" pitchFamily="34" charset="-120"/>
              </a:rPr>
              <a:t>A brood-overheat alert with context</a:t>
            </a:r>
            <a:endParaRPr lang="en-US" sz="1550" dirty="0"/>
          </a:p>
        </p:txBody>
      </p:sp>
      <p:sp>
        <p:nvSpPr>
          <p:cNvPr id="15" name="Text 13"/>
          <p:cNvSpPr/>
          <p:nvPr/>
        </p:nvSpPr>
        <p:spPr>
          <a:xfrm>
            <a:off x="4737506" y="4434840"/>
            <a:ext cx="2753258" cy="1463040"/>
          </a:xfrm>
          <a:prstGeom prst="rect">
            <a:avLst/>
          </a:prstGeom>
          <a:noFill/>
          <a:ln/>
        </p:spPr>
        <p:txBody>
          <a:bodyPr wrap="square" lIns="0" tIns="0" rIns="0" bIns="0" rtlCol="0" anchor="ctr"/>
          <a:lstStyle/>
          <a:p>
            <a:pPr indent="0" marL="0">
              <a:lnSpc>
                <a:spcPct val="120000"/>
              </a:lnSpc>
              <a:buNone/>
            </a:pPr>
            <a:r>
              <a:rPr lang="en-US" sz="1200" dirty="0">
                <a:solidFill>
                  <a:srgbClr val="5F6B74"/>
                </a:solidFill>
                <a:latin typeface="Calibri" pitchFamily="34" charset="0"/>
                <a:ea typeface="Calibri" pitchFamily="34" charset="-122"/>
                <a:cs typeface="Calibri" pitchFamily="34" charset="-120"/>
              </a:rPr>
              <a:t>The banner names two firing brood-overheat conditions and reports brood temperature breaching a safe threshold while weight is rising.</a:t>
            </a:r>
            <a:endParaRPr lang="en-US" sz="1200" dirty="0"/>
          </a:p>
        </p:txBody>
      </p:sp>
      <p:sp>
        <p:nvSpPr>
          <p:cNvPr id="16" name="Shape 14"/>
          <p:cNvSpPr/>
          <p:nvPr/>
        </p:nvSpPr>
        <p:spPr>
          <a:xfrm>
            <a:off x="8112557" y="2514600"/>
            <a:ext cx="3301898" cy="3566160"/>
          </a:xfrm>
          <a:prstGeom prst="roundRect">
            <a:avLst>
              <a:gd name="adj" fmla="val 1108"/>
            </a:avLst>
          </a:prstGeom>
          <a:solidFill>
            <a:srgbClr val="FFFAF0"/>
          </a:solidFill>
          <a:ln w="12700">
            <a:solidFill>
              <a:srgbClr val="E4E6E9"/>
            </a:solidFill>
            <a:prstDash val="solid"/>
          </a:ln>
        </p:spPr>
      </p:sp>
      <p:sp>
        <p:nvSpPr>
          <p:cNvPr id="17" name="Text 15"/>
          <p:cNvSpPr/>
          <p:nvPr/>
        </p:nvSpPr>
        <p:spPr>
          <a:xfrm>
            <a:off x="8386877" y="2752344"/>
            <a:ext cx="1828800" cy="777240"/>
          </a:xfrm>
          <a:prstGeom prst="rect">
            <a:avLst/>
          </a:prstGeom>
          <a:noFill/>
          <a:ln/>
        </p:spPr>
        <p:txBody>
          <a:bodyPr wrap="square" lIns="0" tIns="0" rIns="0" bIns="0" rtlCol="0" anchor="ctr"/>
          <a:lstStyle/>
          <a:p>
            <a:pPr indent="0" marL="0">
              <a:buNone/>
            </a:pPr>
            <a:r>
              <a:rPr lang="en-US" sz="3800" b="1" dirty="0">
                <a:solidFill>
                  <a:srgbClr val="A35A12"/>
                </a:solidFill>
                <a:latin typeface="Century Gothic" pitchFamily="34" charset="0"/>
                <a:ea typeface="Century Gothic" pitchFamily="34" charset="-122"/>
                <a:cs typeface="Century Gothic" pitchFamily="34" charset="-120"/>
              </a:rPr>
              <a:t>03</a:t>
            </a:r>
            <a:endParaRPr lang="en-US" sz="3800" dirty="0"/>
          </a:p>
        </p:txBody>
      </p:sp>
      <p:sp>
        <p:nvSpPr>
          <p:cNvPr id="18" name="Text 16"/>
          <p:cNvSpPr/>
          <p:nvPr/>
        </p:nvSpPr>
        <p:spPr>
          <a:xfrm>
            <a:off x="8405165" y="3566160"/>
            <a:ext cx="2753258" cy="868680"/>
          </a:xfrm>
          <a:prstGeom prst="rect">
            <a:avLst/>
          </a:prstGeom>
          <a:noFill/>
          <a:ln/>
        </p:spPr>
        <p:txBody>
          <a:bodyPr wrap="square" lIns="0" tIns="0" rIns="0" bIns="0" rtlCol="0" anchor="t"/>
          <a:lstStyle/>
          <a:p>
            <a:pPr indent="0" marL="0">
              <a:lnSpc>
                <a:spcPct val="100000"/>
              </a:lnSpc>
              <a:buNone/>
            </a:pPr>
            <a:r>
              <a:rPr lang="en-US" sz="1550" b="1" dirty="0">
                <a:solidFill>
                  <a:srgbClr val="3B2712"/>
                </a:solidFill>
                <a:latin typeface="Century Gothic" pitchFamily="34" charset="0"/>
                <a:ea typeface="Century Gothic" pitchFamily="34" charset="-122"/>
                <a:cs typeface="Century Gothic" pitchFamily="34" charset="-120"/>
              </a:rPr>
              <a:t>Sound leads the other signals</a:t>
            </a:r>
            <a:endParaRPr lang="en-US" sz="1550" dirty="0"/>
          </a:p>
        </p:txBody>
      </p:sp>
      <p:sp>
        <p:nvSpPr>
          <p:cNvPr id="19" name="Text 17"/>
          <p:cNvSpPr/>
          <p:nvPr/>
        </p:nvSpPr>
        <p:spPr>
          <a:xfrm>
            <a:off x="8405165" y="4434840"/>
            <a:ext cx="2753258" cy="1463040"/>
          </a:xfrm>
          <a:prstGeom prst="rect">
            <a:avLst/>
          </a:prstGeom>
          <a:noFill/>
          <a:ln/>
        </p:spPr>
        <p:txBody>
          <a:bodyPr wrap="square" lIns="0" tIns="0" rIns="0" bIns="0" rtlCol="0" anchor="ctr"/>
          <a:lstStyle/>
          <a:p>
            <a:pPr indent="0" marL="0">
              <a:lnSpc>
                <a:spcPct val="120000"/>
              </a:lnSpc>
              <a:buNone/>
            </a:pPr>
            <a:r>
              <a:rPr lang="en-US" sz="1200" dirty="0">
                <a:solidFill>
                  <a:srgbClr val="5F6B74"/>
                </a:solidFill>
                <a:latin typeface="Calibri" pitchFamily="34" charset="0"/>
                <a:ea typeface="Calibri" pitchFamily="34" charset="-122"/>
                <a:cs typeface="Calibri" pitchFamily="34" charset="-120"/>
              </a:rPr>
              <a:t>The acoustic swarming-precursor rule flags a rising hum above 350 Hz before the weight even moves.</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E8CE"/>
        </a:solidFill>
      </p:bgPr>
    </p:bg>
    <p:spTree>
      <p:nvGrpSpPr>
        <p:cNvPr id="1" name=""/>
        <p:cNvGrpSpPr/>
        <p:nvPr/>
      </p:nvGrpSpPr>
      <p:grpSpPr>
        <a:xfrm>
          <a:off x="0" y="0"/>
          <a:ext cx="0" cy="0"/>
          <a:chOff x="0" y="0"/>
          <a:chExt cx="0" cy="0"/>
        </a:xfrm>
      </p:grpSpPr>
      <p:sp>
        <p:nvSpPr>
          <p:cNvPr id="2" name="Shape 0"/>
          <p:cNvSpPr/>
          <p:nvPr/>
        </p:nvSpPr>
        <p:spPr>
          <a:xfrm>
            <a:off x="457200" y="457200"/>
            <a:ext cx="274320" cy="274320"/>
          </a:xfrm>
          <a:prstGeom prst="rect">
            <a:avLst/>
          </a:prstGeom>
          <a:solidFill>
            <a:srgbClr val="A35A12"/>
          </a:solidFill>
          <a:ln/>
        </p:spPr>
      </p:sp>
      <p:sp>
        <p:nvSpPr>
          <p:cNvPr id="3" name="Shape 1"/>
          <p:cNvSpPr/>
          <p:nvPr/>
        </p:nvSpPr>
        <p:spPr>
          <a:xfrm>
            <a:off x="11460175" y="6126480"/>
            <a:ext cx="274320" cy="274320"/>
          </a:xfrm>
          <a:prstGeom prst="rect">
            <a:avLst/>
          </a:prstGeom>
          <a:solidFill>
            <a:srgbClr val="A35A12"/>
          </a:solidFill>
          <a:ln/>
        </p:spPr>
      </p:sp>
      <p:sp>
        <p:nvSpPr>
          <p:cNvPr id="4" name="Text 2"/>
          <p:cNvSpPr/>
          <p:nvPr/>
        </p:nvSpPr>
        <p:spPr>
          <a:xfrm>
            <a:off x="777240" y="731520"/>
            <a:ext cx="914400" cy="640080"/>
          </a:xfrm>
          <a:prstGeom prst="rect">
            <a:avLst/>
          </a:prstGeom>
          <a:noFill/>
          <a:ln/>
        </p:spPr>
        <p:txBody>
          <a:bodyPr wrap="square" lIns="0" tIns="0" rIns="0" bIns="0" rtlCol="0" anchor="ctr"/>
          <a:lstStyle/>
          <a:p>
            <a:pPr indent="0" marL="0">
              <a:buNone/>
            </a:pPr>
            <a:r>
              <a:rPr lang="en-US" sz="3000" b="1" dirty="0">
                <a:solidFill>
                  <a:srgbClr val="A35A12"/>
                </a:solidFill>
                <a:latin typeface="Century Gothic" pitchFamily="34" charset="0"/>
                <a:ea typeface="Century Gothic" pitchFamily="34" charset="-122"/>
                <a:cs typeface="Century Gothic" pitchFamily="34" charset="-120"/>
              </a:rPr>
              <a:t>03</a:t>
            </a:r>
            <a:endParaRPr lang="en-US" sz="3000" dirty="0"/>
          </a:p>
        </p:txBody>
      </p:sp>
      <p:sp>
        <p:nvSpPr>
          <p:cNvPr id="5" name="Text 3"/>
          <p:cNvSpPr/>
          <p:nvPr/>
        </p:nvSpPr>
        <p:spPr>
          <a:xfrm>
            <a:off x="1645920" y="905256"/>
            <a:ext cx="9768535" cy="274320"/>
          </a:xfrm>
          <a:prstGeom prst="rect">
            <a:avLst/>
          </a:prstGeom>
          <a:noFill/>
          <a:ln/>
        </p:spPr>
        <p:txBody>
          <a:bodyPr wrap="square" lIns="0" tIns="0" rIns="0" bIns="0" rtlCol="0" anchor="ctr"/>
          <a:lstStyle/>
          <a:p>
            <a:pPr indent="0" marL="0">
              <a:buNone/>
            </a:pPr>
            <a:r>
              <a:rPr lang="en-US" sz="1100" b="1" spc="200" kern="0" dirty="0">
                <a:solidFill>
                  <a:srgbClr val="5F6B74"/>
                </a:solidFill>
                <a:latin typeface="Calibri" pitchFamily="34" charset="0"/>
                <a:ea typeface="Calibri" pitchFamily="34" charset="-122"/>
                <a:cs typeface="Calibri" pitchFamily="34" charset="-120"/>
              </a:rPr>
              <a:t>CHALLENGE</a:t>
            </a:r>
            <a:endParaRPr lang="en-US" sz="1100" dirty="0"/>
          </a:p>
        </p:txBody>
      </p:sp>
      <p:sp>
        <p:nvSpPr>
          <p:cNvPr id="6" name="Text 4"/>
          <p:cNvSpPr/>
          <p:nvPr/>
        </p:nvSpPr>
        <p:spPr>
          <a:xfrm>
            <a:off x="777240" y="1380744"/>
            <a:ext cx="10637215" cy="640080"/>
          </a:xfrm>
          <a:prstGeom prst="rect">
            <a:avLst/>
          </a:prstGeom>
          <a:noFill/>
          <a:ln/>
        </p:spPr>
        <p:txBody>
          <a:bodyPr wrap="square" lIns="0" tIns="0" rIns="0" bIns="0" rtlCol="0" anchor="ctr"/>
          <a:lstStyle/>
          <a:p>
            <a:pPr indent="0" marL="0">
              <a:buNone/>
            </a:pPr>
            <a:r>
              <a:rPr lang="en-US" sz="2300" b="1" dirty="0">
                <a:solidFill>
                  <a:srgbClr val="3B2712"/>
                </a:solidFill>
                <a:latin typeface="Century Gothic" pitchFamily="34" charset="0"/>
                <a:ea typeface="Century Gothic" pitchFamily="34" charset="-122"/>
                <a:cs typeface="Century Gothic" pitchFamily="34" charset="-120"/>
              </a:rPr>
              <a:t>a verdict, not a jittery number</a:t>
            </a:r>
            <a:endParaRPr lang="en-US" sz="2300" dirty="0"/>
          </a:p>
        </p:txBody>
      </p:sp>
      <p:sp>
        <p:nvSpPr>
          <p:cNvPr id="7" name="Shape 5"/>
          <p:cNvSpPr/>
          <p:nvPr/>
        </p:nvSpPr>
        <p:spPr>
          <a:xfrm>
            <a:off x="777240" y="2423160"/>
            <a:ext cx="5090008" cy="3657600"/>
          </a:xfrm>
          <a:prstGeom prst="roundRect">
            <a:avLst>
              <a:gd name="adj" fmla="val 1000"/>
            </a:avLst>
          </a:prstGeom>
          <a:solidFill>
            <a:srgbClr val="FFFAF0"/>
          </a:solidFill>
          <a:ln w="12700">
            <a:solidFill>
              <a:srgbClr val="E4E6E9"/>
            </a:solidFill>
            <a:prstDash val="solid"/>
          </a:ln>
        </p:spPr>
      </p:sp>
      <p:sp>
        <p:nvSpPr>
          <p:cNvPr id="8" name="Text 6"/>
          <p:cNvSpPr/>
          <p:nvPr/>
        </p:nvSpPr>
        <p:spPr>
          <a:xfrm>
            <a:off x="1097280" y="2697480"/>
            <a:ext cx="4449928" cy="320040"/>
          </a:xfrm>
          <a:prstGeom prst="rect">
            <a:avLst/>
          </a:prstGeom>
          <a:noFill/>
          <a:ln/>
        </p:spPr>
        <p:txBody>
          <a:bodyPr wrap="square" lIns="0" tIns="0" rIns="0" bIns="0" rtlCol="0" anchor="ctr"/>
          <a:lstStyle/>
          <a:p>
            <a:pPr indent="0" marL="0">
              <a:buNone/>
            </a:pPr>
            <a:r>
              <a:rPr lang="en-US" sz="1200" b="1" spc="200" kern="0" dirty="0">
                <a:solidFill>
                  <a:srgbClr val="D1584E"/>
                </a:solidFill>
                <a:latin typeface="Calibri" pitchFamily="34" charset="0"/>
                <a:ea typeface="Calibri" pitchFamily="34" charset="-122"/>
                <a:cs typeface="Calibri" pitchFamily="34" charset="-120"/>
              </a:rPr>
              <a:t>PROBLEM</a:t>
            </a:r>
            <a:endParaRPr lang="en-US" sz="1200" dirty="0"/>
          </a:p>
        </p:txBody>
      </p:sp>
      <p:sp>
        <p:nvSpPr>
          <p:cNvPr id="9" name="Shape 7"/>
          <p:cNvSpPr/>
          <p:nvPr/>
        </p:nvSpPr>
        <p:spPr>
          <a:xfrm>
            <a:off x="1097280" y="3081528"/>
            <a:ext cx="4449928" cy="0"/>
          </a:xfrm>
          <a:prstGeom prst="line">
            <a:avLst/>
          </a:prstGeom>
          <a:noFill/>
          <a:ln w="19050">
            <a:solidFill>
              <a:srgbClr val="D1584E"/>
            </a:solidFill>
            <a:prstDash val="solid"/>
          </a:ln>
        </p:spPr>
      </p:sp>
      <p:sp>
        <p:nvSpPr>
          <p:cNvPr id="10" name="Text 8"/>
          <p:cNvSpPr/>
          <p:nvPr/>
        </p:nvSpPr>
        <p:spPr>
          <a:xfrm>
            <a:off x="1097280" y="3246120"/>
            <a:ext cx="4449928" cy="2651760"/>
          </a:xfrm>
          <a:prstGeom prst="rect">
            <a:avLst/>
          </a:prstGeom>
          <a:noFill/>
          <a:ln/>
        </p:spPr>
        <p:txBody>
          <a:bodyPr wrap="square" lIns="0" tIns="0" rIns="0" bIns="0" rtlCol="0" anchor="t"/>
          <a:lstStyle/>
          <a:p>
            <a:pPr indent="0" marL="0">
              <a:lnSpc>
                <a:spcPct val="128000"/>
              </a:lnSpc>
              <a:buNone/>
            </a:pPr>
            <a:r>
              <a:rPr lang="en-US" sz="1350" dirty="0">
                <a:solidFill>
                  <a:srgbClr val="3B2712"/>
                </a:solidFill>
                <a:latin typeface="Calibri" pitchFamily="34" charset="0"/>
                <a:ea typeface="Calibri" pitchFamily="34" charset="-122"/>
                <a:cs typeface="Calibri" pitchFamily="34" charset="-120"/>
              </a:rPr>
              <a:t>A beekeeper does not want five live graphs per hive; the useful answer is whether a colony is thriving, stressed, or about to swarm. But a single 10-second window is noisy — bees are loud and entrance traffic spikes — so a naive per-reading rule cries wolf, and one reading cannot tell a rising trend from a blip.</a:t>
            </a:r>
            <a:endParaRPr lang="en-US" sz="1350" dirty="0"/>
          </a:p>
        </p:txBody>
      </p:sp>
      <p:sp>
        <p:nvSpPr>
          <p:cNvPr id="11" name="Shape 9"/>
          <p:cNvSpPr/>
          <p:nvPr/>
        </p:nvSpPr>
        <p:spPr>
          <a:xfrm>
            <a:off x="6324448" y="2423160"/>
            <a:ext cx="5090008" cy="3657600"/>
          </a:xfrm>
          <a:prstGeom prst="roundRect">
            <a:avLst>
              <a:gd name="adj" fmla="val 1000"/>
            </a:avLst>
          </a:prstGeom>
          <a:solidFill>
            <a:srgbClr val="FFFAF0"/>
          </a:solidFill>
          <a:ln w="12700">
            <a:solidFill>
              <a:srgbClr val="E4E6E9"/>
            </a:solidFill>
            <a:prstDash val="solid"/>
          </a:ln>
        </p:spPr>
      </p:sp>
      <p:sp>
        <p:nvSpPr>
          <p:cNvPr id="12" name="Text 10"/>
          <p:cNvSpPr/>
          <p:nvPr/>
        </p:nvSpPr>
        <p:spPr>
          <a:xfrm>
            <a:off x="6644488" y="2697480"/>
            <a:ext cx="4449928" cy="320040"/>
          </a:xfrm>
          <a:prstGeom prst="rect">
            <a:avLst/>
          </a:prstGeom>
          <a:noFill/>
          <a:ln/>
        </p:spPr>
        <p:txBody>
          <a:bodyPr wrap="square" lIns="0" tIns="0" rIns="0" bIns="0" rtlCol="0" anchor="ctr"/>
          <a:lstStyle/>
          <a:p>
            <a:pPr indent="0" marL="0">
              <a:buNone/>
            </a:pPr>
            <a:r>
              <a:rPr lang="en-US" sz="1200" b="1" spc="200" kern="0" dirty="0">
                <a:solidFill>
                  <a:srgbClr val="5F7A33"/>
                </a:solidFill>
                <a:latin typeface="Calibri" pitchFamily="34" charset="0"/>
                <a:ea typeface="Calibri" pitchFamily="34" charset="-122"/>
                <a:cs typeface="Calibri" pitchFamily="34" charset="-120"/>
              </a:rPr>
              <a:t>SOLUTION</a:t>
            </a:r>
            <a:endParaRPr lang="en-US" sz="1200" dirty="0"/>
          </a:p>
        </p:txBody>
      </p:sp>
      <p:sp>
        <p:nvSpPr>
          <p:cNvPr id="13" name="Shape 11"/>
          <p:cNvSpPr/>
          <p:nvPr/>
        </p:nvSpPr>
        <p:spPr>
          <a:xfrm>
            <a:off x="6644488" y="3081528"/>
            <a:ext cx="4449928" cy="0"/>
          </a:xfrm>
          <a:prstGeom prst="line">
            <a:avLst/>
          </a:prstGeom>
          <a:noFill/>
          <a:ln w="19050">
            <a:solidFill>
              <a:srgbClr val="5F7A33"/>
            </a:solidFill>
            <a:prstDash val="solid"/>
          </a:ln>
        </p:spPr>
      </p:sp>
      <p:sp>
        <p:nvSpPr>
          <p:cNvPr id="14" name="Text 12"/>
          <p:cNvSpPr/>
          <p:nvPr/>
        </p:nvSpPr>
        <p:spPr>
          <a:xfrm>
            <a:off x="6644488" y="3246120"/>
            <a:ext cx="4449928" cy="2651760"/>
          </a:xfrm>
          <a:prstGeom prst="rect">
            <a:avLst/>
          </a:prstGeom>
          <a:noFill/>
          <a:ln/>
        </p:spPr>
        <p:txBody>
          <a:bodyPr wrap="square" lIns="0" tIns="0" rIns="0" bIns="0" rtlCol="0" anchor="t"/>
          <a:lstStyle/>
          <a:p>
            <a:pPr indent="0" marL="0">
              <a:lnSpc>
                <a:spcPct val="128000"/>
              </a:lnSpc>
              <a:buNone/>
            </a:pPr>
            <a:r>
              <a:rPr lang="en-US" sz="1350" dirty="0">
                <a:solidFill>
                  <a:srgbClr val="3B2712"/>
                </a:solidFill>
                <a:latin typeface="Calibri" pitchFamily="34" charset="0"/>
                <a:ea typeface="Calibri" pitchFamily="34" charset="-122"/>
                <a:cs typeface="Calibri" pitchFamily="34" charset="-120"/>
              </a:rPr>
              <a:t>Rules score the window mean or minimum, never a single sample; then the read tier reads a short history of recent windows and reduces it to a weight trend and a brood-thermal state, composed into one sentence per apiary. The judgement lives in the read tier, where that history is already at hand, so the dashboard says "weight rising, brood temperature has breached a safe threshold" rather than showing a number to interpret.</a:t>
            </a:r>
            <a:endParaRPr lang="en-US" sz="13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Slide 1</vt:lpstr>
      <vt:lpstr>Slide 2</vt:lpstr>
      <vt:lpstr>Slide 3</vt:lpstr>
      <vt:lpstr>Slide 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2026-07-24T09:15:29Z</dcterms:created>
  <dcterms:modified xsi:type="dcterms:W3CDTF">2026-07-24T09:15:29Z</dcterms:modified>
</cp:coreProperties>
</file>