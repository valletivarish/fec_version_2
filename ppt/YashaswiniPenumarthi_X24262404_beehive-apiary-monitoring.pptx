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548640" y="1051560"/>
            <a:ext cx="11064240" cy="1188720"/>
          </a:xfrm>
          <a:prstGeom prst="rect">
            <a:avLst/>
          </a:prstGeom>
          <a:noFill/>
          <a:ln/>
        </p:spPr>
        <p:txBody>
          <a:bodyPr wrap="square" rtlCol="0" anchor="ctr"/>
          <a:lstStyle/>
          <a:p>
            <a:pPr algn="ct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Beehive &amp; Apiary Health Monitoring</a:t>
            </a:r>
            <a:endParaRPr lang="en-US" sz="3600" dirty="0"/>
          </a:p>
        </p:txBody>
      </p:sp>
      <p:sp>
        <p:nvSpPr>
          <p:cNvPr id="3" name="Text 1"/>
          <p:cNvSpPr/>
          <p:nvPr/>
        </p:nvSpPr>
        <p:spPr>
          <a:xfrm>
            <a:off x="548640" y="2286000"/>
            <a:ext cx="11064240" cy="365760"/>
          </a:xfrm>
          <a:prstGeom prst="rect">
            <a:avLst/>
          </a:prstGeom>
          <a:noFill/>
          <a:ln/>
        </p:spPr>
        <p:txBody>
          <a:bodyPr wrap="square" rtlCol="0" anchor="ctr"/>
          <a:lstStyle/>
          <a:p>
            <a:pPr algn="ctr" indent="0" marL="0">
              <a:buNone/>
            </a:pPr>
            <a:r>
              <a:rPr lang="en-US" sz="1600" dirty="0">
                <a:solidFill>
                  <a:srgbClr val="D8AE3E"/>
                </a:solidFill>
                <a:latin typeface="Calibri" pitchFamily="34" charset="0"/>
                <a:ea typeface="Calibri" pitchFamily="34" charset="-122"/>
                <a:cs typeface="Calibri" pitchFamily="34" charset="-120"/>
              </a:rPr>
              <a:t>Yashaswini Penumarthi   ·   X24262404</a:t>
            </a:r>
            <a:endParaRPr lang="en-US" sz="1600" dirty="0"/>
          </a:p>
        </p:txBody>
      </p:sp>
      <p:sp>
        <p:nvSpPr>
          <p:cNvPr id="4" name="Text 2"/>
          <p:cNvSpPr/>
          <p:nvPr/>
        </p:nvSpPr>
        <p:spPr>
          <a:xfrm>
            <a:off x="1463040" y="2926080"/>
            <a:ext cx="9235440" cy="1371600"/>
          </a:xfrm>
          <a:prstGeom prst="rect">
            <a:avLst/>
          </a:prstGeom>
          <a:noFill/>
          <a:ln/>
        </p:spPr>
        <p:txBody>
          <a:bodyPr wrap="square" rtlCol="0" anchor="ctr"/>
          <a:lstStyle/>
          <a:p>
            <a:pPr algn="ctr" indent="0" marL="0">
              <a:lnSpc>
                <a:spcPct val="110000"/>
              </a:lnSpc>
              <a:buNone/>
            </a:pPr>
            <a:r>
              <a:rPr lang="en-US" sz="2000" dirty="0">
                <a:solidFill>
                  <a:srgbClr val="EBDCB6"/>
                </a:solidFill>
                <a:latin typeface="Calibri" pitchFamily="34" charset="0"/>
                <a:ea typeface="Calibri" pitchFamily="34" charset="-122"/>
                <a:cs typeface="Calibri" pitchFamily="34" charset="-120"/>
              </a:rPr>
              <a:t>A colony can slide into starvation, chilled brood or the run-up to a swarm within days — yet opening a hive is disruptive, so it is done only every week or two.</a:t>
            </a:r>
            <a:endParaRPr lang="en-US" sz="2000" dirty="0"/>
          </a:p>
        </p:txBody>
      </p:sp>
      <p:sp>
        <p:nvSpPr>
          <p:cNvPr id="5" name="Shape 3"/>
          <p:cNvSpPr/>
          <p:nvPr/>
        </p:nvSpPr>
        <p:spPr>
          <a:xfrm>
            <a:off x="1889608" y="4526280"/>
            <a:ext cx="2651760" cy="566928"/>
          </a:xfrm>
          <a:prstGeom prst="roundRect">
            <a:avLst>
              <a:gd name="adj" fmla="val 50000"/>
            </a:avLst>
          </a:prstGeom>
          <a:solidFill>
            <a:srgbClr val="342914"/>
          </a:solidFill>
          <a:ln w="12700">
            <a:solidFill>
              <a:srgbClr val="E7C24A"/>
            </a:solidFill>
            <a:prstDash val="solid"/>
          </a:ln>
        </p:spPr>
      </p:sp>
      <p:sp>
        <p:nvSpPr>
          <p:cNvPr id="6" name="Text 4"/>
          <p:cNvSpPr/>
          <p:nvPr/>
        </p:nvSpPr>
        <p:spPr>
          <a:xfrm>
            <a:off x="188960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Brood 32–36 °C band</a:t>
            </a:r>
            <a:endParaRPr lang="en-US" sz="1350" dirty="0"/>
          </a:p>
        </p:txBody>
      </p:sp>
      <p:sp>
        <p:nvSpPr>
          <p:cNvPr id="7" name="Shape 5"/>
          <p:cNvSpPr/>
          <p:nvPr/>
        </p:nvSpPr>
        <p:spPr>
          <a:xfrm>
            <a:off x="4769968" y="4526280"/>
            <a:ext cx="2651760" cy="566928"/>
          </a:xfrm>
          <a:prstGeom prst="roundRect">
            <a:avLst>
              <a:gd name="adj" fmla="val 50000"/>
            </a:avLst>
          </a:prstGeom>
          <a:solidFill>
            <a:srgbClr val="342914"/>
          </a:solidFill>
          <a:ln w="12700">
            <a:solidFill>
              <a:srgbClr val="E7C24A"/>
            </a:solidFill>
            <a:prstDash val="solid"/>
          </a:ln>
        </p:spPr>
      </p:sp>
      <p:sp>
        <p:nvSpPr>
          <p:cNvPr id="8" name="Text 6"/>
          <p:cNvSpPr/>
          <p:nvPr/>
        </p:nvSpPr>
        <p:spPr>
          <a:xfrm>
            <a:off x="476996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Starvation &lt; 20 kg</a:t>
            </a:r>
            <a:endParaRPr lang="en-US" sz="1350" dirty="0"/>
          </a:p>
        </p:txBody>
      </p:sp>
      <p:sp>
        <p:nvSpPr>
          <p:cNvPr id="9" name="Shape 7"/>
          <p:cNvSpPr/>
          <p:nvPr/>
        </p:nvSpPr>
        <p:spPr>
          <a:xfrm>
            <a:off x="7650328" y="4526280"/>
            <a:ext cx="2651760" cy="566928"/>
          </a:xfrm>
          <a:prstGeom prst="roundRect">
            <a:avLst>
              <a:gd name="adj" fmla="val 50000"/>
            </a:avLst>
          </a:prstGeom>
          <a:solidFill>
            <a:srgbClr val="342914"/>
          </a:solidFill>
          <a:ln w="12700">
            <a:solidFill>
              <a:srgbClr val="E7C24A"/>
            </a:solidFill>
            <a:prstDash val="solid"/>
          </a:ln>
        </p:spPr>
      </p:sp>
      <p:sp>
        <p:nvSpPr>
          <p:cNvPr id="10" name="Text 8"/>
          <p:cNvSpPr/>
          <p:nvPr/>
        </p:nvSpPr>
        <p:spPr>
          <a:xfrm>
            <a:off x="765032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Swarm buzz &gt; 350 Hz</a:t>
            </a:r>
            <a:endParaRPr lang="en-US" sz="1350" dirty="0"/>
          </a:p>
        </p:txBody>
      </p:sp>
      <p:sp>
        <p:nvSpPr>
          <p:cNvPr id="11" name="Text 9"/>
          <p:cNvSpPr/>
          <p:nvPr/>
        </p:nvSpPr>
        <p:spPr>
          <a:xfrm>
            <a:off x="548640" y="6126480"/>
            <a:ext cx="11064240" cy="365760"/>
          </a:xfrm>
          <a:prstGeom prst="rect">
            <a:avLst/>
          </a:prstGeom>
          <a:noFill/>
          <a:ln/>
        </p:spPr>
        <p:txBody>
          <a:bodyPr wrap="square" rtlCol="0" anchor="ctr"/>
          <a:lstStyle/>
          <a:p>
            <a:pPr algn="ctr" indent="0" marL="0">
              <a:buNone/>
            </a:pPr>
            <a:r>
              <a:rPr lang="en-US" sz="1300" dirty="0">
                <a:solidFill>
                  <a:srgbClr val="6E6144"/>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What I Built — Hive to Dashboard</a:t>
            </a:r>
            <a:endParaRPr lang="en-US" sz="3000" dirty="0"/>
          </a:p>
        </p:txBody>
      </p:sp>
      <p:sp>
        <p:nvSpPr>
          <p:cNvPr id="3" name="Shape 1"/>
          <p:cNvSpPr/>
          <p:nvPr/>
        </p:nvSpPr>
        <p:spPr>
          <a:xfrm>
            <a:off x="640080" y="1554480"/>
            <a:ext cx="3200400" cy="3383280"/>
          </a:xfrm>
          <a:prstGeom prst="roundRect">
            <a:avLst>
              <a:gd name="adj" fmla="val 2857"/>
            </a:avLst>
          </a:prstGeom>
          <a:solidFill>
            <a:srgbClr val="F7F2E3"/>
          </a:solidFill>
          <a:ln w="19050">
            <a:solidFill>
              <a:srgbClr val="D8AE3E"/>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D8AE3E"/>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D8AE3E"/>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Hive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 2 apiaries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D8AE3E"/>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s windows · colony rules</a:t>
            </a:r>
            <a:endParaRPr lang="en-US" sz="1000" dirty="0"/>
          </a:p>
        </p:txBody>
      </p:sp>
      <p:sp>
        <p:nvSpPr>
          <p:cNvPr id="11" name="Shape 9"/>
          <p:cNvSpPr/>
          <p:nvPr/>
        </p:nvSpPr>
        <p:spPr>
          <a:xfrm>
            <a:off x="3886200" y="3246120"/>
            <a:ext cx="502920" cy="0"/>
          </a:xfrm>
          <a:prstGeom prst="line">
            <a:avLst/>
          </a:prstGeom>
          <a:noFill/>
          <a:ln w="31750">
            <a:solidFill>
              <a:srgbClr val="8A6516"/>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7F2E3"/>
          </a:solidFill>
          <a:ln w="19050">
            <a:solidFill>
              <a:srgbClr val="8A6516"/>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8A6516"/>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8A6516"/>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1 summary / window</a:t>
            </a:r>
            <a:endParaRPr lang="en-US" sz="900" dirty="0"/>
          </a:p>
        </p:txBody>
      </p:sp>
      <p:sp>
        <p:nvSpPr>
          <p:cNvPr id="17" name="Shape 15"/>
          <p:cNvSpPr/>
          <p:nvPr/>
        </p:nvSpPr>
        <p:spPr>
          <a:xfrm>
            <a:off x="6318504" y="3337560"/>
            <a:ext cx="164592" cy="0"/>
          </a:xfrm>
          <a:prstGeom prst="line">
            <a:avLst/>
          </a:prstGeom>
          <a:noFill/>
          <a:ln w="20320">
            <a:solidFill>
              <a:srgbClr val="D8AE3E"/>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8A6516"/>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nodejs20 ingest</a:t>
            </a:r>
            <a:endParaRPr lang="en-US" sz="900" dirty="0"/>
          </a:p>
        </p:txBody>
      </p:sp>
      <p:sp>
        <p:nvSpPr>
          <p:cNvPr id="21" name="Shape 19"/>
          <p:cNvSpPr/>
          <p:nvPr/>
        </p:nvSpPr>
        <p:spPr>
          <a:xfrm>
            <a:off x="7964424" y="3337560"/>
            <a:ext cx="164592" cy="0"/>
          </a:xfrm>
          <a:prstGeom prst="line">
            <a:avLst/>
          </a:prstGeom>
          <a:noFill/>
          <a:ln w="20320">
            <a:solidFill>
              <a:srgbClr val="D8AE3E"/>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8A6516"/>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time-series store</a:t>
            </a:r>
            <a:endParaRPr lang="en-US" sz="900" dirty="0"/>
          </a:p>
        </p:txBody>
      </p:sp>
      <p:sp>
        <p:nvSpPr>
          <p:cNvPr id="25" name="Shape 23"/>
          <p:cNvSpPr/>
          <p:nvPr/>
        </p:nvSpPr>
        <p:spPr>
          <a:xfrm>
            <a:off x="9610344" y="3337560"/>
            <a:ext cx="164592" cy="0"/>
          </a:xfrm>
          <a:prstGeom prst="line">
            <a:avLst/>
          </a:prstGeom>
          <a:noFill/>
          <a:ln w="20320">
            <a:solidFill>
              <a:srgbClr val="D8AE3E"/>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B98A1E"/>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colony verdict cards</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6516"/>
                </a:solidFill>
                <a:latin typeface="Calibri" pitchFamily="34" charset="0"/>
                <a:ea typeface="Calibri" pitchFamily="34" charset="-122"/>
                <a:cs typeface="Calibri" pitchFamily="34" charset="-120"/>
              </a:rPr>
              <a:t>Colony rules, including the acoustic swarming precursor, fire the moment a 10-second window closes on site; the read tier composes a plain-language verdict.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A1E"/>
                </a:solidFill>
                <a:latin typeface="Consolas" pitchFamily="34" charset="0"/>
                <a:ea typeface="Consolas" pitchFamily="34" charset="-122"/>
                <a:cs typeface="Consolas" pitchFamily="34" charset="-120"/>
              </a:rPr>
              <a:t>bam-frontend-881865707591.s3.us-east-1.amazonaws.com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F7F2E3"/>
          </a:solidFill>
          <a:ln w="15240">
            <a:solidFill>
              <a:srgbClr val="B98A1E"/>
            </a:solidFill>
            <a:prstDash val="solid"/>
          </a:ln>
        </p:spPr>
      </p:sp>
      <p:sp>
        <p:nvSpPr>
          <p:cNvPr id="5" name="Shape 3"/>
          <p:cNvSpPr/>
          <p:nvPr/>
        </p:nvSpPr>
        <p:spPr>
          <a:xfrm>
            <a:off x="914400" y="2194560"/>
            <a:ext cx="640080" cy="640080"/>
          </a:xfrm>
          <a:prstGeom prst="ellipse">
            <a:avLst/>
          </a:prstGeom>
          <a:solidFill>
            <a:srgbClr val="8A6516"/>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plain-language verdict per apiary</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Each colony card reads thriving, stressed or about to swarm — a conclusion, not five graphs to interpret.</a:t>
            </a:r>
            <a:endParaRPr lang="en-US" sz="1300" dirty="0"/>
          </a:p>
        </p:txBody>
      </p:sp>
      <p:sp>
        <p:nvSpPr>
          <p:cNvPr id="9" name="Shape 7"/>
          <p:cNvSpPr/>
          <p:nvPr/>
        </p:nvSpPr>
        <p:spPr>
          <a:xfrm>
            <a:off x="4416552" y="1874520"/>
            <a:ext cx="3502152" cy="3657600"/>
          </a:xfrm>
          <a:prstGeom prst="roundRect">
            <a:avLst>
              <a:gd name="adj" fmla="val 2611"/>
            </a:avLst>
          </a:prstGeom>
          <a:solidFill>
            <a:srgbClr val="F7F2E3"/>
          </a:solidFill>
          <a:ln w="15240">
            <a:solidFill>
              <a:srgbClr val="B98A1E"/>
            </a:solidFill>
            <a:prstDash val="solid"/>
          </a:ln>
        </p:spPr>
      </p:sp>
      <p:sp>
        <p:nvSpPr>
          <p:cNvPr id="10" name="Shape 8"/>
          <p:cNvSpPr/>
          <p:nvPr/>
        </p:nvSpPr>
        <p:spPr>
          <a:xfrm>
            <a:off x="4690872" y="2194560"/>
            <a:ext cx="640080" cy="640080"/>
          </a:xfrm>
          <a:prstGeom prst="ellipse">
            <a:avLst/>
          </a:prstGeom>
          <a:solidFill>
            <a:srgbClr val="8A6516"/>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brood-overheat alert with context</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banner names two firing brood-overheat conditions and reports brood temperature breaching a safe threshold while weight is rising.</a:t>
            </a:r>
            <a:endParaRPr lang="en-US" sz="1300" dirty="0"/>
          </a:p>
        </p:txBody>
      </p:sp>
      <p:sp>
        <p:nvSpPr>
          <p:cNvPr id="14" name="Shape 12"/>
          <p:cNvSpPr/>
          <p:nvPr/>
        </p:nvSpPr>
        <p:spPr>
          <a:xfrm>
            <a:off x="8193024" y="1874520"/>
            <a:ext cx="3502152" cy="3657600"/>
          </a:xfrm>
          <a:prstGeom prst="roundRect">
            <a:avLst>
              <a:gd name="adj" fmla="val 2611"/>
            </a:avLst>
          </a:prstGeom>
          <a:solidFill>
            <a:srgbClr val="F7F2E3"/>
          </a:solidFill>
          <a:ln w="15240">
            <a:solidFill>
              <a:srgbClr val="B98A1E"/>
            </a:solidFill>
            <a:prstDash val="solid"/>
          </a:ln>
        </p:spPr>
      </p:sp>
      <p:sp>
        <p:nvSpPr>
          <p:cNvPr id="15" name="Shape 13"/>
          <p:cNvSpPr/>
          <p:nvPr/>
        </p:nvSpPr>
        <p:spPr>
          <a:xfrm>
            <a:off x="8467344" y="2194560"/>
            <a:ext cx="640080" cy="640080"/>
          </a:xfrm>
          <a:prstGeom prst="ellipse">
            <a:avLst/>
          </a:prstGeom>
          <a:solidFill>
            <a:srgbClr val="8A6516"/>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Sound leads the other signals</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acoustic swarming-precursor rule flags a rising hum above 350 Hz before the weight even moves.</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D8AE3E"/>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0F"/>
                </a:solidFill>
                <a:latin typeface="Century Schoolbook" pitchFamily="34" charset="0"/>
                <a:ea typeface="Century Schoolbook" pitchFamily="34" charset="-122"/>
                <a:cs typeface="Century Schoolbook" pitchFamily="34" charset="-120"/>
              </a:rPr>
              <a:t>Hardest Part — a verdict, not a jittery number</a:t>
            </a:r>
            <a:endParaRPr lang="en-US" sz="2800" dirty="0"/>
          </a:p>
        </p:txBody>
      </p:sp>
      <p:sp>
        <p:nvSpPr>
          <p:cNvPr id="3" name="Shape 1"/>
          <p:cNvSpPr/>
          <p:nvPr/>
        </p:nvSpPr>
        <p:spPr>
          <a:xfrm>
            <a:off x="640080" y="1874520"/>
            <a:ext cx="4937760" cy="4160520"/>
          </a:xfrm>
          <a:prstGeom prst="roundRect">
            <a:avLst>
              <a:gd name="adj" fmla="val 2198"/>
            </a:avLst>
          </a:prstGeom>
          <a:solidFill>
            <a:srgbClr val="F7F2E3"/>
          </a:solidFill>
          <a:ln w="19050">
            <a:solidFill>
              <a:srgbClr val="E7C24A"/>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0F"/>
                </a:solidFill>
                <a:latin typeface="Calibri" pitchFamily="34" charset="0"/>
                <a:ea typeface="Calibri" pitchFamily="34" charset="-122"/>
                <a:cs typeface="Calibri" pitchFamily="34" charset="-120"/>
              </a:rPr>
              <a:t>A beekeeper does not want five live graphs per hive; the useful answer is whether a colony is thriving, stressed, or about to swarm. But a single 10-second window is noisy — bees are loud and entrance traffic spikes — so a naive per-reading rule cries wolf, and one reading cannot tell a rising trend from a blip.</a:t>
            </a:r>
            <a:endParaRPr lang="en-US" sz="1350" dirty="0"/>
          </a:p>
        </p:txBody>
      </p:sp>
      <p:sp>
        <p:nvSpPr>
          <p:cNvPr id="6" name="Shape 4"/>
          <p:cNvSpPr/>
          <p:nvPr/>
        </p:nvSpPr>
        <p:spPr>
          <a:xfrm>
            <a:off x="6611112" y="1874520"/>
            <a:ext cx="4937760" cy="4160520"/>
          </a:xfrm>
          <a:prstGeom prst="roundRect">
            <a:avLst>
              <a:gd name="adj" fmla="val 2198"/>
            </a:avLst>
          </a:prstGeom>
          <a:solidFill>
            <a:srgbClr val="F7F2E3"/>
          </a:solidFill>
          <a:ln w="19050">
            <a:solidFill>
              <a:srgbClr val="B98A1E"/>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B98A1E"/>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0F"/>
                </a:solidFill>
                <a:latin typeface="Calibri" pitchFamily="34" charset="0"/>
                <a:ea typeface="Calibri" pitchFamily="34" charset="-122"/>
                <a:cs typeface="Calibri" pitchFamily="34" charset="-120"/>
              </a:rPr>
              <a:t>Rules score the window mean or minimum, never a single sample; then the read tier reads a short history of recent windows and reduces it to a weight trend and a brood-thermal state, composed into one sentence per apiary. The judgement lives in the read tier, where that history is already at hand, so the dashboard says "weight rising, brood temperature has breached a safe threshold" rather than showing a number to interpret.</a:t>
            </a:r>
            <a:endParaRPr lang="en-US" sz="1350" dirty="0"/>
          </a:p>
        </p:txBody>
      </p:sp>
      <p:sp>
        <p:nvSpPr>
          <p:cNvPr id="9" name="Shape 7"/>
          <p:cNvSpPr/>
          <p:nvPr/>
        </p:nvSpPr>
        <p:spPr>
          <a:xfrm>
            <a:off x="5669280" y="3703320"/>
            <a:ext cx="841248" cy="512064"/>
          </a:xfrm>
          <a:prstGeom prst="rightArrow">
            <a:avLst/>
          </a:prstGeom>
          <a:solidFill>
            <a:srgbClr val="8A6516"/>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2026-07-24T07:05:04Z</dcterms:created>
  <dcterms:modified xsi:type="dcterms:W3CDTF">2026-07-24T07:05:04Z</dcterms:modified>
</cp:coreProperties>
</file>