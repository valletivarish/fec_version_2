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1889608" y="4526280"/>
            <a:ext cx="2651760" cy="566928"/>
          </a:xfrm>
          <a:prstGeom prst="roundRect">
            <a:avLst>
              <a:gd name="adj" fmla="val 50000"/>
            </a:avLst>
          </a:prstGeom>
          <a:solidFill>
            <a:srgbClr val="342914"/>
          </a:solidFill>
          <a:ln w="12700">
            <a:solidFill>
              <a:srgbClr val="E7C24A"/>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Brood 32–36 °C band</a:t>
            </a:r>
            <a:endParaRPr lang="en-US" sz="1350" dirty="0"/>
          </a:p>
        </p:txBody>
      </p:sp>
      <p:sp>
        <p:nvSpPr>
          <p:cNvPr id="7" name="Shape 5"/>
          <p:cNvSpPr/>
          <p:nvPr/>
        </p:nvSpPr>
        <p:spPr>
          <a:xfrm>
            <a:off x="4769968" y="4526280"/>
            <a:ext cx="2651760" cy="566928"/>
          </a:xfrm>
          <a:prstGeom prst="roundRect">
            <a:avLst>
              <a:gd name="adj" fmla="val 50000"/>
            </a:avLst>
          </a:prstGeom>
          <a:solidFill>
            <a:srgbClr val="342914"/>
          </a:solidFill>
          <a:ln w="12700">
            <a:solidFill>
              <a:srgbClr val="E7C24A"/>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Starvation &lt; 20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342914"/>
          </a:solidFill>
          <a:ln w="12700">
            <a:solidFill>
              <a:srgbClr val="E7C24A"/>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Swarm buzz &gt; 350 Hz</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6E6144"/>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1874520"/>
            <a:ext cx="2286000" cy="1280160"/>
          </a:xfrm>
          <a:prstGeom prst="roundRect">
            <a:avLst>
              <a:gd name="adj" fmla="val 7143"/>
            </a:avLst>
          </a:prstGeom>
          <a:solidFill>
            <a:srgbClr val="F7F2E3"/>
          </a:solidFill>
          <a:ln w="19050">
            <a:solidFill>
              <a:srgbClr val="D8AE3E"/>
            </a:solidFill>
            <a:prstDash val="solid"/>
          </a:ln>
        </p:spPr>
      </p:sp>
      <p:sp>
        <p:nvSpPr>
          <p:cNvPr id="4" name="Shape 2"/>
          <p:cNvSpPr/>
          <p:nvPr/>
        </p:nvSpPr>
        <p:spPr>
          <a:xfrm>
            <a:off x="1691640" y="2039112"/>
            <a:ext cx="182880" cy="182880"/>
          </a:xfrm>
          <a:prstGeom prst="ellipse">
            <a:avLst/>
          </a:prstGeom>
          <a:solidFill>
            <a:srgbClr val="D8AE3E"/>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Hive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10 · 2 apiaries</a:t>
            </a:r>
            <a:endParaRPr lang="en-US" sz="1050" dirty="0"/>
          </a:p>
        </p:txBody>
      </p:sp>
      <p:sp>
        <p:nvSpPr>
          <p:cNvPr id="7" name="Shape 5"/>
          <p:cNvSpPr/>
          <p:nvPr/>
        </p:nvSpPr>
        <p:spPr>
          <a:xfrm>
            <a:off x="2944368" y="2514600"/>
            <a:ext cx="1975104" cy="0"/>
          </a:xfrm>
          <a:prstGeom prst="line">
            <a:avLst/>
          </a:prstGeom>
          <a:noFill/>
          <a:ln w="25400">
            <a:solidFill>
              <a:srgbClr val="D8AE3E"/>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F7F2E3"/>
          </a:solidFill>
          <a:ln w="19050">
            <a:solidFill>
              <a:srgbClr val="D8AE3E"/>
            </a:solidFill>
            <a:prstDash val="solid"/>
          </a:ln>
        </p:spPr>
      </p:sp>
      <p:sp>
        <p:nvSpPr>
          <p:cNvPr id="9" name="Shape 7"/>
          <p:cNvSpPr/>
          <p:nvPr/>
        </p:nvSpPr>
        <p:spPr>
          <a:xfrm>
            <a:off x="5989320" y="2039112"/>
            <a:ext cx="182880" cy="182880"/>
          </a:xfrm>
          <a:prstGeom prst="ellipse">
            <a:avLst/>
          </a:prstGeom>
          <a:solidFill>
            <a:srgbClr val="D8AE3E"/>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10 s windows · colony rules</a:t>
            </a:r>
            <a:endParaRPr lang="en-US" sz="1050" dirty="0"/>
          </a:p>
        </p:txBody>
      </p:sp>
      <p:sp>
        <p:nvSpPr>
          <p:cNvPr id="12" name="Shape 10"/>
          <p:cNvSpPr/>
          <p:nvPr/>
        </p:nvSpPr>
        <p:spPr>
          <a:xfrm>
            <a:off x="7242048" y="2514600"/>
            <a:ext cx="1975104" cy="0"/>
          </a:xfrm>
          <a:prstGeom prst="line">
            <a:avLst/>
          </a:prstGeom>
          <a:noFill/>
          <a:ln w="25400">
            <a:solidFill>
              <a:srgbClr val="D8AE3E"/>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F7F2E3"/>
          </a:solidFill>
          <a:ln w="19050">
            <a:solidFill>
              <a:srgbClr val="8A6516"/>
            </a:solidFill>
            <a:prstDash val="solid"/>
          </a:ln>
        </p:spPr>
      </p:sp>
      <p:sp>
        <p:nvSpPr>
          <p:cNvPr id="14" name="Shape 12"/>
          <p:cNvSpPr/>
          <p:nvPr/>
        </p:nvSpPr>
        <p:spPr>
          <a:xfrm>
            <a:off x="10287000" y="2039112"/>
            <a:ext cx="182880" cy="182880"/>
          </a:xfrm>
          <a:prstGeom prst="ellipse">
            <a:avLst/>
          </a:prstGeom>
          <a:solidFill>
            <a:srgbClr val="8A6516"/>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9235440" y="3520440"/>
            <a:ext cx="2286000" cy="1280160"/>
          </a:xfrm>
          <a:prstGeom prst="roundRect">
            <a:avLst>
              <a:gd name="adj" fmla="val 7143"/>
            </a:avLst>
          </a:prstGeom>
          <a:solidFill>
            <a:srgbClr val="F7F2E3"/>
          </a:solidFill>
          <a:ln w="19050">
            <a:solidFill>
              <a:srgbClr val="8A6516"/>
            </a:solidFill>
            <a:prstDash val="solid"/>
          </a:ln>
        </p:spPr>
      </p:sp>
      <p:sp>
        <p:nvSpPr>
          <p:cNvPr id="18" name="Shape 16"/>
          <p:cNvSpPr/>
          <p:nvPr/>
        </p:nvSpPr>
        <p:spPr>
          <a:xfrm>
            <a:off x="10287000" y="3685032"/>
            <a:ext cx="182880" cy="182880"/>
          </a:xfrm>
          <a:prstGeom prst="ellipse">
            <a:avLst/>
          </a:prstGeom>
          <a:solidFill>
            <a:srgbClr val="8A6516"/>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nodejs20 ingest</a:t>
            </a:r>
            <a:endParaRPr lang="en-US" sz="1050" dirty="0"/>
          </a:p>
        </p:txBody>
      </p:sp>
      <p:sp>
        <p:nvSpPr>
          <p:cNvPr id="21" name="Shape 19"/>
          <p:cNvSpPr/>
          <p:nvPr/>
        </p:nvSpPr>
        <p:spPr>
          <a:xfrm>
            <a:off x="7242048" y="4160520"/>
            <a:ext cx="1975104" cy="0"/>
          </a:xfrm>
          <a:prstGeom prst="line">
            <a:avLst/>
          </a:prstGeom>
          <a:noFill/>
          <a:ln w="25400">
            <a:solidFill>
              <a:srgbClr val="D8AE3E"/>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F7F2E3"/>
          </a:solidFill>
          <a:ln w="19050">
            <a:solidFill>
              <a:srgbClr val="8A6516"/>
            </a:solidFill>
            <a:prstDash val="solid"/>
          </a:ln>
        </p:spPr>
      </p:sp>
      <p:sp>
        <p:nvSpPr>
          <p:cNvPr id="23" name="Shape 21"/>
          <p:cNvSpPr/>
          <p:nvPr/>
        </p:nvSpPr>
        <p:spPr>
          <a:xfrm>
            <a:off x="5989320" y="3685032"/>
            <a:ext cx="182880" cy="182880"/>
          </a:xfrm>
          <a:prstGeom prst="ellipse">
            <a:avLst/>
          </a:prstGeom>
          <a:solidFill>
            <a:srgbClr val="8A6516"/>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time-series store</a:t>
            </a:r>
            <a:endParaRPr lang="en-US" sz="1050" dirty="0"/>
          </a:p>
        </p:txBody>
      </p:sp>
      <p:sp>
        <p:nvSpPr>
          <p:cNvPr id="26" name="Shape 24"/>
          <p:cNvSpPr/>
          <p:nvPr/>
        </p:nvSpPr>
        <p:spPr>
          <a:xfrm>
            <a:off x="2944368" y="4160520"/>
            <a:ext cx="1975104" cy="0"/>
          </a:xfrm>
          <a:prstGeom prst="line">
            <a:avLst/>
          </a:prstGeom>
          <a:noFill/>
          <a:ln w="25400">
            <a:solidFill>
              <a:srgbClr val="D8AE3E"/>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F7F2E3"/>
          </a:solidFill>
          <a:ln w="19050">
            <a:solidFill>
              <a:srgbClr val="B98A1E"/>
            </a:solidFill>
            <a:prstDash val="solid"/>
          </a:ln>
        </p:spPr>
      </p:sp>
      <p:sp>
        <p:nvSpPr>
          <p:cNvPr id="28" name="Shape 26"/>
          <p:cNvSpPr/>
          <p:nvPr/>
        </p:nvSpPr>
        <p:spPr>
          <a:xfrm>
            <a:off x="1691640" y="3685032"/>
            <a:ext cx="182880" cy="182880"/>
          </a:xfrm>
          <a:prstGeom prst="ellipse">
            <a:avLst/>
          </a:prstGeom>
          <a:solidFill>
            <a:srgbClr val="B98A1E"/>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colony verdict cards</a:t>
            </a:r>
            <a:endParaRPr lang="en-US" sz="1050" dirty="0"/>
          </a:p>
        </p:txBody>
      </p:sp>
      <p:sp>
        <p:nvSpPr>
          <p:cNvPr id="31" name="Shape 29"/>
          <p:cNvSpPr/>
          <p:nvPr/>
        </p:nvSpPr>
        <p:spPr>
          <a:xfrm>
            <a:off x="10378440" y="3154680"/>
            <a:ext cx="0" cy="365760"/>
          </a:xfrm>
          <a:prstGeom prst="line">
            <a:avLst/>
          </a:prstGeom>
          <a:noFill/>
          <a:ln w="25400">
            <a:solidFill>
              <a:srgbClr val="D8AE3E"/>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F7F2E3"/>
          </a:solidFill>
          <a:ln w="15240">
            <a:solidFill>
              <a:srgbClr val="B98A1E"/>
            </a:solidFill>
            <a:prstDash val="solid"/>
          </a:ln>
        </p:spPr>
      </p:sp>
      <p:sp>
        <p:nvSpPr>
          <p:cNvPr id="5" name="Shape 3"/>
          <p:cNvSpPr/>
          <p:nvPr/>
        </p:nvSpPr>
        <p:spPr>
          <a:xfrm>
            <a:off x="914400" y="2194560"/>
            <a:ext cx="640080" cy="640080"/>
          </a:xfrm>
          <a:prstGeom prst="ellipse">
            <a:avLst/>
          </a:prstGeom>
          <a:solidFill>
            <a:srgbClr val="8A6516"/>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plain-language verdict per apiary</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Each colony card reads thriving, stressed or about to swarm — a conclusion, not five graphs to interpret.</a:t>
            </a:r>
            <a:endParaRPr lang="en-US" sz="1300" dirty="0"/>
          </a:p>
        </p:txBody>
      </p:sp>
      <p:sp>
        <p:nvSpPr>
          <p:cNvPr id="9" name="Shape 7"/>
          <p:cNvSpPr/>
          <p:nvPr/>
        </p:nvSpPr>
        <p:spPr>
          <a:xfrm>
            <a:off x="4416552" y="1874520"/>
            <a:ext cx="3502152" cy="3657600"/>
          </a:xfrm>
          <a:prstGeom prst="roundRect">
            <a:avLst>
              <a:gd name="adj" fmla="val 2611"/>
            </a:avLst>
          </a:prstGeom>
          <a:solidFill>
            <a:srgbClr val="F7F2E3"/>
          </a:solidFill>
          <a:ln w="15240">
            <a:solidFill>
              <a:srgbClr val="B98A1E"/>
            </a:solidFill>
            <a:prstDash val="solid"/>
          </a:ln>
        </p:spPr>
      </p:sp>
      <p:sp>
        <p:nvSpPr>
          <p:cNvPr id="10" name="Shape 8"/>
          <p:cNvSpPr/>
          <p:nvPr/>
        </p:nvSpPr>
        <p:spPr>
          <a:xfrm>
            <a:off x="4690872" y="2194560"/>
            <a:ext cx="640080" cy="640080"/>
          </a:xfrm>
          <a:prstGeom prst="ellipse">
            <a:avLst/>
          </a:prstGeom>
          <a:solidFill>
            <a:srgbClr val="8A6516"/>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brood-overheat alert with context</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banner names two firing brood-overheat conditions and reports brood temperature breaching a safe threshold while weight is rising.</a:t>
            </a:r>
            <a:endParaRPr lang="en-US" sz="1300" dirty="0"/>
          </a:p>
        </p:txBody>
      </p:sp>
      <p:sp>
        <p:nvSpPr>
          <p:cNvPr id="14" name="Shape 12"/>
          <p:cNvSpPr/>
          <p:nvPr/>
        </p:nvSpPr>
        <p:spPr>
          <a:xfrm>
            <a:off x="8193024" y="1874520"/>
            <a:ext cx="3502152" cy="3657600"/>
          </a:xfrm>
          <a:prstGeom prst="roundRect">
            <a:avLst>
              <a:gd name="adj" fmla="val 2611"/>
            </a:avLst>
          </a:prstGeom>
          <a:solidFill>
            <a:srgbClr val="F7F2E3"/>
          </a:solidFill>
          <a:ln w="15240">
            <a:solidFill>
              <a:srgbClr val="B98A1E"/>
            </a:solidFill>
            <a:prstDash val="solid"/>
          </a:ln>
        </p:spPr>
      </p:sp>
      <p:sp>
        <p:nvSpPr>
          <p:cNvPr id="15" name="Shape 13"/>
          <p:cNvSpPr/>
          <p:nvPr/>
        </p:nvSpPr>
        <p:spPr>
          <a:xfrm>
            <a:off x="8467344" y="2194560"/>
            <a:ext cx="640080" cy="640080"/>
          </a:xfrm>
          <a:prstGeom prst="ellipse">
            <a:avLst/>
          </a:prstGeom>
          <a:solidFill>
            <a:srgbClr val="8A6516"/>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Sound leads the other signals</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acoustic swarming-precursor rule flags a rising hum above 350 Hz before the weight even moves.</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D8AE3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0F"/>
                </a:solidFill>
                <a:latin typeface="Century Schoolbook" pitchFamily="34" charset="0"/>
                <a:ea typeface="Century Schoolbook" pitchFamily="34" charset="-122"/>
                <a:cs typeface="Century Schoolbook" pitchFamily="34" charset="-120"/>
              </a:rPr>
              <a:t>Hardest Part — a verdict, not a jittery number</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E7C24A"/>
                </a:solidFill>
                <a:latin typeface="Century Schoolbook" pitchFamily="34" charset="0"/>
                <a:ea typeface="Century Schoolbook" pitchFamily="34" charset="-122"/>
                <a:cs typeface="Century Schoolbook"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E7C24A"/>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81F0F"/>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B98A1E"/>
                </a:solidFill>
                <a:latin typeface="Century Schoolbook" pitchFamily="34" charset="0"/>
                <a:ea typeface="Century Schoolbook" pitchFamily="34" charset="-122"/>
                <a:cs typeface="Century Schoolbook"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B98A1E"/>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81F0F"/>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