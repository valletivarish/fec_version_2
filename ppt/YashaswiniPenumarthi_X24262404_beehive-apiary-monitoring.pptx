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1889608" y="4526280"/>
            <a:ext cx="2651760" cy="566928"/>
          </a:xfrm>
          <a:prstGeom prst="roundRect">
            <a:avLst>
              <a:gd name="adj" fmla="val 50000"/>
            </a:avLst>
          </a:prstGeom>
          <a:solidFill>
            <a:srgbClr val="342914"/>
          </a:solidFill>
          <a:ln w="12700">
            <a:solidFill>
              <a:srgbClr val="E7C24A"/>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Brood 32–36 °C band</a:t>
            </a:r>
            <a:endParaRPr lang="en-US" sz="1350" dirty="0"/>
          </a:p>
        </p:txBody>
      </p:sp>
      <p:sp>
        <p:nvSpPr>
          <p:cNvPr id="7" name="Shape 5"/>
          <p:cNvSpPr/>
          <p:nvPr/>
        </p:nvSpPr>
        <p:spPr>
          <a:xfrm>
            <a:off x="4769968" y="4526280"/>
            <a:ext cx="2651760" cy="566928"/>
          </a:xfrm>
          <a:prstGeom prst="roundRect">
            <a:avLst>
              <a:gd name="adj" fmla="val 50000"/>
            </a:avLst>
          </a:prstGeom>
          <a:solidFill>
            <a:srgbClr val="342914"/>
          </a:solidFill>
          <a:ln w="12700">
            <a:solidFill>
              <a:srgbClr val="E7C24A"/>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Starvation &lt; 20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342914"/>
          </a:solidFill>
          <a:ln w="12700">
            <a:solidFill>
              <a:srgbClr val="E7C24A"/>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Swarm buzz &gt; 350 Hz</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6E6144"/>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7F2E3"/>
          </a:solidFill>
          <a:ln w="19050">
            <a:solidFill>
              <a:srgbClr val="D8AE3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E3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E3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Hive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 2 apiaries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E3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s windows · colony rules</a:t>
            </a:r>
            <a:endParaRPr lang="en-US" sz="1000" dirty="0"/>
          </a:p>
        </p:txBody>
      </p:sp>
      <p:sp>
        <p:nvSpPr>
          <p:cNvPr id="11" name="Shape 9"/>
          <p:cNvSpPr/>
          <p:nvPr/>
        </p:nvSpPr>
        <p:spPr>
          <a:xfrm>
            <a:off x="3886200" y="3246120"/>
            <a:ext cx="502920" cy="0"/>
          </a:xfrm>
          <a:prstGeom prst="line">
            <a:avLst/>
          </a:prstGeom>
          <a:noFill/>
          <a:ln w="31750">
            <a:solidFill>
              <a:srgbClr val="8A65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2E3"/>
          </a:solidFill>
          <a:ln w="19050">
            <a:solidFill>
              <a:srgbClr val="8A65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65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65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1 summary / window</a:t>
            </a:r>
            <a:endParaRPr lang="en-US" sz="900" dirty="0"/>
          </a:p>
        </p:txBody>
      </p:sp>
      <p:sp>
        <p:nvSpPr>
          <p:cNvPr id="17" name="Shape 15"/>
          <p:cNvSpPr/>
          <p:nvPr/>
        </p:nvSpPr>
        <p:spPr>
          <a:xfrm>
            <a:off x="6318504" y="3337560"/>
            <a:ext cx="164592" cy="0"/>
          </a:xfrm>
          <a:prstGeom prst="line">
            <a:avLst/>
          </a:prstGeom>
          <a:noFill/>
          <a:ln w="20320">
            <a:solidFill>
              <a:srgbClr val="D8AE3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65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D8AE3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65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time-series store</a:t>
            </a:r>
            <a:endParaRPr lang="en-US" sz="900" dirty="0"/>
          </a:p>
        </p:txBody>
      </p:sp>
      <p:sp>
        <p:nvSpPr>
          <p:cNvPr id="25" name="Shape 23"/>
          <p:cNvSpPr/>
          <p:nvPr/>
        </p:nvSpPr>
        <p:spPr>
          <a:xfrm>
            <a:off x="9610344" y="3337560"/>
            <a:ext cx="164592" cy="0"/>
          </a:xfrm>
          <a:prstGeom prst="line">
            <a:avLst/>
          </a:prstGeom>
          <a:noFill/>
          <a:ln w="20320">
            <a:solidFill>
              <a:srgbClr val="D8AE3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A1E"/>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colony verdict cards</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7F2E3"/>
          </a:solidFill>
          <a:ln w="15240">
            <a:solidFill>
              <a:srgbClr val="B98A1E"/>
            </a:solidFill>
            <a:prstDash val="solid"/>
          </a:ln>
        </p:spPr>
      </p:sp>
      <p:sp>
        <p:nvSpPr>
          <p:cNvPr id="5" name="Shape 3"/>
          <p:cNvSpPr/>
          <p:nvPr/>
        </p:nvSpPr>
        <p:spPr>
          <a:xfrm>
            <a:off x="960120" y="2203704"/>
            <a:ext cx="621792" cy="621792"/>
          </a:xfrm>
          <a:prstGeom prst="ellipse">
            <a:avLst/>
          </a:prstGeom>
          <a:solidFill>
            <a:srgbClr val="8A6516"/>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plain-language verdict per apiary</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Each colony card reads thriving, stressed or about to swarm — a conclusion, not five graphs to interpret.</a:t>
            </a:r>
            <a:endParaRPr lang="en-US" sz="1300" dirty="0"/>
          </a:p>
        </p:txBody>
      </p:sp>
      <p:sp>
        <p:nvSpPr>
          <p:cNvPr id="9" name="Shape 7"/>
          <p:cNvSpPr/>
          <p:nvPr/>
        </p:nvSpPr>
        <p:spPr>
          <a:xfrm>
            <a:off x="640080" y="3346704"/>
            <a:ext cx="10881360" cy="1371600"/>
          </a:xfrm>
          <a:prstGeom prst="roundRect">
            <a:avLst>
              <a:gd name="adj" fmla="val 6667"/>
            </a:avLst>
          </a:prstGeom>
          <a:solidFill>
            <a:srgbClr val="F7F2E3"/>
          </a:solidFill>
          <a:ln w="15240">
            <a:solidFill>
              <a:srgbClr val="B98A1E"/>
            </a:solidFill>
            <a:prstDash val="solid"/>
          </a:ln>
        </p:spPr>
      </p:sp>
      <p:sp>
        <p:nvSpPr>
          <p:cNvPr id="10" name="Shape 8"/>
          <p:cNvSpPr/>
          <p:nvPr/>
        </p:nvSpPr>
        <p:spPr>
          <a:xfrm>
            <a:off x="960120" y="3721608"/>
            <a:ext cx="621792" cy="621792"/>
          </a:xfrm>
          <a:prstGeom prst="ellipse">
            <a:avLst/>
          </a:prstGeom>
          <a:solidFill>
            <a:srgbClr val="8A6516"/>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brood-overheat alert with context</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banner names two firing brood-overheat conditions and reports brood temperature breaching a safe threshold while weight is rising.</a:t>
            </a:r>
            <a:endParaRPr lang="en-US" sz="1300" dirty="0"/>
          </a:p>
        </p:txBody>
      </p:sp>
      <p:sp>
        <p:nvSpPr>
          <p:cNvPr id="14" name="Shape 12"/>
          <p:cNvSpPr/>
          <p:nvPr/>
        </p:nvSpPr>
        <p:spPr>
          <a:xfrm>
            <a:off x="640080" y="4864608"/>
            <a:ext cx="10881360" cy="1371600"/>
          </a:xfrm>
          <a:prstGeom prst="roundRect">
            <a:avLst>
              <a:gd name="adj" fmla="val 6667"/>
            </a:avLst>
          </a:prstGeom>
          <a:solidFill>
            <a:srgbClr val="F7F2E3"/>
          </a:solidFill>
          <a:ln w="15240">
            <a:solidFill>
              <a:srgbClr val="B98A1E"/>
            </a:solidFill>
            <a:prstDash val="solid"/>
          </a:ln>
        </p:spPr>
      </p:sp>
      <p:sp>
        <p:nvSpPr>
          <p:cNvPr id="15" name="Shape 13"/>
          <p:cNvSpPr/>
          <p:nvPr/>
        </p:nvSpPr>
        <p:spPr>
          <a:xfrm>
            <a:off x="960120" y="5239512"/>
            <a:ext cx="621792" cy="621792"/>
          </a:xfrm>
          <a:prstGeom prst="ellipse">
            <a:avLst/>
          </a:prstGeom>
          <a:solidFill>
            <a:srgbClr val="8A6516"/>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Sound leads the other signals</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acoustic swarming-precursor rule flags a rising hum above 350 Hz before the weight even moves.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0F"/>
                </a:solidFill>
                <a:latin typeface="Century Schoolbook" pitchFamily="34" charset="0"/>
                <a:ea typeface="Century Schoolbook" pitchFamily="34" charset="-122"/>
                <a:cs typeface="Century Schoolbook" pitchFamily="34" charset="-120"/>
              </a:rPr>
              <a:t>Hardest Part — a verdict, not a jittery number</a:t>
            </a:r>
            <a:endParaRPr lang="en-US" sz="2800" dirty="0"/>
          </a:p>
        </p:txBody>
      </p:sp>
      <p:sp>
        <p:nvSpPr>
          <p:cNvPr id="3" name="Shape 1"/>
          <p:cNvSpPr/>
          <p:nvPr/>
        </p:nvSpPr>
        <p:spPr>
          <a:xfrm>
            <a:off x="640080" y="1874520"/>
            <a:ext cx="4937760" cy="4160520"/>
          </a:xfrm>
          <a:prstGeom prst="roundRect">
            <a:avLst>
              <a:gd name="adj" fmla="val 2198"/>
            </a:avLst>
          </a:prstGeom>
          <a:solidFill>
            <a:srgbClr val="F7F2E3"/>
          </a:solidFill>
          <a:ln w="19050">
            <a:solidFill>
              <a:srgbClr val="E7C24A"/>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350" dirty="0"/>
          </a:p>
        </p:txBody>
      </p:sp>
      <p:sp>
        <p:nvSpPr>
          <p:cNvPr id="6" name="Shape 4"/>
          <p:cNvSpPr/>
          <p:nvPr/>
        </p:nvSpPr>
        <p:spPr>
          <a:xfrm>
            <a:off x="6611112" y="1874520"/>
            <a:ext cx="4937760" cy="4160520"/>
          </a:xfrm>
          <a:prstGeom prst="roundRect">
            <a:avLst>
              <a:gd name="adj" fmla="val 2198"/>
            </a:avLst>
          </a:prstGeom>
          <a:solidFill>
            <a:srgbClr val="F7F2E3"/>
          </a:solidFill>
          <a:ln w="19050">
            <a:solidFill>
              <a:srgbClr val="B98A1E"/>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B98A1E"/>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350" dirty="0"/>
          </a:p>
        </p:txBody>
      </p:sp>
      <p:sp>
        <p:nvSpPr>
          <p:cNvPr id="9" name="Shape 7"/>
          <p:cNvSpPr/>
          <p:nvPr/>
        </p:nvSpPr>
        <p:spPr>
          <a:xfrm>
            <a:off x="5669280" y="3703320"/>
            <a:ext cx="841248" cy="512064"/>
          </a:xfrm>
          <a:prstGeom prst="rightArrow">
            <a:avLst/>
          </a:prstGeom>
          <a:solidFill>
            <a:srgbClr val="8A651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