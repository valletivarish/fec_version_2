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6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51560"/>
            <a:ext cx="11064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Bridge Structural Health Monitoring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22860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48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Kasireddy Vadicherla   ·   X25104047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2926080"/>
            <a:ext cx="9235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D2D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authorities assess bridges by visual inspection on a cycle measured in years — while the deck keeps working, strain cycles and thermal joint movement accumulate unseen every day.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889608" y="4526280"/>
            <a:ext cx="2651760" cy="566928"/>
          </a:xfrm>
          <a:prstGeom prst="roundRect">
            <a:avLst>
              <a:gd name="adj" fmla="val 50000"/>
            </a:avLst>
          </a:prstGeom>
          <a:solidFill>
            <a:srgbClr val="E0A63C"/>
          </a:solidFill>
          <a:ln/>
        </p:spPr>
      </p:sp>
      <p:sp>
        <p:nvSpPr>
          <p:cNvPr id="6" name="Text 4"/>
          <p:cNvSpPr/>
          <p:nvPr/>
        </p:nvSpPr>
        <p:spPr>
          <a:xfrm>
            <a:off x="1889608" y="452628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between inspections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769968" y="4526280"/>
            <a:ext cx="2651760" cy="566928"/>
          </a:xfrm>
          <a:prstGeom prst="roundRect">
            <a:avLst>
              <a:gd name="adj" fmla="val 50000"/>
            </a:avLst>
          </a:prstGeom>
          <a:solidFill>
            <a:srgbClr val="E0A63C"/>
          </a:solidFill>
          <a:ln/>
        </p:spPr>
      </p:sp>
      <p:sp>
        <p:nvSpPr>
          <p:cNvPr id="8" name="Text 6"/>
          <p:cNvSpPr/>
          <p:nvPr/>
        </p:nvSpPr>
        <p:spPr>
          <a:xfrm>
            <a:off x="4769968" y="452628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strain accrues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650328" y="4526280"/>
            <a:ext cx="2651760" cy="566928"/>
          </a:xfrm>
          <a:prstGeom prst="roundRect">
            <a:avLst>
              <a:gd name="adj" fmla="val 50000"/>
            </a:avLst>
          </a:prstGeom>
          <a:solidFill>
            <a:srgbClr val="E0A63C"/>
          </a:solidFill>
          <a:ln/>
        </p:spPr>
      </p:sp>
      <p:sp>
        <p:nvSpPr>
          <p:cNvPr id="10" name="Text 8"/>
          <p:cNvSpPr/>
          <p:nvPr/>
        </p:nvSpPr>
        <p:spPr>
          <a:xfrm>
            <a:off x="7650328" y="452628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visibility in the gap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6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I Built — Bridge to Browser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874520"/>
            <a:ext cx="2286000" cy="1280160"/>
          </a:xfrm>
          <a:prstGeom prst="roundRect">
            <a:avLst>
              <a:gd name="adj" fmla="val 7143"/>
            </a:avLst>
          </a:prstGeom>
          <a:solidFill>
            <a:srgbClr val="EEF2F4"/>
          </a:solidFill>
          <a:ln w="19050">
            <a:solidFill>
              <a:srgbClr val="7489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91640" y="2039112"/>
            <a:ext cx="182880" cy="182880"/>
          </a:xfrm>
          <a:prstGeom prst="ellipse">
            <a:avLst/>
          </a:prstGeom>
          <a:solidFill>
            <a:srgbClr val="74899A"/>
          </a:solidFill>
          <a:ln/>
        </p:spPr>
      </p:sp>
      <p:sp>
        <p:nvSpPr>
          <p:cNvPr id="5" name="Text 3"/>
          <p:cNvSpPr/>
          <p:nvPr/>
        </p:nvSpPr>
        <p:spPr>
          <a:xfrm>
            <a:off x="612648" y="2258568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 sensors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40080" y="26060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2 spans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944368" y="2514600"/>
            <a:ext cx="1975104" cy="0"/>
          </a:xfrm>
          <a:prstGeom prst="line">
            <a:avLst/>
          </a:prstGeom>
          <a:noFill/>
          <a:ln w="25400">
            <a:solidFill>
              <a:srgbClr val="74899A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937760" y="1874520"/>
            <a:ext cx="2286000" cy="1280160"/>
          </a:xfrm>
          <a:prstGeom prst="roundRect">
            <a:avLst>
              <a:gd name="adj" fmla="val 7143"/>
            </a:avLst>
          </a:prstGeom>
          <a:solidFill>
            <a:srgbClr val="EEF2F4"/>
          </a:solidFill>
          <a:ln w="19050">
            <a:solidFill>
              <a:srgbClr val="74899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89320" y="2039112"/>
            <a:ext cx="182880" cy="182880"/>
          </a:xfrm>
          <a:prstGeom prst="ellipse">
            <a:avLst/>
          </a:prstGeom>
          <a:solidFill>
            <a:srgbClr val="74899A"/>
          </a:solidFill>
          <a:ln/>
        </p:spPr>
      </p:sp>
      <p:sp>
        <p:nvSpPr>
          <p:cNvPr id="10" name="Text 8"/>
          <p:cNvSpPr/>
          <p:nvPr/>
        </p:nvSpPr>
        <p:spPr>
          <a:xfrm>
            <a:off x="4910328" y="2258568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 node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937760" y="26060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· 4 thresholds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242048" y="2514600"/>
            <a:ext cx="1975104" cy="0"/>
          </a:xfrm>
          <a:prstGeom prst="line">
            <a:avLst/>
          </a:prstGeom>
          <a:noFill/>
          <a:ln w="25400">
            <a:solidFill>
              <a:srgbClr val="74899A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235440" y="1874520"/>
            <a:ext cx="2286000" cy="1280160"/>
          </a:xfrm>
          <a:prstGeom prst="roundRect">
            <a:avLst>
              <a:gd name="adj" fmla="val 7143"/>
            </a:avLst>
          </a:prstGeom>
          <a:solidFill>
            <a:srgbClr val="EEF2F4"/>
          </a:solidFill>
          <a:ln w="19050">
            <a:solidFill>
              <a:srgbClr val="33454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87000" y="2039112"/>
            <a:ext cx="182880" cy="182880"/>
          </a:xfrm>
          <a:prstGeom prst="ellipse">
            <a:avLst/>
          </a:prstGeom>
          <a:solidFill>
            <a:srgbClr val="33454E"/>
          </a:solidFill>
          <a:ln/>
        </p:spPr>
      </p:sp>
      <p:sp>
        <p:nvSpPr>
          <p:cNvPr id="15" name="Text 13"/>
          <p:cNvSpPr/>
          <p:nvPr/>
        </p:nvSpPr>
        <p:spPr>
          <a:xfrm>
            <a:off x="9208008" y="2258568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SQS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9235440" y="26060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batched summaries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235440" y="3520440"/>
            <a:ext cx="2286000" cy="1280160"/>
          </a:xfrm>
          <a:prstGeom prst="roundRect">
            <a:avLst>
              <a:gd name="adj" fmla="val 7143"/>
            </a:avLst>
          </a:prstGeom>
          <a:solidFill>
            <a:srgbClr val="EEF2F4"/>
          </a:solidFill>
          <a:ln w="19050">
            <a:solidFill>
              <a:srgbClr val="33454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287000" y="3685032"/>
            <a:ext cx="182880" cy="182880"/>
          </a:xfrm>
          <a:prstGeom prst="ellipse">
            <a:avLst/>
          </a:prstGeom>
          <a:solidFill>
            <a:srgbClr val="33454E"/>
          </a:solidFill>
          <a:ln/>
        </p:spPr>
      </p:sp>
      <p:sp>
        <p:nvSpPr>
          <p:cNvPr id="19" name="Text 17"/>
          <p:cNvSpPr/>
          <p:nvPr/>
        </p:nvSpPr>
        <p:spPr>
          <a:xfrm>
            <a:off x="9208008" y="3904488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Lambda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9235440" y="42519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python3.12 ingest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242048" y="4160520"/>
            <a:ext cx="1975104" cy="0"/>
          </a:xfrm>
          <a:prstGeom prst="line">
            <a:avLst/>
          </a:prstGeom>
          <a:noFill/>
          <a:ln w="25400">
            <a:solidFill>
              <a:srgbClr val="74899A"/>
            </a:solidFill>
            <a:prstDash val="solid"/>
            <a:headEnd type="triangle"/>
            <a:tailEnd type="oval"/>
          </a:ln>
        </p:spPr>
      </p:sp>
      <p:sp>
        <p:nvSpPr>
          <p:cNvPr id="22" name="Shape 20"/>
          <p:cNvSpPr/>
          <p:nvPr/>
        </p:nvSpPr>
        <p:spPr>
          <a:xfrm>
            <a:off x="4937760" y="3520440"/>
            <a:ext cx="2286000" cy="1280160"/>
          </a:xfrm>
          <a:prstGeom prst="roundRect">
            <a:avLst>
              <a:gd name="adj" fmla="val 7143"/>
            </a:avLst>
          </a:prstGeom>
          <a:solidFill>
            <a:srgbClr val="EEF2F4"/>
          </a:solidFill>
          <a:ln w="19050">
            <a:solidFill>
              <a:srgbClr val="33454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89320" y="3685032"/>
            <a:ext cx="182880" cy="182880"/>
          </a:xfrm>
          <a:prstGeom prst="ellipse">
            <a:avLst/>
          </a:prstGeom>
          <a:solidFill>
            <a:srgbClr val="33454E"/>
          </a:solidFill>
          <a:ln/>
        </p:spPr>
      </p:sp>
      <p:sp>
        <p:nvSpPr>
          <p:cNvPr id="24" name="Text 22"/>
          <p:cNvSpPr/>
          <p:nvPr/>
        </p:nvSpPr>
        <p:spPr>
          <a:xfrm>
            <a:off x="4910328" y="3904488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4937760" y="42519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time-keyed store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944368" y="4160520"/>
            <a:ext cx="1975104" cy="0"/>
          </a:xfrm>
          <a:prstGeom prst="line">
            <a:avLst/>
          </a:prstGeom>
          <a:noFill/>
          <a:ln w="25400">
            <a:solidFill>
              <a:srgbClr val="74899A"/>
            </a:solidFill>
            <a:prstDash val="solid"/>
            <a:headEnd type="triangle"/>
            <a:tailEnd type="oval"/>
          </a:ln>
        </p:spPr>
      </p:sp>
      <p:sp>
        <p:nvSpPr>
          <p:cNvPr id="27" name="Shape 25"/>
          <p:cNvSpPr/>
          <p:nvPr/>
        </p:nvSpPr>
        <p:spPr>
          <a:xfrm>
            <a:off x="640080" y="3520440"/>
            <a:ext cx="2286000" cy="1280160"/>
          </a:xfrm>
          <a:prstGeom prst="roundRect">
            <a:avLst>
              <a:gd name="adj" fmla="val 7143"/>
            </a:avLst>
          </a:prstGeom>
          <a:solidFill>
            <a:srgbClr val="EEF2F4"/>
          </a:solidFill>
          <a:ln w="19050">
            <a:solidFill>
              <a:srgbClr val="4E677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691640" y="3685032"/>
            <a:ext cx="182880" cy="182880"/>
          </a:xfrm>
          <a:prstGeom prst="ellipse">
            <a:avLst/>
          </a:prstGeom>
          <a:solidFill>
            <a:srgbClr val="4E6773"/>
          </a:solidFill>
          <a:ln/>
        </p:spPr>
      </p:sp>
      <p:sp>
        <p:nvSpPr>
          <p:cNvPr id="29" name="Text 27"/>
          <p:cNvSpPr/>
          <p:nvPr/>
        </p:nvSpPr>
        <p:spPr>
          <a:xfrm>
            <a:off x="612648" y="3904488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GW + S3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640080" y="42519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index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10378440" y="3154680"/>
            <a:ext cx="0" cy="365760"/>
          </a:xfrm>
          <a:prstGeom prst="line">
            <a:avLst/>
          </a:prstGeom>
          <a:noFill/>
          <a:ln w="25400">
            <a:solidFill>
              <a:srgbClr val="74899A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640080" y="52578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334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10-second window becomes one min/max/average per sensor, checked against four thresholds at the fog node; the dashboard folds each span into a 0-100 integrity index.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6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Live Demo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143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E67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bshm-frontend-661886400169.s3.us-east-1.amazonaws.com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EEF2F4"/>
          </a:solidFill>
          <a:ln w="15240">
            <a:solidFill>
              <a:srgbClr val="4E677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148840"/>
            <a:ext cx="603504" cy="603504"/>
          </a:xfrm>
          <a:prstGeom prst="ellipse">
            <a:avLst/>
          </a:prstGeom>
          <a:solidFill>
            <a:srgbClr val="33454E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488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2898648"/>
            <a:ext cx="2953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0-to-100 integrity index per span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657600"/>
            <a:ext cx="295351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6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folds each span's strain average and peak vibration into one structural integrity index, live on read.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16552" y="187452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EEF2F4"/>
          </a:solidFill>
          <a:ln w="15240">
            <a:solidFill>
              <a:srgbClr val="4E677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90872" y="2148840"/>
            <a:ext cx="603504" cy="603504"/>
          </a:xfrm>
          <a:prstGeom prst="ellipse">
            <a:avLst/>
          </a:prstGeom>
          <a:solidFill>
            <a:srgbClr val="33454E"/>
          </a:solidFill>
          <a:ln/>
        </p:spPr>
      </p:sp>
      <p:sp>
        <p:nvSpPr>
          <p:cNvPr id="11" name="Text 9"/>
          <p:cNvSpPr/>
          <p:nvPr/>
        </p:nvSpPr>
        <p:spPr>
          <a:xfrm>
            <a:off x="4690872" y="21488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90872" y="2898648"/>
            <a:ext cx="2953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spans, tracked live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90872" y="3657600"/>
            <a:ext cx="295351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6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Span-A reads 100 percent with no active alerts and Span-B reads 76.8 percent, good and tracking real readings.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93024" y="187452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EEF2F4"/>
          </a:solidFill>
          <a:ln w="15240">
            <a:solidFill>
              <a:srgbClr val="4E677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67344" y="2148840"/>
            <a:ext cx="603504" cy="603504"/>
          </a:xfrm>
          <a:prstGeom prst="ellipse">
            <a:avLst/>
          </a:prstGeom>
          <a:solidFill>
            <a:srgbClr val="33454E"/>
          </a:solidFill>
          <a:ln/>
        </p:spPr>
      </p:sp>
      <p:sp>
        <p:nvSpPr>
          <p:cNvPr id="16" name="Text 14"/>
          <p:cNvSpPr/>
          <p:nvPr/>
        </p:nvSpPr>
        <p:spPr>
          <a:xfrm>
            <a:off x="8467344" y="21488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467344" y="2898648"/>
            <a:ext cx="2953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index reaches zero where an alert fires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67344" y="3657600"/>
            <a:ext cx="295351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6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critical bound equals the alert threshold, so the number and the alarm agree by construction.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6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Hardest Part — one risky Terraform apply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874520"/>
            <a:ext cx="4937760" cy="4160520"/>
          </a:xfrm>
          <a:prstGeom prst="roundRect">
            <a:avLst>
              <a:gd name="adj" fmla="val 2198"/>
            </a:avLst>
          </a:prstGeom>
          <a:solidFill>
            <a:srgbClr val="EEF2F4"/>
          </a:solidFill>
          <a:ln w="19050">
            <a:solidFill>
              <a:srgbClr val="E0A6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2103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0A63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Problem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960120" y="2651760"/>
            <a:ext cx="4343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E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project here deploys through one shared Terraform module, and its local state file already tracked a different live AWS stack under the default workspace. Nothing in my code was wrong — but applied against that workspace, Terraform reconciles state and plans to destroy the other deployment's live resources. The only warning is one line of plan output.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611112" y="1874520"/>
            <a:ext cx="4937760" cy="4160520"/>
          </a:xfrm>
          <a:prstGeom prst="roundRect">
            <a:avLst>
              <a:gd name="adj" fmla="val 2198"/>
            </a:avLst>
          </a:prstGeom>
          <a:solidFill>
            <a:srgbClr val="EEF2F4"/>
          </a:solidFill>
          <a:ln w="19050">
            <a:solidFill>
              <a:srgbClr val="4E677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31152" y="2103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E677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Solution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931152" y="2651760"/>
            <a:ext cx="4343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E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workspace was created first, and the re-plan read "24 to add, 0 to change, 0 to destroy"; then a single apply built all 24 resources, healthy within a minute. Never apply an unread plan. The same pre-deploy audit also caught two silent defects — a pagination undercount and unbatched publishing — both fixed and regression-tested before launch.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0" y="3703320"/>
            <a:ext cx="841248" cy="512064"/>
          </a:xfrm>
          <a:prstGeom prst="rightArrow">
            <a:avLst/>
          </a:prstGeom>
          <a:solidFill>
            <a:srgbClr val="33454E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2026-07-24T07:37:26Z</dcterms:created>
  <dcterms:modified xsi:type="dcterms:W3CDTF">2026-07-24T07:37:26Z</dcterms:modified>
</cp:coreProperties>
</file>