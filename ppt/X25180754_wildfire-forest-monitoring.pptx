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965960"/>
            <a:ext cx="10725912" cy="27432"/>
          </a:xfrm>
          <a:prstGeom prst="rect">
            <a:avLst/>
          </a:prstGeom>
          <a:solidFill>
            <a:srgbClr val="23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48840"/>
            <a:ext cx="10698480" cy="1371600"/>
          </a:xfrm>
          <a:prstGeom prst="rect">
            <a:avLst/>
          </a:prstGeom>
          <a:noFill/>
        </p:spPr>
        <p:txBody>
          <a:bodyPr wrap="square" anchor="t">
            <a:spAutoFit/>
          </a:bodyPr>
          <a:lstStyle/>
          <a:p>
            <a:pPr algn="l"/>
            <a:r>
              <a:rPr sz="4000" b="1">
                <a:solidFill>
                  <a:srgbClr val="B23A26"/>
                </a:solidFill>
                <a:latin typeface="Book Antiqua"/>
              </a:rPr>
              <a:t>Wildfire Forest Monitoring</a:t>
            </a:r>
          </a:p>
        </p:txBody>
      </p:sp>
      <p:sp>
        <p:nvSpPr>
          <p:cNvPr id="4" name="Rectangle 3"/>
          <p:cNvSpPr/>
          <p:nvPr/>
        </p:nvSpPr>
        <p:spPr>
          <a:xfrm>
            <a:off x="731520" y="3429000"/>
            <a:ext cx="10725912" cy="50292"/>
          </a:xfrm>
          <a:prstGeom prst="rect">
            <a:avLst/>
          </a:prstGeom>
          <a:solidFill>
            <a:srgbClr val="B23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0"/>
            <a:ext cx="10698480" cy="2011680"/>
          </a:xfrm>
          <a:prstGeom prst="rect">
            <a:avLst/>
          </a:prstGeom>
          <a:noFill/>
        </p:spPr>
        <p:txBody>
          <a:bodyPr wrap="square" anchor="t">
            <a:spAutoFit/>
          </a:bodyPr>
          <a:lstStyle/>
          <a:p>
            <a:pPr algn="l"/>
            <a:r>
              <a:rPr sz="1800" b="0">
                <a:solidFill>
                  <a:srgbClr val="5C655F"/>
                </a:solidFill>
                <a:latin typeface="Cambria"/>
              </a:rPr>
              <a:t>Real-time fire-risk telemetry from remote ranger stations, forest edge to cloud</a:t>
            </a:r>
          </a:p>
          <a:p>
            <a:pPr algn="l"/>
            <a:r>
              <a:rPr sz="1600" b="1">
                <a:solidFill>
                  <a:srgbClr val="232A26"/>
                </a:solidFill>
                <a:latin typeface="Cambria"/>
              </a:rPr>
              <a:t>Deekonda Rakshan    Student ID X25180754</a:t>
            </a:r>
          </a:p>
          <a:p>
            <a:pPr algn="l"/>
            <a:r>
              <a:rPr sz="1300" b="0">
                <a:solidFill>
                  <a:srgbClr val="5C655F"/>
                </a:solidFill>
                <a:latin typeface="Cambria"/>
              </a:rPr>
              <a:t>MSc in Cloud Computing   ·   Fog and Edge Computing (H9FECC)</a:t>
            </a:r>
          </a:p>
          <a:p>
            <a:pPr algn="l"/>
            <a:r>
              <a:rPr sz="1300" b="0">
                <a:solidFill>
                  <a:srgbClr val="5C655F"/>
                </a:solidFill>
                <a:latin typeface="Cambria"/>
              </a:rPr>
              <a:t>National College of Ireland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11480"/>
            <a:ext cx="10972800" cy="822960"/>
          </a:xfrm>
        </p:spPr>
        <p:txBody>
          <a:bodyPr wrap="square" anchor="t"/>
          <a:lstStyle/>
          <a:p>
            <a:pPr algn="l"/>
            <a:r>
              <a:rPr b="1" sz="2700">
                <a:solidFill>
                  <a:srgbClr val="232A26"/>
                </a:solidFill>
                <a:latin typeface="Book Antiqua"/>
              </a:rPr>
              <a:t>Why patrols and periodic checks fail</a:t>
            </a:r>
          </a:p>
        </p:txBody>
      </p:sp>
      <p:sp>
        <p:nvSpPr>
          <p:cNvPr id="3" name="Content Placeholder 2"/>
          <p:cNvSpPr>
            <a:spLocks noGrp="1"/>
          </p:cNvSpPr>
          <p:nvPr>
            <p:ph idx="1"/>
          </p:nvPr>
        </p:nvSpPr>
        <p:spPr>
          <a:xfrm>
            <a:off x="658368" y="1463040"/>
            <a:ext cx="10972800" cy="4663440"/>
          </a:xfrm>
        </p:spPr>
        <p:txBody>
          <a:bodyPr wrap="square">
            <a:normAutofit/>
          </a:bodyPr>
          <a:lstStyle/>
          <a:p>
            <a:pPr>
              <a:spcAft>
                <a:spcPts val="600"/>
              </a:spcAft>
            </a:pPr>
            <a:r>
              <a:rPr sz="1500" b="1">
                <a:solidFill>
                  <a:srgbClr val="B23A26"/>
                </a:solidFill>
                <a:latin typeface="Cambria"/>
              </a:rPr>
              <a:t>Wildfire risk moves faster than any inspection schedule.</a:t>
            </a:r>
          </a:p>
          <a:p>
            <a:pPr>
              <a:spcAft>
                <a:spcPts val="600"/>
              </a:spcAft>
            </a:pPr>
            <a:r>
              <a:rPr sz="1500" b="0">
                <a:solidFill>
                  <a:srgbClr val="232A26"/>
                </a:solidFill>
                <a:latin typeface="Cambria"/>
              </a:rPr>
              <a:t>Ranger stations sit deep in remote forest; patrols and hourly readouts leave long blind windows.</a:t>
            </a:r>
          </a:p>
          <a:p>
            <a:pPr>
              <a:spcAft>
                <a:spcPts val="600"/>
              </a:spcAft>
            </a:pPr>
            <a:r>
              <a:rPr sz="1500" b="0">
                <a:solidFill>
                  <a:srgbClr val="232A26"/>
                </a:solidFill>
                <a:latin typeface="Cambria"/>
              </a:rPr>
              <a:t>Fire weather compounds quietly: heat, smoke, wind and drying soil each look tolerable alone.</a:t>
            </a:r>
          </a:p>
          <a:p>
            <a:pPr>
              <a:spcAft>
                <a:spcPts val="600"/>
              </a:spcAft>
            </a:pPr>
            <a:r>
              <a:rPr sz="1500" b="0">
                <a:solidFill>
                  <a:srgbClr val="232A26"/>
                </a:solidFill>
                <a:latin typeface="Cambria"/>
              </a:rPr>
              <a:t>The danger is the combination, and it can develop between two routine checks.</a:t>
            </a:r>
          </a:p>
          <a:p>
            <a:pPr>
              <a:spcAft>
                <a:spcPts val="600"/>
              </a:spcAft>
            </a:pPr>
            <a:r>
              <a:rPr sz="1500" b="0">
                <a:solidFill>
                  <a:srgbClr val="232A26"/>
                </a:solidFill>
                <a:latin typeface="Cambria"/>
              </a:rPr>
              <a:t>So detection has to run continuously, right next to the sensors, not on a schedule.</a:t>
            </a:r>
          </a:p>
          <a:p>
            <a:pPr>
              <a:spcAft>
                <a:spcPts val="600"/>
              </a:spcAft>
            </a:pPr>
            <a:r>
              <a:rPr sz="1500" b="0">
                <a:solidFill>
                  <a:srgbClr val="232A26"/>
                </a:solidFill>
                <a:latin typeface="Cambria"/>
              </a:rPr>
              <a:t>1 s between smoke samples at each station: readings arrive far faster than any manual check can follow.</a:t>
            </a:r>
          </a:p>
          <a:p>
            <a:pPr>
              <a:spcAft>
                <a:spcPts val="600"/>
              </a:spcAft>
            </a:pPr>
            <a:r>
              <a:rPr sz="1500" b="0">
                <a:solidFill>
                  <a:srgbClr val="232A26"/>
                </a:solidFill>
                <a:latin typeface="Cambria"/>
              </a:rPr>
              <a:t>10 sensor feeds streaming at once: five fire metrics across two remote stations.</a:t>
            </a:r>
          </a:p>
          <a:p>
            <a:pPr>
              <a:spcAft>
                <a:spcPts val="600"/>
              </a:spcAft>
            </a:pPr>
            <a:r>
              <a:rPr sz="1500" b="0">
                <a:solidFill>
                  <a:srgbClr val="232A26"/>
                </a:solidFill>
                <a:latin typeface="Cambria"/>
              </a:rPr>
              <a:t>42 degrees C is the heat hard-alarm line; risk scoring starts climbing from 30 degrees C, well before the alarm fires.</a:t>
            </a:r>
          </a:p>
        </p:txBody>
      </p:sp>
      <p:sp>
        <p:nvSpPr>
          <p:cNvPr id="4" name="Rectangle 3"/>
          <p:cNvSpPr/>
          <p:nvPr/>
        </p:nvSpPr>
        <p:spPr>
          <a:xfrm>
            <a:off x="658368" y="1207008"/>
            <a:ext cx="10881360" cy="45720"/>
          </a:xfrm>
          <a:prstGeom prst="rect">
            <a:avLst/>
          </a:prstGeom>
          <a:solidFill>
            <a:srgbClr val="B23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355080"/>
            <a:ext cx="2743200" cy="36576"/>
          </a:xfrm>
          <a:prstGeom prst="rect">
            <a:avLst/>
          </a:prstGeom>
          <a:solidFill>
            <a:srgbClr val="B23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11480"/>
            <a:ext cx="10972800" cy="822960"/>
          </a:xfrm>
        </p:spPr>
        <p:txBody>
          <a:bodyPr wrap="square" anchor="t"/>
          <a:lstStyle/>
          <a:p>
            <a:pPr algn="l"/>
            <a:r>
              <a:rPr b="1" sz="2700">
                <a:solidFill>
                  <a:srgbClr val="232A26"/>
                </a:solidFill>
                <a:latin typeface="Book Antiqua"/>
              </a:rPr>
              <a:t>How it works: forest edge to cloud</a:t>
            </a:r>
          </a:p>
        </p:txBody>
      </p:sp>
      <p:sp>
        <p:nvSpPr>
          <p:cNvPr id="3" name="Content Placeholder 2"/>
          <p:cNvSpPr>
            <a:spLocks noGrp="1"/>
          </p:cNvSpPr>
          <p:nvPr>
            <p:ph idx="1"/>
          </p:nvPr>
        </p:nvSpPr>
        <p:spPr>
          <a:xfrm>
            <a:off x="658368" y="1463040"/>
            <a:ext cx="10972800" cy="4663440"/>
          </a:xfrm>
        </p:spPr>
        <p:txBody>
          <a:bodyPr wrap="square">
            <a:normAutofit/>
          </a:bodyPr>
          <a:lstStyle/>
          <a:p>
            <a:pPr>
              <a:spcAft>
                <a:spcPts val="900"/>
              </a:spcAft>
            </a:pPr>
            <a:r>
              <a:rPr sz="1700" b="0">
                <a:solidFill>
                  <a:srgbClr val="232A26"/>
                </a:solidFill>
                <a:latin typeface="Cambria"/>
              </a:rPr>
              <a:t>Field sensors: ten containerised sensors stream temperature, humidity, smoke, wind and soil moisture from two stations.</a:t>
            </a:r>
          </a:p>
          <a:p>
            <a:pPr>
              <a:spcAft>
                <a:spcPts val="900"/>
              </a:spcAft>
            </a:pPr>
            <a:r>
              <a:rPr sz="1700" b="0">
                <a:solidFill>
                  <a:srgbClr val="232A26"/>
                </a:solidFill>
                <a:latin typeface="Cambria"/>
              </a:rPr>
              <a:t>Fog node, edge gateway: buffers readings, aggregates each time window, and raises fire alerts right at the edge.</a:t>
            </a:r>
          </a:p>
          <a:p>
            <a:pPr>
              <a:spcAft>
                <a:spcPts val="900"/>
              </a:spcAft>
            </a:pPr>
            <a:r>
              <a:rPr sz="1700" b="0">
                <a:solidFill>
                  <a:srgbClr val="232A26"/>
                </a:solidFill>
                <a:latin typeface="Cambria"/>
              </a:rPr>
              <a:t>Message queue: Amazon SQS receives each window's aggregates in batched sends.</a:t>
            </a:r>
          </a:p>
          <a:p>
            <a:pPr>
              <a:spcAft>
                <a:spcPts val="900"/>
              </a:spcAft>
            </a:pPr>
            <a:r>
              <a:rPr sz="1700" b="0">
                <a:solidFill>
                  <a:srgbClr val="232A26"/>
                </a:solidFill>
                <a:latin typeface="Cambria"/>
              </a:rPr>
              <a:t>Serverless ingest: an AWS Lambda function consumes the queue and transforms every record.</a:t>
            </a:r>
          </a:p>
          <a:p>
            <a:pPr>
              <a:spcAft>
                <a:spcPts val="900"/>
              </a:spcAft>
            </a:pPr>
            <a:r>
              <a:rPr sz="1700" b="0">
                <a:solidFill>
                  <a:srgbClr val="232A26"/>
                </a:solidFill>
                <a:latin typeface="Cambria"/>
              </a:rPr>
              <a:t>Cloud store: Amazon DynamoDB keeps the full history of aggregate windows.</a:t>
            </a:r>
          </a:p>
          <a:p>
            <a:pPr>
              <a:spcAft>
                <a:spcPts val="900"/>
              </a:spcAft>
            </a:pPr>
            <a:r>
              <a:rPr sz="1700" b="0">
                <a:solidFill>
                  <a:srgbClr val="232A26"/>
                </a:solidFill>
                <a:latin typeface="Cambria"/>
              </a:rPr>
              <a:t>Live dashboard: Amazon API Gateway serves the data; the page itself is hosted on Amazon S3, with a 0 to 4 fire-risk dial per station.</a:t>
            </a:r>
          </a:p>
          <a:p>
            <a:pPr>
              <a:spcAft>
                <a:spcPts val="900"/>
              </a:spcAft>
            </a:pPr>
            <a:r>
              <a:rPr sz="1700" b="1">
                <a:solidFill>
                  <a:srgbClr val="B23A26"/>
                </a:solidFill>
                <a:latin typeface="Cambria"/>
              </a:rPr>
              <a:t>Runs end to end locally under Docker with an AWS emulator; a single scripted Terraform step provisions this same pipeline on AWS.</a:t>
            </a:r>
          </a:p>
        </p:txBody>
      </p:sp>
      <p:sp>
        <p:nvSpPr>
          <p:cNvPr id="4" name="Rectangle 3"/>
          <p:cNvSpPr/>
          <p:nvPr/>
        </p:nvSpPr>
        <p:spPr>
          <a:xfrm>
            <a:off x="658368" y="1207008"/>
            <a:ext cx="10881360" cy="45720"/>
          </a:xfrm>
          <a:prstGeom prst="rect">
            <a:avLst/>
          </a:prstGeom>
          <a:solidFill>
            <a:srgbClr val="B23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355080"/>
            <a:ext cx="2743200" cy="36576"/>
          </a:xfrm>
          <a:prstGeom prst="rect">
            <a:avLst/>
          </a:prstGeom>
          <a:solidFill>
            <a:srgbClr val="B23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11480"/>
            <a:ext cx="10972800" cy="822960"/>
          </a:xfrm>
        </p:spPr>
        <p:txBody>
          <a:bodyPr wrap="square" anchor="t"/>
          <a:lstStyle/>
          <a:p>
            <a:pPr algn="l"/>
            <a:r>
              <a:rPr b="1" sz="2700">
                <a:solidFill>
                  <a:srgbClr val="232A26"/>
                </a:solidFill>
                <a:latin typeface="Book Antiqua"/>
              </a:rPr>
              <a:t>Demonstration: the pipeline end to end</a:t>
            </a:r>
          </a:p>
        </p:txBody>
      </p:sp>
      <p:sp>
        <p:nvSpPr>
          <p:cNvPr id="3" name="Content Placeholder 2"/>
          <p:cNvSpPr>
            <a:spLocks noGrp="1"/>
          </p:cNvSpPr>
          <p:nvPr>
            <p:ph idx="1"/>
          </p:nvPr>
        </p:nvSpPr>
        <p:spPr>
          <a:xfrm>
            <a:off x="658368" y="1463040"/>
            <a:ext cx="5760720" cy="4663440"/>
          </a:xfrm>
        </p:spPr>
        <p:txBody>
          <a:bodyPr wrap="square">
            <a:normAutofit/>
          </a:bodyPr>
          <a:lstStyle/>
          <a:p>
            <a:pPr>
              <a:spcAft>
                <a:spcPts val="800"/>
              </a:spcAft>
            </a:pPr>
            <a:r>
              <a:rPr sz="1500" b="0">
                <a:solidFill>
                  <a:srgbClr val="232A26"/>
                </a:solidFill>
                <a:latin typeface="Cambria"/>
              </a:rPr>
              <a:t>Dashboard captured from the local end-to-end run (Docker plus AWS emulator).</a:t>
            </a:r>
          </a:p>
          <a:p>
            <a:pPr>
              <a:spcAft>
                <a:spcPts val="800"/>
              </a:spcAft>
            </a:pPr>
            <a:r>
              <a:rPr sz="1500" b="0">
                <a:solidFill>
                  <a:srgbClr val="232A26"/>
                </a:solidFill>
                <a:latin typeface="Cambria"/>
              </a:rPr>
              <a:t>95 automated tests, all passing across the sensors, fog node, queue consumer and dashboard modules.</a:t>
            </a:r>
          </a:p>
          <a:p>
            <a:pPr>
              <a:spcAft>
                <a:spcPts val="800"/>
              </a:spcAft>
            </a:pPr>
            <a:r>
              <a:rPr sz="1500" b="0">
                <a:solidFill>
                  <a:srgbClr val="232A26"/>
                </a:solidFill>
                <a:latin typeface="Cambria"/>
              </a:rPr>
              <a:t>Every pipeline health check green: a scripted check verifies sensors to fog to queue to ingest to store live, end to end.</a:t>
            </a:r>
          </a:p>
          <a:p>
            <a:pPr>
              <a:spcAft>
                <a:spcPts val="800"/>
              </a:spcAft>
            </a:pPr>
            <a:r>
              <a:rPr sz="1500" b="1">
                <a:solidFill>
                  <a:srgbClr val="B23A26"/>
                </a:solidFill>
                <a:latin typeface="Cambria"/>
              </a:rPr>
              <a:t>2,000-message burst absorbed: 32 parallel senders flood the queue; the serverless consumer keeps draining it without stalling.</a:t>
            </a:r>
          </a:p>
        </p:txBody>
      </p:sp>
      <p:sp>
        <p:nvSpPr>
          <p:cNvPr id="4" name="Rectangle 3"/>
          <p:cNvSpPr/>
          <p:nvPr/>
        </p:nvSpPr>
        <p:spPr>
          <a:xfrm>
            <a:off x="658368" y="1207008"/>
            <a:ext cx="10881360" cy="45720"/>
          </a:xfrm>
          <a:prstGeom prst="rect">
            <a:avLst/>
          </a:prstGeom>
          <a:solidFill>
            <a:srgbClr val="B23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shboard-desktop.png"/>
          <p:cNvPicPr>
            <a:picLocks noChangeAspect="1"/>
          </p:cNvPicPr>
          <p:nvPr/>
        </p:nvPicPr>
        <p:blipFill>
          <a:blip r:embed="rId2"/>
          <a:stretch>
            <a:fillRect/>
          </a:stretch>
        </p:blipFill>
        <p:spPr>
          <a:xfrm>
            <a:off x="6629400" y="1939671"/>
            <a:ext cx="5120640" cy="3600449"/>
          </a:xfrm>
          <a:prstGeom prst="rect">
            <a:avLst/>
          </a:prstGeom>
        </p:spPr>
      </p:pic>
      <p:sp>
        <p:nvSpPr>
          <p:cNvPr id="6" name="Rectangle 5"/>
          <p:cNvSpPr/>
          <p:nvPr/>
        </p:nvSpPr>
        <p:spPr>
          <a:xfrm>
            <a:off x="658368" y="6355080"/>
            <a:ext cx="2743200" cy="36576"/>
          </a:xfrm>
          <a:prstGeom prst="rect">
            <a:avLst/>
          </a:prstGeom>
          <a:solidFill>
            <a:srgbClr val="B23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11480"/>
            <a:ext cx="10972800" cy="822960"/>
          </a:xfrm>
        </p:spPr>
        <p:txBody>
          <a:bodyPr wrap="square" anchor="t"/>
          <a:lstStyle/>
          <a:p>
            <a:pPr algn="l"/>
            <a:r>
              <a:rPr b="1" sz="2700">
                <a:solidFill>
                  <a:srgbClr val="232A26"/>
                </a:solidFill>
                <a:latin typeface="Book Antiqua"/>
              </a:rPr>
              <a:t>The hardest part: an invisible bug</a:t>
            </a:r>
          </a:p>
        </p:txBody>
      </p:sp>
      <p:sp>
        <p:nvSpPr>
          <p:cNvPr id="3" name="Content Placeholder 2"/>
          <p:cNvSpPr>
            <a:spLocks noGrp="1"/>
          </p:cNvSpPr>
          <p:nvPr>
            <p:ph idx="1"/>
          </p:nvPr>
        </p:nvSpPr>
        <p:spPr>
          <a:xfrm>
            <a:off x="658368" y="1463040"/>
            <a:ext cx="10972800" cy="4663440"/>
          </a:xfrm>
        </p:spPr>
        <p:txBody>
          <a:bodyPr wrap="square">
            <a:normAutofit/>
          </a:bodyPr>
          <a:lstStyle/>
          <a:p>
            <a:pPr>
              <a:spcAft>
                <a:spcPts val="900"/>
              </a:spcAft>
            </a:pPr>
            <a:r>
              <a:rPr sz="1700" b="1">
                <a:solidFill>
                  <a:srgbClr val="B23A26"/>
                </a:solidFill>
                <a:latin typeface="Cambria"/>
              </a:rPr>
              <a:t>The problem</a:t>
            </a:r>
          </a:p>
          <a:p>
            <a:pPr lvl="1">
              <a:spcAft>
                <a:spcPts val="900"/>
              </a:spcAft>
            </a:pPr>
            <a:r>
              <a:rPr sz="1500" b="0">
                <a:solidFill>
                  <a:srgbClr val="232A26"/>
                </a:solidFill>
                <a:latin typeface="Cambria"/>
              </a:rPr>
              <a:t>Locally, the pipeline signs its queue and database calls with the emulator's dummy credentials. The code decided when to use them by checking whether an AWS access-key variable was present.</a:t>
            </a:r>
          </a:p>
          <a:p>
            <a:pPr>
              <a:spcAft>
                <a:spcPts val="900"/>
              </a:spcAft>
            </a:pPr>
            <a:r>
              <a:rPr sz="1700" b="1">
                <a:solidFill>
                  <a:srgbClr val="B23A26"/>
                </a:solidFill>
                <a:latin typeface="Cambria"/>
              </a:rPr>
              <a:t>Why it was hard</a:t>
            </a:r>
          </a:p>
          <a:p>
            <a:pPr lvl="1">
              <a:spcAft>
                <a:spcPts val="900"/>
              </a:spcAft>
            </a:pPr>
            <a:r>
              <a:rPr sz="1500" b="0">
                <a:solidFill>
                  <a:srgbClr val="232A26"/>
                </a:solidFill>
                <a:latin typeface="Cambria"/>
              </a:rPr>
              <a:t>Real AWS injects that exact variable into every function it runs, so in production, every queue and database call would be signed with incomplete credentials and rejected. All 95 tests stayed green; nothing could fail until the first real deployment.</a:t>
            </a:r>
          </a:p>
          <a:p>
            <a:pPr>
              <a:spcAft>
                <a:spcPts val="900"/>
              </a:spcAft>
            </a:pPr>
            <a:r>
              <a:rPr sz="1700" b="1">
                <a:solidFill>
                  <a:srgbClr val="B23A26"/>
                </a:solidFill>
                <a:latin typeface="Cambria"/>
              </a:rPr>
              <a:t>The fix</a:t>
            </a:r>
          </a:p>
          <a:p>
            <a:pPr lvl="1">
              <a:spcAft>
                <a:spcPts val="900"/>
              </a:spcAft>
            </a:pPr>
            <a:r>
              <a:rPr sz="1500" b="0">
                <a:solidFill>
                  <a:srgbClr val="232A26"/>
                </a:solidFill>
                <a:latin typeface="Cambria"/>
              </a:rPr>
              <a:t>Gate on a signal that only exists locally: the emulator's endpoint address. On real AWS it is absent, so the platform's own credentials take over automatically, and new tests now pin that behaviour down in both profiles.</a:t>
            </a:r>
          </a:p>
        </p:txBody>
      </p:sp>
      <p:sp>
        <p:nvSpPr>
          <p:cNvPr id="4" name="Rectangle 3"/>
          <p:cNvSpPr/>
          <p:nvPr/>
        </p:nvSpPr>
        <p:spPr>
          <a:xfrm>
            <a:off x="658368" y="1207008"/>
            <a:ext cx="10881360" cy="45720"/>
          </a:xfrm>
          <a:prstGeom prst="rect">
            <a:avLst/>
          </a:prstGeom>
          <a:solidFill>
            <a:srgbClr val="B23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355080"/>
            <a:ext cx="2743200" cy="36576"/>
          </a:xfrm>
          <a:prstGeom prst="rect">
            <a:avLst/>
          </a:prstGeom>
          <a:solidFill>
            <a:srgbClr val="B23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11480"/>
            <a:ext cx="10972800" cy="822960"/>
          </a:xfrm>
        </p:spPr>
        <p:txBody>
          <a:bodyPr wrap="square" anchor="t"/>
          <a:lstStyle/>
          <a:p>
            <a:pPr algn="l"/>
            <a:r>
              <a:rPr b="1" sz="2700">
                <a:solidFill>
                  <a:srgbClr val="232A26"/>
                </a:solidFill>
                <a:latin typeface="Book Antiqua"/>
              </a:rPr>
              <a:t>What this project shows</a:t>
            </a:r>
          </a:p>
        </p:txBody>
      </p:sp>
      <p:sp>
        <p:nvSpPr>
          <p:cNvPr id="3" name="Content Placeholder 2"/>
          <p:cNvSpPr>
            <a:spLocks noGrp="1"/>
          </p:cNvSpPr>
          <p:nvPr>
            <p:ph idx="1"/>
          </p:nvPr>
        </p:nvSpPr>
        <p:spPr>
          <a:xfrm>
            <a:off x="658368" y="1463040"/>
            <a:ext cx="10972800" cy="4663440"/>
          </a:xfrm>
        </p:spPr>
        <p:txBody>
          <a:bodyPr wrap="square">
            <a:normAutofit/>
          </a:bodyPr>
          <a:lstStyle/>
          <a:p>
            <a:pPr>
              <a:spcAft>
                <a:spcPts val="900"/>
              </a:spcAft>
            </a:pPr>
            <a:r>
              <a:rPr sz="1700" b="0">
                <a:solidFill>
                  <a:srgbClr val="232A26"/>
                </a:solidFill>
                <a:latin typeface="Cambria"/>
              </a:rPr>
              <a:t>Decisions at the edge: windows, aggregation and fire alerts run beside the sensors, so warnings never wait on the cloud.</a:t>
            </a:r>
          </a:p>
          <a:p>
            <a:pPr>
              <a:spcAft>
                <a:spcPts val="900"/>
              </a:spcAft>
            </a:pPr>
            <a:r>
              <a:rPr sz="1700" b="0">
                <a:solidFill>
                  <a:srgbClr val="232A26"/>
                </a:solidFill>
                <a:latin typeface="Cambria"/>
              </a:rPr>
              <a:t>A serverless cloud tier: queue, function, database and dashboard, load-tested with a 2,000-message burst.</a:t>
            </a:r>
          </a:p>
          <a:p>
            <a:pPr>
              <a:spcAft>
                <a:spcPts val="900"/>
              </a:spcAft>
            </a:pPr>
            <a:r>
              <a:rPr sz="1700" b="0">
                <a:solidFill>
                  <a:srgbClr val="232A26"/>
                </a:solidFill>
                <a:latin typeface="Cambria"/>
              </a:rPr>
              <a:t>Cloud-ready by design: one scripted Terraform step provisions the identical pipeline on AWS.</a:t>
            </a:r>
          </a:p>
          <a:p>
            <a:pPr>
              <a:spcAft>
                <a:spcPts val="900"/>
              </a:spcAft>
            </a:pPr>
            <a:r>
              <a:rPr sz="1700" b="1">
                <a:solidFill>
                  <a:srgbClr val="B23A26"/>
                </a:solidFill>
                <a:latin typeface="Cambria"/>
              </a:rPr>
              <a:t>Thank you. Questions?</a:t>
            </a:r>
          </a:p>
        </p:txBody>
      </p:sp>
      <p:sp>
        <p:nvSpPr>
          <p:cNvPr id="4" name="Rectangle 3"/>
          <p:cNvSpPr/>
          <p:nvPr/>
        </p:nvSpPr>
        <p:spPr>
          <a:xfrm>
            <a:off x="658368" y="1207008"/>
            <a:ext cx="10881360" cy="45720"/>
          </a:xfrm>
          <a:prstGeom prst="rect">
            <a:avLst/>
          </a:prstGeom>
          <a:solidFill>
            <a:srgbClr val="B23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355080"/>
            <a:ext cx="2743200" cy="36576"/>
          </a:xfrm>
          <a:prstGeom prst="rect">
            <a:avLst/>
          </a:prstGeom>
          <a:solidFill>
            <a:srgbClr val="B23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