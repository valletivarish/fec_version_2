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0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3" name="Shape 1"/>
          <p:cNvSpPr/>
          <p:nvPr/>
        </p:nvSpPr>
        <p:spPr>
          <a:xfrm>
            <a:off x="468911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4" name="Shape 2"/>
          <p:cNvSpPr/>
          <p:nvPr/>
        </p:nvSpPr>
        <p:spPr>
          <a:xfrm flipV="1">
            <a:off x="937823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5" name="Shape 3"/>
          <p:cNvSpPr/>
          <p:nvPr/>
        </p:nvSpPr>
        <p:spPr>
          <a:xfrm>
            <a:off x="1406734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 flipV="1">
            <a:off x="1875645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7" name="Shape 5"/>
          <p:cNvSpPr/>
          <p:nvPr/>
        </p:nvSpPr>
        <p:spPr>
          <a:xfrm>
            <a:off x="2344557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2813468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9" name="Shape 7"/>
          <p:cNvSpPr/>
          <p:nvPr/>
        </p:nvSpPr>
        <p:spPr>
          <a:xfrm>
            <a:off x="3282379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0" name="Shape 8"/>
          <p:cNvSpPr/>
          <p:nvPr/>
        </p:nvSpPr>
        <p:spPr>
          <a:xfrm flipV="1">
            <a:off x="3751291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1" name="Shape 9"/>
          <p:cNvSpPr/>
          <p:nvPr/>
        </p:nvSpPr>
        <p:spPr>
          <a:xfrm>
            <a:off x="4220202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4689114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3" name="Shape 11"/>
          <p:cNvSpPr/>
          <p:nvPr/>
        </p:nvSpPr>
        <p:spPr>
          <a:xfrm>
            <a:off x="5158025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4" name="Shape 12"/>
          <p:cNvSpPr/>
          <p:nvPr/>
        </p:nvSpPr>
        <p:spPr>
          <a:xfrm flipV="1">
            <a:off x="5626936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95848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6" name="Shape 14"/>
          <p:cNvSpPr/>
          <p:nvPr/>
        </p:nvSpPr>
        <p:spPr>
          <a:xfrm flipV="1">
            <a:off x="6564759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7" name="Shape 15"/>
          <p:cNvSpPr/>
          <p:nvPr/>
        </p:nvSpPr>
        <p:spPr>
          <a:xfrm>
            <a:off x="7033670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8" name="Shape 16"/>
          <p:cNvSpPr/>
          <p:nvPr/>
        </p:nvSpPr>
        <p:spPr>
          <a:xfrm flipV="1">
            <a:off x="7502582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9" name="Shape 17"/>
          <p:cNvSpPr/>
          <p:nvPr/>
        </p:nvSpPr>
        <p:spPr>
          <a:xfrm>
            <a:off x="7971493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0" name="Shape 18"/>
          <p:cNvSpPr/>
          <p:nvPr/>
        </p:nvSpPr>
        <p:spPr>
          <a:xfrm flipV="1">
            <a:off x="8440404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9316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9378227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3" name="Shape 21"/>
          <p:cNvSpPr/>
          <p:nvPr/>
        </p:nvSpPr>
        <p:spPr>
          <a:xfrm>
            <a:off x="9847138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10316050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5" name="Shape 23"/>
          <p:cNvSpPr/>
          <p:nvPr/>
        </p:nvSpPr>
        <p:spPr>
          <a:xfrm>
            <a:off x="10784961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6" name="Shape 24"/>
          <p:cNvSpPr/>
          <p:nvPr/>
        </p:nvSpPr>
        <p:spPr>
          <a:xfrm flipV="1">
            <a:off x="11253872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722784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" y="1645920"/>
            <a:ext cx="106372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ECE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Equipment Predictive Monitoring</a:t>
            </a:r>
            <a:endParaRPr lang="en-US" sz="3800" dirty="0"/>
          </a:p>
        </p:txBody>
      </p:sp>
      <p:sp>
        <p:nvSpPr>
          <p:cNvPr id="29" name="Text 27"/>
          <p:cNvSpPr/>
          <p:nvPr/>
        </p:nvSpPr>
        <p:spPr>
          <a:xfrm>
            <a:off x="777240" y="3337560"/>
            <a:ext cx="106372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Vikas Reddy Amanagantti   ·   X25178849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777240" y="3931920"/>
            <a:ext cx="813816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C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walk-round reads each gauge once — but a machine fails across heat, vibration, bearing noise, speed and power at the same time, in the minutes between rounds.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0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3" name="Shape 1"/>
          <p:cNvSpPr/>
          <p:nvPr/>
        </p:nvSpPr>
        <p:spPr>
          <a:xfrm>
            <a:off x="468911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4" name="Shape 2"/>
          <p:cNvSpPr/>
          <p:nvPr/>
        </p:nvSpPr>
        <p:spPr>
          <a:xfrm flipV="1">
            <a:off x="937823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5" name="Shape 3"/>
          <p:cNvSpPr/>
          <p:nvPr/>
        </p:nvSpPr>
        <p:spPr>
          <a:xfrm>
            <a:off x="1406734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 flipV="1">
            <a:off x="1875645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7" name="Shape 5"/>
          <p:cNvSpPr/>
          <p:nvPr/>
        </p:nvSpPr>
        <p:spPr>
          <a:xfrm>
            <a:off x="2344557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2813468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9" name="Shape 7"/>
          <p:cNvSpPr/>
          <p:nvPr/>
        </p:nvSpPr>
        <p:spPr>
          <a:xfrm>
            <a:off x="3282379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0" name="Shape 8"/>
          <p:cNvSpPr/>
          <p:nvPr/>
        </p:nvSpPr>
        <p:spPr>
          <a:xfrm flipV="1">
            <a:off x="3751291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1" name="Shape 9"/>
          <p:cNvSpPr/>
          <p:nvPr/>
        </p:nvSpPr>
        <p:spPr>
          <a:xfrm>
            <a:off x="4220202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4689114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3" name="Shape 11"/>
          <p:cNvSpPr/>
          <p:nvPr/>
        </p:nvSpPr>
        <p:spPr>
          <a:xfrm>
            <a:off x="5158025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4" name="Shape 12"/>
          <p:cNvSpPr/>
          <p:nvPr/>
        </p:nvSpPr>
        <p:spPr>
          <a:xfrm flipV="1">
            <a:off x="5626936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95848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6" name="Shape 14"/>
          <p:cNvSpPr/>
          <p:nvPr/>
        </p:nvSpPr>
        <p:spPr>
          <a:xfrm flipV="1">
            <a:off x="6564759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7" name="Shape 15"/>
          <p:cNvSpPr/>
          <p:nvPr/>
        </p:nvSpPr>
        <p:spPr>
          <a:xfrm>
            <a:off x="7033670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8" name="Shape 16"/>
          <p:cNvSpPr/>
          <p:nvPr/>
        </p:nvSpPr>
        <p:spPr>
          <a:xfrm flipV="1">
            <a:off x="7502582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9" name="Shape 17"/>
          <p:cNvSpPr/>
          <p:nvPr/>
        </p:nvSpPr>
        <p:spPr>
          <a:xfrm>
            <a:off x="7971493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0" name="Shape 18"/>
          <p:cNvSpPr/>
          <p:nvPr/>
        </p:nvSpPr>
        <p:spPr>
          <a:xfrm flipV="1">
            <a:off x="8440404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9316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9378227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3" name="Shape 21"/>
          <p:cNvSpPr/>
          <p:nvPr/>
        </p:nvSpPr>
        <p:spPr>
          <a:xfrm>
            <a:off x="9847138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10316050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5" name="Shape 23"/>
          <p:cNvSpPr/>
          <p:nvPr/>
        </p:nvSpPr>
        <p:spPr>
          <a:xfrm>
            <a:off x="10784961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6" name="Shape 24"/>
          <p:cNvSpPr/>
          <p:nvPr/>
        </p:nvSpPr>
        <p:spPr>
          <a:xfrm flipV="1">
            <a:off x="11253872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722784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685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645920" y="85953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77240" y="133502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CE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Built — Edge to Cloud</a:t>
            </a:r>
            <a:endParaRPr lang="en-US" sz="2300" dirty="0"/>
          </a:p>
        </p:txBody>
      </p:sp>
      <p:sp>
        <p:nvSpPr>
          <p:cNvPr id="31" name="Shape 29"/>
          <p:cNvSpPr/>
          <p:nvPr/>
        </p:nvSpPr>
        <p:spPr>
          <a:xfrm>
            <a:off x="777240" y="2926080"/>
            <a:ext cx="1391869" cy="1965960"/>
          </a:xfrm>
          <a:prstGeom prst="round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3544" y="31089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23544" y="35478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sensors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3544" y="44074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units · 2 lines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242261" y="379933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36" name="Shape 34"/>
          <p:cNvSpPr/>
          <p:nvPr/>
        </p:nvSpPr>
        <p:spPr>
          <a:xfrm>
            <a:off x="2626309" y="2926080"/>
            <a:ext cx="1391869" cy="1965960"/>
          </a:xfrm>
          <a:prstGeom prst="round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72613" y="31089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772613" y="35478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Fog node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2772613" y="44074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alarms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091330" y="379933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41" name="Shape 39"/>
          <p:cNvSpPr/>
          <p:nvPr/>
        </p:nvSpPr>
        <p:spPr>
          <a:xfrm>
            <a:off x="4475378" y="2926080"/>
            <a:ext cx="1391869" cy="1965960"/>
          </a:xfrm>
          <a:prstGeom prst="roundRect">
            <a:avLst/>
          </a:prstGeom>
          <a:solidFill>
            <a:srgbClr val="24262B"/>
          </a:solidFill>
          <a:ln w="12700">
            <a:solidFill>
              <a:srgbClr val="383A3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21682" y="31089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B70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621682" y="35478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CE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 SQS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621682" y="44074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aggregate / window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940400" y="379933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46" name="Shape 44"/>
          <p:cNvSpPr/>
          <p:nvPr/>
        </p:nvSpPr>
        <p:spPr>
          <a:xfrm>
            <a:off x="6324448" y="2926080"/>
            <a:ext cx="1391869" cy="1965960"/>
          </a:xfrm>
          <a:prstGeom prst="roundRect">
            <a:avLst/>
          </a:prstGeom>
          <a:solidFill>
            <a:srgbClr val="24262B"/>
          </a:solidFill>
          <a:ln w="12700">
            <a:solidFill>
              <a:srgbClr val="383A3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70752" y="31089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B70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6470752" y="35478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CE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Lambda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470752" y="44074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789469" y="379933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51" name="Shape 49"/>
          <p:cNvSpPr/>
          <p:nvPr/>
        </p:nvSpPr>
        <p:spPr>
          <a:xfrm>
            <a:off x="8173517" y="2926080"/>
            <a:ext cx="1391869" cy="1965960"/>
          </a:xfrm>
          <a:prstGeom prst="roundRect">
            <a:avLst/>
          </a:prstGeom>
          <a:solidFill>
            <a:srgbClr val="24262B"/>
          </a:solidFill>
          <a:ln w="12700">
            <a:solidFill>
              <a:srgbClr val="383A3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19821" y="31089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B70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319821" y="35478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CE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DynamoDB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8319821" y="44074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by signal · site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38538" y="3799332"/>
            <a:ext cx="310896" cy="219456"/>
          </a:xfrm>
          <a:prstGeom prst="rightArrow">
            <a:avLst/>
          </a:prstGeom>
          <a:solidFill>
            <a:srgbClr val="8B98A6"/>
          </a:solidFill>
          <a:ln/>
        </p:spPr>
      </p:sp>
      <p:sp>
        <p:nvSpPr>
          <p:cNvPr id="56" name="Shape 54"/>
          <p:cNvSpPr/>
          <p:nvPr/>
        </p:nvSpPr>
        <p:spPr>
          <a:xfrm>
            <a:off x="10022586" y="2926080"/>
            <a:ext cx="1391869" cy="1965960"/>
          </a:xfrm>
          <a:prstGeom prst="roundRect">
            <a:avLst/>
          </a:prstGeom>
          <a:solidFill>
            <a:srgbClr val="24262B"/>
          </a:solidFill>
          <a:ln w="12700">
            <a:solidFill>
              <a:srgbClr val="383A3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168890" y="3108960"/>
            <a:ext cx="109926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B70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10168890" y="3547872"/>
            <a:ext cx="1099261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6000"/>
              </a:lnSpc>
              <a:buNone/>
            </a:pPr>
            <a:r>
              <a:rPr lang="en-US" sz="1300" b="1" dirty="0">
                <a:solidFill>
                  <a:srgbClr val="ECE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GW + S3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10168890" y="4407408"/>
            <a:ext cx="10992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0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3" name="Shape 1"/>
          <p:cNvSpPr/>
          <p:nvPr/>
        </p:nvSpPr>
        <p:spPr>
          <a:xfrm>
            <a:off x="468911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4" name="Shape 2"/>
          <p:cNvSpPr/>
          <p:nvPr/>
        </p:nvSpPr>
        <p:spPr>
          <a:xfrm flipV="1">
            <a:off x="937823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5" name="Shape 3"/>
          <p:cNvSpPr/>
          <p:nvPr/>
        </p:nvSpPr>
        <p:spPr>
          <a:xfrm>
            <a:off x="1406734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 flipV="1">
            <a:off x="1875645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7" name="Shape 5"/>
          <p:cNvSpPr/>
          <p:nvPr/>
        </p:nvSpPr>
        <p:spPr>
          <a:xfrm>
            <a:off x="2344557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2813468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9" name="Shape 7"/>
          <p:cNvSpPr/>
          <p:nvPr/>
        </p:nvSpPr>
        <p:spPr>
          <a:xfrm>
            <a:off x="3282379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0" name="Shape 8"/>
          <p:cNvSpPr/>
          <p:nvPr/>
        </p:nvSpPr>
        <p:spPr>
          <a:xfrm flipV="1">
            <a:off x="3751291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1" name="Shape 9"/>
          <p:cNvSpPr/>
          <p:nvPr/>
        </p:nvSpPr>
        <p:spPr>
          <a:xfrm>
            <a:off x="4220202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4689114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3" name="Shape 11"/>
          <p:cNvSpPr/>
          <p:nvPr/>
        </p:nvSpPr>
        <p:spPr>
          <a:xfrm>
            <a:off x="5158025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4" name="Shape 12"/>
          <p:cNvSpPr/>
          <p:nvPr/>
        </p:nvSpPr>
        <p:spPr>
          <a:xfrm flipV="1">
            <a:off x="5626936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95848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6" name="Shape 14"/>
          <p:cNvSpPr/>
          <p:nvPr/>
        </p:nvSpPr>
        <p:spPr>
          <a:xfrm flipV="1">
            <a:off x="6564759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7" name="Shape 15"/>
          <p:cNvSpPr/>
          <p:nvPr/>
        </p:nvSpPr>
        <p:spPr>
          <a:xfrm>
            <a:off x="7033670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8" name="Shape 16"/>
          <p:cNvSpPr/>
          <p:nvPr/>
        </p:nvSpPr>
        <p:spPr>
          <a:xfrm flipV="1">
            <a:off x="7502582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9" name="Shape 17"/>
          <p:cNvSpPr/>
          <p:nvPr/>
        </p:nvSpPr>
        <p:spPr>
          <a:xfrm>
            <a:off x="7971493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0" name="Shape 18"/>
          <p:cNvSpPr/>
          <p:nvPr/>
        </p:nvSpPr>
        <p:spPr>
          <a:xfrm flipV="1">
            <a:off x="8440404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9316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9378227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3" name="Shape 21"/>
          <p:cNvSpPr/>
          <p:nvPr/>
        </p:nvSpPr>
        <p:spPr>
          <a:xfrm>
            <a:off x="9847138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10316050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5" name="Shape 23"/>
          <p:cNvSpPr/>
          <p:nvPr/>
        </p:nvSpPr>
        <p:spPr>
          <a:xfrm>
            <a:off x="10784961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6" name="Shape 24"/>
          <p:cNvSpPr/>
          <p:nvPr/>
        </p:nvSpPr>
        <p:spPr>
          <a:xfrm flipV="1">
            <a:off x="11253872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722784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685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645920" y="85953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77240" y="133502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CE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it running on AWS</a:t>
            </a:r>
            <a:endParaRPr lang="en-US" sz="2300" dirty="0"/>
          </a:p>
        </p:txBody>
      </p:sp>
      <p:sp>
        <p:nvSpPr>
          <p:cNvPr id="31" name="Text 29"/>
          <p:cNvSpPr/>
          <p:nvPr/>
        </p:nvSpPr>
        <p:spPr>
          <a:xfrm>
            <a:off x="777240" y="1856232"/>
            <a:ext cx="106372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2B70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fei-frontend-964346251483.s3.us-east-1.amazonaws.com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" y="2468880"/>
            <a:ext cx="3301898" cy="3291840"/>
          </a:xfrm>
          <a:prstGeom prst="roundRect">
            <a:avLst/>
          </a:prstGeom>
          <a:solidFill>
            <a:srgbClr val="24262B"/>
          </a:solidFill>
          <a:ln w="12700">
            <a:solidFill>
              <a:srgbClr val="383A3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51560" y="270662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800" dirty="0"/>
          </a:p>
        </p:txBody>
      </p:sp>
      <p:sp>
        <p:nvSpPr>
          <p:cNvPr id="34" name="Text 32"/>
          <p:cNvSpPr/>
          <p:nvPr/>
        </p:nvSpPr>
        <p:spPr>
          <a:xfrm>
            <a:off x="1069848" y="352044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CE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card per signal, per line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1069848" y="4389120"/>
            <a:ext cx="2753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Vibration, motor temperature, bearing acoustic, rotation speed and power draw live on both production lines, each with its real alarm limit and a sparkline.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444898" y="2468880"/>
            <a:ext cx="3301898" cy="3291840"/>
          </a:xfrm>
          <a:prstGeom prst="roundRect">
            <a:avLst/>
          </a:prstGeom>
          <a:solidFill>
            <a:srgbClr val="24262B"/>
          </a:solidFill>
          <a:ln w="12700">
            <a:solidFill>
              <a:srgbClr val="383A3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19218" y="270662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800" dirty="0"/>
          </a:p>
        </p:txBody>
      </p:sp>
      <p:sp>
        <p:nvSpPr>
          <p:cNvPr id="38" name="Text 36"/>
          <p:cNvSpPr/>
          <p:nvPr/>
        </p:nvSpPr>
        <p:spPr>
          <a:xfrm>
            <a:off x="4737506" y="352044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CE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two-sided speed rule</a:t>
            </a:r>
            <a:endParaRPr lang="en-US" sz="1550" dirty="0"/>
          </a:p>
        </p:txBody>
      </p:sp>
      <p:sp>
        <p:nvSpPr>
          <p:cNvPr id="39" name="Text 37"/>
          <p:cNvSpPr/>
          <p:nvPr/>
        </p:nvSpPr>
        <p:spPr>
          <a:xfrm>
            <a:off x="4737506" y="4389120"/>
            <a:ext cx="2753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speed is the one signal faulted at both ends — an underspeed alarm at 1,000 RPM and an overspeed at 3,400 — unlike the four single-limit signals.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112557" y="2468880"/>
            <a:ext cx="3301898" cy="3291840"/>
          </a:xfrm>
          <a:prstGeom prst="roundRect">
            <a:avLst/>
          </a:prstGeom>
          <a:solidFill>
            <a:srgbClr val="24262B"/>
          </a:solidFill>
          <a:ln w="12700">
            <a:solidFill>
              <a:srgbClr val="383A3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86877" y="2706624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800" dirty="0"/>
          </a:p>
        </p:txBody>
      </p:sp>
      <p:sp>
        <p:nvSpPr>
          <p:cNvPr id="42" name="Text 40"/>
          <p:cNvSpPr/>
          <p:nvPr/>
        </p:nvSpPr>
        <p:spPr>
          <a:xfrm>
            <a:off x="8405165" y="3520440"/>
            <a:ext cx="27532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b="1" dirty="0">
                <a:solidFill>
                  <a:srgbClr val="ECE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active alarm on the floor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8405165" y="4389120"/>
            <a:ext cx="27532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Line-1 is firing a rotation-speed underspeed alarm right now, shown red on its card with the GATEWAY/QUEUE/LAMBDA/PIPELINE bar green below.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15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V="1">
            <a:off x="0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3" name="Shape 1"/>
          <p:cNvSpPr/>
          <p:nvPr/>
        </p:nvSpPr>
        <p:spPr>
          <a:xfrm>
            <a:off x="468911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4" name="Shape 2"/>
          <p:cNvSpPr/>
          <p:nvPr/>
        </p:nvSpPr>
        <p:spPr>
          <a:xfrm flipV="1">
            <a:off x="937823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5" name="Shape 3"/>
          <p:cNvSpPr/>
          <p:nvPr/>
        </p:nvSpPr>
        <p:spPr>
          <a:xfrm>
            <a:off x="1406734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6" name="Shape 4"/>
          <p:cNvSpPr/>
          <p:nvPr/>
        </p:nvSpPr>
        <p:spPr>
          <a:xfrm flipV="1">
            <a:off x="1875645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7" name="Shape 5"/>
          <p:cNvSpPr/>
          <p:nvPr/>
        </p:nvSpPr>
        <p:spPr>
          <a:xfrm>
            <a:off x="2344557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8" name="Shape 6"/>
          <p:cNvSpPr/>
          <p:nvPr/>
        </p:nvSpPr>
        <p:spPr>
          <a:xfrm flipV="1">
            <a:off x="2813468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9" name="Shape 7"/>
          <p:cNvSpPr/>
          <p:nvPr/>
        </p:nvSpPr>
        <p:spPr>
          <a:xfrm>
            <a:off x="3282379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0" name="Shape 8"/>
          <p:cNvSpPr/>
          <p:nvPr/>
        </p:nvSpPr>
        <p:spPr>
          <a:xfrm flipV="1">
            <a:off x="3751291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1" name="Shape 9"/>
          <p:cNvSpPr/>
          <p:nvPr/>
        </p:nvSpPr>
        <p:spPr>
          <a:xfrm>
            <a:off x="4220202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2" name="Shape 10"/>
          <p:cNvSpPr/>
          <p:nvPr/>
        </p:nvSpPr>
        <p:spPr>
          <a:xfrm flipV="1">
            <a:off x="4689114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3" name="Shape 11"/>
          <p:cNvSpPr/>
          <p:nvPr/>
        </p:nvSpPr>
        <p:spPr>
          <a:xfrm>
            <a:off x="5158025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4" name="Shape 12"/>
          <p:cNvSpPr/>
          <p:nvPr/>
        </p:nvSpPr>
        <p:spPr>
          <a:xfrm flipV="1">
            <a:off x="5626936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95848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6" name="Shape 14"/>
          <p:cNvSpPr/>
          <p:nvPr/>
        </p:nvSpPr>
        <p:spPr>
          <a:xfrm flipV="1">
            <a:off x="6564759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7" name="Shape 15"/>
          <p:cNvSpPr/>
          <p:nvPr/>
        </p:nvSpPr>
        <p:spPr>
          <a:xfrm>
            <a:off x="7033670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18" name="Shape 16"/>
          <p:cNvSpPr/>
          <p:nvPr/>
        </p:nvSpPr>
        <p:spPr>
          <a:xfrm flipV="1">
            <a:off x="7502582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19" name="Shape 17"/>
          <p:cNvSpPr/>
          <p:nvPr/>
        </p:nvSpPr>
        <p:spPr>
          <a:xfrm>
            <a:off x="7971493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0" name="Shape 18"/>
          <p:cNvSpPr/>
          <p:nvPr/>
        </p:nvSpPr>
        <p:spPr>
          <a:xfrm flipV="1">
            <a:off x="8440404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9316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9378227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3" name="Shape 21"/>
          <p:cNvSpPr/>
          <p:nvPr/>
        </p:nvSpPr>
        <p:spPr>
          <a:xfrm>
            <a:off x="9847138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10316050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5" name="Shape 23"/>
          <p:cNvSpPr/>
          <p:nvPr/>
        </p:nvSpPr>
        <p:spPr>
          <a:xfrm>
            <a:off x="10784961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6" name="Shape 24"/>
          <p:cNvSpPr/>
          <p:nvPr/>
        </p:nvSpPr>
        <p:spPr>
          <a:xfrm flipV="1">
            <a:off x="11253872" y="6217920"/>
            <a:ext cx="468911" cy="640080"/>
          </a:xfrm>
          <a:prstGeom prst="triangle">
            <a:avLst/>
          </a:prstGeom>
          <a:solidFill>
            <a:srgbClr val="482320"/>
          </a:solidFill>
          <a:ln/>
        </p:spPr>
      </p:sp>
      <p:sp>
        <p:nvSpPr>
          <p:cNvPr id="27" name="Shape 25"/>
          <p:cNvSpPr/>
          <p:nvPr/>
        </p:nvSpPr>
        <p:spPr>
          <a:xfrm>
            <a:off x="11722784" y="6217920"/>
            <a:ext cx="468911" cy="640080"/>
          </a:xfrm>
          <a:prstGeom prst="triangle">
            <a:avLst/>
          </a:prstGeom>
          <a:solidFill>
            <a:srgbClr val="F2B705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6858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B7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645920" y="859536"/>
            <a:ext cx="9768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77240" y="1335024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CE9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sealing a window under concurrent writes</a:t>
            </a:r>
            <a:endParaRPr lang="en-US" sz="2300" dirty="0"/>
          </a:p>
        </p:txBody>
      </p:sp>
      <p:sp>
        <p:nvSpPr>
          <p:cNvPr id="31" name="Shape 29"/>
          <p:cNvSpPr/>
          <p:nvPr/>
        </p:nvSpPr>
        <p:spPr>
          <a:xfrm>
            <a:off x="777240" y="2377440"/>
            <a:ext cx="5090008" cy="3383280"/>
          </a:xfrm>
          <a:prstGeom prst="roundRect">
            <a:avLst/>
          </a:prstGeom>
          <a:solidFill>
            <a:srgbClr val="24262B"/>
          </a:solidFill>
          <a:ln w="12700">
            <a:solidFill>
              <a:srgbClr val="383A3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265176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158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97280" y="3035808"/>
            <a:ext cx="4449928" cy="0"/>
          </a:xfrm>
          <a:prstGeom prst="line">
            <a:avLst/>
          </a:prstGeom>
          <a:noFill/>
          <a:ln w="19050">
            <a:solidFill>
              <a:srgbClr val="D1584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97280" y="3200400"/>
            <a:ext cx="444992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C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arrive on several web-server threads while a timer seals the ten-second window on its own thread — and both touch the same buffer. Hold a lock across the whole close and every arriving reading stalls; drop it and a reading landing on the boundary is lost or double-counted.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324448" y="2377440"/>
            <a:ext cx="5090008" cy="3383280"/>
          </a:xfrm>
          <a:prstGeom prst="roundRect">
            <a:avLst/>
          </a:prstGeom>
          <a:solidFill>
            <a:srgbClr val="24262B"/>
          </a:solidFill>
          <a:ln w="12700">
            <a:solidFill>
              <a:srgbClr val="383A3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44488" y="2651760"/>
            <a:ext cx="44499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FAE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44488" y="3035808"/>
            <a:ext cx="4449928" cy="0"/>
          </a:xfrm>
          <a:prstGeom prst="line">
            <a:avLst/>
          </a:prstGeom>
          <a:noFill/>
          <a:ln w="19050">
            <a:solidFill>
              <a:srgbClr val="4FAE8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44488" y="3200400"/>
            <a:ext cx="444992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ECE9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lock only long enough to swap the filled buffer aside and install an empty one, then run all aggregation and alarm evaluation on the swapped-out copy outside the lock. The hot ingest path never waits, and every reading still lands in exactly one window.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2026-07-24T09:15:29Z</dcterms:created>
  <dcterms:modified xsi:type="dcterms:W3CDTF">2026-07-24T09:15:29Z</dcterms:modified>
</cp:coreProperties>
</file>