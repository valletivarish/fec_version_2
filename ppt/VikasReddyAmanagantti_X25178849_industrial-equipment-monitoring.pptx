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Industrial Equipment Predictive Monitoring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58368" y="2148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C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Vikas Reddy Amanagantti   ·   X25178849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2697480"/>
            <a:ext cx="10424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CDD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walk-round reads each gauge once — but a machine fails across heat, vibration, bearing noise, speed and power at the same time, in the minutes between rounds.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836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333D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temp &gt; 95 °C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3872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333D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872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Vibration &gt; 7 mm/s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1908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333D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1908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1,000–3,400 RPM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8368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I Built — Edge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2F4"/>
          </a:solidFill>
          <a:ln w="19050">
            <a:solidFill>
              <a:srgbClr val="6C8A9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25880" y="2670048"/>
            <a:ext cx="201168" cy="201168"/>
          </a:xfrm>
          <a:prstGeom prst="ellipse">
            <a:avLst/>
          </a:prstGeom>
          <a:solidFill>
            <a:srgbClr val="6C8A9A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21792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units · 2 lines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31136" y="3154680"/>
            <a:ext cx="258409" cy="0"/>
          </a:xfrm>
          <a:prstGeom prst="line">
            <a:avLst/>
          </a:prstGeom>
          <a:noFill/>
          <a:ln w="25400">
            <a:solidFill>
              <a:srgbClr val="6C8A9A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07833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2F4"/>
          </a:solidFill>
          <a:ln w="19050">
            <a:solidFill>
              <a:srgbClr val="6C8A9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93633" y="2670048"/>
            <a:ext cx="201168" cy="201168"/>
          </a:xfrm>
          <a:prstGeom prst="ellipse">
            <a:avLst/>
          </a:prstGeom>
          <a:solidFill>
            <a:srgbClr val="6C8A9A"/>
          </a:solidFill>
          <a:ln/>
        </p:spPr>
      </p:sp>
      <p:sp>
        <p:nvSpPr>
          <p:cNvPr id="10" name="Text 8"/>
          <p:cNvSpPr/>
          <p:nvPr/>
        </p:nvSpPr>
        <p:spPr>
          <a:xfrm>
            <a:off x="2462113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489545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windows · edge alarms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98889" y="3154680"/>
            <a:ext cx="258409" cy="0"/>
          </a:xfrm>
          <a:prstGeom prst="line">
            <a:avLst/>
          </a:prstGeom>
          <a:noFill/>
          <a:ln w="25400">
            <a:solidFill>
              <a:srgbClr val="6C8A9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7558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2F4"/>
          </a:solidFill>
          <a:ln w="19050">
            <a:solidFill>
              <a:srgbClr val="37474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61387" y="2670048"/>
            <a:ext cx="201168" cy="201168"/>
          </a:xfrm>
          <a:prstGeom prst="ellipse">
            <a:avLst/>
          </a:prstGeom>
          <a:solidFill>
            <a:srgbClr val="37474F"/>
          </a:solidFill>
          <a:ln/>
        </p:spPr>
      </p:sp>
      <p:sp>
        <p:nvSpPr>
          <p:cNvPr id="15" name="Text 13"/>
          <p:cNvSpPr/>
          <p:nvPr/>
        </p:nvSpPr>
        <p:spPr>
          <a:xfrm>
            <a:off x="4329867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357299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aggregate / window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66643" y="3154680"/>
            <a:ext cx="258409" cy="0"/>
          </a:xfrm>
          <a:prstGeom prst="line">
            <a:avLst/>
          </a:prstGeom>
          <a:noFill/>
          <a:ln w="25400">
            <a:solidFill>
              <a:srgbClr val="6C8A9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4334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2F4"/>
          </a:solidFill>
          <a:ln w="19050">
            <a:solidFill>
              <a:srgbClr val="37474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29140" y="2670048"/>
            <a:ext cx="201168" cy="201168"/>
          </a:xfrm>
          <a:prstGeom prst="ellipse">
            <a:avLst/>
          </a:prstGeom>
          <a:solidFill>
            <a:srgbClr val="37474F"/>
          </a:solidFill>
          <a:ln/>
        </p:spPr>
      </p:sp>
      <p:sp>
        <p:nvSpPr>
          <p:cNvPr id="20" name="Text 18"/>
          <p:cNvSpPr/>
          <p:nvPr/>
        </p:nvSpPr>
        <p:spPr>
          <a:xfrm>
            <a:off x="6197620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225052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ingest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34396" y="3154680"/>
            <a:ext cx="258409" cy="0"/>
          </a:xfrm>
          <a:prstGeom prst="line">
            <a:avLst/>
          </a:prstGeom>
          <a:noFill/>
          <a:ln w="25400">
            <a:solidFill>
              <a:srgbClr val="6C8A9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111094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2F4"/>
          </a:solidFill>
          <a:ln w="19050">
            <a:solidFill>
              <a:srgbClr val="37474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796894" y="2670048"/>
            <a:ext cx="201168" cy="201168"/>
          </a:xfrm>
          <a:prstGeom prst="ellipse">
            <a:avLst/>
          </a:prstGeom>
          <a:solidFill>
            <a:srgbClr val="37474F"/>
          </a:solidFill>
          <a:ln/>
        </p:spPr>
      </p:sp>
      <p:sp>
        <p:nvSpPr>
          <p:cNvPr id="25" name="Text 23"/>
          <p:cNvSpPr/>
          <p:nvPr/>
        </p:nvSpPr>
        <p:spPr>
          <a:xfrm>
            <a:off x="8065374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092806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keyed by signal · site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702150" y="3154680"/>
            <a:ext cx="258409" cy="0"/>
          </a:xfrm>
          <a:prstGeom prst="line">
            <a:avLst/>
          </a:prstGeom>
          <a:noFill/>
          <a:ln w="25400">
            <a:solidFill>
              <a:srgbClr val="6C8A9A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97884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2F4"/>
          </a:solidFill>
          <a:ln w="19050">
            <a:solidFill>
              <a:srgbClr val="4E6A7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64647" y="2670048"/>
            <a:ext cx="201168" cy="201168"/>
          </a:xfrm>
          <a:prstGeom prst="ellipse">
            <a:avLst/>
          </a:prstGeom>
          <a:solidFill>
            <a:srgbClr val="4E6A78"/>
          </a:solidFill>
          <a:ln/>
        </p:spPr>
      </p:sp>
      <p:sp>
        <p:nvSpPr>
          <p:cNvPr id="30" name="Text 28"/>
          <p:cNvSpPr/>
          <p:nvPr/>
        </p:nvSpPr>
        <p:spPr>
          <a:xfrm>
            <a:off x="9933127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9960559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" y="3977640"/>
            <a:ext cx="34405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C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75587" y="3977640"/>
            <a:ext cx="71760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212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Alarms fire at the fog node — the cloud receives one compact aggregate per window, not a firehose of raw readings.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6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fei-frontend-964346251483.s3.us-east-1.amazonaws.com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685800" cy="685800"/>
          </a:xfrm>
          <a:prstGeom prst="ellipse">
            <a:avLst/>
          </a:prstGeom>
          <a:solidFill>
            <a:srgbClr val="37474F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691640" y="192024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health, all green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1640" y="234086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gateway, queue, Lambda and data flow all report healthy, and every one of the five signal types lands in the datastore.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383280"/>
            <a:ext cx="685800" cy="685800"/>
          </a:xfrm>
          <a:prstGeom prst="ellipse">
            <a:avLst/>
          </a:prstGeom>
          <a:solidFill>
            <a:srgbClr val="37474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383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691640" y="33375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plant-floor readings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91640" y="375818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card per signal with its current reading, real alarm limit and trend across two production lines, plus the health footer.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685800" cy="685800"/>
          </a:xfrm>
          <a:prstGeom prst="ellipse">
            <a:avLst/>
          </a:prstGeom>
          <a:solidFill>
            <a:srgbClr val="37474F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800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91640" y="47548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and scales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91640" y="517550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 automated tests pass across sensors, fog, processor and dashboard; a 2,000-message burst absorbed with 32 parallel senders.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C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Hardest Part — sealing a window under concurrent writes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24333D"/>
          </a:solidFill>
          <a:ln w="15875">
            <a:solidFill>
              <a:srgbClr val="F0A5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0A5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DD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posts arrive on several web-server threads while a timer seals the ten-second window on its own thread — and both touch the same buffer. Hold a lock across the whole close and every arriving reading stalls; drop it and a reading landing on the boundary is lost or double-counted.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24333D"/>
          </a:solidFill>
          <a:ln w="15875">
            <a:solidFill>
              <a:srgbClr val="6C8A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C8A9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DD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lock only long enough to swap the filled buffer aside and install an empty one, then run all aggregation and alarm evaluation on the swapped-out copy outside the lock. The hot ingest path never waits, and every reading still lands in exactly one window.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2026-07-24T06:34:27Z</dcterms:created>
  <dcterms:modified xsi:type="dcterms:W3CDTF">2026-07-24T06:34:27Z</dcterms:modified>
</cp:coreProperties>
</file>