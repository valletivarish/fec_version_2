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3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663440" cy="6858000"/>
          </a:xfrm>
          <a:prstGeom prst="rect">
            <a:avLst/>
          </a:prstGeom>
          <a:solidFill>
            <a:srgbClr val="1B5E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280160"/>
            <a:ext cx="37490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 Building Energy Monitoring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21208" y="5394960"/>
            <a:ext cx="3840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2E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Venkata Sai Mothukuri   ·   X25181238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120640" y="1371600"/>
            <a:ext cx="64922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dirty="0">
                <a:solidFill>
                  <a:srgbClr val="D2E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building manager asks two different things at once — is anything wrong right now, and how efficiently is this floor running overall — and they are not the same question.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120640" y="4023360"/>
            <a:ext cx="2926080" cy="566928"/>
          </a:xfrm>
          <a:prstGeom prst="roundRect">
            <a:avLst>
              <a:gd name="adj" fmla="val 50000"/>
            </a:avLst>
          </a:prstGeom>
          <a:solidFill>
            <a:srgbClr val="1C3A24"/>
          </a:solidFill>
          <a:ln w="12700">
            <a:solidFill>
              <a:srgbClr val="D9A6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120640" y="402336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D9A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load &gt; 55 kW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120640" y="4709160"/>
            <a:ext cx="2926080" cy="566928"/>
          </a:xfrm>
          <a:prstGeom prst="roundRect">
            <a:avLst>
              <a:gd name="adj" fmla="val 50000"/>
            </a:avLst>
          </a:prstGeom>
          <a:solidFill>
            <a:srgbClr val="1C3A24"/>
          </a:solidFill>
          <a:ln w="12700">
            <a:solidFill>
              <a:srgbClr val="D9A6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120640" y="470916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D9A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 &gt; 1,000 ppm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120640" y="5394960"/>
            <a:ext cx="2926080" cy="566928"/>
          </a:xfrm>
          <a:prstGeom prst="roundRect">
            <a:avLst>
              <a:gd name="adj" fmla="val 50000"/>
            </a:avLst>
          </a:prstGeom>
          <a:solidFill>
            <a:srgbClr val="1C3A24"/>
          </a:solidFill>
          <a:ln w="12700">
            <a:solidFill>
              <a:srgbClr val="D9A6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0640" y="539496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D9A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HVAC 18–26 °C band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120640" y="617220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(H9FECC)   ·   deployed live on AWS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30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 Built — Meter to Scorecard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7452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EF4EC"/>
          </a:solidFill>
          <a:ln w="19050">
            <a:solidFill>
              <a:srgbClr val="6A9A5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91640" y="2039112"/>
            <a:ext cx="182880" cy="182880"/>
          </a:xfrm>
          <a:prstGeom prst="ellipse">
            <a:avLst/>
          </a:prstGeom>
          <a:solidFill>
            <a:srgbClr val="6A9A52"/>
          </a:solidFill>
          <a:ln/>
        </p:spPr>
      </p:sp>
      <p:sp>
        <p:nvSpPr>
          <p:cNvPr id="5" name="Text 3"/>
          <p:cNvSpPr/>
          <p:nvPr/>
        </p:nvSpPr>
        <p:spPr>
          <a:xfrm>
            <a:off x="612648" y="225856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53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 sensors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40080" y="2606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2 floors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944368" y="2514600"/>
            <a:ext cx="1975104" cy="0"/>
          </a:xfrm>
          <a:prstGeom prst="line">
            <a:avLst/>
          </a:prstGeom>
          <a:noFill/>
          <a:ln w="25400">
            <a:solidFill>
              <a:srgbClr val="6A9A52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4937760" y="187452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EF4EC"/>
          </a:solidFill>
          <a:ln w="19050">
            <a:solidFill>
              <a:srgbClr val="6A9A5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89320" y="2039112"/>
            <a:ext cx="182880" cy="182880"/>
          </a:xfrm>
          <a:prstGeom prst="ellipse">
            <a:avLst/>
          </a:prstGeom>
          <a:solidFill>
            <a:srgbClr val="6A9A52"/>
          </a:solidFill>
          <a:ln/>
        </p:spPr>
      </p:sp>
      <p:sp>
        <p:nvSpPr>
          <p:cNvPr id="10" name="Text 8"/>
          <p:cNvSpPr/>
          <p:nvPr/>
        </p:nvSpPr>
        <p:spPr>
          <a:xfrm>
            <a:off x="4910328" y="225856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53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node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937760" y="2606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consumer thread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242048" y="2514600"/>
            <a:ext cx="1975104" cy="0"/>
          </a:xfrm>
          <a:prstGeom prst="line">
            <a:avLst/>
          </a:prstGeom>
          <a:noFill/>
          <a:ln w="25400">
            <a:solidFill>
              <a:srgbClr val="6A9A52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235440" y="187452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EF4EC"/>
          </a:solidFill>
          <a:ln w="19050">
            <a:solidFill>
              <a:srgbClr val="1B5E2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287000" y="2039112"/>
            <a:ext cx="182880" cy="182880"/>
          </a:xfrm>
          <a:prstGeom prst="ellipse">
            <a:avLst/>
          </a:prstGeom>
          <a:solidFill>
            <a:srgbClr val="1B5E20"/>
          </a:solidFill>
          <a:ln/>
        </p:spPr>
      </p:sp>
      <p:sp>
        <p:nvSpPr>
          <p:cNvPr id="15" name="Text 13"/>
          <p:cNvSpPr/>
          <p:nvPr/>
        </p:nvSpPr>
        <p:spPr>
          <a:xfrm>
            <a:off x="9208008" y="225856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53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9235440" y="2606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queue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235440" y="352044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EF4EC"/>
          </a:solidFill>
          <a:ln w="19050">
            <a:solidFill>
              <a:srgbClr val="1B5E2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287000" y="3685032"/>
            <a:ext cx="182880" cy="182880"/>
          </a:xfrm>
          <a:prstGeom prst="ellipse">
            <a:avLst/>
          </a:prstGeom>
          <a:solidFill>
            <a:srgbClr val="1B5E20"/>
          </a:solidFill>
          <a:ln/>
        </p:spPr>
      </p:sp>
      <p:sp>
        <p:nvSpPr>
          <p:cNvPr id="19" name="Text 17"/>
          <p:cNvSpPr/>
          <p:nvPr/>
        </p:nvSpPr>
        <p:spPr>
          <a:xfrm>
            <a:off x="9208008" y="390448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53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9235440" y="4251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python3.12 ingest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242048" y="4160520"/>
            <a:ext cx="1975104" cy="0"/>
          </a:xfrm>
          <a:prstGeom prst="line">
            <a:avLst/>
          </a:prstGeom>
          <a:noFill/>
          <a:ln w="25400">
            <a:solidFill>
              <a:srgbClr val="6A9A52"/>
            </a:solidFill>
            <a:prstDash val="solid"/>
            <a:headEnd type="triangle"/>
            <a:tailEnd type="oval"/>
          </a:ln>
        </p:spPr>
      </p:sp>
      <p:sp>
        <p:nvSpPr>
          <p:cNvPr id="22" name="Shape 20"/>
          <p:cNvSpPr/>
          <p:nvPr/>
        </p:nvSpPr>
        <p:spPr>
          <a:xfrm>
            <a:off x="4937760" y="352044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EF4EC"/>
          </a:solidFill>
          <a:ln w="19050">
            <a:solidFill>
              <a:srgbClr val="1B5E2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9320" y="3685032"/>
            <a:ext cx="182880" cy="182880"/>
          </a:xfrm>
          <a:prstGeom prst="ellipse">
            <a:avLst/>
          </a:prstGeom>
          <a:solidFill>
            <a:srgbClr val="1B5E20"/>
          </a:solidFill>
          <a:ln/>
        </p:spPr>
      </p:sp>
      <p:sp>
        <p:nvSpPr>
          <p:cNvPr id="24" name="Text 22"/>
          <p:cNvSpPr/>
          <p:nvPr/>
        </p:nvSpPr>
        <p:spPr>
          <a:xfrm>
            <a:off x="4910328" y="390448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53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4937760" y="4251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store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2944368" y="4160520"/>
            <a:ext cx="1975104" cy="0"/>
          </a:xfrm>
          <a:prstGeom prst="line">
            <a:avLst/>
          </a:prstGeom>
          <a:noFill/>
          <a:ln w="25400">
            <a:solidFill>
              <a:srgbClr val="6A9A52"/>
            </a:solidFill>
            <a:prstDash val="solid"/>
            <a:headEnd type="triangle"/>
            <a:tailEnd type="oval"/>
          </a:ln>
        </p:spPr>
      </p:sp>
      <p:sp>
        <p:nvSpPr>
          <p:cNvPr id="27" name="Shape 25"/>
          <p:cNvSpPr/>
          <p:nvPr/>
        </p:nvSpPr>
        <p:spPr>
          <a:xfrm>
            <a:off x="640080" y="352044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EF4EC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691640" y="3685032"/>
            <a:ext cx="182880" cy="1828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9" name="Text 27"/>
          <p:cNvSpPr/>
          <p:nvPr/>
        </p:nvSpPr>
        <p:spPr>
          <a:xfrm>
            <a:off x="612648" y="390448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53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640080" y="4251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A–F scorecard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10378440" y="3154680"/>
            <a:ext cx="0" cy="365760"/>
          </a:xfrm>
          <a:prstGeom prst="line">
            <a:avLst/>
          </a:prstGeom>
          <a:noFill/>
          <a:ln w="25400">
            <a:solidFill>
              <a:srgbClr val="6A9A52"/>
            </a:solidFill>
            <a:prstDash val="solid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640080" y="5257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fog raises hard exception alarms at the edge; the dashboard derives an A-to-F efficiency grade fresh on every read, never stored.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30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smart-building-energy-monitor.s3.us-east-1.amazonaws.com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502152" cy="3657600"/>
          </a:xfrm>
          <a:prstGeom prst="roundRect">
            <a:avLst>
              <a:gd name="adj" fmla="val 2611"/>
            </a:avLst>
          </a:prstGeom>
          <a:solidFill>
            <a:srgbClr val="EEF4EC"/>
          </a:solidFill>
          <a:ln w="15240">
            <a:solidFill>
              <a:srgbClr val="2E7D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194560"/>
            <a:ext cx="640080" cy="640080"/>
          </a:xfrm>
          <a:prstGeom prst="ellipse">
            <a:avLst/>
          </a:prstGeom>
          <a:solidFill>
            <a:srgbClr val="1B5E20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14400" y="3017520"/>
            <a:ext cx="2953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3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A-to-F grade badge per floor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3794760"/>
            <a:ext cx="295351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C6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floor is graded fresh on read — both floors sit at A right now, at 100 and 91.7, the score beneath the letter separating lean from drifting.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16552" y="1874520"/>
            <a:ext cx="3502152" cy="3657600"/>
          </a:xfrm>
          <a:prstGeom prst="roundRect">
            <a:avLst>
              <a:gd name="adj" fmla="val 2611"/>
            </a:avLst>
          </a:prstGeom>
          <a:solidFill>
            <a:srgbClr val="EEF4EC"/>
          </a:solidFill>
          <a:ln w="15240">
            <a:solidFill>
              <a:srgbClr val="2E7D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90872" y="2194560"/>
            <a:ext cx="640080" cy="640080"/>
          </a:xfrm>
          <a:prstGeom prst="ellipse">
            <a:avLst/>
          </a:prstGeom>
          <a:solidFill>
            <a:srgbClr val="1B5E20"/>
          </a:solidFill>
          <a:ln/>
        </p:spPr>
      </p:sp>
      <p:sp>
        <p:nvSpPr>
          <p:cNvPr id="11" name="Text 9"/>
          <p:cNvSpPr/>
          <p:nvPr/>
        </p:nvSpPr>
        <p:spPr>
          <a:xfrm>
            <a:off x="4690872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690872" y="3017520"/>
            <a:ext cx="2953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3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Alarm and rating on separate axes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90872" y="3794760"/>
            <a:ext cx="295351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C6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hard exception alarms fire at the edge, while the A-to-F rating answers a different question: how efficiently the floor runs overall.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93024" y="1874520"/>
            <a:ext cx="3502152" cy="3657600"/>
          </a:xfrm>
          <a:prstGeom prst="roundRect">
            <a:avLst>
              <a:gd name="adj" fmla="val 2611"/>
            </a:avLst>
          </a:prstGeom>
          <a:solidFill>
            <a:srgbClr val="EEF4EC"/>
          </a:solidFill>
          <a:ln w="15240">
            <a:solidFill>
              <a:srgbClr val="2E7D3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67344" y="2194560"/>
            <a:ext cx="640080" cy="640080"/>
          </a:xfrm>
          <a:prstGeom prst="ellipse">
            <a:avLst/>
          </a:prstGeom>
          <a:solidFill>
            <a:srgbClr val="1B5E20"/>
          </a:solidFill>
          <a:ln/>
        </p:spPr>
      </p:sp>
      <p:sp>
        <p:nvSpPr>
          <p:cNvPr id="16" name="Text 14"/>
          <p:cNvSpPr/>
          <p:nvPr/>
        </p:nvSpPr>
        <p:spPr>
          <a:xfrm>
            <a:off x="8467344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467344" y="3017520"/>
            <a:ext cx="2953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3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energy-consumption trend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67344" y="3794760"/>
            <a:ext cx="295351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C6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energy chart tracks both floors, so the number behind each grade is visible as it moves.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A9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the live dashboard here — backup video ready.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3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Hardest Part — grade the floor without storing the grade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920240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20402A"/>
          </a:solidFill>
          <a:ln w="15875">
            <a:solidFill>
              <a:srgbClr val="D9A6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A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05840" y="2578608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2E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manager needs both an exception (something specific is wrong now) and a rating (how efficiently the floor runs overall) — but they belong on separate axes. Baking a rating into stored records would freeze the thresholds and blur the two questions together.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4041648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20402A"/>
          </a:solidFill>
          <a:ln w="15875">
            <a:solidFill>
              <a:srgbClr val="6A9A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42245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A9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005840" y="4700016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2E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fog answers the exception question at the edge, raising four hard alarms per window. The dashboard answers performance on read: it scores energy draw and air quality each from 100 down to 0, averages them, and maps the number to an A-to-F letter like a building energy certificate — derived fresh on every read, never stored, so thresholds can be retuned without touching a saved record.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2026-07-24T07:00:27Z</dcterms:created>
  <dcterms:modified xsi:type="dcterms:W3CDTF">2026-07-24T07:00:27Z</dcterms:modified>
</cp:coreProperties>
</file>