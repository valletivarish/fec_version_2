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91440" y="-91440"/>
            <a:ext cx="12435840" cy="7040880"/>
          </a:xfrm>
          <a:prstGeom prst="rect">
            <a:avLst/>
          </a:prstGeom>
          <a:solidFill>
            <a:srgbClr val="0F8A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297680" cy="6858000"/>
          </a:xfrm>
          <a:prstGeom prst="rect">
            <a:avLst/>
          </a:prstGeom>
          <a:solidFill>
            <a:srgbClr val="0A605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920240"/>
            <a:ext cx="3383280" cy="3017520"/>
          </a:xfrm>
          <a:prstGeom prst="rect">
            <a:avLst/>
          </a:prstGeom>
          <a:noFill/>
        </p:spPr>
        <p:txBody>
          <a:bodyPr wrap="square" anchor="ctr">
            <a:spAutoFit/>
          </a:bodyPr>
          <a:lstStyle/>
          <a:p>
            <a:pPr algn="l"/>
            <a:r>
              <a:rPr sz="1600" b="0" i="1">
                <a:solidFill>
                  <a:srgbClr val="DBEDEC"/>
                </a:solidFill>
                <a:latin typeface="Verdana"/>
              </a:rPr>
              <a:t>Continuous two-pond monitoring: fog aggregation at the edge, serverless ingestion in the cloud, deployed live on AWS.</a:t>
            </a:r>
          </a:p>
        </p:txBody>
      </p:sp>
      <p:sp>
        <p:nvSpPr>
          <p:cNvPr id="5" name="TextBox 4"/>
          <p:cNvSpPr txBox="1"/>
          <p:nvPr/>
        </p:nvSpPr>
        <p:spPr>
          <a:xfrm>
            <a:off x="4754880" y="1783080"/>
            <a:ext cx="7040880" cy="2377440"/>
          </a:xfrm>
          <a:prstGeom prst="rect">
            <a:avLst/>
          </a:prstGeom>
          <a:noFill/>
        </p:spPr>
        <p:txBody>
          <a:bodyPr wrap="square" anchor="ctr">
            <a:spAutoFit/>
          </a:bodyPr>
          <a:lstStyle/>
          <a:p>
            <a:pPr algn="l"/>
            <a:r>
              <a:rPr sz="3200" b="1" i="0">
                <a:solidFill>
                  <a:srgbClr val="FFFFFF"/>
                </a:solidFill>
                <a:latin typeface="Corbel"/>
              </a:rPr>
              <a:t>Aquaculture Fish Farm Water Quality</a:t>
            </a:r>
          </a:p>
        </p:txBody>
      </p:sp>
      <p:sp>
        <p:nvSpPr>
          <p:cNvPr id="6" name="TextBox 5"/>
          <p:cNvSpPr txBox="1"/>
          <p:nvPr/>
        </p:nvSpPr>
        <p:spPr>
          <a:xfrm>
            <a:off x="4754880" y="4434840"/>
            <a:ext cx="6858000" cy="1645920"/>
          </a:xfrm>
          <a:prstGeom prst="rect">
            <a:avLst/>
          </a:prstGeom>
          <a:noFill/>
        </p:spPr>
        <p:txBody>
          <a:bodyPr wrap="square" anchor="t">
            <a:spAutoFit/>
          </a:bodyPr>
          <a:lstStyle/>
          <a:p>
            <a:pPr algn="l"/>
            <a:r>
              <a:rPr sz="1700" b="1" i="0">
                <a:solidFill>
                  <a:srgbClr val="FFFFFF"/>
                </a:solidFill>
                <a:latin typeface="Verdana"/>
              </a:rPr>
              <a:t>Anjaneya Reddy Gurram</a:t>
            </a:r>
          </a:p>
          <a:p>
            <a:pPr algn="l"/>
            <a:r>
              <a:rPr sz="1300" b="0" i="0">
                <a:solidFill>
                  <a:srgbClr val="B7DBDA"/>
                </a:solidFill>
                <a:latin typeface="Verdana"/>
              </a:rPr>
              <a:t>Student ID 24288853</a:t>
            </a:r>
          </a:p>
          <a:p>
            <a:pPr algn="l"/>
            <a:r>
              <a:rPr sz="1250" b="0" i="0">
                <a:solidFill>
                  <a:srgbClr val="B7DBDA"/>
                </a:solidFill>
                <a:latin typeface="Verdana"/>
              </a:rPr>
              <a:t>MSc in Cloud Computing   ·   Fog and Edge Computing (H9FECC)</a:t>
            </a:r>
          </a:p>
          <a:p>
            <a:pPr algn="l"/>
            <a:r>
              <a:rPr sz="1250" b="0" i="0">
                <a:solidFill>
                  <a:srgbClr val="B7DBDA"/>
                </a:solidFill>
                <a:latin typeface="Verdana"/>
              </a:rPr>
              <a:t>National College of Ireland</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Rectangle 3"/>
          <p:cNvSpPr/>
          <p:nvPr/>
        </p:nvSpPr>
        <p:spPr>
          <a:xfrm>
            <a:off x="0" y="0"/>
            <a:ext cx="4114800" cy="6858000"/>
          </a:xfrm>
          <a:prstGeom prst="rect">
            <a:avLst/>
          </a:prstGeom>
          <a:solidFill>
            <a:srgbClr val="0F8A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1"/>
          <p:cNvSpPr>
            <a:spLocks noGrp="1"/>
          </p:cNvSpPr>
          <p:nvPr>
            <p:ph type="title"/>
          </p:nvPr>
        </p:nvSpPr>
        <p:spPr>
          <a:xfrm>
            <a:off x="457200" y="640080"/>
            <a:ext cx="3291840" cy="4572000"/>
          </a:xfrm>
        </p:spPr>
        <p:txBody>
          <a:bodyPr wrap="square" anchor="t"/>
          <a:lstStyle/>
          <a:p>
            <a:pPr algn="l"/>
            <a:r>
              <a:rPr b="1" sz="1800">
                <a:solidFill>
                  <a:srgbClr val="FFFFFF"/>
                </a:solidFill>
                <a:latin typeface="Corbel"/>
              </a:rPr>
              <a:t>Manual checks leave hours-long blind spots</a:t>
            </a:r>
          </a:p>
        </p:txBody>
      </p:sp>
      <p:sp>
        <p:nvSpPr>
          <p:cNvPr id="3" name="Content Placeholder 2"/>
          <p:cNvSpPr>
            <a:spLocks noGrp="1"/>
          </p:cNvSpPr>
          <p:nvPr>
            <p:ph idx="1"/>
          </p:nvPr>
        </p:nvSpPr>
        <p:spPr>
          <a:xfrm>
            <a:off x="4572000" y="640080"/>
            <a:ext cx="6492240" cy="5577840"/>
          </a:xfrm>
        </p:spPr>
        <p:txBody>
          <a:bodyPr wrap="square">
            <a:normAutofit/>
          </a:bodyPr>
          <a:lstStyle/>
          <a:p>
            <a:pPr>
              <a:spcAft>
                <a:spcPts val="900"/>
              </a:spcAft>
            </a:pPr>
            <a:r>
              <a:rPr sz="1700" b="0">
                <a:solidFill>
                  <a:srgbClr val="232A26"/>
                </a:solidFill>
                <a:latin typeface="Verdana"/>
              </a:rPr>
              <a:t>Standard practice on pond farms is that a technician draws a sample and runs a test kit once or twice a day.</a:t>
            </a:r>
          </a:p>
          <a:p>
            <a:pPr>
              <a:spcAft>
                <a:spcPts val="900"/>
              </a:spcAft>
            </a:pPr>
            <a:r>
              <a:rPr sz="1700" b="0">
                <a:solidFill>
                  <a:srgbClr val="232A26"/>
                </a:solidFill>
                <a:latin typeface="Verdana"/>
              </a:rPr>
              <a:t>Dissolved oxygen and ammonia do not change slowly: a warm, still night can crash oxygen and push ammonia up over a few hours, entirely inside the gap between two manual readings.</a:t>
            </a:r>
          </a:p>
          <a:p>
            <a:pPr>
              <a:spcAft>
                <a:spcPts val="900"/>
              </a:spcAft>
            </a:pPr>
            <a:r>
              <a:rPr sz="1700" b="0">
                <a:solidFill>
                  <a:srgbClr val="232A26"/>
                </a:solidFill>
                <a:latin typeface="Verdana"/>
              </a:rPr>
              <a:t>A farm that samples at sunrise sees the excursion only after the fish are already stressed.</a:t>
            </a:r>
          </a:p>
          <a:p>
            <a:pPr>
              <a:spcAft>
                <a:spcPts val="900"/>
              </a:spcAft>
            </a:pPr>
            <a:r>
              <a:rPr sz="1700" b="0">
                <a:solidFill>
                  <a:srgbClr val="232A26"/>
                </a:solidFill>
                <a:latin typeface="Verdana"/>
              </a:rPr>
              <a:t>The stakes are rising: the UN's latest global assessment records aquaculture overtaking capture fisheries as the majority source of aquatic animal production.</a:t>
            </a:r>
          </a:p>
          <a:p>
            <a:pPr>
              <a:spcAft>
                <a:spcPts val="900"/>
              </a:spcAft>
            </a:pPr>
            <a:r>
              <a:rPr sz="1700" b="1">
                <a:solidFill>
                  <a:srgbClr val="0F8A86"/>
                </a:solidFill>
                <a:latin typeface="Verdana"/>
              </a:rPr>
              <a:t>1 to 2 manual water checks per day are the only visibility most pond farms have.</a:t>
            </a:r>
          </a:p>
        </p:txBody>
      </p:sp>
      <p:sp>
        <p:nvSpPr>
          <p:cNvPr id="5" name="TextBox 4"/>
          <p:cNvSpPr txBox="1"/>
          <p:nvPr/>
        </p:nvSpPr>
        <p:spPr>
          <a:xfrm>
            <a:off x="502920" y="6126480"/>
            <a:ext cx="1097280" cy="457200"/>
          </a:xfrm>
          <a:prstGeom prst="rect">
            <a:avLst/>
          </a:prstGeom>
          <a:noFill/>
        </p:spPr>
        <p:txBody>
          <a:bodyPr wrap="square" anchor="t">
            <a:spAutoFit/>
          </a:bodyPr>
          <a:lstStyle/>
          <a:p>
            <a:pPr algn="l"/>
            <a:r>
              <a:rPr sz="1400" b="1" i="0">
                <a:solidFill>
                  <a:srgbClr val="FFFFFF"/>
                </a:solidFill>
                <a:latin typeface="Corbel"/>
              </a:rPr>
              <a:t>01</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Rectangle 3"/>
          <p:cNvSpPr/>
          <p:nvPr/>
        </p:nvSpPr>
        <p:spPr>
          <a:xfrm>
            <a:off x="0" y="0"/>
            <a:ext cx="4114800" cy="6858000"/>
          </a:xfrm>
          <a:prstGeom prst="rect">
            <a:avLst/>
          </a:prstGeom>
          <a:solidFill>
            <a:srgbClr val="0F8A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1"/>
          <p:cNvSpPr>
            <a:spLocks noGrp="1"/>
          </p:cNvSpPr>
          <p:nvPr>
            <p:ph type="title"/>
          </p:nvPr>
        </p:nvSpPr>
        <p:spPr>
          <a:xfrm>
            <a:off x="457200" y="640080"/>
            <a:ext cx="3291840" cy="4572000"/>
          </a:xfrm>
        </p:spPr>
        <p:txBody>
          <a:bodyPr wrap="square" anchor="t"/>
          <a:lstStyle/>
          <a:p>
            <a:pPr algn="l"/>
            <a:r>
              <a:rPr b="1" sz="1800">
                <a:solidFill>
                  <a:srgbClr val="FFFFFF"/>
                </a:solidFill>
                <a:latin typeface="Corbel"/>
              </a:rPr>
              <a:t>How it works: pond edge to live dashboard</a:t>
            </a:r>
          </a:p>
        </p:txBody>
      </p:sp>
      <p:sp>
        <p:nvSpPr>
          <p:cNvPr id="3" name="Content Placeholder 2"/>
          <p:cNvSpPr>
            <a:spLocks noGrp="1"/>
          </p:cNvSpPr>
          <p:nvPr>
            <p:ph idx="1"/>
          </p:nvPr>
        </p:nvSpPr>
        <p:spPr>
          <a:xfrm>
            <a:off x="4526280" y="685800"/>
            <a:ext cx="3977639" cy="5394960"/>
          </a:xfrm>
        </p:spPr>
        <p:txBody>
          <a:bodyPr wrap="square">
            <a:normAutofit/>
          </a:bodyPr>
          <a:lstStyle/>
          <a:p>
            <a:pPr>
              <a:spcAft>
                <a:spcPts val="800"/>
              </a:spcAft>
            </a:pPr>
            <a:r>
              <a:rPr sz="1500" b="1">
                <a:solidFill>
                  <a:srgbClr val="0F8A86"/>
                </a:solidFill>
                <a:latin typeface="Verdana"/>
              </a:rPr>
              <a:t>At the pond (edge): 10 sensors across 2 ponds by 5 metrics: temperature, oxygen, pH, ammonia, feed.</a:t>
            </a:r>
          </a:p>
          <a:p>
            <a:pPr>
              <a:spcAft>
                <a:spcPts val="800"/>
              </a:spcAft>
            </a:pPr>
            <a:r>
              <a:rPr sz="1500" b="0">
                <a:solidFill>
                  <a:srgbClr val="232A26"/>
                </a:solidFill>
                <a:latin typeface="Verdana"/>
              </a:rPr>
              <a:t>Fog gateway: 10-second windows compute count, min, max, and average, and alert rules fire on site.</a:t>
            </a:r>
          </a:p>
          <a:p>
            <a:pPr>
              <a:spcAft>
                <a:spcPts val="800"/>
              </a:spcAft>
            </a:pPr>
            <a:r>
              <a:rPr sz="1500" b="0">
                <a:solidFill>
                  <a:srgbClr val="232A26"/>
                </a:solidFill>
                <a:latin typeface="Verdana"/>
              </a:rPr>
              <a:t>Amazon SQS receives one batched send per cycle, not one call per window.</a:t>
            </a:r>
          </a:p>
          <a:p>
            <a:pPr>
              <a:spcAft>
                <a:spcPts val="800"/>
              </a:spcAft>
            </a:pPr>
            <a:r>
              <a:rPr sz="1500" b="0">
                <a:solidFill>
                  <a:srgbClr val="232A26"/>
                </a:solidFill>
                <a:latin typeface="Verdana"/>
              </a:rPr>
              <a:t>AWS Lambda drains each queue batch and writes records in parallel to Amazon DynamoDB, stored by sensor type and time.</a:t>
            </a:r>
          </a:p>
          <a:p>
            <a:pPr>
              <a:spcAft>
                <a:spcPts val="800"/>
              </a:spcAft>
            </a:pPr>
            <a:r>
              <a:rPr sz="1500" b="0">
                <a:solidFill>
                  <a:srgbClr val="232A26"/>
                </a:solidFill>
                <a:latin typeface="Verdana"/>
              </a:rPr>
              <a:t>API Gateway plus AWS Lambda serves the dashboard's queries on demand, and the live dashboard is a static site hosted on Amazon S3.</a:t>
            </a:r>
          </a:p>
          <a:p>
            <a:pPr>
              <a:spcAft>
                <a:spcPts val="800"/>
              </a:spcAft>
            </a:pPr>
            <a:r>
              <a:rPr sz="1500" b="1">
                <a:solidFill>
                  <a:srgbClr val="0F8A86"/>
                </a:solidFill>
                <a:latin typeface="Verdana"/>
              </a:rPr>
              <a:t>Only compact window summaries ever leave the pond: raw readings stay at the edge.</a:t>
            </a:r>
          </a:p>
        </p:txBody>
      </p:sp>
      <p:sp>
        <p:nvSpPr>
          <p:cNvPr id="5" name="TextBox 4"/>
          <p:cNvSpPr txBox="1"/>
          <p:nvPr/>
        </p:nvSpPr>
        <p:spPr>
          <a:xfrm>
            <a:off x="502920" y="6126480"/>
            <a:ext cx="1097280" cy="457200"/>
          </a:xfrm>
          <a:prstGeom prst="rect">
            <a:avLst/>
          </a:prstGeom>
          <a:noFill/>
        </p:spPr>
        <p:txBody>
          <a:bodyPr wrap="square" anchor="t">
            <a:spAutoFit/>
          </a:bodyPr>
          <a:lstStyle/>
          <a:p>
            <a:pPr algn="l"/>
            <a:r>
              <a:rPr sz="1400" b="1" i="0">
                <a:solidFill>
                  <a:srgbClr val="FFFFFF"/>
                </a:solidFill>
                <a:latin typeface="Corbel"/>
              </a:rPr>
              <a:t>02</a:t>
            </a:r>
          </a:p>
        </p:txBody>
      </p:sp>
      <p:pic>
        <p:nvPicPr>
          <p:cNvPr id="6" name="Picture 5" descr="topology.png"/>
          <p:cNvPicPr>
            <a:picLocks noChangeAspect="1"/>
          </p:cNvPicPr>
          <p:nvPr/>
        </p:nvPicPr>
        <p:blipFill>
          <a:blip r:embed="rId2"/>
          <a:stretch>
            <a:fillRect/>
          </a:stretch>
        </p:blipFill>
        <p:spPr>
          <a:xfrm>
            <a:off x="8686800" y="2283679"/>
            <a:ext cx="3063239" cy="1924881"/>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Rectangle 3"/>
          <p:cNvSpPr/>
          <p:nvPr/>
        </p:nvSpPr>
        <p:spPr>
          <a:xfrm>
            <a:off x="0" y="0"/>
            <a:ext cx="4114800" cy="6858000"/>
          </a:xfrm>
          <a:prstGeom prst="rect">
            <a:avLst/>
          </a:prstGeom>
          <a:solidFill>
            <a:srgbClr val="0F8A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1"/>
          <p:cNvSpPr>
            <a:spLocks noGrp="1"/>
          </p:cNvSpPr>
          <p:nvPr>
            <p:ph type="title"/>
          </p:nvPr>
        </p:nvSpPr>
        <p:spPr>
          <a:xfrm>
            <a:off x="457200" y="640080"/>
            <a:ext cx="3291840" cy="4572000"/>
          </a:xfrm>
        </p:spPr>
        <p:txBody>
          <a:bodyPr wrap="square" anchor="t"/>
          <a:lstStyle/>
          <a:p>
            <a:pPr algn="l"/>
            <a:r>
              <a:rPr b="1" sz="2200">
                <a:solidFill>
                  <a:srgbClr val="FFFFFF"/>
                </a:solidFill>
                <a:latin typeface="Corbel"/>
              </a:rPr>
              <a:t>Live on a real AWS account</a:t>
            </a:r>
          </a:p>
        </p:txBody>
      </p:sp>
      <p:sp>
        <p:nvSpPr>
          <p:cNvPr id="3" name="Content Placeholder 2"/>
          <p:cNvSpPr>
            <a:spLocks noGrp="1"/>
          </p:cNvSpPr>
          <p:nvPr>
            <p:ph idx="1"/>
          </p:nvPr>
        </p:nvSpPr>
        <p:spPr>
          <a:xfrm>
            <a:off x="4526280" y="685800"/>
            <a:ext cx="3977639" cy="5394960"/>
          </a:xfrm>
        </p:spPr>
        <p:txBody>
          <a:bodyPr wrap="square">
            <a:normAutofit/>
          </a:bodyPr>
          <a:lstStyle/>
          <a:p>
            <a:pPr>
              <a:spcAft>
                <a:spcPts val="800"/>
              </a:spcAft>
            </a:pPr>
            <a:r>
              <a:rPr sz="1500" b="0">
                <a:solidFill>
                  <a:srgbClr val="232A26"/>
                </a:solidFill>
                <a:latin typeface="Verdana"/>
              </a:rPr>
              <a:t>4/4 pipeline health checks green (gateway, queue, Lambda, pipeline) within a minute of boot.</a:t>
            </a:r>
          </a:p>
          <a:p>
            <a:pPr>
              <a:spcAft>
                <a:spcPts val="800"/>
              </a:spcAft>
            </a:pPr>
            <a:r>
              <a:rPr sz="1500" b="0">
                <a:solidFill>
                  <a:srgbClr val="232A26"/>
                </a:solidFill>
                <a:latin typeface="Verdana"/>
              </a:rPr>
              <a:t>Under 2 seconds: age of the freshest reading, sensor to dashboard, on the live health endpoint.</a:t>
            </a:r>
          </a:p>
          <a:p>
            <a:pPr>
              <a:spcAft>
                <a:spcPts val="800"/>
              </a:spcAft>
            </a:pPr>
            <a:r>
              <a:rPr sz="1500" b="0">
                <a:solidFill>
                  <a:srgbClr val="232A26"/>
                </a:solidFill>
                <a:latin typeface="Verdana"/>
              </a:rPr>
              <a:t>156 automated tests pass across the sensor, fog, processor, and dashboard modules.</a:t>
            </a:r>
          </a:p>
          <a:p>
            <a:pPr>
              <a:spcAft>
                <a:spcPts val="800"/>
              </a:spcAft>
            </a:pPr>
            <a:r>
              <a:rPr sz="1500" b="0">
                <a:solidFill>
                  <a:srgbClr val="232A26"/>
                </a:solidFill>
                <a:latin typeface="Verdana"/>
              </a:rPr>
              <a:t>4 alerts firing live: heat stress, hypoxia and acidic risk on pond-1, alkaline risk on pond-2.</a:t>
            </a:r>
          </a:p>
          <a:p>
            <a:pPr>
              <a:spcAft>
                <a:spcPts val="800"/>
              </a:spcAft>
            </a:pPr>
            <a:r>
              <a:rPr sz="1500" b="1">
                <a:solidFill>
                  <a:srgbClr val="0F8A86"/>
                </a:solidFill>
                <a:latin typeface="Verdana"/>
              </a:rPr>
              <a:t>Deployed dashboard captured live from the API Gateway endpoint: 590 records stored and climbing.</a:t>
            </a:r>
          </a:p>
        </p:txBody>
      </p:sp>
      <p:sp>
        <p:nvSpPr>
          <p:cNvPr id="5" name="TextBox 4"/>
          <p:cNvSpPr txBox="1"/>
          <p:nvPr/>
        </p:nvSpPr>
        <p:spPr>
          <a:xfrm>
            <a:off x="502920" y="6126480"/>
            <a:ext cx="1097280" cy="457200"/>
          </a:xfrm>
          <a:prstGeom prst="rect">
            <a:avLst/>
          </a:prstGeom>
          <a:noFill/>
        </p:spPr>
        <p:txBody>
          <a:bodyPr wrap="square" anchor="t">
            <a:spAutoFit/>
          </a:bodyPr>
          <a:lstStyle/>
          <a:p>
            <a:pPr algn="l"/>
            <a:r>
              <a:rPr sz="1400" b="1" i="0">
                <a:solidFill>
                  <a:srgbClr val="FFFFFF"/>
                </a:solidFill>
                <a:latin typeface="Corbel"/>
              </a:rPr>
              <a:t>03</a:t>
            </a:r>
          </a:p>
        </p:txBody>
      </p:sp>
      <p:pic>
        <p:nvPicPr>
          <p:cNvPr id="6" name="Picture 5" descr="dashboard.png"/>
          <p:cNvPicPr>
            <a:picLocks noChangeAspect="1"/>
          </p:cNvPicPr>
          <p:nvPr/>
        </p:nvPicPr>
        <p:blipFill>
          <a:blip r:embed="rId2"/>
          <a:stretch>
            <a:fillRect/>
          </a:stretch>
        </p:blipFill>
        <p:spPr>
          <a:xfrm>
            <a:off x="8686800" y="2159627"/>
            <a:ext cx="3063239" cy="2172985"/>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Rectangle 3"/>
          <p:cNvSpPr/>
          <p:nvPr/>
        </p:nvSpPr>
        <p:spPr>
          <a:xfrm>
            <a:off x="0" y="0"/>
            <a:ext cx="4114800" cy="6858000"/>
          </a:xfrm>
          <a:prstGeom prst="rect">
            <a:avLst/>
          </a:prstGeom>
          <a:solidFill>
            <a:srgbClr val="0F8A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1"/>
          <p:cNvSpPr>
            <a:spLocks noGrp="1"/>
          </p:cNvSpPr>
          <p:nvPr>
            <p:ph type="title"/>
          </p:nvPr>
        </p:nvSpPr>
        <p:spPr>
          <a:xfrm>
            <a:off x="457200" y="640080"/>
            <a:ext cx="3291840" cy="4572000"/>
          </a:xfrm>
        </p:spPr>
        <p:txBody>
          <a:bodyPr wrap="square" anchor="t"/>
          <a:lstStyle/>
          <a:p>
            <a:pPr algn="l"/>
            <a:r>
              <a:rPr b="1" sz="1800">
                <a:solidFill>
                  <a:srgbClr val="FFFFFF"/>
                </a:solidFill>
                <a:latin typeface="Corbel"/>
              </a:rPr>
              <a:t>The hardest part: a hidden concurrency race</a:t>
            </a:r>
          </a:p>
        </p:txBody>
      </p:sp>
      <p:sp>
        <p:nvSpPr>
          <p:cNvPr id="3" name="Content Placeholder 2"/>
          <p:cNvSpPr>
            <a:spLocks noGrp="1"/>
          </p:cNvSpPr>
          <p:nvPr>
            <p:ph idx="1"/>
          </p:nvPr>
        </p:nvSpPr>
        <p:spPr>
          <a:xfrm>
            <a:off x="4572000" y="640080"/>
            <a:ext cx="6492240" cy="5577840"/>
          </a:xfrm>
        </p:spPr>
        <p:txBody>
          <a:bodyPr wrap="square">
            <a:normAutofit/>
          </a:bodyPr>
          <a:lstStyle/>
          <a:p>
            <a:pPr>
              <a:spcAft>
                <a:spcPts val="900"/>
              </a:spcAft>
            </a:pPr>
            <a:r>
              <a:rPr sz="1700" b="1">
                <a:solidFill>
                  <a:srgbClr val="0F8A86"/>
                </a:solidFill>
                <a:latin typeface="Verdana"/>
              </a:rPr>
              <a:t>The problem</a:t>
            </a:r>
          </a:p>
          <a:p>
            <a:pPr lvl="1">
              <a:spcAft>
                <a:spcPts val="900"/>
              </a:spcAft>
            </a:pPr>
            <a:r>
              <a:rPr sz="1500" b="0">
                <a:solidFill>
                  <a:srgbClr val="232A26"/>
                </a:solidFill>
                <a:latin typeface="Verdana"/>
              </a:rPr>
              <a:t>The fog gateway buffers every reading in one shared in-memory map. Ten sensor streams write into it at once while a ten-second flush retires it, and there is deliberately no lock anywhere in that path.</a:t>
            </a:r>
          </a:p>
          <a:p>
            <a:pPr>
              <a:spcAft>
                <a:spcPts val="900"/>
              </a:spcAft>
            </a:pPr>
            <a:r>
              <a:rPr sz="1700" b="1">
                <a:solidFill>
                  <a:srgbClr val="0F8A86"/>
                </a:solidFill>
                <a:latin typeface="Verdana"/>
              </a:rPr>
              <a:t>Why it was hard</a:t>
            </a:r>
          </a:p>
          <a:p>
            <a:pPr lvl="1">
              <a:spcAft>
                <a:spcPts val="900"/>
              </a:spcAft>
            </a:pPr>
            <a:r>
              <a:rPr sz="1500" b="0">
                <a:solidFill>
                  <a:srgbClr val="232A26"/>
                </a:solidFill>
                <a:latin typeface="Verdana"/>
              </a:rPr>
              <a:t>A 64-thread stress test failed once and readings silently vanished. One field in the accumulator was still mutable, so two simultaneous merges could each read it before either wrote back. Nothing crashed; data just disappeared.</a:t>
            </a:r>
          </a:p>
          <a:p>
            <a:pPr>
              <a:spcAft>
                <a:spcPts val="900"/>
              </a:spcAft>
            </a:pPr>
            <a:r>
              <a:rPr sz="1700" b="1">
                <a:solidFill>
                  <a:srgbClr val="0F8A86"/>
                </a:solidFill>
                <a:latin typeface="Verdana"/>
              </a:rPr>
              <a:t>How it was solved</a:t>
            </a:r>
          </a:p>
          <a:p>
            <a:pPr lvl="1">
              <a:spcAft>
                <a:spcPts val="900"/>
              </a:spcAft>
            </a:pPr>
            <a:r>
              <a:rPr sz="1500" b="0">
                <a:solidFill>
                  <a:srgbClr val="232A26"/>
                </a:solidFill>
                <a:latin typeface="Verdana"/>
              </a:rPr>
              <a:t>Make the accumulator fully immutable, so every combine returns a fresh value instead of editing one in place. The map's atomic merge is only guaranteed when the merge function has no side effects, a narrower promise than "thread-safe" sounds.</a:t>
            </a:r>
          </a:p>
          <a:p>
            <a:pPr>
              <a:spcAft>
                <a:spcPts val="900"/>
              </a:spcAft>
            </a:pPr>
            <a:r>
              <a:rPr sz="1700" b="0">
                <a:solidFill>
                  <a:srgbClr val="232A26"/>
                </a:solidFill>
                <a:latin typeface="Verdana"/>
              </a:rPr>
              <a:t>The test suite replays this collision from 64 threads at once, and after the fix not one reading is lost.</a:t>
            </a:r>
          </a:p>
        </p:txBody>
      </p:sp>
      <p:sp>
        <p:nvSpPr>
          <p:cNvPr id="5" name="TextBox 4"/>
          <p:cNvSpPr txBox="1"/>
          <p:nvPr/>
        </p:nvSpPr>
        <p:spPr>
          <a:xfrm>
            <a:off x="502920" y="6126480"/>
            <a:ext cx="1097280" cy="457200"/>
          </a:xfrm>
          <a:prstGeom prst="rect">
            <a:avLst/>
          </a:prstGeom>
          <a:noFill/>
        </p:spPr>
        <p:txBody>
          <a:bodyPr wrap="square" anchor="t">
            <a:spAutoFit/>
          </a:bodyPr>
          <a:lstStyle/>
          <a:p>
            <a:pPr algn="l"/>
            <a:r>
              <a:rPr sz="1400" b="1" i="0">
                <a:solidFill>
                  <a:srgbClr val="FFFFFF"/>
                </a:solidFill>
                <a:latin typeface="Corbel"/>
              </a:rPr>
              <a:t>04</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 name="Rectangle 3"/>
          <p:cNvSpPr/>
          <p:nvPr/>
        </p:nvSpPr>
        <p:spPr>
          <a:xfrm>
            <a:off x="0" y="0"/>
            <a:ext cx="4114800" cy="6858000"/>
          </a:xfrm>
          <a:prstGeom prst="rect">
            <a:avLst/>
          </a:prstGeom>
          <a:solidFill>
            <a:srgbClr val="0F8A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1"/>
          <p:cNvSpPr>
            <a:spLocks noGrp="1"/>
          </p:cNvSpPr>
          <p:nvPr>
            <p:ph type="title"/>
          </p:nvPr>
        </p:nvSpPr>
        <p:spPr>
          <a:xfrm>
            <a:off x="457200" y="640080"/>
            <a:ext cx="3291840" cy="4572000"/>
          </a:xfrm>
        </p:spPr>
        <p:txBody>
          <a:bodyPr wrap="square" anchor="t"/>
          <a:lstStyle/>
          <a:p>
            <a:pPr algn="l"/>
            <a:r>
              <a:rPr b="1" sz="2200">
                <a:solidFill>
                  <a:srgbClr val="FFFFFF"/>
                </a:solidFill>
                <a:latin typeface="Corbel"/>
              </a:rPr>
              <a:t>What this project shows</a:t>
            </a:r>
          </a:p>
        </p:txBody>
      </p:sp>
      <p:sp>
        <p:nvSpPr>
          <p:cNvPr id="3" name="Content Placeholder 2"/>
          <p:cNvSpPr>
            <a:spLocks noGrp="1"/>
          </p:cNvSpPr>
          <p:nvPr>
            <p:ph idx="1"/>
          </p:nvPr>
        </p:nvSpPr>
        <p:spPr>
          <a:xfrm>
            <a:off x="4572000" y="640080"/>
            <a:ext cx="6492240" cy="5577840"/>
          </a:xfrm>
        </p:spPr>
        <p:txBody>
          <a:bodyPr wrap="square">
            <a:normAutofit/>
          </a:bodyPr>
          <a:lstStyle/>
          <a:p>
            <a:pPr>
              <a:spcAft>
                <a:spcPts val="900"/>
              </a:spcAft>
            </a:pPr>
            <a:r>
              <a:rPr sz="1700" b="1">
                <a:solidFill>
                  <a:srgbClr val="0F8A86"/>
                </a:solidFill>
                <a:latin typeface="Verdana"/>
              </a:rPr>
              <a:t>Fog aggregation pays for itself</a:t>
            </a:r>
          </a:p>
          <a:p>
            <a:pPr lvl="1">
              <a:spcAft>
                <a:spcPts val="900"/>
              </a:spcAft>
            </a:pPr>
            <a:r>
              <a:rPr sz="1500" b="0">
                <a:solidFill>
                  <a:srgbClr val="232A26"/>
                </a:solidFill>
                <a:latin typeface="Verdana"/>
              </a:rPr>
              <a:t>Ten-second windows turn a continuous ten-sensor stream into a handful of batched cloud writes, and the alert rules still fire on site, next to the fish.</a:t>
            </a:r>
          </a:p>
          <a:p>
            <a:pPr>
              <a:spcAft>
                <a:spcPts val="900"/>
              </a:spcAft>
            </a:pPr>
            <a:r>
              <a:rPr sz="1700" b="1">
                <a:solidFill>
                  <a:srgbClr val="0F8A86"/>
                </a:solidFill>
                <a:latin typeface="Verdana"/>
              </a:rPr>
              <a:t>Serverless absorbs the bursts</a:t>
            </a:r>
          </a:p>
          <a:p>
            <a:pPr lvl="1">
              <a:spcAft>
                <a:spcPts val="900"/>
              </a:spcAft>
            </a:pPr>
            <a:r>
              <a:rPr sz="1500" b="0">
                <a:solidFill>
                  <a:srgbClr val="232A26"/>
                </a:solidFill>
                <a:latin typeface="Verdana"/>
              </a:rPr>
              <a:t>A busy flush cycle lands as SQS backlog, never as failed calls; Lambda and DynamoDB scale with it and cost nothing while the ponds are quiet.</a:t>
            </a:r>
          </a:p>
          <a:p>
            <a:pPr>
              <a:spcAft>
                <a:spcPts val="900"/>
              </a:spcAft>
            </a:pPr>
            <a:r>
              <a:rPr sz="1700" b="1">
                <a:solidFill>
                  <a:srgbClr val="0F8A86"/>
                </a:solidFill>
                <a:latin typeface="Verdana"/>
              </a:rPr>
              <a:t>Green tests are not proof</a:t>
            </a:r>
          </a:p>
          <a:p>
            <a:pPr lvl="1">
              <a:spcAft>
                <a:spcPts val="900"/>
              </a:spcAft>
            </a:pPr>
            <a:r>
              <a:rPr sz="1500" b="0">
                <a:solidFill>
                  <a:srgbClr val="232A26"/>
                </a:solidFill>
                <a:latin typeface="Verdana"/>
              </a:rPr>
              <a:t>A pre-deployment audit caught three defects the passing suite never could: a pagination undercount, unbatched queue sends, and mishandled credentials.</a:t>
            </a:r>
          </a:p>
        </p:txBody>
      </p:sp>
      <p:sp>
        <p:nvSpPr>
          <p:cNvPr id="5" name="TextBox 4"/>
          <p:cNvSpPr txBox="1"/>
          <p:nvPr/>
        </p:nvSpPr>
        <p:spPr>
          <a:xfrm>
            <a:off x="502920" y="6126480"/>
            <a:ext cx="1097280" cy="457200"/>
          </a:xfrm>
          <a:prstGeom prst="rect">
            <a:avLst/>
          </a:prstGeom>
          <a:noFill/>
        </p:spPr>
        <p:txBody>
          <a:bodyPr wrap="square" anchor="t">
            <a:spAutoFit/>
          </a:bodyPr>
          <a:lstStyle/>
          <a:p>
            <a:pPr algn="l"/>
            <a:r>
              <a:rPr sz="1400" b="1" i="0">
                <a:solidFill>
                  <a:srgbClr val="FFFFFF"/>
                </a:solidFill>
                <a:latin typeface="Corbel"/>
              </a:rPr>
              <a:t>05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