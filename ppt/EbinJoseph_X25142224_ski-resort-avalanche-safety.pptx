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82935" y="5349240"/>
            <a:ext cx="3017520" cy="3017520"/>
          </a:xfrm>
          <a:prstGeom prst="ellipse">
            <a:avLst/>
          </a:prstGeom>
          <a:solidFill>
            <a:srgbClr val="0B6FA8"/>
          </a:solidFill>
          <a:ln/>
        </p:spPr>
      </p:sp>
      <p:sp>
        <p:nvSpPr>
          <p:cNvPr id="3" name="Shape 1"/>
          <p:cNvSpPr/>
          <p:nvPr/>
        </p:nvSpPr>
        <p:spPr>
          <a:xfrm>
            <a:off x="11231575" y="5897880"/>
            <a:ext cx="1920240" cy="1920240"/>
          </a:xfrm>
          <a:prstGeom prst="ellipse">
            <a:avLst/>
          </a:prstGeom>
          <a:solidFill>
            <a:srgbClr val="51B5EE"/>
          </a:solidFill>
          <a:ln/>
        </p:spPr>
      </p:sp>
      <p:sp>
        <p:nvSpPr>
          <p:cNvPr id="4" name="Text 2"/>
          <p:cNvSpPr/>
          <p:nvPr/>
        </p:nvSpPr>
        <p:spPr>
          <a:xfrm>
            <a:off x="758952" y="1645920"/>
            <a:ext cx="106372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0F2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 Resort Avalanche Safety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77240" y="333756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Ebin Joseph   ·   X25142224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3931920"/>
            <a:ext cx="813816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F2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Avalanche danger develops, peaks and passes in the gaps between patrol rounds — a seismic spike ahead of a slab release lasts only minutes and can pass entirely between two rounds.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82935" y="5349240"/>
            <a:ext cx="3017520" cy="3017520"/>
          </a:xfrm>
          <a:prstGeom prst="ellipse">
            <a:avLst/>
          </a:prstGeom>
          <a:solidFill>
            <a:srgbClr val="0B6FA8"/>
          </a:solidFill>
          <a:ln/>
        </p:spPr>
      </p:sp>
      <p:sp>
        <p:nvSpPr>
          <p:cNvPr id="3" name="Shape 1"/>
          <p:cNvSpPr/>
          <p:nvPr/>
        </p:nvSpPr>
        <p:spPr>
          <a:xfrm>
            <a:off x="11231575" y="5897880"/>
            <a:ext cx="1920240" cy="1920240"/>
          </a:xfrm>
          <a:prstGeom prst="ellipse">
            <a:avLst/>
          </a:prstGeom>
          <a:solidFill>
            <a:srgbClr val="51B5E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731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6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645920" y="90525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38074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2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Built — Fog First, Cloud Second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777240" y="2971800"/>
            <a:ext cx="1391869" cy="1965960"/>
          </a:xfrm>
          <a:prstGeom prst="roundRect">
            <a:avLst>
              <a:gd name="adj" fmla="val 9197"/>
            </a:avLst>
          </a:prstGeom>
          <a:solidFill>
            <a:srgbClr val="0B6FA8"/>
          </a:solidFill>
          <a:ln w="12700">
            <a:solidFill>
              <a:srgbClr val="0B6F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23544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 sensors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23544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slopes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242261" y="3845052"/>
            <a:ext cx="310896" cy="219456"/>
          </a:xfrm>
          <a:prstGeom prst="rightArrow">
            <a:avLst/>
          </a:prstGeom>
          <a:solidFill>
            <a:srgbClr val="5F6B74"/>
          </a:solidFill>
          <a:ln/>
        </p:spPr>
      </p:sp>
      <p:sp>
        <p:nvSpPr>
          <p:cNvPr id="12" name="Shape 10"/>
          <p:cNvSpPr/>
          <p:nvPr/>
        </p:nvSpPr>
        <p:spPr>
          <a:xfrm>
            <a:off x="2626309" y="2971800"/>
            <a:ext cx="1391869" cy="1965960"/>
          </a:xfrm>
          <a:prstGeom prst="roundRect">
            <a:avLst>
              <a:gd name="adj" fmla="val 9197"/>
            </a:avLst>
          </a:prstGeom>
          <a:solidFill>
            <a:srgbClr val="0B6FA8"/>
          </a:solidFill>
          <a:ln w="12700">
            <a:solidFill>
              <a:srgbClr val="0B6F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72613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72613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772613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· 4 rules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091330" y="3845052"/>
            <a:ext cx="310896" cy="219456"/>
          </a:xfrm>
          <a:prstGeom prst="rightArrow">
            <a:avLst/>
          </a:prstGeom>
          <a:solidFill>
            <a:srgbClr val="5F6B74"/>
          </a:solidFill>
          <a:ln/>
        </p:spPr>
      </p:sp>
      <p:sp>
        <p:nvSpPr>
          <p:cNvPr id="17" name="Shape 15"/>
          <p:cNvSpPr/>
          <p:nvPr/>
        </p:nvSpPr>
        <p:spPr>
          <a:xfrm>
            <a:off x="4475378" y="2971800"/>
            <a:ext cx="1391869" cy="1965960"/>
          </a:xfrm>
          <a:prstGeom prst="roundRect">
            <a:avLst>
              <a:gd name="adj" fmla="val 9197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21682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6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21682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0F2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21682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summary / window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0400" y="3845052"/>
            <a:ext cx="310896" cy="219456"/>
          </a:xfrm>
          <a:prstGeom prst="rightArrow">
            <a:avLst/>
          </a:prstGeom>
          <a:solidFill>
            <a:srgbClr val="5F6B74"/>
          </a:solidFill>
          <a:ln/>
        </p:spPr>
      </p:sp>
      <p:sp>
        <p:nvSpPr>
          <p:cNvPr id="22" name="Shape 20"/>
          <p:cNvSpPr/>
          <p:nvPr/>
        </p:nvSpPr>
        <p:spPr>
          <a:xfrm>
            <a:off x="6324448" y="2971800"/>
            <a:ext cx="1391869" cy="1965960"/>
          </a:xfrm>
          <a:prstGeom prst="roundRect">
            <a:avLst>
              <a:gd name="adj" fmla="val 9197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0752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6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70752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0F2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70752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789469" y="3845052"/>
            <a:ext cx="310896" cy="219456"/>
          </a:xfrm>
          <a:prstGeom prst="rightArrow">
            <a:avLst/>
          </a:prstGeom>
          <a:solidFill>
            <a:srgbClr val="5F6B74"/>
          </a:solidFill>
          <a:ln/>
        </p:spPr>
      </p:sp>
      <p:sp>
        <p:nvSpPr>
          <p:cNvPr id="27" name="Shape 25"/>
          <p:cNvSpPr/>
          <p:nvPr/>
        </p:nvSpPr>
        <p:spPr>
          <a:xfrm>
            <a:off x="8173517" y="2971800"/>
            <a:ext cx="1391869" cy="1965960"/>
          </a:xfrm>
          <a:prstGeom prst="roundRect">
            <a:avLst>
              <a:gd name="adj" fmla="val 9197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19821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6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319821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0F2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319821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record / slope / window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638538" y="3845052"/>
            <a:ext cx="310896" cy="219456"/>
          </a:xfrm>
          <a:prstGeom prst="rightArrow">
            <a:avLst/>
          </a:prstGeom>
          <a:solidFill>
            <a:srgbClr val="5F6B74"/>
          </a:solidFill>
          <a:ln/>
        </p:spPr>
      </p:sp>
      <p:sp>
        <p:nvSpPr>
          <p:cNvPr id="32" name="Shape 30"/>
          <p:cNvSpPr/>
          <p:nvPr/>
        </p:nvSpPr>
        <p:spPr>
          <a:xfrm>
            <a:off x="10022586" y="2971800"/>
            <a:ext cx="1391869" cy="1965960"/>
          </a:xfrm>
          <a:prstGeom prst="roundRect">
            <a:avLst>
              <a:gd name="adj" fmla="val 9197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68890" y="315468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6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168890" y="359359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0F2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0168890" y="445312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82935" y="5349240"/>
            <a:ext cx="3017520" cy="3017520"/>
          </a:xfrm>
          <a:prstGeom prst="ellipse">
            <a:avLst/>
          </a:prstGeom>
          <a:solidFill>
            <a:srgbClr val="0B6FA8"/>
          </a:solidFill>
          <a:ln/>
        </p:spPr>
      </p:sp>
      <p:sp>
        <p:nvSpPr>
          <p:cNvPr id="3" name="Shape 1"/>
          <p:cNvSpPr/>
          <p:nvPr/>
        </p:nvSpPr>
        <p:spPr>
          <a:xfrm>
            <a:off x="11231575" y="5897880"/>
            <a:ext cx="1920240" cy="1920240"/>
          </a:xfrm>
          <a:prstGeom prst="ellipse">
            <a:avLst/>
          </a:prstGeom>
          <a:solidFill>
            <a:srgbClr val="51B5E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731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6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645920" y="90525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38074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2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running on AWS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77240" y="1901952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6F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ska-frontend-475393590440.s3.us-east-1.amazonaws.com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7240" y="2514600"/>
            <a:ext cx="3301898" cy="3566160"/>
          </a:xfrm>
          <a:prstGeom prst="roundRect">
            <a:avLst>
              <a:gd name="adj" fmla="val 3877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7523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B6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069848" y="356616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0F2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risk gauge per slope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069848" y="4434840"/>
            <a:ext cx="27532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Snowpack, snow temperature, wind, seismic vibration and lift chairs feed a per-slope risk gauge, updated every window.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44898" y="2514600"/>
            <a:ext cx="3301898" cy="3566160"/>
          </a:xfrm>
          <a:prstGeom prst="roundRect">
            <a:avLst>
              <a:gd name="adj" fmla="val 3877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19218" y="27523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B6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4737506" y="356616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0F2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lift-wind-halt alert on real data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737506" y="4434840"/>
            <a:ext cx="27532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Slope-a's gauge reads HIGH with wind at 111.8 km/h tripping the lift-wind-halt banner — no patrol involved.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12557" y="2514600"/>
            <a:ext cx="3301898" cy="3566160"/>
          </a:xfrm>
          <a:prstGeom prst="roundRect">
            <a:avLst>
              <a:gd name="adj" fmla="val 3877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86877" y="275234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B6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8405165" y="356616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0F2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Filling live before your eyes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8405165" y="4434840"/>
            <a:ext cx="27532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 climbs 0 to 569 records in about ninety seconds and keeps rising, so the board is genuinely live.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82935" y="5349240"/>
            <a:ext cx="3017520" cy="3017520"/>
          </a:xfrm>
          <a:prstGeom prst="ellipse">
            <a:avLst/>
          </a:prstGeom>
          <a:solidFill>
            <a:srgbClr val="0B6FA8"/>
          </a:solidFill>
          <a:ln/>
        </p:spPr>
      </p:sp>
      <p:sp>
        <p:nvSpPr>
          <p:cNvPr id="3" name="Shape 1"/>
          <p:cNvSpPr/>
          <p:nvPr/>
        </p:nvSpPr>
        <p:spPr>
          <a:xfrm>
            <a:off x="11231575" y="5897880"/>
            <a:ext cx="1920240" cy="1920240"/>
          </a:xfrm>
          <a:prstGeom prst="ellipse">
            <a:avLst/>
          </a:prstGeom>
          <a:solidFill>
            <a:srgbClr val="51B5E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7315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6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645920" y="90525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38074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2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with a variable in them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777240" y="2423160"/>
            <a:ext cx="5090008" cy="36576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9748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158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97280" y="3081528"/>
            <a:ext cx="4449928" cy="0"/>
          </a:xfrm>
          <a:prstGeom prst="line">
            <a:avLst/>
          </a:prstGeom>
          <a:noFill/>
          <a:ln w="19050">
            <a:solidFill>
              <a:srgbClr val="D158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246120"/>
            <a:ext cx="444992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0F2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dashboard paths carry a value inside them — a slope identifier or a sensor type embedded in the URL — so exact-string route matching is not enough. The cloud function had to recognise a whole family of paths and pull the variable out, while still serving the fixed routes, and behave identically to the local server.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324448" y="2423160"/>
            <a:ext cx="5090008" cy="36576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44488" y="269748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44488" y="3081528"/>
            <a:ext cx="4449928" cy="0"/>
          </a:xfrm>
          <a:prstGeom prst="line">
            <a:avLst/>
          </a:prstGeom>
          <a:noFill/>
          <a:ln w="19050">
            <a:solidFill>
              <a:srgbClr val="1F7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44488" y="3246120"/>
            <a:ext cx="444992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0F2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 uses a pattern-matcher dispatch: each route is a pattern that fixes the literal segments and captures the variable ones, matched in order against the incoming path. The same patterns drive the local server and the function, so a parameterised request resolves the same way in both, and every reply carries the cross-origin header the browser requires.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2026-07-24T09:15:27Z</dcterms:created>
  <dcterms:modified xsi:type="dcterms:W3CDTF">2026-07-24T09:15:27Z</dcterms:modified>
</cp:coreProperties>
</file>