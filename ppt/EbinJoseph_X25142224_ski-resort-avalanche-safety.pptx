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040880"/>
          </a:xfrm>
          <a:prstGeom prst="rect">
            <a:avLst/>
          </a:prstGeom>
          <a:solidFill>
            <a:srgbClr val="2F6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811512" y="1965960"/>
            <a:ext cx="1554480"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0" y="2194560"/>
            <a:ext cx="8165592" cy="2103120"/>
          </a:xfrm>
          <a:prstGeom prst="rect">
            <a:avLst/>
          </a:prstGeom>
          <a:noFill/>
        </p:spPr>
        <p:txBody>
          <a:bodyPr wrap="square" anchor="t">
            <a:spAutoFit/>
          </a:bodyPr>
          <a:lstStyle/>
          <a:p>
            <a:pPr algn="r"/>
            <a:r>
              <a:rPr sz="3400" b="1" i="0">
                <a:solidFill>
                  <a:srgbClr val="FFFFFF"/>
                </a:solidFill>
                <a:latin typeface="Tahoma"/>
              </a:rPr>
              <a:t>Ski Resort Avalanche Safety</a:t>
            </a:r>
          </a:p>
        </p:txBody>
      </p:sp>
      <p:sp>
        <p:nvSpPr>
          <p:cNvPr id="5" name="TextBox 4"/>
          <p:cNvSpPr txBox="1"/>
          <p:nvPr/>
        </p:nvSpPr>
        <p:spPr>
          <a:xfrm>
            <a:off x="4023360" y="4069080"/>
            <a:ext cx="7342631" cy="640080"/>
          </a:xfrm>
          <a:prstGeom prst="rect">
            <a:avLst/>
          </a:prstGeom>
          <a:noFill/>
        </p:spPr>
        <p:txBody>
          <a:bodyPr wrap="square" anchor="t">
            <a:spAutoFit/>
          </a:bodyPr>
          <a:lstStyle/>
          <a:p>
            <a:pPr algn="r"/>
            <a:r>
              <a:rPr sz="1700" b="0" i="1">
                <a:solidFill>
                  <a:srgbClr val="D1DEEA"/>
                </a:solidFill>
                <a:latin typeface="Calibri"/>
              </a:rPr>
              <a:t>A fog-to-cloud slope-monitoring pipeline, deployed live on AWS</a:t>
            </a:r>
          </a:p>
        </p:txBody>
      </p:sp>
      <p:sp>
        <p:nvSpPr>
          <p:cNvPr id="6" name="TextBox 5"/>
          <p:cNvSpPr txBox="1"/>
          <p:nvPr/>
        </p:nvSpPr>
        <p:spPr>
          <a:xfrm>
            <a:off x="3566160" y="4892040"/>
            <a:ext cx="7799831" cy="1371600"/>
          </a:xfrm>
          <a:prstGeom prst="rect">
            <a:avLst/>
          </a:prstGeom>
          <a:noFill/>
        </p:spPr>
        <p:txBody>
          <a:bodyPr wrap="square" anchor="t">
            <a:spAutoFit/>
          </a:bodyPr>
          <a:lstStyle/>
          <a:p>
            <a:pPr algn="r"/>
            <a:r>
              <a:rPr sz="1700" b="1" i="0">
                <a:solidFill>
                  <a:srgbClr val="FFFFFF"/>
                </a:solidFill>
                <a:latin typeface="Calibri"/>
              </a:rPr>
              <a:t>Ebin Joseph</a:t>
            </a:r>
          </a:p>
          <a:p>
            <a:pPr algn="r"/>
            <a:r>
              <a:rPr sz="1300" b="0" i="0">
                <a:solidFill>
                  <a:srgbClr val="BCCFE1"/>
                </a:solidFill>
                <a:latin typeface="Calibri"/>
              </a:rPr>
              <a:t>Student ID X25142224</a:t>
            </a:r>
          </a:p>
          <a:p>
            <a:pPr algn="r"/>
            <a:r>
              <a:rPr sz="1250" b="0" i="0">
                <a:solidFill>
                  <a:srgbClr val="BCCFE1"/>
                </a:solidFill>
                <a:latin typeface="Calibri"/>
              </a:rPr>
              <a:t>MSc in Cloud Computing   ·   Fog and Edge Computing (H9FECC)</a:t>
            </a:r>
          </a:p>
          <a:p>
            <a:pPr algn="r"/>
            <a:r>
              <a:rPr sz="1250" b="0" i="0">
                <a:solidFill>
                  <a:srgbClr val="BCCFE1"/>
                </a:solidFill>
                <a:latin typeface="Calibri"/>
              </a:rPr>
              <a:t>National College of Ireland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57200"/>
            <a:ext cx="9311335" cy="868680"/>
          </a:xfrm>
        </p:spPr>
        <p:txBody>
          <a:bodyPr wrap="square" anchor="t"/>
          <a:lstStyle/>
          <a:p>
            <a:pPr algn="l"/>
            <a:r>
              <a:rPr b="1" sz="2400">
                <a:solidFill>
                  <a:srgbClr val="2F6AA3"/>
                </a:solidFill>
                <a:latin typeface="Tahoma"/>
              </a:rPr>
              <a:t>Why scheduled checks fail on a live slope</a:t>
            </a:r>
          </a:p>
        </p:txBody>
      </p:sp>
      <p:sp>
        <p:nvSpPr>
          <p:cNvPr id="3" name="Content Placeholder 2"/>
          <p:cNvSpPr>
            <a:spLocks noGrp="1"/>
          </p:cNvSpPr>
          <p:nvPr>
            <p:ph idx="1"/>
          </p:nvPr>
        </p:nvSpPr>
        <p:spPr>
          <a:xfrm>
            <a:off x="658368" y="1508760"/>
            <a:ext cx="9402775" cy="4846320"/>
          </a:xfrm>
        </p:spPr>
        <p:txBody>
          <a:bodyPr wrap="square">
            <a:normAutofit/>
          </a:bodyPr>
          <a:lstStyle/>
          <a:p>
            <a:pPr>
              <a:spcAft>
                <a:spcPts val="600"/>
              </a:spcAft>
            </a:pPr>
            <a:r>
              <a:rPr sz="1500" b="0">
                <a:solidFill>
                  <a:srgbClr val="232A26"/>
                </a:solidFill>
                <a:latin typeface="Calibri"/>
              </a:rPr>
              <a:t>Avalanche danger does not wait for the next patrol round: it develops, peaks, and passes in the gaps between them.</a:t>
            </a:r>
          </a:p>
          <a:p>
            <a:pPr>
              <a:spcAft>
                <a:spcPts val="600"/>
              </a:spcAft>
            </a:pPr>
            <a:r>
              <a:rPr sz="1500" b="1">
                <a:solidFill>
                  <a:srgbClr val="2F6AA3"/>
                </a:solidFill>
                <a:latin typeface="Calibri"/>
              </a:rPr>
              <a:t>Scheduled patrol rounds:</a:t>
            </a:r>
          </a:p>
          <a:p>
            <a:pPr lvl="1">
              <a:spcAft>
                <a:spcPts val="600"/>
              </a:spcAft>
            </a:pPr>
            <a:r>
              <a:rPr sz="1300" b="0">
                <a:solidFill>
                  <a:srgbClr val="232A26"/>
                </a:solidFill>
                <a:latin typeface="Calibri"/>
              </a:rPr>
              <a:t>Conditions are observed only when someone walks the slope.</a:t>
            </a:r>
          </a:p>
          <a:p>
            <a:pPr lvl="1">
              <a:spcAft>
                <a:spcPts val="600"/>
              </a:spcAft>
            </a:pPr>
            <a:r>
              <a:rPr sz="1300" b="0">
                <a:solidFill>
                  <a:srgbClr val="232A26"/>
                </a:solidFill>
                <a:latin typeface="Calibri"/>
              </a:rPr>
              <a:t>A seismic spike ahead of a slab release lasts only minutes and can pass entirely between two rounds, which are far sparser.</a:t>
            </a:r>
          </a:p>
          <a:p>
            <a:pPr lvl="1">
              <a:spcAft>
                <a:spcPts val="600"/>
              </a:spcAft>
            </a:pPr>
            <a:r>
              <a:rPr sz="1300" b="0">
                <a:solidFill>
                  <a:srgbClr val="232A26"/>
                </a:solidFill>
                <a:latin typeface="Calibri"/>
              </a:rPr>
              <a:t>Wind loading and a warming snowpack build danger silently in those gaps.</a:t>
            </a:r>
          </a:p>
          <a:p>
            <a:pPr>
              <a:spcAft>
                <a:spcPts val="600"/>
              </a:spcAft>
            </a:pPr>
            <a:r>
              <a:rPr sz="1500" b="1">
                <a:solidFill>
                  <a:srgbClr val="2F6AA3"/>
                </a:solidFill>
                <a:latin typeface="Calibri"/>
              </a:rPr>
              <a:t>Continuous slope sensing:</a:t>
            </a:r>
          </a:p>
          <a:p>
            <a:pPr lvl="1">
              <a:spcAft>
                <a:spcPts val="600"/>
              </a:spcAft>
            </a:pPr>
            <a:r>
              <a:rPr sz="1300" b="0">
                <a:solidFill>
                  <a:srgbClr val="232A26"/>
                </a:solidFill>
                <a:latin typeface="Calibri"/>
              </a:rPr>
              <a:t>Ten live sensors, five signal types on each of two slopes, never stop sampling: snowpack depth, snow temperature, wind, seismic vibration, and lift chairs.</a:t>
            </a:r>
          </a:p>
          <a:p>
            <a:pPr lvl="1">
              <a:spcAft>
                <a:spcPts val="600"/>
              </a:spcAft>
            </a:pPr>
            <a:r>
              <a:rPr sz="1300" b="0">
                <a:solidFill>
                  <a:srgbClr val="232A26"/>
                </a:solidFill>
                <a:latin typeface="Calibri"/>
              </a:rPr>
              <a:t>A fog node on the mountain checks every window aggregate against four hard alert rules at the edge the moment the window closes.</a:t>
            </a:r>
          </a:p>
          <a:p>
            <a:pPr lvl="1">
              <a:spcAft>
                <a:spcPts val="600"/>
              </a:spcAft>
            </a:pPr>
            <a:r>
              <a:rPr sz="1300" b="0">
                <a:solidFill>
                  <a:srgbClr val="232A26"/>
                </a:solidFill>
                <a:latin typeface="Calibri"/>
              </a:rPr>
              <a:t>Wind averaging past 80 km/h raises a lift-halt alert with no patrol involved.</a:t>
            </a:r>
          </a:p>
        </p:txBody>
      </p:sp>
      <p:sp>
        <p:nvSpPr>
          <p:cNvPr id="4" name="Rectangle 3"/>
          <p:cNvSpPr/>
          <p:nvPr/>
        </p:nvSpPr>
        <p:spPr>
          <a:xfrm>
            <a:off x="11140135" y="0"/>
            <a:ext cx="1051560" cy="6858000"/>
          </a:xfrm>
          <a:prstGeom prst="rect">
            <a:avLst/>
          </a:prstGeom>
          <a:solidFill>
            <a:srgbClr val="2F6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40135" y="320040"/>
            <a:ext cx="1051560" cy="914400"/>
          </a:xfrm>
          <a:prstGeom prst="rect">
            <a:avLst/>
          </a:prstGeom>
          <a:noFill/>
        </p:spPr>
        <p:txBody>
          <a:bodyPr wrap="square" anchor="t">
            <a:spAutoFit/>
          </a:bodyPr>
          <a:lstStyle/>
          <a:p>
            <a:pPr algn="ctr"/>
            <a:r>
              <a:rPr sz="2600" b="1" i="0">
                <a:solidFill>
                  <a:srgbClr val="FFFFFF"/>
                </a:solidFill>
                <a:latin typeface="Tahoma"/>
              </a:rPr>
              <a:t>1</a:t>
            </a:r>
          </a:p>
        </p:txBody>
      </p:sp>
      <p:sp>
        <p:nvSpPr>
          <p:cNvPr id="6" name="Rectangle 5"/>
          <p:cNvSpPr/>
          <p:nvPr/>
        </p:nvSpPr>
        <p:spPr>
          <a:xfrm>
            <a:off x="658368" y="1325880"/>
            <a:ext cx="2926080" cy="36576"/>
          </a:xfrm>
          <a:prstGeom prst="rect">
            <a:avLst/>
          </a:prstGeom>
          <a:solidFill>
            <a:srgbClr val="2F6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57200"/>
            <a:ext cx="9311335" cy="868680"/>
          </a:xfrm>
        </p:spPr>
        <p:txBody>
          <a:bodyPr wrap="square" anchor="t"/>
          <a:lstStyle/>
          <a:p>
            <a:pPr algn="l"/>
            <a:r>
              <a:rPr b="1" sz="2700">
                <a:solidFill>
                  <a:srgbClr val="2F6AA3"/>
                </a:solidFill>
                <a:latin typeface="Tahoma"/>
              </a:rPr>
              <a:t>How it works: fog first, cloud second</a:t>
            </a:r>
          </a:p>
        </p:txBody>
      </p:sp>
      <p:sp>
        <p:nvSpPr>
          <p:cNvPr id="3" name="Content Placeholder 2"/>
          <p:cNvSpPr>
            <a:spLocks noGrp="1"/>
          </p:cNvSpPr>
          <p:nvPr>
            <p:ph idx="1"/>
          </p:nvPr>
        </p:nvSpPr>
        <p:spPr>
          <a:xfrm>
            <a:off x="658368" y="1508760"/>
            <a:ext cx="5577840" cy="4754880"/>
          </a:xfrm>
        </p:spPr>
        <p:txBody>
          <a:bodyPr wrap="square">
            <a:normAutofit/>
          </a:bodyPr>
          <a:lstStyle/>
          <a:p>
            <a:pPr>
              <a:spcAft>
                <a:spcPts val="800"/>
              </a:spcAft>
            </a:pPr>
            <a:r>
              <a:rPr sz="1500" b="0">
                <a:solidFill>
                  <a:srgbClr val="232A26"/>
                </a:solidFill>
                <a:latin typeface="Calibri"/>
              </a:rPr>
              <a:t>Slope sensors: ten simulated sensors on two slopes, sampling snowpack, snow temperature, wind, seismic vibration, and lift chairs.</a:t>
            </a:r>
          </a:p>
          <a:p>
            <a:pPr>
              <a:spcAft>
                <a:spcPts val="800"/>
              </a:spcAft>
            </a:pPr>
            <a:r>
              <a:rPr sz="1500" b="0">
                <a:solidFill>
                  <a:srgbClr val="232A26"/>
                </a:solidFill>
                <a:latin typeface="Calibri"/>
              </a:rPr>
              <a:t>Fog node at the edge: buffers raw readings, closes a window on a timer, aggregates them, and checks four alert rules.</a:t>
            </a:r>
          </a:p>
          <a:p>
            <a:pPr>
              <a:spcAft>
                <a:spcPts val="800"/>
              </a:spcAft>
            </a:pPr>
            <a:r>
              <a:rPr sz="1500" b="0">
                <a:solidFill>
                  <a:srgbClr val="232A26"/>
                </a:solidFill>
                <a:latin typeface="Calibri"/>
              </a:rPr>
              <a:t>Cloud pipeline: Amazon SQS receives one compact summary message per closed window; AWS Lambda wakes only when messages arrive and writes each aggregate to Amazon DynamoDB, which keeps one queryable record per slope per window.</a:t>
            </a:r>
          </a:p>
          <a:p>
            <a:pPr>
              <a:spcAft>
                <a:spcPts val="800"/>
              </a:spcAft>
            </a:pPr>
            <a:r>
              <a:rPr sz="1500" b="0">
                <a:solidFill>
                  <a:srgbClr val="232A26"/>
                </a:solidFill>
                <a:latin typeface="Calibri"/>
              </a:rPr>
              <a:t>Live dashboard: a static page on Amazon S3, polling AWS Lambda through Amazon API Gateway.</a:t>
            </a:r>
          </a:p>
          <a:p>
            <a:pPr>
              <a:spcAft>
                <a:spcPts val="800"/>
              </a:spcAft>
            </a:pPr>
            <a:r>
              <a:rPr sz="1500" b="1">
                <a:solidFill>
                  <a:srgbClr val="2F6AA3"/>
                </a:solidFill>
                <a:latin typeface="Calibri"/>
              </a:rPr>
              <a:t>Raw readings never leave the mountain: only one compact summary per window travels to the cloud.</a:t>
            </a:r>
          </a:p>
          <a:p>
            <a:pPr>
              <a:spcAft>
                <a:spcPts val="800"/>
              </a:spcAft>
            </a:pPr>
            <a:r>
              <a:rPr sz="1500" b="0">
                <a:solidFill>
                  <a:srgbClr val="232A26"/>
                </a:solidFill>
                <a:latin typeface="Calibri"/>
              </a:rPr>
              <a:t>Serverless throughout: nothing between the fog node and the browser runs on a server this project has to patch.</a:t>
            </a:r>
          </a:p>
        </p:txBody>
      </p:sp>
      <p:sp>
        <p:nvSpPr>
          <p:cNvPr id="4" name="Rectangle 3"/>
          <p:cNvSpPr/>
          <p:nvPr/>
        </p:nvSpPr>
        <p:spPr>
          <a:xfrm>
            <a:off x="11140135" y="0"/>
            <a:ext cx="1051560" cy="6858000"/>
          </a:xfrm>
          <a:prstGeom prst="rect">
            <a:avLst/>
          </a:prstGeom>
          <a:solidFill>
            <a:srgbClr val="2F6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40135" y="320040"/>
            <a:ext cx="1051560" cy="914400"/>
          </a:xfrm>
          <a:prstGeom prst="rect">
            <a:avLst/>
          </a:prstGeom>
          <a:noFill/>
        </p:spPr>
        <p:txBody>
          <a:bodyPr wrap="square" anchor="t">
            <a:spAutoFit/>
          </a:bodyPr>
          <a:lstStyle/>
          <a:p>
            <a:pPr algn="ctr"/>
            <a:r>
              <a:rPr sz="2600" b="1" i="0">
                <a:solidFill>
                  <a:srgbClr val="FFFFFF"/>
                </a:solidFill>
                <a:latin typeface="Tahoma"/>
              </a:rPr>
              <a:t>2</a:t>
            </a:r>
          </a:p>
        </p:txBody>
      </p:sp>
      <p:sp>
        <p:nvSpPr>
          <p:cNvPr id="6" name="Rectangle 5"/>
          <p:cNvSpPr/>
          <p:nvPr/>
        </p:nvSpPr>
        <p:spPr>
          <a:xfrm>
            <a:off x="658368" y="1325880"/>
            <a:ext cx="2926080" cy="36576"/>
          </a:xfrm>
          <a:prstGeom prst="rect">
            <a:avLst/>
          </a:prstGeom>
          <a:solidFill>
            <a:srgbClr val="2F6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opology.png"/>
          <p:cNvPicPr>
            <a:picLocks noChangeAspect="1"/>
          </p:cNvPicPr>
          <p:nvPr/>
        </p:nvPicPr>
        <p:blipFill>
          <a:blip r:embed="rId2"/>
          <a:stretch>
            <a:fillRect/>
          </a:stretch>
        </p:blipFill>
        <p:spPr>
          <a:xfrm>
            <a:off x="6400800" y="2838526"/>
            <a:ext cx="3824935" cy="1912467"/>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57200"/>
            <a:ext cx="9311335" cy="868680"/>
          </a:xfrm>
        </p:spPr>
        <p:txBody>
          <a:bodyPr wrap="square" anchor="t"/>
          <a:lstStyle/>
          <a:p>
            <a:pPr algn="l"/>
            <a:r>
              <a:rPr b="1" sz="2700">
                <a:solidFill>
                  <a:srgbClr val="2F6AA3"/>
                </a:solidFill>
                <a:latin typeface="Tahoma"/>
              </a:rPr>
              <a:t>Live on a real AWS account</a:t>
            </a:r>
          </a:p>
        </p:txBody>
      </p:sp>
      <p:sp>
        <p:nvSpPr>
          <p:cNvPr id="3" name="Content Placeholder 2"/>
          <p:cNvSpPr>
            <a:spLocks noGrp="1"/>
          </p:cNvSpPr>
          <p:nvPr>
            <p:ph idx="1"/>
          </p:nvPr>
        </p:nvSpPr>
        <p:spPr>
          <a:xfrm>
            <a:off x="658368" y="1508760"/>
            <a:ext cx="5577840" cy="4754880"/>
          </a:xfrm>
        </p:spPr>
        <p:txBody>
          <a:bodyPr wrap="square">
            <a:normAutofit/>
          </a:bodyPr>
          <a:lstStyle/>
          <a:p>
            <a:pPr>
              <a:spcAft>
                <a:spcPts val="800"/>
              </a:spcAft>
            </a:pPr>
            <a:r>
              <a:rPr sz="1500" b="0">
                <a:solidFill>
                  <a:srgbClr val="232A26"/>
                </a:solidFill>
                <a:latin typeface="Calibri"/>
              </a:rPr>
              <a:t>The deployed dashboard, captured live, served from Amazon S3 and polling the API through Amazon API Gateway.</a:t>
            </a:r>
          </a:p>
          <a:p>
            <a:pPr>
              <a:spcAft>
                <a:spcPts val="800"/>
              </a:spcAft>
            </a:pPr>
            <a:r>
              <a:rPr sz="1500" b="1">
                <a:solidFill>
                  <a:srgbClr val="2F6AA3"/>
                </a:solidFill>
                <a:latin typeface="Calibri"/>
              </a:rPr>
              <a:t>4 / 4 pipeline health checks reporting true: gateway, queue, Lambda, and pipeline.</a:t>
            </a:r>
          </a:p>
          <a:p>
            <a:pPr>
              <a:spcAft>
                <a:spcPts val="800"/>
              </a:spcAft>
            </a:pPr>
            <a:r>
              <a:rPr sz="1500" b="0">
                <a:solidFill>
                  <a:srgbClr val="232A26"/>
                </a:solidFill>
                <a:latin typeface="Calibri"/>
              </a:rPr>
              <a:t>121 automated tests passing across sensors, fog, processor, and dashboard.</a:t>
            </a:r>
          </a:p>
          <a:p>
            <a:pPr>
              <a:spcAft>
                <a:spcPts val="800"/>
              </a:spcAft>
            </a:pPr>
            <a:r>
              <a:rPr sz="1500" b="0">
                <a:solidFill>
                  <a:srgbClr val="232A26"/>
                </a:solidFill>
                <a:latin typeface="Calibri"/>
              </a:rPr>
              <a:t>0 to 569 records stored in DynamoDB within about ninety seconds, and still climbing.</a:t>
            </a:r>
          </a:p>
          <a:p>
            <a:pPr>
              <a:spcAft>
                <a:spcPts val="800"/>
              </a:spcAft>
            </a:pPr>
            <a:r>
              <a:rPr sz="1500" b="0">
                <a:solidFill>
                  <a:srgbClr val="232A26"/>
                </a:solidFill>
                <a:latin typeface="Calibri"/>
              </a:rPr>
              <a:t>Slope-a risk gauge live at HIGH, with wind at 111.8 km/h tripping the "Lift wind halt" alert banner.</a:t>
            </a:r>
          </a:p>
        </p:txBody>
      </p:sp>
      <p:sp>
        <p:nvSpPr>
          <p:cNvPr id="4" name="Rectangle 3"/>
          <p:cNvSpPr/>
          <p:nvPr/>
        </p:nvSpPr>
        <p:spPr>
          <a:xfrm>
            <a:off x="11140135" y="0"/>
            <a:ext cx="1051560" cy="6858000"/>
          </a:xfrm>
          <a:prstGeom prst="rect">
            <a:avLst/>
          </a:prstGeom>
          <a:solidFill>
            <a:srgbClr val="2F6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40135" y="320040"/>
            <a:ext cx="1051560" cy="914400"/>
          </a:xfrm>
          <a:prstGeom prst="rect">
            <a:avLst/>
          </a:prstGeom>
          <a:noFill/>
        </p:spPr>
        <p:txBody>
          <a:bodyPr wrap="square" anchor="t">
            <a:spAutoFit/>
          </a:bodyPr>
          <a:lstStyle/>
          <a:p>
            <a:pPr algn="ctr"/>
            <a:r>
              <a:rPr sz="2600" b="1" i="0">
                <a:solidFill>
                  <a:srgbClr val="FFFFFF"/>
                </a:solidFill>
                <a:latin typeface="Tahoma"/>
              </a:rPr>
              <a:t>3</a:t>
            </a:r>
          </a:p>
        </p:txBody>
      </p:sp>
      <p:sp>
        <p:nvSpPr>
          <p:cNvPr id="6" name="Rectangle 5"/>
          <p:cNvSpPr/>
          <p:nvPr/>
        </p:nvSpPr>
        <p:spPr>
          <a:xfrm>
            <a:off x="658368" y="1325880"/>
            <a:ext cx="2926080" cy="36576"/>
          </a:xfrm>
          <a:prstGeom prst="rect">
            <a:avLst/>
          </a:prstGeom>
          <a:solidFill>
            <a:srgbClr val="2F6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shboard.png"/>
          <p:cNvPicPr>
            <a:picLocks noChangeAspect="1"/>
          </p:cNvPicPr>
          <p:nvPr/>
        </p:nvPicPr>
        <p:blipFill>
          <a:blip r:embed="rId2"/>
          <a:stretch>
            <a:fillRect/>
          </a:stretch>
        </p:blipFill>
        <p:spPr>
          <a:xfrm>
            <a:off x="6400800" y="2082503"/>
            <a:ext cx="3824935" cy="342451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57200"/>
            <a:ext cx="9311335" cy="868680"/>
          </a:xfrm>
        </p:spPr>
        <p:txBody>
          <a:bodyPr wrap="square" anchor="t"/>
          <a:lstStyle/>
          <a:p>
            <a:pPr algn="l"/>
            <a:r>
              <a:rPr b="1" sz="2400">
                <a:solidFill>
                  <a:srgbClr val="2F6AA3"/>
                </a:solidFill>
                <a:latin typeface="Tahoma"/>
              </a:rPr>
              <a:t>The hardest part: the dashboard that lied</a:t>
            </a:r>
          </a:p>
        </p:txBody>
      </p:sp>
      <p:sp>
        <p:nvSpPr>
          <p:cNvPr id="3" name="Content Placeholder 2"/>
          <p:cNvSpPr>
            <a:spLocks noGrp="1"/>
          </p:cNvSpPr>
          <p:nvPr>
            <p:ph idx="1"/>
          </p:nvPr>
        </p:nvSpPr>
        <p:spPr>
          <a:xfrm>
            <a:off x="658368" y="1508760"/>
            <a:ext cx="9402775" cy="4846320"/>
          </a:xfrm>
        </p:spPr>
        <p:txBody>
          <a:bodyPr wrap="square">
            <a:normAutofit/>
          </a:bodyPr>
          <a:lstStyle/>
          <a:p>
            <a:pPr>
              <a:spcAft>
                <a:spcPts val="400"/>
              </a:spcAft>
            </a:pPr>
            <a:r>
              <a:rPr sz="1300" b="0">
                <a:solidFill>
                  <a:srgbClr val="232A26"/>
                </a:solidFill>
                <a:latin typeface="Calibri"/>
              </a:rPr>
              <a:t>Two defects existed only in the real cloud: the first, broken Lambda credentials, at least announced itself in the logs and was fixed; the second showed up nowhere at all.</a:t>
            </a:r>
          </a:p>
          <a:p>
            <a:pPr>
              <a:spcAft>
                <a:spcPts val="400"/>
              </a:spcAft>
            </a:pPr>
            <a:r>
              <a:rPr sz="1300" b="1">
                <a:solidFill>
                  <a:srgbClr val="2F6AA3"/>
                </a:solidFill>
                <a:latin typeface="Calibri"/>
              </a:rPr>
              <a:t>What every check said:</a:t>
            </a:r>
          </a:p>
          <a:p>
            <a:pPr lvl="1">
              <a:spcAft>
                <a:spcPts val="400"/>
              </a:spcAft>
            </a:pPr>
            <a:r>
              <a:rPr sz="1100" b="0">
                <a:solidFill>
                  <a:srgbClr val="232A26"/>
                </a:solidFill>
                <a:latin typeface="Calibri"/>
              </a:rPr>
              <a:t>The health endpoint reported gateway, queue, Lambda, and pipeline all true, and curl against the same API returned live JSON data, with the browser console showing zero errors and the network tab zero failed requests.</a:t>
            </a:r>
          </a:p>
          <a:p>
            <a:pPr>
              <a:spcAft>
                <a:spcPts val="400"/>
              </a:spcAft>
            </a:pPr>
            <a:r>
              <a:rPr sz="1300" b="1">
                <a:solidFill>
                  <a:srgbClr val="2F6AA3"/>
                </a:solidFill>
                <a:latin typeface="Calibri"/>
              </a:rPr>
              <a:t>What the user saw:</a:t>
            </a:r>
          </a:p>
          <a:p>
            <a:pPr lvl="1">
              <a:spcAft>
                <a:spcPts val="400"/>
              </a:spcAft>
            </a:pPr>
            <a:r>
              <a:rPr sz="1100" b="0">
                <a:solidFill>
                  <a:srgbClr val="232A26"/>
                </a:solidFill>
                <a:latin typeface="Calibri"/>
              </a:rPr>
              <a:t>Every panel on the deployed page stayed empty, with no data, no gauges, and no alert banner, indistinguishable from still loading, and nothing anywhere pointed at a cause.</a:t>
            </a:r>
          </a:p>
          <a:p>
            <a:pPr>
              <a:spcAft>
                <a:spcPts val="400"/>
              </a:spcAft>
            </a:pPr>
            <a:r>
              <a:rPr sz="1300" b="1">
                <a:solidFill>
                  <a:srgbClr val="2F6AA3"/>
                </a:solidFill>
                <a:latin typeface="Calibri"/>
              </a:rPr>
              <a:t>Why it stayed invisible:</a:t>
            </a:r>
          </a:p>
          <a:p>
            <a:pPr lvl="1">
              <a:spcAft>
                <a:spcPts val="400"/>
              </a:spcAft>
            </a:pPr>
            <a:r>
              <a:rPr sz="1100" b="0">
                <a:solidFill>
                  <a:srgbClr val="232A26"/>
                </a:solidFill>
                <a:latin typeface="Calibri"/>
              </a:rPr>
              <a:t>The API's responses carried no cross-origin (CORS) header, so the browser silently blocked the S3 page's calls before any code saw a response.</a:t>
            </a:r>
          </a:p>
          <a:p>
            <a:pPr lvl="1">
              <a:spcAft>
                <a:spcPts val="400"/>
              </a:spcAft>
            </a:pPr>
            <a:r>
              <a:rPr sz="1100" b="0">
                <a:solidFill>
                  <a:srgbClr val="232A26"/>
                </a:solidFill>
                <a:latin typeface="Calibri"/>
              </a:rPr>
              <a:t>The page's polling loop swallowed each failure into a quiet retry, with no error, no log line, and no failed request recorded.</a:t>
            </a:r>
          </a:p>
          <a:p>
            <a:pPr>
              <a:spcAft>
                <a:spcPts val="400"/>
              </a:spcAft>
            </a:pPr>
            <a:r>
              <a:rPr sz="1300" b="1">
                <a:solidFill>
                  <a:srgbClr val="2F6AA3"/>
                </a:solidFill>
                <a:latin typeface="Calibri"/>
              </a:rPr>
              <a:t>How it was solved:</a:t>
            </a:r>
          </a:p>
          <a:p>
            <a:pPr lvl="1">
              <a:spcAft>
                <a:spcPts val="400"/>
              </a:spcAft>
            </a:pPr>
            <a:r>
              <a:rPr sz="1100" b="0">
                <a:solidFill>
                  <a:srgbClr val="232A26"/>
                </a:solidFill>
                <a:latin typeface="Calibri"/>
              </a:rPr>
              <a:t>Add the cross-origin header to every response the API Lambda returns, then redeploy and re-verify in a real browser until every panel filled with live data.</a:t>
            </a:r>
          </a:p>
          <a:p>
            <a:pPr lvl="1">
              <a:spcAft>
                <a:spcPts val="400"/>
              </a:spcAft>
            </a:pPr>
            <a:r>
              <a:rPr sz="1100" b="0">
                <a:solidFill>
                  <a:srgbClr val="232A26"/>
                </a:solidFill>
                <a:latin typeface="Calibri"/>
              </a:rPr>
              <a:t>New rule: a green health check proves the API works, but only a browser proves the user sees it.</a:t>
            </a:r>
          </a:p>
        </p:txBody>
      </p:sp>
      <p:sp>
        <p:nvSpPr>
          <p:cNvPr id="4" name="Rectangle 3"/>
          <p:cNvSpPr/>
          <p:nvPr/>
        </p:nvSpPr>
        <p:spPr>
          <a:xfrm>
            <a:off x="11140135" y="0"/>
            <a:ext cx="1051560" cy="6858000"/>
          </a:xfrm>
          <a:prstGeom prst="rect">
            <a:avLst/>
          </a:prstGeom>
          <a:solidFill>
            <a:srgbClr val="2F6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40135" y="320040"/>
            <a:ext cx="1051560" cy="914400"/>
          </a:xfrm>
          <a:prstGeom prst="rect">
            <a:avLst/>
          </a:prstGeom>
          <a:noFill/>
        </p:spPr>
        <p:txBody>
          <a:bodyPr wrap="square" anchor="t">
            <a:spAutoFit/>
          </a:bodyPr>
          <a:lstStyle/>
          <a:p>
            <a:pPr algn="ctr"/>
            <a:r>
              <a:rPr sz="2600" b="1" i="0">
                <a:solidFill>
                  <a:srgbClr val="FFFFFF"/>
                </a:solidFill>
                <a:latin typeface="Tahoma"/>
              </a:rPr>
              <a:t>4</a:t>
            </a:r>
          </a:p>
        </p:txBody>
      </p:sp>
      <p:sp>
        <p:nvSpPr>
          <p:cNvPr id="6" name="Rectangle 5"/>
          <p:cNvSpPr/>
          <p:nvPr/>
        </p:nvSpPr>
        <p:spPr>
          <a:xfrm>
            <a:off x="658368" y="1325880"/>
            <a:ext cx="2926080" cy="36576"/>
          </a:xfrm>
          <a:prstGeom prst="rect">
            <a:avLst/>
          </a:prstGeom>
          <a:solidFill>
            <a:srgbClr val="2F6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57200"/>
            <a:ext cx="9311335" cy="868680"/>
          </a:xfrm>
        </p:spPr>
        <p:txBody>
          <a:bodyPr wrap="square" anchor="t"/>
          <a:lstStyle/>
          <a:p>
            <a:pPr algn="l"/>
            <a:r>
              <a:rPr b="1" sz="2700">
                <a:solidFill>
                  <a:srgbClr val="2F6AA3"/>
                </a:solidFill>
                <a:latin typeface="Tahoma"/>
              </a:rPr>
              <a:t>What this project proved</a:t>
            </a:r>
          </a:p>
        </p:txBody>
      </p:sp>
      <p:sp>
        <p:nvSpPr>
          <p:cNvPr id="3" name="Content Placeholder 2"/>
          <p:cNvSpPr>
            <a:spLocks noGrp="1"/>
          </p:cNvSpPr>
          <p:nvPr>
            <p:ph idx="1"/>
          </p:nvPr>
        </p:nvSpPr>
        <p:spPr>
          <a:xfrm>
            <a:off x="658368" y="1508760"/>
            <a:ext cx="9402775" cy="4846320"/>
          </a:xfrm>
        </p:spPr>
        <p:txBody>
          <a:bodyPr wrap="square">
            <a:normAutofit/>
          </a:bodyPr>
          <a:lstStyle/>
          <a:p>
            <a:pPr>
              <a:spcAft>
                <a:spcPts val="900"/>
              </a:spcAft>
            </a:pPr>
            <a:r>
              <a:rPr sz="1700" b="0">
                <a:solidFill>
                  <a:srgbClr val="232A26"/>
                </a:solidFill>
                <a:latin typeface="Calibri"/>
              </a:rPr>
              <a:t>Fog aggregation earns its place: raw readings stay on the mountain, and the cloud only ever receives compact window summaries with alerts already evaluated.</a:t>
            </a:r>
          </a:p>
          <a:p>
            <a:pPr>
              <a:spcAft>
                <a:spcPts val="900"/>
              </a:spcAft>
            </a:pPr>
            <a:r>
              <a:rPr sz="1700" b="0">
                <a:solidFill>
                  <a:srgbClr val="232A26"/>
                </a:solidFill>
                <a:latin typeface="Calibri"/>
              </a:rPr>
              <a:t>A fully serverless backend of Amazon SQS, AWS Lambda, DynamoDB, API Gateway, and S3 scales per request, with no server to provision or patch.</a:t>
            </a:r>
          </a:p>
          <a:p>
            <a:pPr>
              <a:spcAft>
                <a:spcPts val="900"/>
              </a:spcAft>
            </a:pPr>
            <a:r>
              <a:rPr sz="1700" b="1">
                <a:solidFill>
                  <a:srgbClr val="2F6AA3"/>
                </a:solidFill>
                <a:latin typeface="Calibri"/>
              </a:rPr>
              <a:t>Live deployment is the real test: two defects existed only on real AWS and in a real browser, and no local test suite could have found them.</a:t>
            </a:r>
          </a:p>
          <a:p>
            <a:pPr>
              <a:spcAft>
                <a:spcPts val="900"/>
              </a:spcAft>
            </a:pPr>
            <a:r>
              <a:rPr sz="1700" b="0">
                <a:solidFill>
                  <a:srgbClr val="232A26"/>
                </a:solidFill>
                <a:latin typeface="Calibri"/>
              </a:rPr>
              <a:t>Thank you. Questions?</a:t>
            </a:r>
          </a:p>
        </p:txBody>
      </p:sp>
      <p:sp>
        <p:nvSpPr>
          <p:cNvPr id="4" name="Rectangle 3"/>
          <p:cNvSpPr/>
          <p:nvPr/>
        </p:nvSpPr>
        <p:spPr>
          <a:xfrm>
            <a:off x="11140135" y="0"/>
            <a:ext cx="1051560" cy="6858000"/>
          </a:xfrm>
          <a:prstGeom prst="rect">
            <a:avLst/>
          </a:prstGeom>
          <a:solidFill>
            <a:srgbClr val="2F6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40135" y="320040"/>
            <a:ext cx="1051560" cy="914400"/>
          </a:xfrm>
          <a:prstGeom prst="rect">
            <a:avLst/>
          </a:prstGeom>
          <a:noFill/>
        </p:spPr>
        <p:txBody>
          <a:bodyPr wrap="square" anchor="t">
            <a:spAutoFit/>
          </a:bodyPr>
          <a:lstStyle/>
          <a:p>
            <a:pPr algn="ctr"/>
            <a:r>
              <a:rPr sz="2600" b="1" i="0">
                <a:solidFill>
                  <a:srgbClr val="FFFFFF"/>
                </a:solidFill>
                <a:latin typeface="Tahoma"/>
              </a:rPr>
              <a:t>5</a:t>
            </a:r>
          </a:p>
        </p:txBody>
      </p:sp>
      <p:sp>
        <p:nvSpPr>
          <p:cNvPr id="6" name="Rectangle 5"/>
          <p:cNvSpPr/>
          <p:nvPr/>
        </p:nvSpPr>
        <p:spPr>
          <a:xfrm>
            <a:off x="658368" y="1325880"/>
            <a:ext cx="2926080" cy="36576"/>
          </a:xfrm>
          <a:prstGeom prst="rect">
            <a:avLst/>
          </a:prstGeom>
          <a:solidFill>
            <a:srgbClr val="2F6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