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Lst>
  <p:notesMasterIdLst>
    <p:notesMasterId r:id="rId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notesMaster" Target="notesMasters/notesMaster1.xml"/><Relationship Id="rId7" Type="http://schemas.openxmlformats.org/officeDocument/2006/relationships/presProps" Target="presProps.xml"/><Relationship Id="rId8" Type="http://schemas.openxmlformats.org/officeDocument/2006/relationships/viewProps" Target="viewProps.xml"/><Relationship Id="rId9" Type="http://schemas.openxmlformats.org/officeDocument/2006/relationships/theme" Target="theme/theme1.xml"/><Relationship Id="rId1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333B"/>
        </a:solidFill>
      </p:bgPr>
    </p:bg>
    <p:spTree>
      <p:nvGrpSpPr>
        <p:cNvPr id="1" name=""/>
        <p:cNvGrpSpPr/>
        <p:nvPr/>
      </p:nvGrpSpPr>
      <p:grpSpPr>
        <a:xfrm>
          <a:off x="0" y="0"/>
          <a:ext cx="0" cy="0"/>
          <a:chOff x="0" y="0"/>
          <a:chExt cx="0" cy="0"/>
        </a:xfrm>
      </p:grpSpPr>
      <p:sp>
        <p:nvSpPr>
          <p:cNvPr id="2" name="Shape 0"/>
          <p:cNvSpPr/>
          <p:nvPr/>
        </p:nvSpPr>
        <p:spPr>
          <a:xfrm flipH="1" rot="10800000">
            <a:off x="9905695" y="4572000"/>
            <a:ext cx="2286000" cy="2286000"/>
          </a:xfrm>
          <a:prstGeom prst="rtTriangle">
            <a:avLst/>
          </a:prstGeom>
          <a:solidFill>
            <a:srgbClr val="0F7A8C"/>
          </a:solidFill>
          <a:ln/>
        </p:spPr>
      </p:sp>
      <p:sp>
        <p:nvSpPr>
          <p:cNvPr id="3" name="Shape 1"/>
          <p:cNvSpPr/>
          <p:nvPr/>
        </p:nvSpPr>
        <p:spPr>
          <a:xfrm flipH="1" rot="10800000">
            <a:off x="10820095" y="5486400"/>
            <a:ext cx="1371600" cy="1371600"/>
          </a:xfrm>
          <a:prstGeom prst="rtTriangle">
            <a:avLst/>
          </a:prstGeom>
          <a:solidFill>
            <a:srgbClr val="005264"/>
          </a:solidFill>
          <a:ln/>
        </p:spPr>
      </p:sp>
      <p:sp>
        <p:nvSpPr>
          <p:cNvPr id="4" name="Text 2"/>
          <p:cNvSpPr/>
          <p:nvPr/>
        </p:nvSpPr>
        <p:spPr>
          <a:xfrm>
            <a:off x="758952" y="1645920"/>
            <a:ext cx="10637215" cy="1645920"/>
          </a:xfrm>
          <a:prstGeom prst="rect">
            <a:avLst/>
          </a:prstGeom>
          <a:noFill/>
          <a:ln/>
        </p:spPr>
        <p:txBody>
          <a:bodyPr wrap="square" rtlCol="0" anchor="t"/>
          <a:lstStyle/>
          <a:p>
            <a:pPr indent="0" marL="0">
              <a:lnSpc>
                <a:spcPct val="98000"/>
              </a:lnSpc>
              <a:buNone/>
            </a:pPr>
            <a:r>
              <a:rPr lang="en-US" sz="3800" b="1" dirty="0">
                <a:solidFill>
                  <a:srgbClr val="EEF2F6"/>
                </a:solidFill>
                <a:latin typeface="Cambria" pitchFamily="34" charset="0"/>
                <a:ea typeface="Cambria" pitchFamily="34" charset="-122"/>
                <a:cs typeface="Cambria" pitchFamily="34" charset="-120"/>
              </a:rPr>
              <a:t>Patient Vitals Remote Monitoring</a:t>
            </a:r>
            <a:endParaRPr lang="en-US" sz="3800" dirty="0"/>
          </a:p>
        </p:txBody>
      </p:sp>
      <p:sp>
        <p:nvSpPr>
          <p:cNvPr id="5" name="Text 3"/>
          <p:cNvSpPr/>
          <p:nvPr/>
        </p:nvSpPr>
        <p:spPr>
          <a:xfrm>
            <a:off x="777240" y="3337560"/>
            <a:ext cx="10637215" cy="365760"/>
          </a:xfrm>
          <a:prstGeom prst="rect">
            <a:avLst/>
          </a:prstGeom>
          <a:noFill/>
          <a:ln/>
        </p:spPr>
        <p:txBody>
          <a:bodyPr wrap="square" rtlCol="0" anchor="ctr"/>
          <a:lstStyle/>
          <a:p>
            <a:pPr indent="0" marL="0">
              <a:buNone/>
            </a:pPr>
            <a:r>
              <a:rPr lang="en-US" sz="1450" dirty="0">
                <a:solidFill>
                  <a:srgbClr val="8B98A6"/>
                </a:solidFill>
                <a:latin typeface="Calibri" pitchFamily="34" charset="0"/>
                <a:ea typeface="Calibri" pitchFamily="34" charset="-122"/>
                <a:cs typeface="Calibri" pitchFamily="34" charset="-120"/>
              </a:rPr>
              <a:t>Sri Venkat Bora   ·   X25164414</a:t>
            </a:r>
            <a:endParaRPr lang="en-US" sz="1450" dirty="0"/>
          </a:p>
        </p:txBody>
      </p:sp>
      <p:sp>
        <p:nvSpPr>
          <p:cNvPr id="6" name="Text 4"/>
          <p:cNvSpPr/>
          <p:nvPr/>
        </p:nvSpPr>
        <p:spPr>
          <a:xfrm>
            <a:off x="777240" y="3931920"/>
            <a:ext cx="8138160" cy="1325880"/>
          </a:xfrm>
          <a:prstGeom prst="rect">
            <a:avLst/>
          </a:prstGeom>
          <a:noFill/>
          <a:ln/>
        </p:spPr>
        <p:txBody>
          <a:bodyPr wrap="square" rtlCol="0" anchor="t"/>
          <a:lstStyle/>
          <a:p>
            <a:pPr indent="0" marL="0">
              <a:lnSpc>
                <a:spcPct val="130000"/>
              </a:lnSpc>
              <a:buNone/>
            </a:pPr>
            <a:r>
              <a:rPr lang="en-US" sz="1400" dirty="0">
                <a:solidFill>
                  <a:srgbClr val="EEF2F6"/>
                </a:solidFill>
                <a:latin typeface="Calibri" pitchFamily="34" charset="0"/>
                <a:ea typeface="Calibri" pitchFamily="34" charset="-122"/>
                <a:cs typeface="Calibri" pitchFamily="34" charset="-120"/>
              </a:rPr>
              <a:t>Ward rounds are periodic, but deterioration is a trend — falling oxygen or a climbing heart rate develops over minutes, so a single reading in isolation can still look normal.</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2333B"/>
        </a:solidFill>
      </p:bgPr>
    </p:bg>
    <p:spTree>
      <p:nvGrpSpPr>
        <p:cNvPr id="1" name=""/>
        <p:cNvGrpSpPr/>
        <p:nvPr/>
      </p:nvGrpSpPr>
      <p:grpSpPr>
        <a:xfrm>
          <a:off x="0" y="0"/>
          <a:ext cx="0" cy="0"/>
          <a:chOff x="0" y="0"/>
          <a:chExt cx="0" cy="0"/>
        </a:xfrm>
      </p:grpSpPr>
      <p:sp>
        <p:nvSpPr>
          <p:cNvPr id="2" name="Shape 0"/>
          <p:cNvSpPr/>
          <p:nvPr/>
        </p:nvSpPr>
        <p:spPr>
          <a:xfrm flipH="1" rot="10800000">
            <a:off x="9905695" y="4572000"/>
            <a:ext cx="2286000" cy="2286000"/>
          </a:xfrm>
          <a:prstGeom prst="rtTriangle">
            <a:avLst/>
          </a:prstGeom>
          <a:solidFill>
            <a:srgbClr val="0F7A8C"/>
          </a:solidFill>
          <a:ln/>
        </p:spPr>
      </p:sp>
      <p:sp>
        <p:nvSpPr>
          <p:cNvPr id="3" name="Shape 1"/>
          <p:cNvSpPr/>
          <p:nvPr/>
        </p:nvSpPr>
        <p:spPr>
          <a:xfrm flipH="1" rot="10800000">
            <a:off x="10820095" y="5486400"/>
            <a:ext cx="1371600" cy="1371600"/>
          </a:xfrm>
          <a:prstGeom prst="rtTriangle">
            <a:avLst/>
          </a:prstGeom>
          <a:solidFill>
            <a:srgbClr val="005264"/>
          </a:solidFill>
          <a:ln/>
        </p:spPr>
      </p:sp>
      <p:sp>
        <p:nvSpPr>
          <p:cNvPr id="4" name="Text 2"/>
          <p:cNvSpPr/>
          <p:nvPr/>
        </p:nvSpPr>
        <p:spPr>
          <a:xfrm>
            <a:off x="777240" y="731520"/>
            <a:ext cx="914400" cy="640080"/>
          </a:xfrm>
          <a:prstGeom prst="rect">
            <a:avLst/>
          </a:prstGeom>
          <a:noFill/>
          <a:ln/>
        </p:spPr>
        <p:txBody>
          <a:bodyPr wrap="square" lIns="0" tIns="0" rIns="0" bIns="0" rtlCol="0" anchor="ctr"/>
          <a:lstStyle/>
          <a:p>
            <a:pPr indent="0" marL="0">
              <a:buNone/>
            </a:pPr>
            <a:r>
              <a:rPr lang="en-US" sz="3000" b="1" dirty="0">
                <a:solidFill>
                  <a:srgbClr val="0F7A8C"/>
                </a:solidFill>
                <a:latin typeface="Cambria" pitchFamily="34" charset="0"/>
                <a:ea typeface="Cambria" pitchFamily="34" charset="-122"/>
                <a:cs typeface="Cambria" pitchFamily="34" charset="-120"/>
              </a:rPr>
              <a:t>01</a:t>
            </a:r>
            <a:endParaRPr lang="en-US" sz="3000" dirty="0"/>
          </a:p>
        </p:txBody>
      </p:sp>
      <p:sp>
        <p:nvSpPr>
          <p:cNvPr id="5" name="Text 3"/>
          <p:cNvSpPr/>
          <p:nvPr/>
        </p:nvSpPr>
        <p:spPr>
          <a:xfrm>
            <a:off x="1645920" y="905256"/>
            <a:ext cx="976853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ARCHITECTURE</a:t>
            </a:r>
            <a:endParaRPr lang="en-US" sz="1100" dirty="0"/>
          </a:p>
        </p:txBody>
      </p:sp>
      <p:sp>
        <p:nvSpPr>
          <p:cNvPr id="6" name="Text 4"/>
          <p:cNvSpPr/>
          <p:nvPr/>
        </p:nvSpPr>
        <p:spPr>
          <a:xfrm>
            <a:off x="777240" y="1380744"/>
            <a:ext cx="10637215" cy="640080"/>
          </a:xfrm>
          <a:prstGeom prst="rect">
            <a:avLst/>
          </a:prstGeom>
          <a:noFill/>
          <a:ln/>
        </p:spPr>
        <p:txBody>
          <a:bodyPr wrap="square" lIns="0" tIns="0" rIns="0" bIns="0" rtlCol="0" anchor="ctr"/>
          <a:lstStyle/>
          <a:p>
            <a:pPr indent="0" marL="0">
              <a:buNone/>
            </a:pPr>
            <a:r>
              <a:rPr lang="en-US" sz="2300" b="1" dirty="0">
                <a:solidFill>
                  <a:srgbClr val="EEF2F6"/>
                </a:solidFill>
                <a:latin typeface="Cambria" pitchFamily="34" charset="0"/>
                <a:ea typeface="Cambria" pitchFamily="34" charset="-122"/>
                <a:cs typeface="Cambria" pitchFamily="34" charset="-120"/>
              </a:rPr>
              <a:t>What I Built — Bedside to Cloud</a:t>
            </a:r>
            <a:endParaRPr lang="en-US" sz="2300" dirty="0"/>
          </a:p>
        </p:txBody>
      </p:sp>
      <p:sp>
        <p:nvSpPr>
          <p:cNvPr id="7" name="Shape 5"/>
          <p:cNvSpPr/>
          <p:nvPr/>
        </p:nvSpPr>
        <p:spPr>
          <a:xfrm>
            <a:off x="777240" y="2971800"/>
            <a:ext cx="1391869" cy="1965960"/>
          </a:xfrm>
          <a:prstGeom prst="roundRect">
            <a:avLst>
              <a:gd name="adj" fmla="val 2628"/>
            </a:avLst>
          </a:prstGeom>
          <a:solidFill>
            <a:srgbClr val="0F7A8C"/>
          </a:solidFill>
          <a:ln w="12700">
            <a:solidFill>
              <a:srgbClr val="0F7A8C"/>
            </a:solidFill>
            <a:prstDash val="solid"/>
          </a:ln>
        </p:spPr>
      </p:sp>
      <p:sp>
        <p:nvSpPr>
          <p:cNvPr id="8" name="Text 6"/>
          <p:cNvSpPr/>
          <p:nvPr/>
        </p:nvSpPr>
        <p:spPr>
          <a:xfrm>
            <a:off x="923544" y="3154680"/>
            <a:ext cx="109926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01</a:t>
            </a:r>
            <a:endParaRPr lang="en-US" sz="1100" dirty="0"/>
          </a:p>
        </p:txBody>
      </p:sp>
      <p:sp>
        <p:nvSpPr>
          <p:cNvPr id="9" name="Text 7"/>
          <p:cNvSpPr/>
          <p:nvPr/>
        </p:nvSpPr>
        <p:spPr>
          <a:xfrm>
            <a:off x="923544"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Cambria" pitchFamily="34" charset="0"/>
                <a:ea typeface="Cambria" pitchFamily="34" charset="-122"/>
                <a:cs typeface="Cambria" pitchFamily="34" charset="-120"/>
              </a:rPr>
              <a:t>Bedside sensors</a:t>
            </a:r>
            <a:endParaRPr lang="en-US" sz="1300" dirty="0"/>
          </a:p>
        </p:txBody>
      </p:sp>
      <p:sp>
        <p:nvSpPr>
          <p:cNvPr id="10" name="Text 8"/>
          <p:cNvSpPr/>
          <p:nvPr/>
        </p:nvSpPr>
        <p:spPr>
          <a:xfrm>
            <a:off x="923544" y="4453128"/>
            <a:ext cx="109926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10 streams · 2 patients</a:t>
            </a:r>
            <a:endParaRPr lang="en-US" sz="900" dirty="0"/>
          </a:p>
        </p:txBody>
      </p:sp>
      <p:sp>
        <p:nvSpPr>
          <p:cNvPr id="11" name="Shape 9"/>
          <p:cNvSpPr/>
          <p:nvPr/>
        </p:nvSpPr>
        <p:spPr>
          <a:xfrm>
            <a:off x="2242261" y="3845052"/>
            <a:ext cx="310896" cy="219456"/>
          </a:xfrm>
          <a:prstGeom prst="rightArrow">
            <a:avLst/>
          </a:prstGeom>
          <a:solidFill>
            <a:srgbClr val="8B98A6"/>
          </a:solidFill>
          <a:ln/>
        </p:spPr>
      </p:sp>
      <p:sp>
        <p:nvSpPr>
          <p:cNvPr id="12" name="Shape 10"/>
          <p:cNvSpPr/>
          <p:nvPr/>
        </p:nvSpPr>
        <p:spPr>
          <a:xfrm>
            <a:off x="2626309" y="2971800"/>
            <a:ext cx="1391869" cy="1965960"/>
          </a:xfrm>
          <a:prstGeom prst="roundRect">
            <a:avLst>
              <a:gd name="adj" fmla="val 2628"/>
            </a:avLst>
          </a:prstGeom>
          <a:solidFill>
            <a:srgbClr val="0F7A8C"/>
          </a:solidFill>
          <a:ln w="12700">
            <a:solidFill>
              <a:srgbClr val="0F7A8C"/>
            </a:solidFill>
            <a:prstDash val="solid"/>
          </a:ln>
        </p:spPr>
      </p:sp>
      <p:sp>
        <p:nvSpPr>
          <p:cNvPr id="13" name="Text 11"/>
          <p:cNvSpPr/>
          <p:nvPr/>
        </p:nvSpPr>
        <p:spPr>
          <a:xfrm>
            <a:off x="2772613" y="3154680"/>
            <a:ext cx="1099261" cy="320040"/>
          </a:xfrm>
          <a:prstGeom prst="rect">
            <a:avLst/>
          </a:prstGeom>
          <a:noFill/>
          <a:ln/>
        </p:spPr>
        <p:txBody>
          <a:bodyPr wrap="square" lIns="0" tIns="0" rIns="0" bIns="0" rtlCol="0" anchor="ctr"/>
          <a:lstStyle/>
          <a:p>
            <a:pPr indent="0" marL="0">
              <a:buNone/>
            </a:pPr>
            <a:r>
              <a:rPr lang="en-US" sz="1100" dirty="0">
                <a:solidFill>
                  <a:srgbClr val="FFFFFF"/>
                </a:solidFill>
                <a:latin typeface="Consolas" pitchFamily="34" charset="0"/>
                <a:ea typeface="Consolas" pitchFamily="34" charset="-122"/>
                <a:cs typeface="Consolas" pitchFamily="34" charset="-120"/>
              </a:rPr>
              <a:t>02</a:t>
            </a:r>
            <a:endParaRPr lang="en-US" sz="1100" dirty="0"/>
          </a:p>
        </p:txBody>
      </p:sp>
      <p:sp>
        <p:nvSpPr>
          <p:cNvPr id="14" name="Text 12"/>
          <p:cNvSpPr/>
          <p:nvPr/>
        </p:nvSpPr>
        <p:spPr>
          <a:xfrm>
            <a:off x="2772613"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FFFFFF"/>
                </a:solidFill>
                <a:latin typeface="Cambria" pitchFamily="34" charset="0"/>
                <a:ea typeface="Cambria" pitchFamily="34" charset="-122"/>
                <a:cs typeface="Cambria" pitchFamily="34" charset="-120"/>
              </a:rPr>
              <a:t>Fog gateway</a:t>
            </a:r>
            <a:endParaRPr lang="en-US" sz="1300" dirty="0"/>
          </a:p>
        </p:txBody>
      </p:sp>
      <p:sp>
        <p:nvSpPr>
          <p:cNvPr id="15" name="Text 13"/>
          <p:cNvSpPr/>
          <p:nvPr/>
        </p:nvSpPr>
        <p:spPr>
          <a:xfrm>
            <a:off x="2772613" y="4453128"/>
            <a:ext cx="1099261" cy="365760"/>
          </a:xfrm>
          <a:prstGeom prst="rect">
            <a:avLst/>
          </a:prstGeom>
          <a:noFill/>
          <a:ln/>
        </p:spPr>
        <p:txBody>
          <a:bodyPr wrap="square" lIns="0" tIns="0" rIns="0" bIns="0" rtlCol="0" anchor="ctr"/>
          <a:lstStyle/>
          <a:p>
            <a:pPr indent="0" marL="0">
              <a:buNone/>
            </a:pPr>
            <a:r>
              <a:rPr lang="en-US" sz="900" dirty="0">
                <a:solidFill>
                  <a:srgbClr val="FFFFFF"/>
                </a:solidFill>
                <a:latin typeface="Calibri" pitchFamily="34" charset="0"/>
                <a:ea typeface="Calibri" pitchFamily="34" charset="-122"/>
                <a:cs typeface="Calibri" pitchFamily="34" charset="-120"/>
              </a:rPr>
              <a:t>10 s windows · clinical rules</a:t>
            </a:r>
            <a:endParaRPr lang="en-US" sz="900" dirty="0"/>
          </a:p>
        </p:txBody>
      </p:sp>
      <p:sp>
        <p:nvSpPr>
          <p:cNvPr id="16" name="Shape 14"/>
          <p:cNvSpPr/>
          <p:nvPr/>
        </p:nvSpPr>
        <p:spPr>
          <a:xfrm>
            <a:off x="4091330" y="3845052"/>
            <a:ext cx="310896" cy="219456"/>
          </a:xfrm>
          <a:prstGeom prst="rightArrow">
            <a:avLst/>
          </a:prstGeom>
          <a:solidFill>
            <a:srgbClr val="8B98A6"/>
          </a:solidFill>
          <a:ln/>
        </p:spPr>
      </p:sp>
      <p:sp>
        <p:nvSpPr>
          <p:cNvPr id="17" name="Shape 15"/>
          <p:cNvSpPr/>
          <p:nvPr/>
        </p:nvSpPr>
        <p:spPr>
          <a:xfrm>
            <a:off x="4475378" y="2971800"/>
            <a:ext cx="1391869" cy="1965960"/>
          </a:xfrm>
          <a:prstGeom prst="roundRect">
            <a:avLst>
              <a:gd name="adj" fmla="val 2628"/>
            </a:avLst>
          </a:prstGeom>
          <a:solidFill>
            <a:srgbClr val="2A3F47"/>
          </a:solidFill>
          <a:ln w="12700">
            <a:solidFill>
              <a:srgbClr val="3E535B"/>
            </a:solidFill>
            <a:prstDash val="solid"/>
          </a:ln>
        </p:spPr>
      </p:sp>
      <p:sp>
        <p:nvSpPr>
          <p:cNvPr id="18" name="Text 16"/>
          <p:cNvSpPr/>
          <p:nvPr/>
        </p:nvSpPr>
        <p:spPr>
          <a:xfrm>
            <a:off x="4621682" y="3154680"/>
            <a:ext cx="1099261" cy="320040"/>
          </a:xfrm>
          <a:prstGeom prst="rect">
            <a:avLst/>
          </a:prstGeom>
          <a:noFill/>
          <a:ln/>
        </p:spPr>
        <p:txBody>
          <a:bodyPr wrap="square" lIns="0" tIns="0" rIns="0" bIns="0" rtlCol="0" anchor="ctr"/>
          <a:lstStyle/>
          <a:p>
            <a:pPr indent="0" marL="0">
              <a:buNone/>
            </a:pPr>
            <a:r>
              <a:rPr lang="en-US" sz="1100" dirty="0">
                <a:solidFill>
                  <a:srgbClr val="0F7A8C"/>
                </a:solidFill>
                <a:latin typeface="Consolas" pitchFamily="34" charset="0"/>
                <a:ea typeface="Consolas" pitchFamily="34" charset="-122"/>
                <a:cs typeface="Consolas" pitchFamily="34" charset="-120"/>
              </a:rPr>
              <a:t>03</a:t>
            </a:r>
            <a:endParaRPr lang="en-US" sz="1100" dirty="0"/>
          </a:p>
        </p:txBody>
      </p:sp>
      <p:sp>
        <p:nvSpPr>
          <p:cNvPr id="19" name="Text 17"/>
          <p:cNvSpPr/>
          <p:nvPr/>
        </p:nvSpPr>
        <p:spPr>
          <a:xfrm>
            <a:off x="4621682"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ambria" pitchFamily="34" charset="0"/>
                <a:ea typeface="Cambria" pitchFamily="34" charset="-122"/>
                <a:cs typeface="Cambria" pitchFamily="34" charset="-120"/>
              </a:rPr>
              <a:t>Amazon SQS</a:t>
            </a:r>
            <a:endParaRPr lang="en-US" sz="1300" dirty="0"/>
          </a:p>
        </p:txBody>
      </p:sp>
      <p:sp>
        <p:nvSpPr>
          <p:cNvPr id="20" name="Text 18"/>
          <p:cNvSpPr/>
          <p:nvPr/>
        </p:nvSpPr>
        <p:spPr>
          <a:xfrm>
            <a:off x="4621682"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batched aggregates</a:t>
            </a:r>
            <a:endParaRPr lang="en-US" sz="900" dirty="0"/>
          </a:p>
        </p:txBody>
      </p:sp>
      <p:sp>
        <p:nvSpPr>
          <p:cNvPr id="21" name="Shape 19"/>
          <p:cNvSpPr/>
          <p:nvPr/>
        </p:nvSpPr>
        <p:spPr>
          <a:xfrm>
            <a:off x="5940400" y="3845052"/>
            <a:ext cx="310896" cy="219456"/>
          </a:xfrm>
          <a:prstGeom prst="rightArrow">
            <a:avLst/>
          </a:prstGeom>
          <a:solidFill>
            <a:srgbClr val="8B98A6"/>
          </a:solidFill>
          <a:ln/>
        </p:spPr>
      </p:sp>
      <p:sp>
        <p:nvSpPr>
          <p:cNvPr id="22" name="Shape 20"/>
          <p:cNvSpPr/>
          <p:nvPr/>
        </p:nvSpPr>
        <p:spPr>
          <a:xfrm>
            <a:off x="6324448" y="2971800"/>
            <a:ext cx="1391869" cy="1965960"/>
          </a:xfrm>
          <a:prstGeom prst="roundRect">
            <a:avLst>
              <a:gd name="adj" fmla="val 2628"/>
            </a:avLst>
          </a:prstGeom>
          <a:solidFill>
            <a:srgbClr val="2A3F47"/>
          </a:solidFill>
          <a:ln w="12700">
            <a:solidFill>
              <a:srgbClr val="3E535B"/>
            </a:solidFill>
            <a:prstDash val="solid"/>
          </a:ln>
        </p:spPr>
      </p:sp>
      <p:sp>
        <p:nvSpPr>
          <p:cNvPr id="23" name="Text 21"/>
          <p:cNvSpPr/>
          <p:nvPr/>
        </p:nvSpPr>
        <p:spPr>
          <a:xfrm>
            <a:off x="6470752" y="3154680"/>
            <a:ext cx="1099261" cy="320040"/>
          </a:xfrm>
          <a:prstGeom prst="rect">
            <a:avLst/>
          </a:prstGeom>
          <a:noFill/>
          <a:ln/>
        </p:spPr>
        <p:txBody>
          <a:bodyPr wrap="square" lIns="0" tIns="0" rIns="0" bIns="0" rtlCol="0" anchor="ctr"/>
          <a:lstStyle/>
          <a:p>
            <a:pPr indent="0" marL="0">
              <a:buNone/>
            </a:pPr>
            <a:r>
              <a:rPr lang="en-US" sz="1100" dirty="0">
                <a:solidFill>
                  <a:srgbClr val="0F7A8C"/>
                </a:solidFill>
                <a:latin typeface="Consolas" pitchFamily="34" charset="0"/>
                <a:ea typeface="Consolas" pitchFamily="34" charset="-122"/>
                <a:cs typeface="Consolas" pitchFamily="34" charset="-120"/>
              </a:rPr>
              <a:t>04</a:t>
            </a:r>
            <a:endParaRPr lang="en-US" sz="1100" dirty="0"/>
          </a:p>
        </p:txBody>
      </p:sp>
      <p:sp>
        <p:nvSpPr>
          <p:cNvPr id="24" name="Text 22"/>
          <p:cNvSpPr/>
          <p:nvPr/>
        </p:nvSpPr>
        <p:spPr>
          <a:xfrm>
            <a:off x="6470752"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ambria" pitchFamily="34" charset="0"/>
                <a:ea typeface="Cambria" pitchFamily="34" charset="-122"/>
                <a:cs typeface="Cambria" pitchFamily="34" charset="-120"/>
              </a:rPr>
              <a:t>AWS Lambda</a:t>
            </a:r>
            <a:endParaRPr lang="en-US" sz="1300" dirty="0"/>
          </a:p>
        </p:txBody>
      </p:sp>
      <p:sp>
        <p:nvSpPr>
          <p:cNvPr id="25" name="Text 23"/>
          <p:cNvSpPr/>
          <p:nvPr/>
        </p:nvSpPr>
        <p:spPr>
          <a:xfrm>
            <a:off x="6470752"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nodejs20 ingest</a:t>
            </a:r>
            <a:endParaRPr lang="en-US" sz="900" dirty="0"/>
          </a:p>
        </p:txBody>
      </p:sp>
      <p:sp>
        <p:nvSpPr>
          <p:cNvPr id="26" name="Shape 24"/>
          <p:cNvSpPr/>
          <p:nvPr/>
        </p:nvSpPr>
        <p:spPr>
          <a:xfrm>
            <a:off x="7789469" y="3845052"/>
            <a:ext cx="310896" cy="219456"/>
          </a:xfrm>
          <a:prstGeom prst="rightArrow">
            <a:avLst/>
          </a:prstGeom>
          <a:solidFill>
            <a:srgbClr val="8B98A6"/>
          </a:solidFill>
          <a:ln/>
        </p:spPr>
      </p:sp>
      <p:sp>
        <p:nvSpPr>
          <p:cNvPr id="27" name="Shape 25"/>
          <p:cNvSpPr/>
          <p:nvPr/>
        </p:nvSpPr>
        <p:spPr>
          <a:xfrm>
            <a:off x="8173517" y="2971800"/>
            <a:ext cx="1391869" cy="1965960"/>
          </a:xfrm>
          <a:prstGeom prst="roundRect">
            <a:avLst>
              <a:gd name="adj" fmla="val 2628"/>
            </a:avLst>
          </a:prstGeom>
          <a:solidFill>
            <a:srgbClr val="2A3F47"/>
          </a:solidFill>
          <a:ln w="12700">
            <a:solidFill>
              <a:srgbClr val="3E535B"/>
            </a:solidFill>
            <a:prstDash val="solid"/>
          </a:ln>
        </p:spPr>
      </p:sp>
      <p:sp>
        <p:nvSpPr>
          <p:cNvPr id="28" name="Text 26"/>
          <p:cNvSpPr/>
          <p:nvPr/>
        </p:nvSpPr>
        <p:spPr>
          <a:xfrm>
            <a:off x="8319821" y="3154680"/>
            <a:ext cx="1099261" cy="320040"/>
          </a:xfrm>
          <a:prstGeom prst="rect">
            <a:avLst/>
          </a:prstGeom>
          <a:noFill/>
          <a:ln/>
        </p:spPr>
        <p:txBody>
          <a:bodyPr wrap="square" lIns="0" tIns="0" rIns="0" bIns="0" rtlCol="0" anchor="ctr"/>
          <a:lstStyle/>
          <a:p>
            <a:pPr indent="0" marL="0">
              <a:buNone/>
            </a:pPr>
            <a:r>
              <a:rPr lang="en-US" sz="1100" dirty="0">
                <a:solidFill>
                  <a:srgbClr val="0F7A8C"/>
                </a:solidFill>
                <a:latin typeface="Consolas" pitchFamily="34" charset="0"/>
                <a:ea typeface="Consolas" pitchFamily="34" charset="-122"/>
                <a:cs typeface="Consolas" pitchFamily="34" charset="-120"/>
              </a:rPr>
              <a:t>05</a:t>
            </a:r>
            <a:endParaRPr lang="en-US" sz="1100" dirty="0"/>
          </a:p>
        </p:txBody>
      </p:sp>
      <p:sp>
        <p:nvSpPr>
          <p:cNvPr id="29" name="Text 27"/>
          <p:cNvSpPr/>
          <p:nvPr/>
        </p:nvSpPr>
        <p:spPr>
          <a:xfrm>
            <a:off x="8319821"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ambria" pitchFamily="34" charset="0"/>
                <a:ea typeface="Cambria" pitchFamily="34" charset="-122"/>
                <a:cs typeface="Cambria" pitchFamily="34" charset="-120"/>
              </a:rPr>
              <a:t>DynamoDB</a:t>
            </a:r>
            <a:endParaRPr lang="en-US" sz="1300" dirty="0"/>
          </a:p>
        </p:txBody>
      </p:sp>
      <p:sp>
        <p:nvSpPr>
          <p:cNvPr id="30" name="Text 28"/>
          <p:cNvSpPr/>
          <p:nvPr/>
        </p:nvSpPr>
        <p:spPr>
          <a:xfrm>
            <a:off x="8319821"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windowed records</a:t>
            </a:r>
            <a:endParaRPr lang="en-US" sz="900" dirty="0"/>
          </a:p>
        </p:txBody>
      </p:sp>
      <p:sp>
        <p:nvSpPr>
          <p:cNvPr id="31" name="Shape 29"/>
          <p:cNvSpPr/>
          <p:nvPr/>
        </p:nvSpPr>
        <p:spPr>
          <a:xfrm>
            <a:off x="9638538" y="3845052"/>
            <a:ext cx="310896" cy="219456"/>
          </a:xfrm>
          <a:prstGeom prst="rightArrow">
            <a:avLst/>
          </a:prstGeom>
          <a:solidFill>
            <a:srgbClr val="8B98A6"/>
          </a:solidFill>
          <a:ln/>
        </p:spPr>
      </p:sp>
      <p:sp>
        <p:nvSpPr>
          <p:cNvPr id="32" name="Shape 30"/>
          <p:cNvSpPr/>
          <p:nvPr/>
        </p:nvSpPr>
        <p:spPr>
          <a:xfrm>
            <a:off x="10022586" y="2971800"/>
            <a:ext cx="1391869" cy="1965960"/>
          </a:xfrm>
          <a:prstGeom prst="roundRect">
            <a:avLst>
              <a:gd name="adj" fmla="val 2628"/>
            </a:avLst>
          </a:prstGeom>
          <a:solidFill>
            <a:srgbClr val="2A3F47"/>
          </a:solidFill>
          <a:ln w="12700">
            <a:solidFill>
              <a:srgbClr val="3E535B"/>
            </a:solidFill>
            <a:prstDash val="solid"/>
          </a:ln>
        </p:spPr>
      </p:sp>
      <p:sp>
        <p:nvSpPr>
          <p:cNvPr id="33" name="Text 31"/>
          <p:cNvSpPr/>
          <p:nvPr/>
        </p:nvSpPr>
        <p:spPr>
          <a:xfrm>
            <a:off x="10168890" y="3154680"/>
            <a:ext cx="1099261" cy="320040"/>
          </a:xfrm>
          <a:prstGeom prst="rect">
            <a:avLst/>
          </a:prstGeom>
          <a:noFill/>
          <a:ln/>
        </p:spPr>
        <p:txBody>
          <a:bodyPr wrap="square" lIns="0" tIns="0" rIns="0" bIns="0" rtlCol="0" anchor="ctr"/>
          <a:lstStyle/>
          <a:p>
            <a:pPr indent="0" marL="0">
              <a:buNone/>
            </a:pPr>
            <a:r>
              <a:rPr lang="en-US" sz="1100" dirty="0">
                <a:solidFill>
                  <a:srgbClr val="0F7A8C"/>
                </a:solidFill>
                <a:latin typeface="Consolas" pitchFamily="34" charset="0"/>
                <a:ea typeface="Consolas" pitchFamily="34" charset="-122"/>
                <a:cs typeface="Consolas" pitchFamily="34" charset="-120"/>
              </a:rPr>
              <a:t>06</a:t>
            </a:r>
            <a:endParaRPr lang="en-US" sz="1100" dirty="0"/>
          </a:p>
        </p:txBody>
      </p:sp>
      <p:sp>
        <p:nvSpPr>
          <p:cNvPr id="34" name="Text 32"/>
          <p:cNvSpPr/>
          <p:nvPr/>
        </p:nvSpPr>
        <p:spPr>
          <a:xfrm>
            <a:off x="10168890" y="3593592"/>
            <a:ext cx="1099261" cy="868680"/>
          </a:xfrm>
          <a:prstGeom prst="rect">
            <a:avLst/>
          </a:prstGeom>
          <a:noFill/>
          <a:ln/>
        </p:spPr>
        <p:txBody>
          <a:bodyPr wrap="square" lIns="0" tIns="0" rIns="0" bIns="0" rtlCol="0" anchor="t"/>
          <a:lstStyle/>
          <a:p>
            <a:pPr indent="0" marL="0">
              <a:lnSpc>
                <a:spcPct val="96000"/>
              </a:lnSpc>
              <a:buNone/>
            </a:pPr>
            <a:r>
              <a:rPr lang="en-US" sz="1300" b="1" dirty="0">
                <a:solidFill>
                  <a:srgbClr val="EEF2F6"/>
                </a:solidFill>
                <a:latin typeface="Cambria" pitchFamily="34" charset="0"/>
                <a:ea typeface="Cambria" pitchFamily="34" charset="-122"/>
                <a:cs typeface="Cambria" pitchFamily="34" charset="-120"/>
              </a:rPr>
              <a:t>API GW + S3</a:t>
            </a:r>
            <a:endParaRPr lang="en-US" sz="1300" dirty="0"/>
          </a:p>
        </p:txBody>
      </p:sp>
      <p:sp>
        <p:nvSpPr>
          <p:cNvPr id="35" name="Text 33"/>
          <p:cNvSpPr/>
          <p:nvPr/>
        </p:nvSpPr>
        <p:spPr>
          <a:xfrm>
            <a:off x="10168890" y="4453128"/>
            <a:ext cx="1099261" cy="365760"/>
          </a:xfrm>
          <a:prstGeom prst="rect">
            <a:avLst/>
          </a:prstGeom>
          <a:noFill/>
          <a:ln/>
        </p:spPr>
        <p:txBody>
          <a:bodyPr wrap="square" lIns="0" tIns="0" rIns="0" bIns="0" rtlCol="0" anchor="ctr"/>
          <a:lstStyle/>
          <a:p>
            <a:pPr indent="0" marL="0">
              <a:buNone/>
            </a:pPr>
            <a:r>
              <a:rPr lang="en-US" sz="900" dirty="0">
                <a:solidFill>
                  <a:srgbClr val="8B98A6"/>
                </a:solidFill>
                <a:latin typeface="Calibri" pitchFamily="34" charset="0"/>
                <a:ea typeface="Calibri" pitchFamily="34" charset="-122"/>
                <a:cs typeface="Calibri" pitchFamily="34" charset="-120"/>
              </a:rPr>
              <a:t>ward dashboard</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22333B"/>
        </a:solidFill>
      </p:bgPr>
    </p:bg>
    <p:spTree>
      <p:nvGrpSpPr>
        <p:cNvPr id="1" name=""/>
        <p:cNvGrpSpPr/>
        <p:nvPr/>
      </p:nvGrpSpPr>
      <p:grpSpPr>
        <a:xfrm>
          <a:off x="0" y="0"/>
          <a:ext cx="0" cy="0"/>
          <a:chOff x="0" y="0"/>
          <a:chExt cx="0" cy="0"/>
        </a:xfrm>
      </p:grpSpPr>
      <p:sp>
        <p:nvSpPr>
          <p:cNvPr id="2" name="Shape 0"/>
          <p:cNvSpPr/>
          <p:nvPr/>
        </p:nvSpPr>
        <p:spPr>
          <a:xfrm flipH="1" rot="10800000">
            <a:off x="9905695" y="4572000"/>
            <a:ext cx="2286000" cy="2286000"/>
          </a:xfrm>
          <a:prstGeom prst="rtTriangle">
            <a:avLst/>
          </a:prstGeom>
          <a:solidFill>
            <a:srgbClr val="0F7A8C"/>
          </a:solidFill>
          <a:ln/>
        </p:spPr>
      </p:sp>
      <p:sp>
        <p:nvSpPr>
          <p:cNvPr id="3" name="Shape 1"/>
          <p:cNvSpPr/>
          <p:nvPr/>
        </p:nvSpPr>
        <p:spPr>
          <a:xfrm flipH="1" rot="10800000">
            <a:off x="10820095" y="5486400"/>
            <a:ext cx="1371600" cy="1371600"/>
          </a:xfrm>
          <a:prstGeom prst="rtTriangle">
            <a:avLst/>
          </a:prstGeom>
          <a:solidFill>
            <a:srgbClr val="005264"/>
          </a:solidFill>
          <a:ln/>
        </p:spPr>
      </p:sp>
      <p:sp>
        <p:nvSpPr>
          <p:cNvPr id="4" name="Text 2"/>
          <p:cNvSpPr/>
          <p:nvPr/>
        </p:nvSpPr>
        <p:spPr>
          <a:xfrm>
            <a:off x="777240" y="731520"/>
            <a:ext cx="914400" cy="640080"/>
          </a:xfrm>
          <a:prstGeom prst="rect">
            <a:avLst/>
          </a:prstGeom>
          <a:noFill/>
          <a:ln/>
        </p:spPr>
        <p:txBody>
          <a:bodyPr wrap="square" lIns="0" tIns="0" rIns="0" bIns="0" rtlCol="0" anchor="ctr"/>
          <a:lstStyle/>
          <a:p>
            <a:pPr indent="0" marL="0">
              <a:buNone/>
            </a:pPr>
            <a:r>
              <a:rPr lang="en-US" sz="3000" b="1" dirty="0">
                <a:solidFill>
                  <a:srgbClr val="0F7A8C"/>
                </a:solidFill>
                <a:latin typeface="Cambria" pitchFamily="34" charset="0"/>
                <a:ea typeface="Cambria" pitchFamily="34" charset="-122"/>
                <a:cs typeface="Cambria" pitchFamily="34" charset="-120"/>
              </a:rPr>
              <a:t>02</a:t>
            </a:r>
            <a:endParaRPr lang="en-US" sz="3000" dirty="0"/>
          </a:p>
        </p:txBody>
      </p:sp>
      <p:sp>
        <p:nvSpPr>
          <p:cNvPr id="5" name="Text 3"/>
          <p:cNvSpPr/>
          <p:nvPr/>
        </p:nvSpPr>
        <p:spPr>
          <a:xfrm>
            <a:off x="1645920" y="905256"/>
            <a:ext cx="976853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LIVE DEMO</a:t>
            </a:r>
            <a:endParaRPr lang="en-US" sz="1100" dirty="0"/>
          </a:p>
        </p:txBody>
      </p:sp>
      <p:sp>
        <p:nvSpPr>
          <p:cNvPr id="6" name="Text 4"/>
          <p:cNvSpPr/>
          <p:nvPr/>
        </p:nvSpPr>
        <p:spPr>
          <a:xfrm>
            <a:off x="777240" y="1380744"/>
            <a:ext cx="10637215" cy="640080"/>
          </a:xfrm>
          <a:prstGeom prst="rect">
            <a:avLst/>
          </a:prstGeom>
          <a:noFill/>
          <a:ln/>
        </p:spPr>
        <p:txBody>
          <a:bodyPr wrap="square" lIns="0" tIns="0" rIns="0" bIns="0" rtlCol="0" anchor="ctr"/>
          <a:lstStyle/>
          <a:p>
            <a:pPr indent="0" marL="0">
              <a:buNone/>
            </a:pPr>
            <a:r>
              <a:rPr lang="en-US" sz="2300" b="1" dirty="0">
                <a:solidFill>
                  <a:srgbClr val="EEF2F6"/>
                </a:solidFill>
                <a:latin typeface="Cambria" pitchFamily="34" charset="0"/>
                <a:ea typeface="Cambria" pitchFamily="34" charset="-122"/>
                <a:cs typeface="Cambria" pitchFamily="34" charset="-120"/>
              </a:rPr>
              <a:t>See it running on AWS</a:t>
            </a:r>
            <a:endParaRPr lang="en-US" sz="2300" dirty="0"/>
          </a:p>
        </p:txBody>
      </p:sp>
      <p:sp>
        <p:nvSpPr>
          <p:cNvPr id="7" name="Text 5"/>
          <p:cNvSpPr/>
          <p:nvPr/>
        </p:nvSpPr>
        <p:spPr>
          <a:xfrm>
            <a:off x="777240" y="1901952"/>
            <a:ext cx="10637215" cy="274320"/>
          </a:xfrm>
          <a:prstGeom prst="rect">
            <a:avLst/>
          </a:prstGeom>
          <a:noFill/>
          <a:ln/>
        </p:spPr>
        <p:txBody>
          <a:bodyPr wrap="square" rtlCol="0" anchor="ctr"/>
          <a:lstStyle/>
          <a:p>
            <a:pPr indent="0" marL="0">
              <a:buNone/>
            </a:pPr>
            <a:r>
              <a:rPr lang="en-US" sz="1100" dirty="0">
                <a:solidFill>
                  <a:srgbClr val="0F7A8C"/>
                </a:solidFill>
                <a:latin typeface="Consolas" pitchFamily="34" charset="0"/>
                <a:ea typeface="Consolas" pitchFamily="34" charset="-122"/>
                <a:cs typeface="Consolas" pitchFamily="34" charset="-120"/>
              </a:rPr>
              <a:t>fpv-frontend-457516959142.s3.us-east-1.amazonaws.com</a:t>
            </a:r>
            <a:endParaRPr lang="en-US" sz="1100" dirty="0"/>
          </a:p>
        </p:txBody>
      </p:sp>
      <p:sp>
        <p:nvSpPr>
          <p:cNvPr id="8" name="Shape 6"/>
          <p:cNvSpPr/>
          <p:nvPr/>
        </p:nvSpPr>
        <p:spPr>
          <a:xfrm>
            <a:off x="777240" y="2514600"/>
            <a:ext cx="3301898" cy="3566160"/>
          </a:xfrm>
          <a:prstGeom prst="roundRect">
            <a:avLst>
              <a:gd name="adj" fmla="val 1108"/>
            </a:avLst>
          </a:prstGeom>
          <a:solidFill>
            <a:srgbClr val="2A3F47"/>
          </a:solidFill>
          <a:ln w="12700">
            <a:solidFill>
              <a:srgbClr val="3E535B"/>
            </a:solidFill>
            <a:prstDash val="solid"/>
          </a:ln>
        </p:spPr>
      </p:sp>
      <p:sp>
        <p:nvSpPr>
          <p:cNvPr id="9" name="Text 7"/>
          <p:cNvSpPr/>
          <p:nvPr/>
        </p:nvSpPr>
        <p:spPr>
          <a:xfrm>
            <a:off x="1051560" y="2752344"/>
            <a:ext cx="1828800" cy="777240"/>
          </a:xfrm>
          <a:prstGeom prst="rect">
            <a:avLst/>
          </a:prstGeom>
          <a:noFill/>
          <a:ln/>
        </p:spPr>
        <p:txBody>
          <a:bodyPr wrap="square" lIns="0" tIns="0" rIns="0" bIns="0" rtlCol="0" anchor="ctr"/>
          <a:lstStyle/>
          <a:p>
            <a:pPr indent="0" marL="0">
              <a:buNone/>
            </a:pPr>
            <a:r>
              <a:rPr lang="en-US" sz="3800" b="1" dirty="0">
                <a:solidFill>
                  <a:srgbClr val="0F7A8C"/>
                </a:solidFill>
                <a:latin typeface="Cambria" pitchFamily="34" charset="0"/>
                <a:ea typeface="Cambria" pitchFamily="34" charset="-122"/>
                <a:cs typeface="Cambria" pitchFamily="34" charset="-120"/>
              </a:rPr>
              <a:t>01</a:t>
            </a:r>
            <a:endParaRPr lang="en-US" sz="3800" dirty="0"/>
          </a:p>
        </p:txBody>
      </p:sp>
      <p:sp>
        <p:nvSpPr>
          <p:cNvPr id="10" name="Text 8"/>
          <p:cNvSpPr/>
          <p:nvPr/>
        </p:nvSpPr>
        <p:spPr>
          <a:xfrm>
            <a:off x="1069848" y="3566160"/>
            <a:ext cx="2753258" cy="868680"/>
          </a:xfrm>
          <a:prstGeom prst="rect">
            <a:avLst/>
          </a:prstGeom>
          <a:noFill/>
          <a:ln/>
        </p:spPr>
        <p:txBody>
          <a:bodyPr wrap="square" lIns="0" tIns="0" rIns="0" bIns="0" rtlCol="0" anchor="t"/>
          <a:lstStyle/>
          <a:p>
            <a:pPr indent="0" marL="0">
              <a:lnSpc>
                <a:spcPct val="100000"/>
              </a:lnSpc>
              <a:buNone/>
            </a:pPr>
            <a:r>
              <a:rPr lang="en-US" sz="1550" b="1" dirty="0">
                <a:solidFill>
                  <a:srgbClr val="EEF2F6"/>
                </a:solidFill>
                <a:latin typeface="Cambria" pitchFamily="34" charset="0"/>
                <a:ea typeface="Cambria" pitchFamily="34" charset="-122"/>
                <a:cs typeface="Cambria" pitchFamily="34" charset="-120"/>
              </a:rPr>
              <a:t>Two patients, five vitals live</a:t>
            </a:r>
            <a:endParaRPr lang="en-US" sz="1550" dirty="0"/>
          </a:p>
        </p:txBody>
      </p:sp>
      <p:sp>
        <p:nvSpPr>
          <p:cNvPr id="11" name="Text 9"/>
          <p:cNvSpPr/>
          <p:nvPr/>
        </p:nvSpPr>
        <p:spPr>
          <a:xfrm>
            <a:off x="1069848" y="4434840"/>
            <a:ext cx="275325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Heart rate, SpO2, respiration, temperature and blood pressure streaming for both beds, each checked against its clinical limit as it lands.</a:t>
            </a:r>
            <a:endParaRPr lang="en-US" sz="1200" dirty="0"/>
          </a:p>
        </p:txBody>
      </p:sp>
      <p:sp>
        <p:nvSpPr>
          <p:cNvPr id="12" name="Shape 10"/>
          <p:cNvSpPr/>
          <p:nvPr/>
        </p:nvSpPr>
        <p:spPr>
          <a:xfrm>
            <a:off x="4444898" y="2514600"/>
            <a:ext cx="3301898" cy="3566160"/>
          </a:xfrm>
          <a:prstGeom prst="roundRect">
            <a:avLst>
              <a:gd name="adj" fmla="val 1108"/>
            </a:avLst>
          </a:prstGeom>
          <a:solidFill>
            <a:srgbClr val="2A3F47"/>
          </a:solidFill>
          <a:ln w="12700">
            <a:solidFill>
              <a:srgbClr val="3E535B"/>
            </a:solidFill>
            <a:prstDash val="solid"/>
          </a:ln>
        </p:spPr>
      </p:sp>
      <p:sp>
        <p:nvSpPr>
          <p:cNvPr id="13" name="Text 11"/>
          <p:cNvSpPr/>
          <p:nvPr/>
        </p:nvSpPr>
        <p:spPr>
          <a:xfrm>
            <a:off x="4719218" y="2752344"/>
            <a:ext cx="1828800" cy="777240"/>
          </a:xfrm>
          <a:prstGeom prst="rect">
            <a:avLst/>
          </a:prstGeom>
          <a:noFill/>
          <a:ln/>
        </p:spPr>
        <p:txBody>
          <a:bodyPr wrap="square" lIns="0" tIns="0" rIns="0" bIns="0" rtlCol="0" anchor="ctr"/>
          <a:lstStyle/>
          <a:p>
            <a:pPr indent="0" marL="0">
              <a:buNone/>
            </a:pPr>
            <a:r>
              <a:rPr lang="en-US" sz="3800" b="1" dirty="0">
                <a:solidFill>
                  <a:srgbClr val="0F7A8C"/>
                </a:solidFill>
                <a:latin typeface="Cambria" pitchFamily="34" charset="0"/>
                <a:ea typeface="Cambria" pitchFamily="34" charset="-122"/>
                <a:cs typeface="Cambria" pitchFamily="34" charset="-120"/>
              </a:rPr>
              <a:t>02</a:t>
            </a:r>
            <a:endParaRPr lang="en-US" sz="3800" dirty="0"/>
          </a:p>
        </p:txBody>
      </p:sp>
      <p:sp>
        <p:nvSpPr>
          <p:cNvPr id="14" name="Text 12"/>
          <p:cNvSpPr/>
          <p:nvPr/>
        </p:nvSpPr>
        <p:spPr>
          <a:xfrm>
            <a:off x="4737506" y="3566160"/>
            <a:ext cx="2753258" cy="868680"/>
          </a:xfrm>
          <a:prstGeom prst="rect">
            <a:avLst/>
          </a:prstGeom>
          <a:noFill/>
          <a:ln/>
        </p:spPr>
        <p:txBody>
          <a:bodyPr wrap="square" lIns="0" tIns="0" rIns="0" bIns="0" rtlCol="0" anchor="t"/>
          <a:lstStyle/>
          <a:p>
            <a:pPr indent="0" marL="0">
              <a:lnSpc>
                <a:spcPct val="100000"/>
              </a:lnSpc>
              <a:buNone/>
            </a:pPr>
            <a:r>
              <a:rPr lang="en-US" sz="1550" b="1" dirty="0">
                <a:solidFill>
                  <a:srgbClr val="EEF2F6"/>
                </a:solidFill>
                <a:latin typeface="Cambria" pitchFamily="34" charset="0"/>
                <a:ea typeface="Cambria" pitchFamily="34" charset="-122"/>
                <a:cs typeface="Cambria" pitchFamily="34" charset="-120"/>
              </a:rPr>
              <a:t>A hypoxia alert on real data</a:t>
            </a:r>
            <a:endParaRPr lang="en-US" sz="1550" dirty="0"/>
          </a:p>
        </p:txBody>
      </p:sp>
      <p:sp>
        <p:nvSpPr>
          <p:cNvPr id="15" name="Text 13"/>
          <p:cNvSpPr/>
          <p:nvPr/>
        </p:nvSpPr>
        <p:spPr>
          <a:xfrm>
            <a:off x="4737506" y="4434840"/>
            <a:ext cx="275325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The banner raises as Patient-1's SpO2 crosses the 92% trigger — captured live at 89.7% — not a scripted demo value.</a:t>
            </a:r>
            <a:endParaRPr lang="en-US" sz="1200" dirty="0"/>
          </a:p>
        </p:txBody>
      </p:sp>
      <p:sp>
        <p:nvSpPr>
          <p:cNvPr id="16" name="Shape 14"/>
          <p:cNvSpPr/>
          <p:nvPr/>
        </p:nvSpPr>
        <p:spPr>
          <a:xfrm>
            <a:off x="8112557" y="2514600"/>
            <a:ext cx="3301898" cy="3566160"/>
          </a:xfrm>
          <a:prstGeom prst="roundRect">
            <a:avLst>
              <a:gd name="adj" fmla="val 1108"/>
            </a:avLst>
          </a:prstGeom>
          <a:solidFill>
            <a:srgbClr val="2A3F47"/>
          </a:solidFill>
          <a:ln w="12700">
            <a:solidFill>
              <a:srgbClr val="3E535B"/>
            </a:solidFill>
            <a:prstDash val="solid"/>
          </a:ln>
        </p:spPr>
      </p:sp>
      <p:sp>
        <p:nvSpPr>
          <p:cNvPr id="17" name="Text 15"/>
          <p:cNvSpPr/>
          <p:nvPr/>
        </p:nvSpPr>
        <p:spPr>
          <a:xfrm>
            <a:off x="8386877" y="2752344"/>
            <a:ext cx="1828800" cy="777240"/>
          </a:xfrm>
          <a:prstGeom prst="rect">
            <a:avLst/>
          </a:prstGeom>
          <a:noFill/>
          <a:ln/>
        </p:spPr>
        <p:txBody>
          <a:bodyPr wrap="square" lIns="0" tIns="0" rIns="0" bIns="0" rtlCol="0" anchor="ctr"/>
          <a:lstStyle/>
          <a:p>
            <a:pPr indent="0" marL="0">
              <a:buNone/>
            </a:pPr>
            <a:r>
              <a:rPr lang="en-US" sz="3800" b="1" dirty="0">
                <a:solidFill>
                  <a:srgbClr val="0F7A8C"/>
                </a:solidFill>
                <a:latin typeface="Cambria" pitchFamily="34" charset="0"/>
                <a:ea typeface="Cambria" pitchFamily="34" charset="-122"/>
                <a:cs typeface="Cambria" pitchFamily="34" charset="-120"/>
              </a:rPr>
              <a:t>03</a:t>
            </a:r>
            <a:endParaRPr lang="en-US" sz="3800" dirty="0"/>
          </a:p>
        </p:txBody>
      </p:sp>
      <p:sp>
        <p:nvSpPr>
          <p:cNvPr id="18" name="Text 16"/>
          <p:cNvSpPr/>
          <p:nvPr/>
        </p:nvSpPr>
        <p:spPr>
          <a:xfrm>
            <a:off x="8405165" y="3566160"/>
            <a:ext cx="2753258" cy="868680"/>
          </a:xfrm>
          <a:prstGeom prst="rect">
            <a:avLst/>
          </a:prstGeom>
          <a:noFill/>
          <a:ln/>
        </p:spPr>
        <p:txBody>
          <a:bodyPr wrap="square" lIns="0" tIns="0" rIns="0" bIns="0" rtlCol="0" anchor="t"/>
          <a:lstStyle/>
          <a:p>
            <a:pPr indent="0" marL="0">
              <a:lnSpc>
                <a:spcPct val="100000"/>
              </a:lnSpc>
              <a:buNone/>
            </a:pPr>
            <a:r>
              <a:rPr lang="en-US" sz="1550" b="1" dirty="0">
                <a:solidFill>
                  <a:srgbClr val="EEF2F6"/>
                </a:solidFill>
                <a:latin typeface="Cambria" pitchFamily="34" charset="0"/>
                <a:ea typeface="Cambria" pitchFamily="34" charset="-122"/>
                <a:cs typeface="Cambria" pitchFamily="34" charset="-120"/>
              </a:rPr>
              <a:t>The pipeline is genuinely live</a:t>
            </a:r>
            <a:endParaRPr lang="en-US" sz="1550" dirty="0"/>
          </a:p>
        </p:txBody>
      </p:sp>
      <p:sp>
        <p:nvSpPr>
          <p:cNvPr id="19" name="Text 17"/>
          <p:cNvSpPr/>
          <p:nvPr/>
        </p:nvSpPr>
        <p:spPr>
          <a:xfrm>
            <a:off x="8405165" y="4434840"/>
            <a:ext cx="2753258" cy="1463040"/>
          </a:xfrm>
          <a:prstGeom prst="rect">
            <a:avLst/>
          </a:prstGeom>
          <a:noFill/>
          <a:ln/>
        </p:spPr>
        <p:txBody>
          <a:bodyPr wrap="square" lIns="0" tIns="0" rIns="0" bIns="0" rtlCol="0" anchor="ctr"/>
          <a:lstStyle/>
          <a:p>
            <a:pPr indent="0" marL="0">
              <a:lnSpc>
                <a:spcPct val="120000"/>
              </a:lnSpc>
              <a:buNone/>
            </a:pPr>
            <a:r>
              <a:rPr lang="en-US" sz="1200" dirty="0">
                <a:solidFill>
                  <a:srgbClr val="8B98A6"/>
                </a:solidFill>
                <a:latin typeface="Calibri" pitchFamily="34" charset="0"/>
                <a:ea typeface="Calibri" pitchFamily="34" charset="-122"/>
                <a:cs typeface="Calibri" pitchFamily="34" charset="-120"/>
              </a:rPr>
              <a:t>The stored-record count climbs between refreshes and the freshest reading stays a couple of seconds old, so nothing here is cached.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22333B"/>
        </a:solidFill>
      </p:bgPr>
    </p:bg>
    <p:spTree>
      <p:nvGrpSpPr>
        <p:cNvPr id="1" name=""/>
        <p:cNvGrpSpPr/>
        <p:nvPr/>
      </p:nvGrpSpPr>
      <p:grpSpPr>
        <a:xfrm>
          <a:off x="0" y="0"/>
          <a:ext cx="0" cy="0"/>
          <a:chOff x="0" y="0"/>
          <a:chExt cx="0" cy="0"/>
        </a:xfrm>
      </p:grpSpPr>
      <p:sp>
        <p:nvSpPr>
          <p:cNvPr id="2" name="Shape 0"/>
          <p:cNvSpPr/>
          <p:nvPr/>
        </p:nvSpPr>
        <p:spPr>
          <a:xfrm flipH="1" rot="10800000">
            <a:off x="9905695" y="4572000"/>
            <a:ext cx="2286000" cy="2286000"/>
          </a:xfrm>
          <a:prstGeom prst="rtTriangle">
            <a:avLst/>
          </a:prstGeom>
          <a:solidFill>
            <a:srgbClr val="0F7A8C"/>
          </a:solidFill>
          <a:ln/>
        </p:spPr>
      </p:sp>
      <p:sp>
        <p:nvSpPr>
          <p:cNvPr id="3" name="Shape 1"/>
          <p:cNvSpPr/>
          <p:nvPr/>
        </p:nvSpPr>
        <p:spPr>
          <a:xfrm flipH="1" rot="10800000">
            <a:off x="10820095" y="5486400"/>
            <a:ext cx="1371600" cy="1371600"/>
          </a:xfrm>
          <a:prstGeom prst="rtTriangle">
            <a:avLst/>
          </a:prstGeom>
          <a:solidFill>
            <a:srgbClr val="005264"/>
          </a:solidFill>
          <a:ln/>
        </p:spPr>
      </p:sp>
      <p:sp>
        <p:nvSpPr>
          <p:cNvPr id="4" name="Text 2"/>
          <p:cNvSpPr/>
          <p:nvPr/>
        </p:nvSpPr>
        <p:spPr>
          <a:xfrm>
            <a:off x="777240" y="731520"/>
            <a:ext cx="914400" cy="640080"/>
          </a:xfrm>
          <a:prstGeom prst="rect">
            <a:avLst/>
          </a:prstGeom>
          <a:noFill/>
          <a:ln/>
        </p:spPr>
        <p:txBody>
          <a:bodyPr wrap="square" lIns="0" tIns="0" rIns="0" bIns="0" rtlCol="0" anchor="ctr"/>
          <a:lstStyle/>
          <a:p>
            <a:pPr indent="0" marL="0">
              <a:buNone/>
            </a:pPr>
            <a:r>
              <a:rPr lang="en-US" sz="3000" b="1" dirty="0">
                <a:solidFill>
                  <a:srgbClr val="0F7A8C"/>
                </a:solidFill>
                <a:latin typeface="Cambria" pitchFamily="34" charset="0"/>
                <a:ea typeface="Cambria" pitchFamily="34" charset="-122"/>
                <a:cs typeface="Cambria" pitchFamily="34" charset="-120"/>
              </a:rPr>
              <a:t>03</a:t>
            </a:r>
            <a:endParaRPr lang="en-US" sz="3000" dirty="0"/>
          </a:p>
        </p:txBody>
      </p:sp>
      <p:sp>
        <p:nvSpPr>
          <p:cNvPr id="5" name="Text 3"/>
          <p:cNvSpPr/>
          <p:nvPr/>
        </p:nvSpPr>
        <p:spPr>
          <a:xfrm>
            <a:off x="1645920" y="905256"/>
            <a:ext cx="9768535" cy="274320"/>
          </a:xfrm>
          <a:prstGeom prst="rect">
            <a:avLst/>
          </a:prstGeom>
          <a:noFill/>
          <a:ln/>
        </p:spPr>
        <p:txBody>
          <a:bodyPr wrap="square" lIns="0" tIns="0" rIns="0" bIns="0" rtlCol="0" anchor="ctr"/>
          <a:lstStyle/>
          <a:p>
            <a:pPr indent="0" marL="0">
              <a:buNone/>
            </a:pPr>
            <a:r>
              <a:rPr lang="en-US" sz="1100" b="1" spc="200" kern="0" dirty="0">
                <a:solidFill>
                  <a:srgbClr val="8B98A6"/>
                </a:solidFill>
                <a:latin typeface="Calibri" pitchFamily="34" charset="0"/>
                <a:ea typeface="Calibri" pitchFamily="34" charset="-122"/>
                <a:cs typeface="Calibri" pitchFamily="34" charset="-120"/>
              </a:rPr>
              <a:t>CHALLENGE</a:t>
            </a:r>
            <a:endParaRPr lang="en-US" sz="1100" dirty="0"/>
          </a:p>
        </p:txBody>
      </p:sp>
      <p:sp>
        <p:nvSpPr>
          <p:cNvPr id="6" name="Text 4"/>
          <p:cNvSpPr/>
          <p:nvPr/>
        </p:nvSpPr>
        <p:spPr>
          <a:xfrm>
            <a:off x="777240" y="1380744"/>
            <a:ext cx="10637215" cy="640080"/>
          </a:xfrm>
          <a:prstGeom prst="rect">
            <a:avLst/>
          </a:prstGeom>
          <a:noFill/>
          <a:ln/>
        </p:spPr>
        <p:txBody>
          <a:bodyPr wrap="square" lIns="0" tIns="0" rIns="0" bIns="0" rtlCol="0" anchor="ctr"/>
          <a:lstStyle/>
          <a:p>
            <a:pPr indent="0" marL="0">
              <a:buNone/>
            </a:pPr>
            <a:r>
              <a:rPr lang="en-US" sz="2300" b="1" dirty="0">
                <a:solidFill>
                  <a:srgbClr val="EEF2F6"/>
                </a:solidFill>
                <a:latin typeface="Cambria" pitchFamily="34" charset="0"/>
                <a:ea typeface="Cambria" pitchFamily="34" charset="-122"/>
                <a:cs typeface="Cambria" pitchFamily="34" charset="-120"/>
              </a:rPr>
              <a:t>a runtime argument in disguise</a:t>
            </a:r>
            <a:endParaRPr lang="en-US" sz="2300" dirty="0"/>
          </a:p>
        </p:txBody>
      </p:sp>
      <p:sp>
        <p:nvSpPr>
          <p:cNvPr id="7" name="Shape 5"/>
          <p:cNvSpPr/>
          <p:nvPr/>
        </p:nvSpPr>
        <p:spPr>
          <a:xfrm>
            <a:off x="777240" y="2423160"/>
            <a:ext cx="5090008" cy="3657600"/>
          </a:xfrm>
          <a:prstGeom prst="roundRect">
            <a:avLst>
              <a:gd name="adj" fmla="val 1000"/>
            </a:avLst>
          </a:prstGeom>
          <a:solidFill>
            <a:srgbClr val="2A3F47"/>
          </a:solidFill>
          <a:ln w="12700">
            <a:solidFill>
              <a:srgbClr val="3E535B"/>
            </a:solidFill>
            <a:prstDash val="solid"/>
          </a:ln>
        </p:spPr>
      </p:sp>
      <p:sp>
        <p:nvSpPr>
          <p:cNvPr id="8" name="Text 6"/>
          <p:cNvSpPr/>
          <p:nvPr/>
        </p:nvSpPr>
        <p:spPr>
          <a:xfrm>
            <a:off x="1097280" y="2697480"/>
            <a:ext cx="4449928" cy="320040"/>
          </a:xfrm>
          <a:prstGeom prst="rect">
            <a:avLst/>
          </a:prstGeom>
          <a:noFill/>
          <a:ln/>
        </p:spPr>
        <p:txBody>
          <a:bodyPr wrap="square" lIns="0" tIns="0" rIns="0" bIns="0" rtlCol="0" anchor="ctr"/>
          <a:lstStyle/>
          <a:p>
            <a:pPr indent="0" marL="0">
              <a:buNone/>
            </a:pPr>
            <a:r>
              <a:rPr lang="en-US" sz="1200" b="1" spc="200" kern="0" dirty="0">
                <a:solidFill>
                  <a:srgbClr val="D1584E"/>
                </a:solidFill>
                <a:latin typeface="Calibri" pitchFamily="34" charset="0"/>
                <a:ea typeface="Calibri" pitchFamily="34" charset="-122"/>
                <a:cs typeface="Calibri" pitchFamily="34" charset="-120"/>
              </a:rPr>
              <a:t>PROBLEM</a:t>
            </a:r>
            <a:endParaRPr lang="en-US" sz="1200" dirty="0"/>
          </a:p>
        </p:txBody>
      </p:sp>
      <p:sp>
        <p:nvSpPr>
          <p:cNvPr id="9" name="Shape 7"/>
          <p:cNvSpPr/>
          <p:nvPr/>
        </p:nvSpPr>
        <p:spPr>
          <a:xfrm>
            <a:off x="1097280" y="3081528"/>
            <a:ext cx="4449928" cy="0"/>
          </a:xfrm>
          <a:prstGeom prst="line">
            <a:avLst/>
          </a:prstGeom>
          <a:noFill/>
          <a:ln w="19050">
            <a:solidFill>
              <a:srgbClr val="D1584E"/>
            </a:solidFill>
            <a:prstDash val="solid"/>
          </a:ln>
        </p:spPr>
      </p:sp>
      <p:sp>
        <p:nvSpPr>
          <p:cNvPr id="10" name="Text 8"/>
          <p:cNvSpPr/>
          <p:nvPr/>
        </p:nvSpPr>
        <p:spPr>
          <a:xfrm>
            <a:off x="1097280" y="3246120"/>
            <a:ext cx="4449928" cy="2651760"/>
          </a:xfrm>
          <a:prstGeom prst="rect">
            <a:avLst/>
          </a:prstGeom>
          <a:noFill/>
          <a:ln/>
        </p:spPr>
        <p:txBody>
          <a:bodyPr wrap="square" lIns="0" tIns="0" rIns="0" bIns="0" rtlCol="0" anchor="t"/>
          <a:lstStyle/>
          <a:p>
            <a:pPr indent="0" marL="0">
              <a:lnSpc>
                <a:spcPct val="128000"/>
              </a:lnSpc>
              <a:buNone/>
            </a:pPr>
            <a:r>
              <a:rPr lang="en-US" sz="1350" dirty="0">
                <a:solidFill>
                  <a:srgbClr val="EEF2F6"/>
                </a:solidFill>
                <a:latin typeface="Calibri" pitchFamily="34" charset="0"/>
                <a:ea typeface="Calibri" pitchFamily="34" charset="-122"/>
                <a:cs typeface="Calibri" pitchFamily="34" charset="-120"/>
              </a:rPr>
              <a:t>The dashboard handler takes an optional argument holding ready-made cloud clients so the unit tests can inject fakes. But the serverless runtime passes its own completion callback among the handler's arguments, in the same position, so the handler could mistake the runtime's callback for injected clients and query it as if it were the data store.</a:t>
            </a:r>
            <a:endParaRPr lang="en-US" sz="1350" dirty="0"/>
          </a:p>
        </p:txBody>
      </p:sp>
      <p:sp>
        <p:nvSpPr>
          <p:cNvPr id="11" name="Shape 9"/>
          <p:cNvSpPr/>
          <p:nvPr/>
        </p:nvSpPr>
        <p:spPr>
          <a:xfrm>
            <a:off x="6324448" y="2423160"/>
            <a:ext cx="5090008" cy="3657600"/>
          </a:xfrm>
          <a:prstGeom prst="roundRect">
            <a:avLst>
              <a:gd name="adj" fmla="val 1000"/>
            </a:avLst>
          </a:prstGeom>
          <a:solidFill>
            <a:srgbClr val="2A3F47"/>
          </a:solidFill>
          <a:ln w="12700">
            <a:solidFill>
              <a:srgbClr val="3E535B"/>
            </a:solidFill>
            <a:prstDash val="solid"/>
          </a:ln>
        </p:spPr>
      </p:sp>
      <p:sp>
        <p:nvSpPr>
          <p:cNvPr id="12" name="Text 10"/>
          <p:cNvSpPr/>
          <p:nvPr/>
        </p:nvSpPr>
        <p:spPr>
          <a:xfrm>
            <a:off x="6644488" y="2697480"/>
            <a:ext cx="4449928" cy="320040"/>
          </a:xfrm>
          <a:prstGeom prst="rect">
            <a:avLst/>
          </a:prstGeom>
          <a:noFill/>
          <a:ln/>
        </p:spPr>
        <p:txBody>
          <a:bodyPr wrap="square" lIns="0" tIns="0" rIns="0" bIns="0" rtlCol="0" anchor="ctr"/>
          <a:lstStyle/>
          <a:p>
            <a:pPr indent="0" marL="0">
              <a:buNone/>
            </a:pPr>
            <a:r>
              <a:rPr lang="en-US" sz="1200" b="1" spc="200" kern="0" dirty="0">
                <a:solidFill>
                  <a:srgbClr val="3FAE82"/>
                </a:solidFill>
                <a:latin typeface="Calibri" pitchFamily="34" charset="0"/>
                <a:ea typeface="Calibri" pitchFamily="34" charset="-122"/>
                <a:cs typeface="Calibri" pitchFamily="34" charset="-120"/>
              </a:rPr>
              <a:t>SOLUTION</a:t>
            </a:r>
            <a:endParaRPr lang="en-US" sz="1200" dirty="0"/>
          </a:p>
        </p:txBody>
      </p:sp>
      <p:sp>
        <p:nvSpPr>
          <p:cNvPr id="13" name="Shape 11"/>
          <p:cNvSpPr/>
          <p:nvPr/>
        </p:nvSpPr>
        <p:spPr>
          <a:xfrm>
            <a:off x="6644488" y="3081528"/>
            <a:ext cx="4449928" cy="0"/>
          </a:xfrm>
          <a:prstGeom prst="line">
            <a:avLst/>
          </a:prstGeom>
          <a:noFill/>
          <a:ln w="19050">
            <a:solidFill>
              <a:srgbClr val="3FAE82"/>
            </a:solidFill>
            <a:prstDash val="solid"/>
          </a:ln>
        </p:spPr>
      </p:sp>
      <p:sp>
        <p:nvSpPr>
          <p:cNvPr id="14" name="Text 12"/>
          <p:cNvSpPr/>
          <p:nvPr/>
        </p:nvSpPr>
        <p:spPr>
          <a:xfrm>
            <a:off x="6644488" y="3246120"/>
            <a:ext cx="4449928" cy="2651760"/>
          </a:xfrm>
          <a:prstGeom prst="rect">
            <a:avLst/>
          </a:prstGeom>
          <a:noFill/>
          <a:ln/>
        </p:spPr>
        <p:txBody>
          <a:bodyPr wrap="square" lIns="0" tIns="0" rIns="0" bIns="0" rtlCol="0" anchor="t"/>
          <a:lstStyle/>
          <a:p>
            <a:pPr indent="0" marL="0">
              <a:lnSpc>
                <a:spcPct val="128000"/>
              </a:lnSpc>
              <a:buNone/>
            </a:pPr>
            <a:r>
              <a:rPr lang="en-US" sz="1350" dirty="0">
                <a:solidFill>
                  <a:srgbClr val="EEF2F6"/>
                </a:solidFill>
                <a:latin typeface="Calibri" pitchFamily="34" charset="0"/>
                <a:ea typeface="Calibri" pitchFamily="34" charset="-122"/>
                <a:cs typeface="Calibri" pitchFamily="34" charset="-120"/>
              </a:rPr>
              <a:t>The handler tells the two apart by the argument's shape rather than its mere presence: it treats the argument as injected clients only when it genuinely carries a store client, and otherwise builds its own. The fake path the tests use and the self-building path production needs are now unambiguous, and the runtime callback can never be read as a client.</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Slides>
  <Notes>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Slide 1</vt:lpstr>
      <vt:lpstr>Slide 2</vt:lpstr>
      <vt:lpstr>Slide 3</vt:lpstr>
      <vt:lpstr>Slide 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2026-07-24T09:15:28Z</dcterms:created>
  <dcterms:modified xsi:type="dcterms:W3CDTF">2026-07-24T09:15:28Z</dcterms:modified>
</cp:coreProperties>
</file>