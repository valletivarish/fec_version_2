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0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85800"/>
            <a:ext cx="10637215" cy="0"/>
          </a:xfrm>
          <a:prstGeom prst="line">
            <a:avLst/>
          </a:prstGeom>
          <a:noFill/>
          <a:ln w="44450">
            <a:solidFill>
              <a:srgbClr val="E862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786384"/>
            <a:ext cx="10637215" cy="0"/>
          </a:xfrm>
          <a:prstGeom prst="line">
            <a:avLst/>
          </a:prstGeom>
          <a:noFill/>
          <a:ln w="12700">
            <a:solidFill>
              <a:srgbClr val="E86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6144768"/>
            <a:ext cx="10637215" cy="0"/>
          </a:xfrm>
          <a:prstGeom prst="line">
            <a:avLst/>
          </a:prstGeom>
          <a:noFill/>
          <a:ln w="44450">
            <a:solidFill>
              <a:srgbClr val="E862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78308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Wildfire Forest Monitoring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34747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Deekonda Rakshan   ·   X25180754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406908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weather compounds quietly — heat, smoke, wind and drying soil each look tolerable alone; the danger is the combination, and it can develop between two routine checks.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0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85800"/>
            <a:ext cx="10637215" cy="0"/>
          </a:xfrm>
          <a:prstGeom prst="line">
            <a:avLst/>
          </a:prstGeom>
          <a:noFill/>
          <a:ln w="44450">
            <a:solidFill>
              <a:srgbClr val="E862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786384"/>
            <a:ext cx="10637215" cy="0"/>
          </a:xfrm>
          <a:prstGeom prst="line">
            <a:avLst/>
          </a:prstGeom>
          <a:noFill/>
          <a:ln w="12700">
            <a:solidFill>
              <a:srgbClr val="E86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6144768"/>
            <a:ext cx="10637215" cy="0"/>
          </a:xfrm>
          <a:prstGeom prst="line">
            <a:avLst/>
          </a:prstGeom>
          <a:noFill/>
          <a:ln w="44450">
            <a:solidFill>
              <a:srgbClr val="E862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0972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622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45920" y="127101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4650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Forest Edge to Cloud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77240" y="3337560"/>
            <a:ext cx="1391869" cy="1965960"/>
          </a:xfrm>
          <a:prstGeom prst="roundRect">
            <a:avLst/>
          </a:prstGeom>
          <a:solidFill>
            <a:srgbClr val="E8622C"/>
          </a:solidFill>
          <a:ln w="12700">
            <a:solidFill>
              <a:srgbClr val="E862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3544" y="352044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23544" y="395935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Field sensors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3544" y="481888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stations · 5 metrics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42261" y="421081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6309" y="3337560"/>
            <a:ext cx="1391869" cy="1965960"/>
          </a:xfrm>
          <a:prstGeom prst="roundRect">
            <a:avLst/>
          </a:prstGeom>
          <a:solidFill>
            <a:srgbClr val="E8622C"/>
          </a:solidFill>
          <a:ln w="12700">
            <a:solidFill>
              <a:srgbClr val="E862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72613" y="352044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72613" y="395935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Fog node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72613" y="481888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fire alerts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91330" y="421081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18" name="Shape 16"/>
          <p:cNvSpPr/>
          <p:nvPr/>
        </p:nvSpPr>
        <p:spPr>
          <a:xfrm>
            <a:off x="4475378" y="3337560"/>
            <a:ext cx="1391869" cy="1965960"/>
          </a:xfrm>
          <a:prstGeom prst="roundRect">
            <a:avLst/>
          </a:prstGeom>
          <a:solidFill>
            <a:srgbClr val="241D14"/>
          </a:solidFill>
          <a:ln w="12700">
            <a:solidFill>
              <a:srgbClr val="3831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1682" y="352044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2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21682" y="395935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21682" y="481888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sends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0400" y="421081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3" name="Shape 21"/>
          <p:cNvSpPr/>
          <p:nvPr/>
        </p:nvSpPr>
        <p:spPr>
          <a:xfrm>
            <a:off x="6324448" y="3337560"/>
            <a:ext cx="1391869" cy="1965960"/>
          </a:xfrm>
          <a:prstGeom prst="roundRect">
            <a:avLst/>
          </a:prstGeom>
          <a:solidFill>
            <a:srgbClr val="241D14"/>
          </a:solidFill>
          <a:ln w="12700">
            <a:solidFill>
              <a:srgbClr val="3831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0752" y="352044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2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70752" y="395935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70752" y="481888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789469" y="421081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28" name="Shape 26"/>
          <p:cNvSpPr/>
          <p:nvPr/>
        </p:nvSpPr>
        <p:spPr>
          <a:xfrm>
            <a:off x="8173517" y="3337560"/>
            <a:ext cx="1391869" cy="1965960"/>
          </a:xfrm>
          <a:prstGeom prst="roundRect">
            <a:avLst/>
          </a:prstGeom>
          <a:solidFill>
            <a:srgbClr val="241D14"/>
          </a:solidFill>
          <a:ln w="12700">
            <a:solidFill>
              <a:srgbClr val="3831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19821" y="352044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2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19821" y="395935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DynamoDB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19821" y="481888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history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638538" y="421081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22586" y="3337560"/>
            <a:ext cx="1391869" cy="1965960"/>
          </a:xfrm>
          <a:prstGeom prst="roundRect">
            <a:avLst/>
          </a:prstGeom>
          <a:solidFill>
            <a:srgbClr val="241D14"/>
          </a:solidFill>
          <a:ln w="12700">
            <a:solidFill>
              <a:srgbClr val="38312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168890" y="352044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2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168890" y="395935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168890" y="481888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0–4 risk dial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0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85800"/>
            <a:ext cx="10637215" cy="0"/>
          </a:xfrm>
          <a:prstGeom prst="line">
            <a:avLst/>
          </a:prstGeom>
          <a:noFill/>
          <a:ln w="44450">
            <a:solidFill>
              <a:srgbClr val="E862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786384"/>
            <a:ext cx="10637215" cy="0"/>
          </a:xfrm>
          <a:prstGeom prst="line">
            <a:avLst/>
          </a:prstGeom>
          <a:noFill/>
          <a:ln w="12700">
            <a:solidFill>
              <a:srgbClr val="E86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6144768"/>
            <a:ext cx="10637215" cy="0"/>
          </a:xfrm>
          <a:prstGeom prst="line">
            <a:avLst/>
          </a:prstGeom>
          <a:noFill/>
          <a:ln w="44450">
            <a:solidFill>
              <a:srgbClr val="E862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0972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622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45920" y="127101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4650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62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wfm-frontend-923613097540.s3.us-east-1.amazonaws.com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880360"/>
            <a:ext cx="3301898" cy="2926080"/>
          </a:xfrm>
          <a:prstGeom prst="roundRect">
            <a:avLst/>
          </a:prstGeom>
          <a:solidFill>
            <a:srgbClr val="241D14"/>
          </a:solidFill>
          <a:ln w="12700">
            <a:solidFill>
              <a:srgbClr val="3831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11810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622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1069848" y="393192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0-to-4 fire-risk dial per station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69848" y="480060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grades each ranger station on read from earlier, lower thresholds — an escalation gradient ahead of any hard alarm.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44898" y="2880360"/>
            <a:ext cx="3301898" cy="2926080"/>
          </a:xfrm>
          <a:prstGeom prst="roundRect">
            <a:avLst/>
          </a:prstGeom>
          <a:solidFill>
            <a:srgbClr val="241D14"/>
          </a:solidFill>
          <a:ln w="12700">
            <a:solidFill>
              <a:srgbClr val="3831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19218" y="311810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622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4737506" y="393192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smoke-density trend per station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737506" y="480060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stations' smoke charts run live, so a rising smoke plume is visible on the trend before it trips a hard alert.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12557" y="2880360"/>
            <a:ext cx="3301898" cy="2926080"/>
          </a:xfrm>
          <a:prstGeom prst="roundRect">
            <a:avLst/>
          </a:prstGeom>
          <a:solidFill>
            <a:srgbClr val="241D14"/>
          </a:solidFill>
          <a:ln w="12700">
            <a:solidFill>
              <a:srgbClr val="3831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6877" y="311810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622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8405165" y="393192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fire-detection alert on a smoke spike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405165" y="480060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smoke density up on one station and the fire-detection alert fires within a window, dial climbing toward 4.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0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85800"/>
            <a:ext cx="10637215" cy="0"/>
          </a:xfrm>
          <a:prstGeom prst="line">
            <a:avLst/>
          </a:prstGeom>
          <a:noFill/>
          <a:ln w="44450">
            <a:solidFill>
              <a:srgbClr val="E862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" y="786384"/>
            <a:ext cx="10637215" cy="0"/>
          </a:xfrm>
          <a:prstGeom prst="line">
            <a:avLst/>
          </a:prstGeom>
          <a:noFill/>
          <a:ln w="12700">
            <a:solidFill>
              <a:srgbClr val="E86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6144768"/>
            <a:ext cx="10637215" cy="0"/>
          </a:xfrm>
          <a:prstGeom prst="line">
            <a:avLst/>
          </a:prstGeom>
          <a:noFill/>
          <a:ln w="44450">
            <a:solidFill>
              <a:srgbClr val="E862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0972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622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45920" y="127101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4650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EF2F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grade before the alarm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77240" y="2788920"/>
            <a:ext cx="5090008" cy="3017520"/>
          </a:xfrm>
          <a:prstGeom prst="roundRect">
            <a:avLst/>
          </a:prstGeom>
          <a:solidFill>
            <a:srgbClr val="241D14"/>
          </a:solidFill>
          <a:ln w="12700">
            <a:solidFill>
              <a:srgbClr val="3831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306324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" y="344728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11880"/>
            <a:ext cx="44499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hazard alarm tells a ranger something is already dangerous, but by the time smoke density crosses the alarm line a fire may be established. What the station really needs is an escalation gradient — how close to danger each station is drifting, right now — without weakening the hard alarms that trigger a response.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24448" y="2788920"/>
            <a:ext cx="5090008" cy="3017520"/>
          </a:xfrm>
          <a:prstGeom prst="roundRect">
            <a:avLst/>
          </a:prstGeom>
          <a:solidFill>
            <a:srgbClr val="241D14"/>
          </a:solidFill>
          <a:ln w="12700">
            <a:solidFill>
              <a:srgbClr val="3831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4488" y="306324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44488" y="3447288"/>
            <a:ext cx="4449928" cy="0"/>
          </a:xfrm>
          <a:prstGeom prst="line">
            <a:avLst/>
          </a:prstGeom>
          <a:noFill/>
          <a:ln w="19050">
            <a:solidFill>
              <a:srgbClr val="3FAE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4488" y="3611880"/>
            <a:ext cx="44499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EF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still raises hard alarms at the edge, but the dashboard derives a graded zero-to-four fire-risk index live on every read, from earlier and lower thresholds than the alarms use. The result is a continuous escalation signal that climbs ahead of any hard alarm, computed on read and never stored, so the two tiers stay independent.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2026-07-24T09:15:27Z</dcterms:created>
  <dcterms:modified xsi:type="dcterms:W3CDTF">2026-07-24T09:15:27Z</dcterms:modified>
</cp:coreProperties>
</file>