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1F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1540" y="891540"/>
            <a:ext cx="1051560" cy="10515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1540" y="891540"/>
            <a:ext cx="1051560" cy="1051560"/>
          </a:xfrm>
          <a:prstGeom prst="rect">
            <a:avLst/>
          </a:prstGeom>
          <a:noFill/>
        </p:spPr>
        <p:txBody>
          <a:bodyPr wrap="none" anchor="ctr">
            <a:spAutoFit/>
          </a:bodyPr>
          <a:lstStyle/>
          <a:p>
            <a:pPr algn="ctr"/>
            <a:r>
              <a:rPr sz="3400" b="1">
                <a:solidFill>
                  <a:srgbClr val="1F7A6F"/>
                </a:solidFill>
                <a:latin typeface="Trebuchet MS"/>
              </a:rPr>
              <a:t>OW</a:t>
            </a:r>
          </a:p>
        </p:txBody>
      </p:sp>
      <p:sp>
        <p:nvSpPr>
          <p:cNvPr id="5" name="TextBox 4"/>
          <p:cNvSpPr txBox="1"/>
          <p:nvPr/>
        </p:nvSpPr>
        <p:spPr>
          <a:xfrm>
            <a:off x="868680" y="2468880"/>
            <a:ext cx="10424160" cy="1737360"/>
          </a:xfrm>
          <a:prstGeom prst="rect">
            <a:avLst/>
          </a:prstGeom>
          <a:noFill/>
        </p:spPr>
        <p:txBody>
          <a:bodyPr wrap="square" anchor="t">
            <a:spAutoFit/>
          </a:bodyPr>
          <a:lstStyle/>
          <a:p>
            <a:pPr algn="l"/>
            <a:r>
              <a:rPr sz="3400" b="1" i="0">
                <a:solidFill>
                  <a:srgbClr val="FFFFFF"/>
                </a:solidFill>
                <a:latin typeface="Trebuchet MS"/>
              </a:rPr>
              <a:t>Offshore Wind Farm Turbine Monitoring</a:t>
            </a:r>
          </a:p>
        </p:txBody>
      </p:sp>
      <p:sp>
        <p:nvSpPr>
          <p:cNvPr id="6" name="TextBox 5"/>
          <p:cNvSpPr txBox="1"/>
          <p:nvPr/>
        </p:nvSpPr>
        <p:spPr>
          <a:xfrm>
            <a:off x="914400" y="4114800"/>
            <a:ext cx="10058400" cy="640080"/>
          </a:xfrm>
          <a:prstGeom prst="rect">
            <a:avLst/>
          </a:prstGeom>
          <a:noFill/>
        </p:spPr>
        <p:txBody>
          <a:bodyPr wrap="square" anchor="t">
            <a:spAutoFit/>
          </a:bodyPr>
          <a:lstStyle/>
          <a:p>
            <a:pPr algn="l"/>
            <a:r>
              <a:rPr sz="1800" b="0" i="1">
                <a:solidFill>
                  <a:srgbClr val="C7DDDB"/>
                </a:solidFill>
                <a:latin typeface="Calibri"/>
              </a:rPr>
              <a:t>A fog-to-cloud pipeline for continuous condition monitoring, deployed live on AWS</a:t>
            </a:r>
          </a:p>
        </p:txBody>
      </p:sp>
      <p:sp>
        <p:nvSpPr>
          <p:cNvPr id="7" name="Rectangle 6"/>
          <p:cNvSpPr/>
          <p:nvPr/>
        </p:nvSpPr>
        <p:spPr>
          <a:xfrm>
            <a:off x="-91440" y="5257800"/>
            <a:ext cx="12435840" cy="1691640"/>
          </a:xfrm>
          <a:prstGeom prst="rect">
            <a:avLst/>
          </a:prstGeom>
          <a:solidFill>
            <a:srgbClr val="134B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440680"/>
            <a:ext cx="10424160" cy="1371600"/>
          </a:xfrm>
          <a:prstGeom prst="rect">
            <a:avLst/>
          </a:prstGeom>
          <a:noFill/>
        </p:spPr>
        <p:txBody>
          <a:bodyPr wrap="square" anchor="ctr">
            <a:spAutoFit/>
          </a:bodyPr>
          <a:lstStyle/>
          <a:p>
            <a:pPr algn="l"/>
            <a:r>
              <a:rPr sz="1700" b="1" i="0">
                <a:solidFill>
                  <a:srgbClr val="FFFFFF"/>
                </a:solidFill>
                <a:latin typeface="Calibri"/>
              </a:rPr>
              <a:t>Vishvaksen Machana</a:t>
            </a:r>
          </a:p>
          <a:p>
            <a:pPr algn="l"/>
            <a:r>
              <a:rPr sz="1300" b="0" i="0">
                <a:solidFill>
                  <a:srgbClr val="C0D9D6"/>
                </a:solidFill>
                <a:latin typeface="Calibri"/>
              </a:rPr>
              <a:t>Student ID X25173421</a:t>
            </a:r>
          </a:p>
          <a:p>
            <a:pPr algn="l"/>
            <a:r>
              <a:rPr sz="1250" b="0" i="0">
                <a:solidFill>
                  <a:srgbClr val="C0D9D6"/>
                </a:solidFill>
                <a:latin typeface="Calibri"/>
              </a:rPr>
              <a:t>MSc in Cloud Computing   ·   Fog and Edge Computing (H9FECC)</a:t>
            </a:r>
          </a:p>
          <a:p>
            <a:pPr algn="l"/>
            <a:r>
              <a:rPr sz="1250" b="0" i="0">
                <a:solidFill>
                  <a:srgbClr val="C0D9D6"/>
                </a:solidFill>
                <a:latin typeface="Calibri"/>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B1AB"/>
                </a:solidFill>
                <a:latin typeface="Trebuchet MS"/>
              </a:rPr>
              <a:t>Why Periodic Inspection Fails Offshore</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900"/>
              </a:spcAft>
            </a:pPr>
            <a:r>
              <a:rPr sz="1700" b="0">
                <a:solidFill>
                  <a:srgbClr val="E6EBE8"/>
                </a:solidFill>
                <a:latin typeface="Calibri"/>
              </a:rPr>
              <a:t>Access depends on the sea: turbines are reached by boat, weather sets the schedule, and technician visits can be weeks apart.</a:t>
            </a:r>
          </a:p>
          <a:p>
            <a:pPr>
              <a:spcAft>
                <a:spcPts val="900"/>
              </a:spcAft>
            </a:pPr>
            <a:r>
              <a:rPr sz="1700" b="0">
                <a:solidFill>
                  <a:srgbClr val="E6EBE8"/>
                </a:solidFill>
                <a:latin typeface="Calibri"/>
              </a:rPr>
              <a:t>Faults escalate between visits: a bearing overheating, a gearbox losing lubrication pressure, or a blade vibration growing worse, all invisible until the next scheduled inspection.</a:t>
            </a:r>
          </a:p>
          <a:p>
            <a:pPr>
              <a:spcAft>
                <a:spcPts val="900"/>
              </a:spcAft>
            </a:pPr>
            <a:r>
              <a:rPr sz="1700" b="0">
                <a:solidFill>
                  <a:srgbClr val="E6EBE8"/>
                </a:solidFill>
                <a:latin typeface="Calibri"/>
              </a:rPr>
              <a:t>Streaming raw data is not the fix: the link to shore has limited, variable bandwidth, and a view that dies when connectivity dips fails during exactly the storms that stress turbines most.</a:t>
            </a:r>
          </a:p>
          <a:p>
            <a:pPr>
              <a:spcAft>
                <a:spcPts val="900"/>
              </a:spcAft>
            </a:pPr>
            <a:r>
              <a:rPr sz="1700" b="0">
                <a:solidFill>
                  <a:srgbClr val="E6EBE8"/>
                </a:solidFill>
                <a:latin typeface="Calibri"/>
              </a:rPr>
              <a:t>2.5 bar: one momentary gearbox-pressure dip below 2.5 bar is a lubrication fault. Only continuous watching of the worst reading in each window catches it; an average, or a visit weeks later, never would.</a:t>
            </a:r>
          </a:p>
          <a:p>
            <a:pPr>
              <a:spcAft>
                <a:spcPts val="900"/>
              </a:spcAft>
            </a:pPr>
            <a:r>
              <a:rPr sz="1700" b="1">
                <a:solidFill>
                  <a:srgbClr val="7DB1AB"/>
                </a:solidFill>
                <a:latin typeface="Calibri"/>
              </a:rPr>
              <a:t>10 live sensor streams: wind speed, blade vibration, generator temperature, power output, and gearbox pressure on each of two turbines.</a:t>
            </a:r>
          </a:p>
        </p:txBody>
      </p:sp>
      <p:sp>
        <p:nvSpPr>
          <p:cNvPr id="5" name="Rectangle 4"/>
          <p:cNvSpPr/>
          <p:nvPr/>
        </p:nvSpPr>
        <p:spPr>
          <a:xfrm>
            <a:off x="658368" y="1261872"/>
            <a:ext cx="3108960" cy="36576"/>
          </a:xfrm>
          <a:prstGeom prst="rect">
            <a:avLst/>
          </a:prstGeom>
          <a:solidFill>
            <a:srgbClr val="7DB1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B1AB"/>
                </a:solidFill>
                <a:latin typeface="Trebuchet MS"/>
              </a:rPr>
              <a:t>How It Works: Sensor to Live Dashboard</a:t>
            </a:r>
          </a:p>
        </p:txBody>
      </p:sp>
      <p:sp>
        <p:nvSpPr>
          <p:cNvPr id="3" name="Content Placeholder 2"/>
          <p:cNvSpPr>
            <a:spLocks noGrp="1"/>
          </p:cNvSpPr>
          <p:nvPr>
            <p:ph idx="1"/>
          </p:nvPr>
        </p:nvSpPr>
        <p:spPr>
          <a:xfrm>
            <a:off x="658368" y="1481328"/>
            <a:ext cx="5760720" cy="4754880"/>
          </a:xfrm>
        </p:spPr>
        <p:txBody>
          <a:bodyPr wrap="square">
            <a:normAutofit/>
          </a:bodyPr>
          <a:lstStyle/>
          <a:p>
            <a:pPr>
              <a:spcAft>
                <a:spcPts val="800"/>
              </a:spcAft>
            </a:pPr>
            <a:r>
              <a:rPr sz="1500" b="1">
                <a:solidFill>
                  <a:srgbClr val="7DB1AB"/>
                </a:solidFill>
                <a:latin typeface="Calibri"/>
              </a:rPr>
              <a:t>At sea, edge host:</a:t>
            </a:r>
          </a:p>
          <a:p>
            <a:pPr lvl="1">
              <a:spcAft>
                <a:spcPts val="800"/>
              </a:spcAft>
            </a:pPr>
            <a:r>
              <a:rPr sz="1300" b="0">
                <a:solidFill>
                  <a:srgbClr val="E6EBE8"/>
                </a:solidFill>
                <a:latin typeface="Calibri"/>
              </a:rPr>
              <a:t>Turbine sensors produce 10 streams (wind, vibration, temperature, power, pressure), and a fog gateway windows, aggregates, and runs alert rules at the edge.</a:t>
            </a:r>
          </a:p>
          <a:p>
            <a:pPr>
              <a:spcAft>
                <a:spcPts val="800"/>
              </a:spcAft>
            </a:pPr>
            <a:r>
              <a:rPr sz="1500" b="1">
                <a:solidFill>
                  <a:srgbClr val="7DB1AB"/>
                </a:solidFill>
                <a:latin typeface="Calibri"/>
              </a:rPr>
              <a:t>In the cloud, serverless:</a:t>
            </a:r>
          </a:p>
          <a:p>
            <a:pPr lvl="1">
              <a:spcAft>
                <a:spcPts val="800"/>
              </a:spcAft>
            </a:pPr>
            <a:r>
              <a:rPr sz="1300" b="0">
                <a:solidFill>
                  <a:srgbClr val="E6EBE8"/>
                </a:solidFill>
                <a:latin typeface="Calibri"/>
              </a:rPr>
              <a:t>Amazon SQS buffers each window's batch, AWS Lambda ingests and stores it in Amazon DynamoDB (a durable, time-ordered store), and a read-only Dashboard API (AWS Lambda behind Amazon API Gateway) feeds a live dashboard, a static page served from Amazon S3 and polled in the browser.</a:t>
            </a:r>
          </a:p>
          <a:p>
            <a:pPr>
              <a:spcAft>
                <a:spcPts val="800"/>
              </a:spcAft>
            </a:pPr>
            <a:r>
              <a:rPr sz="1500" b="0">
                <a:solidFill>
                  <a:srgbClr val="E6EBE8"/>
                </a:solidFill>
                <a:latin typeface="Calibri"/>
              </a:rPr>
              <a:t>4 condition rules run at the edge (vibration, temperature, wind, gearbox pressure), so a fault is flagged in the same window cycle it appears.</a:t>
            </a:r>
          </a:p>
          <a:p>
            <a:pPr>
              <a:spcAft>
                <a:spcPts val="800"/>
              </a:spcAft>
            </a:pPr>
            <a:r>
              <a:rPr sz="1500" b="0">
                <a:solidFill>
                  <a:srgbClr val="E6EBE8"/>
                </a:solidFill>
                <a:latin typeface="Calibri"/>
              </a:rPr>
              <a:t>One window cycle equals up to 10 summaries, sent as 1 batched call, not 10.</a:t>
            </a:r>
          </a:p>
        </p:txBody>
      </p:sp>
      <p:sp>
        <p:nvSpPr>
          <p:cNvPr id="5" name="Rectangle 4"/>
          <p:cNvSpPr/>
          <p:nvPr/>
        </p:nvSpPr>
        <p:spPr>
          <a:xfrm>
            <a:off x="658368" y="1261872"/>
            <a:ext cx="3108960" cy="36576"/>
          </a:xfrm>
          <a:prstGeom prst="rect">
            <a:avLst/>
          </a:prstGeom>
          <a:solidFill>
            <a:srgbClr val="7DB1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opology.png"/>
          <p:cNvPicPr>
            <a:picLocks noChangeAspect="1"/>
          </p:cNvPicPr>
          <p:nvPr/>
        </p:nvPicPr>
        <p:blipFill>
          <a:blip r:embed="rId2"/>
          <a:stretch>
            <a:fillRect/>
          </a:stretch>
        </p:blipFill>
        <p:spPr>
          <a:xfrm>
            <a:off x="6629400" y="1872434"/>
            <a:ext cx="5120640" cy="386293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B1AB"/>
                </a:solidFill>
                <a:latin typeface="Trebuchet MS"/>
              </a:rPr>
              <a:t>Live on AWS: Demonstration Highlights</a:t>
            </a:r>
          </a:p>
        </p:txBody>
      </p:sp>
      <p:sp>
        <p:nvSpPr>
          <p:cNvPr id="3" name="Content Placeholder 2"/>
          <p:cNvSpPr>
            <a:spLocks noGrp="1"/>
          </p:cNvSpPr>
          <p:nvPr>
            <p:ph idx="1"/>
          </p:nvPr>
        </p:nvSpPr>
        <p:spPr>
          <a:xfrm>
            <a:off x="658368" y="1481328"/>
            <a:ext cx="5760720" cy="4754880"/>
          </a:xfrm>
        </p:spPr>
        <p:txBody>
          <a:bodyPr wrap="square">
            <a:normAutofit/>
          </a:bodyPr>
          <a:lstStyle/>
          <a:p>
            <a:pPr>
              <a:spcAft>
                <a:spcPts val="800"/>
              </a:spcAft>
            </a:pPr>
            <a:r>
              <a:rPr sz="1500" b="0">
                <a:solidFill>
                  <a:srgbClr val="E6EBE8"/>
                </a:solidFill>
                <a:latin typeface="Calibri"/>
              </a:rPr>
              <a:t>The deployed dashboard runs live in a real browser: both turbines' five metrics, the cross-turbine power trend, 204 records archived, and all four pipeline health indicators up in the footer.</a:t>
            </a:r>
          </a:p>
          <a:p>
            <a:pPr>
              <a:spcAft>
                <a:spcPts val="800"/>
              </a:spcAft>
            </a:pPr>
            <a:r>
              <a:rPr sz="1500" b="1">
                <a:solidFill>
                  <a:srgbClr val="7DB1AB"/>
                </a:solidFill>
                <a:latin typeface="Calibri"/>
              </a:rPr>
              <a:t>4/4 pipeline health checks green within about a minute of start-up, with the freshest stored data roughly 3 seconds old.</a:t>
            </a:r>
          </a:p>
          <a:p>
            <a:pPr>
              <a:spcAft>
                <a:spcPts val="800"/>
              </a:spcAft>
            </a:pPr>
            <a:r>
              <a:rPr sz="1500" b="0">
                <a:solidFill>
                  <a:srgbClr val="E6EBE8"/>
                </a:solidFill>
                <a:latin typeface="Calibri"/>
              </a:rPr>
              <a:t>71 automated tests pass across the four modules: sensors, fog gateway, ingestion, and dashboard.</a:t>
            </a:r>
          </a:p>
          <a:p>
            <a:pPr>
              <a:spcAft>
                <a:spcPts val="800"/>
              </a:spcAft>
            </a:pPr>
            <a:r>
              <a:rPr sz="1500" b="0">
                <a:solidFill>
                  <a:srgbClr val="E6EBE8"/>
                </a:solidFill>
                <a:latin typeface="Calibri"/>
              </a:rPr>
              <a:t>204 records stored during live verification, with the count climbing 17 to 132 to 204 across successive polls.</a:t>
            </a:r>
          </a:p>
        </p:txBody>
      </p:sp>
      <p:sp>
        <p:nvSpPr>
          <p:cNvPr id="5" name="Rectangle 4"/>
          <p:cNvSpPr/>
          <p:nvPr/>
        </p:nvSpPr>
        <p:spPr>
          <a:xfrm>
            <a:off x="658368" y="1261872"/>
            <a:ext cx="3108960" cy="36576"/>
          </a:xfrm>
          <a:prstGeom prst="rect">
            <a:avLst/>
          </a:prstGeom>
          <a:solidFill>
            <a:srgbClr val="7DB1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shboard.png"/>
          <p:cNvPicPr>
            <a:picLocks noChangeAspect="1"/>
          </p:cNvPicPr>
          <p:nvPr/>
        </p:nvPicPr>
        <p:blipFill>
          <a:blip r:embed="rId2"/>
          <a:stretch>
            <a:fillRect/>
          </a:stretch>
        </p:blipFill>
        <p:spPr>
          <a:xfrm>
            <a:off x="6629400" y="1883663"/>
            <a:ext cx="5120640" cy="3840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B1AB"/>
                </a:solidFill>
                <a:latin typeface="Trebuchet MS"/>
              </a:rPr>
              <a:t>Hardest Part: The Credential Trap</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900"/>
              </a:spcAft>
            </a:pPr>
            <a:r>
              <a:rPr sz="1700" b="1">
                <a:solidFill>
                  <a:srgbClr val="7DB1AB"/>
                </a:solidFill>
                <a:latin typeface="Calibri"/>
              </a:rPr>
              <a:t>The problem:</a:t>
            </a:r>
          </a:p>
          <a:p>
            <a:pPr lvl="1">
              <a:spcAft>
                <a:spcPts val="900"/>
              </a:spcAft>
            </a:pPr>
            <a:r>
              <a:rPr sz="1500" b="0">
                <a:solidFill>
                  <a:srgbClr val="E6EBE8"/>
                </a:solidFill>
                <a:latin typeface="Calibri"/>
              </a:rPr>
              <a:t>Two cloud-facing modules decided they must be in local testing whenever the standard access-key variable was present in the environment, and swapped in fake, emulator-only credentials.</a:t>
            </a:r>
          </a:p>
          <a:p>
            <a:pPr>
              <a:spcAft>
                <a:spcPts val="900"/>
              </a:spcAft>
            </a:pPr>
            <a:r>
              <a:rPr sz="1700" b="1">
                <a:solidFill>
                  <a:srgbClr val="7DB1AB"/>
                </a:solidFill>
                <a:latin typeface="Calibri"/>
              </a:rPr>
              <a:t>Why it was hard:</a:t>
            </a:r>
          </a:p>
          <a:p>
            <a:pPr lvl="1">
              <a:spcAft>
                <a:spcPts val="900"/>
              </a:spcAft>
            </a:pPr>
            <a:r>
              <a:rPr sz="1500" b="0">
                <a:solidFill>
                  <a:srgbClr val="E6EBE8"/>
                </a:solidFill>
                <a:latin typeface="Calibri"/>
              </a:rPr>
              <a:t>The serverless platform always injects that same variable to deliver a function's real credentials. In production, both functions would discard their real identity and fail their very first call to the queue or the store, while every local test kept passing, because locally the assumption is true. The same signal meant opposite things in the two environments.</a:t>
            </a:r>
          </a:p>
          <a:p>
            <a:pPr>
              <a:spcAft>
                <a:spcPts val="900"/>
              </a:spcAft>
            </a:pPr>
            <a:r>
              <a:rPr sz="1700" b="1">
                <a:solidFill>
                  <a:srgbClr val="7DB1AB"/>
                </a:solidFill>
                <a:latin typeface="Calibri"/>
              </a:rPr>
              <a:t>The fix:</a:t>
            </a:r>
          </a:p>
          <a:p>
            <a:pPr lvl="1">
              <a:spcAft>
                <a:spcPts val="900"/>
              </a:spcAft>
            </a:pPr>
            <a:r>
              <a:rPr sz="1500" b="0">
                <a:solidFill>
                  <a:srgbClr val="E6EBE8"/>
                </a:solidFill>
                <a:latin typeface="Calibri"/>
              </a:rPr>
              <a:t>Gate on the local-emulator endpoint variable instead, the one signal that genuinely means local. Deployed functions now fall through to the platform's default credential chain and pick up their real execution-role credentials.</a:t>
            </a:r>
          </a:p>
          <a:p>
            <a:pPr>
              <a:spcAft>
                <a:spcPts val="900"/>
              </a:spcAft>
            </a:pPr>
            <a:r>
              <a:rPr sz="1700" b="0">
                <a:solidFill>
                  <a:srgbClr val="E6EBE8"/>
                </a:solidFill>
                <a:latin typeface="Calibri"/>
              </a:rPr>
              <a:t>0 defects reached the live account. A pre-deployment audit caught this plus two more, a record-count undercount from unpaginated scanning and a missing message-batching path, and all three were fixed before the first deploy. Every health check was green on the first live poll.</a:t>
            </a:r>
          </a:p>
        </p:txBody>
      </p:sp>
      <p:sp>
        <p:nvSpPr>
          <p:cNvPr id="5" name="Rectangle 4"/>
          <p:cNvSpPr/>
          <p:nvPr/>
        </p:nvSpPr>
        <p:spPr>
          <a:xfrm>
            <a:off x="658368" y="1261872"/>
            <a:ext cx="3108960" cy="36576"/>
          </a:xfrm>
          <a:prstGeom prst="rect">
            <a:avLst/>
          </a:prstGeom>
          <a:solidFill>
            <a:srgbClr val="7DB1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B1AB"/>
                </a:solidFill>
                <a:latin typeface="Trebuchet MS"/>
              </a:rPr>
              <a:t>Three Things Worth Remembering</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900"/>
              </a:spcAft>
            </a:pPr>
            <a:r>
              <a:rPr sz="1700" b="0">
                <a:solidFill>
                  <a:srgbClr val="E6EBE8"/>
                </a:solidFill>
                <a:latin typeface="Calibri"/>
              </a:rPr>
              <a:t>Fog computing earns its place offshore: windows, aggregates, and alert rules run at the turbines, so only compact summaries cross the sea link, and faults are flagged the moment they appear.</a:t>
            </a:r>
          </a:p>
          <a:p>
            <a:pPr>
              <a:spcAft>
                <a:spcPts val="900"/>
              </a:spcAft>
            </a:pPr>
            <a:r>
              <a:rPr sz="1700" b="0">
                <a:solidFill>
                  <a:srgbClr val="E6EBE8"/>
                </a:solidFill>
                <a:latin typeface="Calibri"/>
              </a:rPr>
              <a:t>A serverless core (Amazon SQS, AWS Lambda, DynamoDB, API Gateway, and S3) ingests, stores, and serves the data elastically, and costs almost nothing when idle.</a:t>
            </a:r>
          </a:p>
          <a:p>
            <a:pPr>
              <a:spcAft>
                <a:spcPts val="900"/>
              </a:spcAft>
            </a:pPr>
            <a:r>
              <a:rPr sz="1700" b="1">
                <a:solidFill>
                  <a:srgbClr val="7DB1AB"/>
                </a:solidFill>
                <a:latin typeface="Calibri"/>
              </a:rPr>
              <a:t>An emulator cannot prove production readiness: the pre-deployment audit and live verification on the real account turned works locally into works deployed.</a:t>
            </a:r>
          </a:p>
          <a:p>
            <a:pPr>
              <a:spcAft>
                <a:spcPts val="900"/>
              </a:spcAft>
            </a:pPr>
            <a:r>
              <a:rPr sz="1700" b="0">
                <a:solidFill>
                  <a:srgbClr val="E6EBE8"/>
                </a:solidFill>
                <a:latin typeface="Calibri"/>
              </a:rPr>
              <a:t>Thank you. Questions?</a:t>
            </a:r>
          </a:p>
        </p:txBody>
      </p:sp>
      <p:sp>
        <p:nvSpPr>
          <p:cNvPr id="5" name="Rectangle 4"/>
          <p:cNvSpPr/>
          <p:nvPr/>
        </p:nvSpPr>
        <p:spPr>
          <a:xfrm>
            <a:off x="658368" y="1261872"/>
            <a:ext cx="3108960" cy="36576"/>
          </a:xfrm>
          <a:prstGeom prst="rect">
            <a:avLst/>
          </a:prstGeom>
          <a:solidFill>
            <a:srgbClr val="7DB1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