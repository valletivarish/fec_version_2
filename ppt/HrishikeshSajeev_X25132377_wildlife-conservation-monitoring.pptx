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</p:sldIdLst>
  <p:notesMasterIdLst>
    <p:notesMasterId r:id="rId6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notesMaster" Target="notesMasters/notesMaster1.xml"/><Relationship Id="rId7" Type="http://schemas.openxmlformats.org/officeDocument/2006/relationships/presProps" Target="presProps.xml"/><Relationship Id="rId8" Type="http://schemas.openxmlformats.org/officeDocument/2006/relationships/viewProps" Target="viewProps.xml"/><Relationship Id="rId9" Type="http://schemas.openxmlformats.org/officeDocument/2006/relationships/theme" Target="theme/theme1.xml"/><Relationship Id="rId1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C26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931920"/>
          </a:xfrm>
          <a:prstGeom prst="rect">
            <a:avLst/>
          </a:prstGeom>
          <a:solidFill>
            <a:srgbClr val="4B6B2A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1005840"/>
            <a:ext cx="1097280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Wildlife Conservation Habitat Monitoring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58368" y="288036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D6E2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Hrishikesh Sajeev   ·   X25132377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658368" y="4206240"/>
            <a:ext cx="1042416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800" dirty="0">
                <a:solidFill>
                  <a:srgbClr val="D6E2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gunshot-like acoustic spike lasts moments, a waterhole dries over days — fixed patrols learn of an event only when a ranger reaches the spot, not when it starts.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658368" y="5724144"/>
            <a:ext cx="146304" cy="146304"/>
          </a:xfrm>
          <a:prstGeom prst="rect">
            <a:avLst/>
          </a:prstGeom>
          <a:solidFill>
            <a:srgbClr val="6A8F3C"/>
          </a:solidFill>
          <a:ln/>
        </p:spPr>
      </p:sp>
      <p:sp>
        <p:nvSpPr>
          <p:cNvPr id="7" name="Text 5"/>
          <p:cNvSpPr/>
          <p:nvPr/>
        </p:nvSpPr>
        <p:spPr>
          <a:xfrm>
            <a:off x="932688" y="557784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6E2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Acoustic &gt; 75 dB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3538728" y="5724144"/>
            <a:ext cx="146304" cy="146304"/>
          </a:xfrm>
          <a:prstGeom prst="rect">
            <a:avLst/>
          </a:prstGeom>
          <a:solidFill>
            <a:srgbClr val="6A8F3C"/>
          </a:solidFill>
          <a:ln/>
        </p:spPr>
      </p:sp>
      <p:sp>
        <p:nvSpPr>
          <p:cNvPr id="9" name="Text 7"/>
          <p:cNvSpPr/>
          <p:nvPr/>
        </p:nvSpPr>
        <p:spPr>
          <a:xfrm>
            <a:off x="3813048" y="557784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6E2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Waterhole &lt; 20 cm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419088" y="5724144"/>
            <a:ext cx="146304" cy="146304"/>
          </a:xfrm>
          <a:prstGeom prst="rect">
            <a:avLst/>
          </a:prstGeom>
          <a:solidFill>
            <a:srgbClr val="6A8F3C"/>
          </a:solidFill>
          <a:ln/>
        </p:spPr>
      </p:sp>
      <p:sp>
        <p:nvSpPr>
          <p:cNvPr id="11" name="Text 9"/>
          <p:cNvSpPr/>
          <p:nvPr/>
        </p:nvSpPr>
        <p:spPr>
          <a:xfrm>
            <a:off x="6693408" y="557784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6E2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rules at the edge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658368" y="640080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sz="12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C26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I Built — Reserve to Live Dashboard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554480"/>
            <a:ext cx="3200400" cy="3383280"/>
          </a:xfrm>
          <a:prstGeom prst="roundRect">
            <a:avLst>
              <a:gd name="adj" fmla="val 2857"/>
            </a:avLst>
          </a:prstGeom>
          <a:solidFill>
            <a:srgbClr val="EFF3E9"/>
          </a:solidFill>
          <a:ln w="19050">
            <a:solidFill>
              <a:srgbClr val="8CA85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1691640"/>
            <a:ext cx="3200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spc="300" kern="0" dirty="0">
                <a:solidFill>
                  <a:srgbClr val="8CA8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EDGE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914400" y="2286000"/>
            <a:ext cx="2651760" cy="100584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 w="15240">
            <a:solidFill>
              <a:srgbClr val="8CA85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14400" y="2432304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C26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Field sensors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914400" y="2816352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06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· 2 reserves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914400" y="3520440"/>
            <a:ext cx="2651760" cy="100584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 w="15240">
            <a:solidFill>
              <a:srgbClr val="8CA85E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14400" y="3666744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C26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Fog node (EC2)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914400" y="4050792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06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window · aggregate · alert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886200" y="3246120"/>
            <a:ext cx="502920" cy="0"/>
          </a:xfrm>
          <a:prstGeom prst="line">
            <a:avLst/>
          </a:prstGeom>
          <a:noFill/>
          <a:ln w="31750">
            <a:solidFill>
              <a:srgbClr val="4B6B2A"/>
            </a:solidFill>
            <a:prstDash val="solid"/>
            <a:tailEnd type="triangle"/>
          </a:ln>
        </p:spPr>
      </p:sp>
      <p:sp>
        <p:nvSpPr>
          <p:cNvPr id="12" name="Shape 10"/>
          <p:cNvSpPr/>
          <p:nvPr/>
        </p:nvSpPr>
        <p:spPr>
          <a:xfrm>
            <a:off x="4572000" y="1554480"/>
            <a:ext cx="6949440" cy="3383280"/>
          </a:xfrm>
          <a:prstGeom prst="roundRect">
            <a:avLst>
              <a:gd name="adj" fmla="val 2703"/>
            </a:avLst>
          </a:prstGeom>
          <a:solidFill>
            <a:srgbClr val="EFF3E9"/>
          </a:solidFill>
          <a:ln w="19050">
            <a:solidFill>
              <a:srgbClr val="4B6B2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0" y="1691640"/>
            <a:ext cx="6949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spc="200" kern="0" dirty="0">
                <a:solidFill>
                  <a:srgbClr val="4B6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 (serverless)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4846320" y="2651760"/>
            <a:ext cx="146304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5240">
            <a:solidFill>
              <a:srgbClr val="4B6B2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800600" y="2907792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C26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Amazon SQS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4828032" y="3401568"/>
            <a:ext cx="149961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06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aggregate queue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6318504" y="3337560"/>
            <a:ext cx="164592" cy="0"/>
          </a:xfrm>
          <a:prstGeom prst="line">
            <a:avLst/>
          </a:prstGeom>
          <a:noFill/>
          <a:ln w="20320">
            <a:solidFill>
              <a:srgbClr val="8CA85E"/>
            </a:solidFill>
            <a:prstDash val="solid"/>
            <a:tailEnd type="triangle"/>
          </a:ln>
        </p:spPr>
      </p:sp>
      <p:sp>
        <p:nvSpPr>
          <p:cNvPr id="18" name="Shape 16"/>
          <p:cNvSpPr/>
          <p:nvPr/>
        </p:nvSpPr>
        <p:spPr>
          <a:xfrm>
            <a:off x="6492240" y="2651760"/>
            <a:ext cx="146304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5240">
            <a:solidFill>
              <a:srgbClr val="4B6B2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446520" y="2907792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C26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 Lambda</a:t>
            </a:r>
            <a:endParaRPr lang="en-US" sz="1250" dirty="0"/>
          </a:p>
        </p:txBody>
      </p:sp>
      <p:sp>
        <p:nvSpPr>
          <p:cNvPr id="20" name="Text 18"/>
          <p:cNvSpPr/>
          <p:nvPr/>
        </p:nvSpPr>
        <p:spPr>
          <a:xfrm>
            <a:off x="6473952" y="3401568"/>
            <a:ext cx="149961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06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java17 ingest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7964424" y="3337560"/>
            <a:ext cx="164592" cy="0"/>
          </a:xfrm>
          <a:prstGeom prst="line">
            <a:avLst/>
          </a:prstGeom>
          <a:noFill/>
          <a:ln w="20320">
            <a:solidFill>
              <a:srgbClr val="8CA85E"/>
            </a:solidFill>
            <a:prstDash val="solid"/>
            <a:tailEnd type="triangle"/>
          </a:ln>
        </p:spPr>
      </p:sp>
      <p:sp>
        <p:nvSpPr>
          <p:cNvPr id="22" name="Shape 20"/>
          <p:cNvSpPr/>
          <p:nvPr/>
        </p:nvSpPr>
        <p:spPr>
          <a:xfrm>
            <a:off x="8138160" y="2651760"/>
            <a:ext cx="146304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5240">
            <a:solidFill>
              <a:srgbClr val="4B6B2A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8092440" y="2907792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C26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DynamoDB</a:t>
            </a:r>
            <a:endParaRPr lang="en-US" sz="1250" dirty="0"/>
          </a:p>
        </p:txBody>
      </p:sp>
      <p:sp>
        <p:nvSpPr>
          <p:cNvPr id="24" name="Text 22"/>
          <p:cNvSpPr/>
          <p:nvPr/>
        </p:nvSpPr>
        <p:spPr>
          <a:xfrm>
            <a:off x="8119872" y="3401568"/>
            <a:ext cx="149961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06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readings store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9610344" y="3337560"/>
            <a:ext cx="164592" cy="0"/>
          </a:xfrm>
          <a:prstGeom prst="line">
            <a:avLst/>
          </a:prstGeom>
          <a:noFill/>
          <a:ln w="20320">
            <a:solidFill>
              <a:srgbClr val="8CA85E"/>
            </a:solidFill>
            <a:prstDash val="solid"/>
            <a:tailEnd type="triangle"/>
          </a:ln>
        </p:spPr>
      </p:sp>
      <p:sp>
        <p:nvSpPr>
          <p:cNvPr id="26" name="Shape 24"/>
          <p:cNvSpPr/>
          <p:nvPr/>
        </p:nvSpPr>
        <p:spPr>
          <a:xfrm>
            <a:off x="9784080" y="2651760"/>
            <a:ext cx="146304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5240">
            <a:solidFill>
              <a:srgbClr val="6A8F3C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9738360" y="2907792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C26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GW + S3</a:t>
            </a:r>
            <a:endParaRPr lang="en-US" sz="1250" dirty="0"/>
          </a:p>
        </p:txBody>
      </p:sp>
      <p:sp>
        <p:nvSpPr>
          <p:cNvPr id="28" name="Text 26"/>
          <p:cNvSpPr/>
          <p:nvPr/>
        </p:nvSpPr>
        <p:spPr>
          <a:xfrm>
            <a:off x="9765792" y="3401568"/>
            <a:ext cx="149961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06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reserve dashboard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640080" y="52578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i="1" dirty="0">
                <a:solidFill>
                  <a:srgbClr val="4B6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four alert rules are evaluated at the fog node, on site, before anything reaches the cloud; only compact summaries cross onward.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73152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C26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Live Demo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658368" y="1143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A8F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wcm-frontend-670139527491.s3.us-east-1.amazonaws.com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40080" y="1828800"/>
            <a:ext cx="10881360" cy="1371600"/>
          </a:xfrm>
          <a:prstGeom prst="roundRect">
            <a:avLst>
              <a:gd name="adj" fmla="val 6667"/>
            </a:avLst>
          </a:prstGeom>
          <a:solidFill>
            <a:srgbClr val="EFF3E9"/>
          </a:solidFill>
          <a:ln w="15240">
            <a:solidFill>
              <a:srgbClr val="6A8F3C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60120" y="2203704"/>
            <a:ext cx="621792" cy="621792"/>
          </a:xfrm>
          <a:prstGeom prst="ellipse">
            <a:avLst/>
          </a:prstGeom>
          <a:solidFill>
            <a:srgbClr val="4B6B2A"/>
          </a:solidFill>
          <a:ln/>
        </p:spPr>
      </p:sp>
      <p:sp>
        <p:nvSpPr>
          <p:cNvPr id="6" name="Text 4"/>
          <p:cNvSpPr/>
          <p:nvPr/>
        </p:nvSpPr>
        <p:spPr>
          <a:xfrm>
            <a:off x="960120" y="2203704"/>
            <a:ext cx="62179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1828800" y="2029968"/>
            <a:ext cx="9418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C26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reserves, side by side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1828800" y="2450592"/>
            <a:ext cx="9418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606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Motion, acoustics, waterhole level, temperature and soil moisture live for both reserves, with a field-station log.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640080" y="3346704"/>
            <a:ext cx="10881360" cy="1371600"/>
          </a:xfrm>
          <a:prstGeom prst="roundRect">
            <a:avLst>
              <a:gd name="adj" fmla="val 6667"/>
            </a:avLst>
          </a:prstGeom>
          <a:solidFill>
            <a:srgbClr val="EFF3E9"/>
          </a:solidFill>
          <a:ln w="15240">
            <a:solidFill>
              <a:srgbClr val="6A8F3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60120" y="3721608"/>
            <a:ext cx="621792" cy="621792"/>
          </a:xfrm>
          <a:prstGeom prst="ellipse">
            <a:avLst/>
          </a:prstGeom>
          <a:solidFill>
            <a:srgbClr val="4B6B2A"/>
          </a:solidFill>
          <a:ln/>
        </p:spPr>
      </p:sp>
      <p:sp>
        <p:nvSpPr>
          <p:cNvPr id="11" name="Text 9"/>
          <p:cNvSpPr/>
          <p:nvPr/>
        </p:nvSpPr>
        <p:spPr>
          <a:xfrm>
            <a:off x="960120" y="3721608"/>
            <a:ext cx="62179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1828800" y="3547872"/>
            <a:ext cx="9418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C26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Short-lived events caught at the edge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1828800" y="3968496"/>
            <a:ext cx="9418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606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gunshot-like acoustic spike over 75 dB or a waterhole below 20 cm raises as the window closes, while a ranger can still respond.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640080" y="4864608"/>
            <a:ext cx="10881360" cy="1371600"/>
          </a:xfrm>
          <a:prstGeom prst="roundRect">
            <a:avLst>
              <a:gd name="adj" fmla="val 6667"/>
            </a:avLst>
          </a:prstGeom>
          <a:solidFill>
            <a:srgbClr val="EFF3E9"/>
          </a:solidFill>
          <a:ln w="15240">
            <a:solidFill>
              <a:srgbClr val="6A8F3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960120" y="5239512"/>
            <a:ext cx="621792" cy="621792"/>
          </a:xfrm>
          <a:prstGeom prst="ellipse">
            <a:avLst/>
          </a:prstGeom>
          <a:solidFill>
            <a:srgbClr val="4B6B2A"/>
          </a:solidFill>
          <a:ln/>
        </p:spPr>
      </p:sp>
      <p:sp>
        <p:nvSpPr>
          <p:cNvPr id="16" name="Text 14"/>
          <p:cNvSpPr/>
          <p:nvPr/>
        </p:nvSpPr>
        <p:spPr>
          <a:xfrm>
            <a:off x="960120" y="5239512"/>
            <a:ext cx="62179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200" dirty="0"/>
          </a:p>
        </p:txBody>
      </p:sp>
      <p:sp>
        <p:nvSpPr>
          <p:cNvPr id="17" name="Text 15"/>
          <p:cNvSpPr/>
          <p:nvPr/>
        </p:nvSpPr>
        <p:spPr>
          <a:xfrm>
            <a:off x="1828800" y="5065776"/>
            <a:ext cx="9418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C26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Alert flags on real thresholds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1828800" y="5486400"/>
            <a:ext cx="9418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606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flags trip on genuine breaches, and the stored count climbs 362 to 378 in fifteen seconds during the check.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C26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Hardest Part — a silent DynamoDB undercount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640080" y="1874520"/>
            <a:ext cx="4937760" cy="4160520"/>
          </a:xfrm>
          <a:prstGeom prst="roundRect">
            <a:avLst>
              <a:gd name="adj" fmla="val 2198"/>
            </a:avLst>
          </a:prstGeom>
          <a:solidFill>
            <a:srgbClr val="EFF3E9"/>
          </a:solidFill>
          <a:ln w="19050">
            <a:solidFill>
              <a:srgbClr val="D9A62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960120" y="210312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D9A6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Problem</a:t>
            </a:r>
            <a:endParaRPr lang="en-US" sz="1900" dirty="0"/>
          </a:p>
        </p:txBody>
      </p:sp>
      <p:sp>
        <p:nvSpPr>
          <p:cNvPr id="5" name="Text 3"/>
          <p:cNvSpPr/>
          <p:nvPr/>
        </p:nvSpPr>
        <p:spPr>
          <a:xfrm>
            <a:off x="960120" y="2651760"/>
            <a:ext cx="434340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1C26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dashboard's stored-readings count came from a single DynamoDB scan. One scan call returns only about 1 MB of data and hands back a cursor for the rest, so the count silently stops short, and no error is raised anywhere. All 82 local tests and a full emulator run stayed green — a small local table fits in one page, so nothing could expose the missing pages.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6611112" y="1874520"/>
            <a:ext cx="4937760" cy="4160520"/>
          </a:xfrm>
          <a:prstGeom prst="roundRect">
            <a:avLst>
              <a:gd name="adj" fmla="val 2198"/>
            </a:avLst>
          </a:prstGeom>
          <a:solidFill>
            <a:srgbClr val="EFF3E9"/>
          </a:solidFill>
          <a:ln w="19050">
            <a:solidFill>
              <a:srgbClr val="6A8F3C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931152" y="210312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6A8F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Solution</a:t>
            </a:r>
            <a:endParaRPr lang="en-US" sz="1900" dirty="0"/>
          </a:p>
        </p:txBody>
      </p:sp>
      <p:sp>
        <p:nvSpPr>
          <p:cNvPr id="8" name="Text 6"/>
          <p:cNvSpPr/>
          <p:nvPr/>
        </p:nvSpPr>
        <p:spPr>
          <a:xfrm>
            <a:off x="6931152" y="2651760"/>
            <a:ext cx="434340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1C26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count now follows the cursor page by page with the SDK's own paginator, locked in by a four-page regression test that sums 1,287 items across four pages, and re-verified against the live account. The same audit also caught unbatched SQS sends, now grouped ten per call.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5669280" y="3703320"/>
            <a:ext cx="841248" cy="512064"/>
          </a:xfrm>
          <a:prstGeom prst="rightArrow">
            <a:avLst/>
          </a:prstGeom>
          <a:solidFill>
            <a:srgbClr val="4B6B2A"/>
          </a:solidFill>
          <a:ln/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Slide 1</vt:lpstr>
      <vt:lpstr>Slide 2</vt:lpstr>
      <vt:lpstr>Slide 3</vt:lpstr>
      <vt:lpstr>Slide 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2026-07-24T07:37:27Z</dcterms:created>
  <dcterms:modified xsi:type="dcterms:W3CDTF">2026-07-24T07:37:27Z</dcterms:modified>
</cp:coreProperties>
</file>