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435840" cy="7132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 y="-91440"/>
            <a:ext cx="12435840" cy="4160520"/>
          </a:xfrm>
          <a:prstGeom prst="rect">
            <a:avLst/>
          </a:prstGeom>
          <a:solidFill>
            <a:srgbClr val="157A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570524" y="525780"/>
            <a:ext cx="1051560" cy="10515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570524" y="525780"/>
            <a:ext cx="1051560" cy="1051560"/>
          </a:xfrm>
          <a:prstGeom prst="rect">
            <a:avLst/>
          </a:prstGeom>
          <a:noFill/>
        </p:spPr>
        <p:txBody>
          <a:bodyPr wrap="none" anchor="ctr">
            <a:spAutoFit/>
          </a:bodyPr>
          <a:lstStyle/>
          <a:p>
            <a:pPr algn="ctr"/>
            <a:r>
              <a:rPr sz="3400" b="1">
                <a:solidFill>
                  <a:srgbClr val="157A74"/>
                </a:solidFill>
                <a:latin typeface="Cambria"/>
              </a:rPr>
              <a:t>PV</a:t>
            </a:r>
          </a:p>
        </p:txBody>
      </p:sp>
      <p:sp>
        <p:nvSpPr>
          <p:cNvPr id="6" name="TextBox 5"/>
          <p:cNvSpPr txBox="1"/>
          <p:nvPr/>
        </p:nvSpPr>
        <p:spPr>
          <a:xfrm>
            <a:off x="914400" y="1874519"/>
            <a:ext cx="10332720" cy="1554480"/>
          </a:xfrm>
          <a:prstGeom prst="rect">
            <a:avLst/>
          </a:prstGeom>
          <a:noFill/>
        </p:spPr>
        <p:txBody>
          <a:bodyPr wrap="square" anchor="ctr">
            <a:spAutoFit/>
          </a:bodyPr>
          <a:lstStyle/>
          <a:p>
            <a:pPr algn="ctr"/>
            <a:r>
              <a:rPr sz="3400" b="1" i="0">
                <a:solidFill>
                  <a:srgbClr val="FFFFFF"/>
                </a:solidFill>
                <a:latin typeface="Cambria"/>
              </a:rPr>
              <a:t>Patient Vitals Remote Monitoring</a:t>
            </a:r>
          </a:p>
        </p:txBody>
      </p:sp>
      <p:sp>
        <p:nvSpPr>
          <p:cNvPr id="7" name="TextBox 6"/>
          <p:cNvSpPr txBox="1"/>
          <p:nvPr/>
        </p:nvSpPr>
        <p:spPr>
          <a:xfrm>
            <a:off x="1371600" y="4434840"/>
            <a:ext cx="9418320" cy="548640"/>
          </a:xfrm>
          <a:prstGeom prst="rect">
            <a:avLst/>
          </a:prstGeom>
          <a:noFill/>
        </p:spPr>
        <p:txBody>
          <a:bodyPr wrap="square" anchor="t">
            <a:spAutoFit/>
          </a:bodyPr>
          <a:lstStyle/>
          <a:p>
            <a:pPr algn="ctr"/>
            <a:r>
              <a:rPr sz="1800" b="0" i="1">
                <a:solidFill>
                  <a:srgbClr val="116762"/>
                </a:solidFill>
                <a:latin typeface="Georgia"/>
              </a:rPr>
              <a:t>Continuous ward monitoring on a fog and serverless pipeline</a:t>
            </a:r>
          </a:p>
        </p:txBody>
      </p:sp>
      <p:sp>
        <p:nvSpPr>
          <p:cNvPr id="8" name="TextBox 7"/>
          <p:cNvSpPr txBox="1"/>
          <p:nvPr/>
        </p:nvSpPr>
        <p:spPr>
          <a:xfrm>
            <a:off x="1371600" y="5212080"/>
            <a:ext cx="9418320" cy="1371600"/>
          </a:xfrm>
          <a:prstGeom prst="rect">
            <a:avLst/>
          </a:prstGeom>
          <a:noFill/>
        </p:spPr>
        <p:txBody>
          <a:bodyPr wrap="square" anchor="t">
            <a:spAutoFit/>
          </a:bodyPr>
          <a:lstStyle/>
          <a:p>
            <a:pPr algn="ctr"/>
            <a:r>
              <a:rPr sz="1250" b="0" i="0">
                <a:solidFill>
                  <a:srgbClr val="5A635C"/>
                </a:solidFill>
                <a:latin typeface="Georgia"/>
              </a:rPr>
              <a:t>MSc in Cloud Computing   ·   Fog and Edge Computing (H9FECC)</a:t>
            </a:r>
          </a:p>
          <a:p>
            <a:pPr algn="ctr"/>
            <a:r>
              <a:rPr sz="1250" b="0" i="0">
                <a:solidFill>
                  <a:srgbClr val="5A635C"/>
                </a:solidFill>
                <a:latin typeface="Georgia"/>
              </a:rPr>
              <a:t>National College of Ireland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384048"/>
            <a:ext cx="10972800" cy="868680"/>
          </a:xfrm>
        </p:spPr>
        <p:txBody>
          <a:bodyPr wrap="square" anchor="t"/>
          <a:lstStyle/>
          <a:p>
            <a:pPr algn="l"/>
            <a:r>
              <a:rPr b="1" sz="2700">
                <a:solidFill>
                  <a:srgbClr val="157A74"/>
                </a:solidFill>
                <a:latin typeface="Cambria"/>
              </a:rPr>
              <a:t>Spot checks miss the moment that matters</a:t>
            </a:r>
          </a:p>
        </p:txBody>
      </p:sp>
      <p:sp>
        <p:nvSpPr>
          <p:cNvPr id="3" name="Content Placeholder 2"/>
          <p:cNvSpPr>
            <a:spLocks noGrp="1"/>
          </p:cNvSpPr>
          <p:nvPr>
            <p:ph idx="1"/>
          </p:nvPr>
        </p:nvSpPr>
        <p:spPr>
          <a:xfrm>
            <a:off x="658368" y="1481328"/>
            <a:ext cx="10972800" cy="4846320"/>
          </a:xfrm>
        </p:spPr>
        <p:txBody>
          <a:bodyPr wrap="square">
            <a:normAutofit/>
          </a:bodyPr>
          <a:lstStyle/>
          <a:p>
            <a:pPr>
              <a:spcAft>
                <a:spcPts val="900"/>
              </a:spcAft>
            </a:pPr>
            <a:r>
              <a:rPr sz="1700" b="0">
                <a:solidFill>
                  <a:srgbClr val="232A26"/>
                </a:solidFill>
                <a:latin typeface="Georgia"/>
              </a:rPr>
              <a:t>Ward rounds are periodic: a manual observation captures one moment, and between rounds nobody is watching the numbers.</a:t>
            </a:r>
          </a:p>
          <a:p>
            <a:pPr>
              <a:spcAft>
                <a:spcPts val="900"/>
              </a:spcAft>
            </a:pPr>
            <a:r>
              <a:rPr sz="1700" b="0">
                <a:solidFill>
                  <a:srgbClr val="232A26"/>
                </a:solidFill>
                <a:latin typeface="Georgia"/>
              </a:rPr>
              <a:t>Deterioration is a trend: falling oxygen or a climbing heart rate develops over minutes, so a single reading in isolation can still look normal.</a:t>
            </a:r>
          </a:p>
          <a:p>
            <a:pPr>
              <a:spcAft>
                <a:spcPts val="900"/>
              </a:spcAft>
            </a:pPr>
            <a:r>
              <a:rPr sz="1700" b="1">
                <a:solidFill>
                  <a:srgbClr val="157A74"/>
                </a:solidFill>
                <a:latin typeface="Georgia"/>
              </a:rPr>
              <a:t>Thresholds need continuous data: this project watches five vitals for two patients around the clock and checks every window against clinical limits.</a:t>
            </a:r>
          </a:p>
          <a:p>
            <a:pPr>
              <a:spcAft>
                <a:spcPts val="900"/>
              </a:spcAft>
            </a:pPr>
            <a:r>
              <a:rPr sz="1700" b="1">
                <a:solidFill>
                  <a:srgbClr val="157A74"/>
                </a:solidFill>
                <a:latin typeface="Georgia"/>
              </a:rPr>
              <a:t>The numbers behind the monitor:</a:t>
            </a:r>
          </a:p>
          <a:p>
            <a:pPr lvl="1">
              <a:spcAft>
                <a:spcPts val="900"/>
              </a:spcAft>
            </a:pPr>
            <a:r>
              <a:rPr sz="1500" b="0">
                <a:solidFill>
                  <a:srgbClr val="232A26"/>
                </a:solidFill>
                <a:latin typeface="Georgia"/>
              </a:rPr>
              <a:t>Below 92%: the blood-oxygen level that triggers a clinical hypoxia alert.</a:t>
            </a:r>
          </a:p>
          <a:p>
            <a:pPr lvl="1">
              <a:spcAft>
                <a:spcPts val="900"/>
              </a:spcAft>
            </a:pPr>
            <a:r>
              <a:rPr sz="1500" b="0">
                <a:solidFill>
                  <a:srgbClr val="232A26"/>
                </a:solidFill>
                <a:latin typeface="Georgia"/>
              </a:rPr>
              <a:t>2 to 3 seconds: between readings from every bedside sensor.</a:t>
            </a:r>
          </a:p>
          <a:p>
            <a:pPr lvl="1">
              <a:spcAft>
                <a:spcPts val="900"/>
              </a:spcAft>
            </a:pPr>
            <a:r>
              <a:rPr sz="1500" b="0">
                <a:solidFill>
                  <a:srgbClr val="232A26"/>
                </a:solidFill>
                <a:latin typeface="Georgia"/>
              </a:rPr>
              <a:t>10 seconds: the window in which vitals are aggregated and alert rules checked.</a:t>
            </a:r>
          </a:p>
        </p:txBody>
      </p:sp>
      <p:sp>
        <p:nvSpPr>
          <p:cNvPr id="4" name="Rectangle 3"/>
          <p:cNvSpPr/>
          <p:nvPr/>
        </p:nvSpPr>
        <p:spPr>
          <a:xfrm>
            <a:off x="658368" y="1261872"/>
            <a:ext cx="3108960" cy="36576"/>
          </a:xfrm>
          <a:prstGeom prst="rect">
            <a:avLst/>
          </a:prstGeom>
          <a:solidFill>
            <a:srgbClr val="157A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384048"/>
            <a:ext cx="10972800" cy="868680"/>
          </a:xfrm>
        </p:spPr>
        <p:txBody>
          <a:bodyPr wrap="square" anchor="t"/>
          <a:lstStyle/>
          <a:p>
            <a:pPr algn="l"/>
            <a:r>
              <a:rPr b="1" sz="2400">
                <a:solidFill>
                  <a:srgbClr val="157A74"/>
                </a:solidFill>
                <a:latin typeface="Cambria"/>
              </a:rPr>
              <a:t>How it works: bedside to dashboard in seconds</a:t>
            </a:r>
          </a:p>
        </p:txBody>
      </p:sp>
      <p:sp>
        <p:nvSpPr>
          <p:cNvPr id="3" name="Content Placeholder 2"/>
          <p:cNvSpPr>
            <a:spLocks noGrp="1"/>
          </p:cNvSpPr>
          <p:nvPr>
            <p:ph idx="1"/>
          </p:nvPr>
        </p:nvSpPr>
        <p:spPr>
          <a:xfrm>
            <a:off x="658368" y="1481328"/>
            <a:ext cx="10972800" cy="4846320"/>
          </a:xfrm>
        </p:spPr>
        <p:txBody>
          <a:bodyPr wrap="square">
            <a:normAutofit/>
          </a:bodyPr>
          <a:lstStyle/>
          <a:p>
            <a:pPr>
              <a:spcAft>
                <a:spcPts val="900"/>
              </a:spcAft>
            </a:pPr>
            <a:r>
              <a:rPr sz="1700" b="0">
                <a:solidFill>
                  <a:srgbClr val="232A26"/>
                </a:solidFill>
                <a:latin typeface="Georgia"/>
              </a:rPr>
              <a:t>Bedside sensors: 10 streams, five vitals for two patients, a reading every 2 to 3 seconds.</a:t>
            </a:r>
          </a:p>
          <a:p>
            <a:pPr>
              <a:spcAft>
                <a:spcPts val="900"/>
              </a:spcAft>
            </a:pPr>
            <a:r>
              <a:rPr sz="1700" b="0">
                <a:solidFill>
                  <a:srgbClr val="232A26"/>
                </a:solidFill>
                <a:latin typeface="Georgia"/>
              </a:rPr>
              <a:t>Fog gateway: 10-second windows aggregate each vital and check clinical alert rules.</a:t>
            </a:r>
          </a:p>
          <a:p>
            <a:pPr>
              <a:spcAft>
                <a:spcPts val="900"/>
              </a:spcAft>
            </a:pPr>
            <a:r>
              <a:rPr sz="1700" b="0">
                <a:solidFill>
                  <a:srgbClr val="232A26"/>
                </a:solidFill>
                <a:latin typeface="Georgia"/>
              </a:rPr>
              <a:t>Amazon SQS: one aggregate per vital per window, sent in batches.</a:t>
            </a:r>
          </a:p>
          <a:p>
            <a:pPr>
              <a:spcAft>
                <a:spcPts val="900"/>
              </a:spcAft>
            </a:pPr>
            <a:r>
              <a:rPr sz="1700" b="0">
                <a:solidFill>
                  <a:srgbClr val="232A26"/>
                </a:solidFill>
                <a:latin typeface="Georgia"/>
              </a:rPr>
              <a:t>AWS Lambda: serverless ingest, triggered straight off the queue.</a:t>
            </a:r>
          </a:p>
          <a:p>
            <a:pPr>
              <a:spcAft>
                <a:spcPts val="900"/>
              </a:spcAft>
            </a:pPr>
            <a:r>
              <a:rPr sz="1700" b="0">
                <a:solidFill>
                  <a:srgbClr val="232A26"/>
                </a:solidFill>
                <a:latin typeface="Georgia"/>
              </a:rPr>
              <a:t>Amazon DynamoDB: durable store for every windowed record.</a:t>
            </a:r>
          </a:p>
          <a:p>
            <a:pPr>
              <a:spcAft>
                <a:spcPts val="900"/>
              </a:spcAft>
            </a:pPr>
            <a:r>
              <a:rPr sz="1700" b="0">
                <a:solidFill>
                  <a:srgbClr val="232A26"/>
                </a:solidFill>
                <a:latin typeface="Georgia"/>
              </a:rPr>
              <a:t>Ward dashboard: live monitor, served on AWS from S3 behind API Gateway.</a:t>
            </a:r>
          </a:p>
          <a:p>
            <a:pPr>
              <a:spcAft>
                <a:spcPts val="900"/>
              </a:spcAft>
            </a:pPr>
            <a:r>
              <a:rPr sz="1700" b="1">
                <a:solidFill>
                  <a:srgbClr val="157A74"/>
                </a:solidFill>
                <a:latin typeface="Georgia"/>
              </a:rPr>
              <a:t>Runs end to end today on Docker with LocalStack standing in for the AWS services, and one scripted step packages the function, wires the queue trigger and moves the same pipeline onto real AWS.</a:t>
            </a:r>
          </a:p>
        </p:txBody>
      </p:sp>
      <p:sp>
        <p:nvSpPr>
          <p:cNvPr id="4" name="Rectangle 3"/>
          <p:cNvSpPr/>
          <p:nvPr/>
        </p:nvSpPr>
        <p:spPr>
          <a:xfrm>
            <a:off x="658368" y="1261872"/>
            <a:ext cx="3108960" cy="36576"/>
          </a:xfrm>
          <a:prstGeom prst="rect">
            <a:avLst/>
          </a:prstGeom>
          <a:solidFill>
            <a:srgbClr val="157A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384048"/>
            <a:ext cx="10972800" cy="868680"/>
          </a:xfrm>
        </p:spPr>
        <p:txBody>
          <a:bodyPr wrap="square" anchor="t"/>
          <a:lstStyle/>
          <a:p>
            <a:pPr algn="l"/>
            <a:r>
              <a:rPr b="1" sz="2400">
                <a:solidFill>
                  <a:srgbClr val="157A74"/>
                </a:solidFill>
                <a:latin typeface="Cambria"/>
              </a:rPr>
              <a:t>Demonstration: live monitor, alerts firing</a:t>
            </a:r>
          </a:p>
        </p:txBody>
      </p:sp>
      <p:sp>
        <p:nvSpPr>
          <p:cNvPr id="3" name="Content Placeholder 2"/>
          <p:cNvSpPr>
            <a:spLocks noGrp="1"/>
          </p:cNvSpPr>
          <p:nvPr>
            <p:ph idx="1"/>
          </p:nvPr>
        </p:nvSpPr>
        <p:spPr>
          <a:xfrm>
            <a:off x="658368" y="1481328"/>
            <a:ext cx="5760720" cy="4754880"/>
          </a:xfrm>
        </p:spPr>
        <p:txBody>
          <a:bodyPr wrap="square">
            <a:normAutofit/>
          </a:bodyPr>
          <a:lstStyle/>
          <a:p>
            <a:pPr>
              <a:spcAft>
                <a:spcPts val="800"/>
              </a:spcAft>
            </a:pPr>
            <a:r>
              <a:rPr sz="1500" b="0">
                <a:solidFill>
                  <a:srgbClr val="232A26"/>
                </a:solidFill>
                <a:latin typeface="Georgia"/>
              </a:rPr>
              <a:t>Dashboard captured from the local end-to-end run: two patients live, one hypoxia alert active, pipeline status in the footer.</a:t>
            </a:r>
          </a:p>
          <a:p>
            <a:pPr>
              <a:spcAft>
                <a:spcPts val="800"/>
              </a:spcAft>
            </a:pPr>
            <a:r>
              <a:rPr sz="1500" b="0">
                <a:solidFill>
                  <a:srgbClr val="232A26"/>
                </a:solidFill>
                <a:latin typeface="Georgia"/>
              </a:rPr>
              <a:t>All pipeline checks green: edge gateway online, queue reachable, Lambda deployed, 48 records archived.</a:t>
            </a:r>
          </a:p>
          <a:p>
            <a:pPr>
              <a:spcAft>
                <a:spcPts val="800"/>
              </a:spcAft>
            </a:pPr>
            <a:r>
              <a:rPr sz="1500" b="0">
                <a:solidFill>
                  <a:srgbClr val="232A26"/>
                </a:solidFill>
                <a:latin typeface="Georgia"/>
              </a:rPr>
              <a:t>35 automated tests pass across the sensor, fog gateway, processor and dashboard modules.</a:t>
            </a:r>
          </a:p>
          <a:p>
            <a:pPr>
              <a:spcAft>
                <a:spcPts val="800"/>
              </a:spcAft>
            </a:pPr>
            <a:r>
              <a:rPr sz="1500" b="1">
                <a:solidFill>
                  <a:srgbClr val="157A74"/>
                </a:solidFill>
                <a:latin typeface="Georgia"/>
              </a:rPr>
              <a:t>Alerts fire on real data: hypoxia banner raised at SpO2 89.7%, crossing the 92% clinical trigger.</a:t>
            </a:r>
          </a:p>
        </p:txBody>
      </p:sp>
      <p:sp>
        <p:nvSpPr>
          <p:cNvPr id="4" name="Rectangle 3"/>
          <p:cNvSpPr/>
          <p:nvPr/>
        </p:nvSpPr>
        <p:spPr>
          <a:xfrm>
            <a:off x="658368" y="1261872"/>
            <a:ext cx="3108960" cy="36576"/>
          </a:xfrm>
          <a:prstGeom prst="rect">
            <a:avLst/>
          </a:prstGeom>
          <a:solidFill>
            <a:srgbClr val="157A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ashboard-desktop.png"/>
          <p:cNvPicPr>
            <a:picLocks noChangeAspect="1"/>
          </p:cNvPicPr>
          <p:nvPr/>
        </p:nvPicPr>
        <p:blipFill>
          <a:blip r:embed="rId2"/>
          <a:stretch>
            <a:fillRect/>
          </a:stretch>
        </p:blipFill>
        <p:spPr>
          <a:xfrm>
            <a:off x="6629400" y="2003679"/>
            <a:ext cx="5120640" cy="3600449"/>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384048"/>
            <a:ext cx="10972800" cy="868680"/>
          </a:xfrm>
        </p:spPr>
        <p:txBody>
          <a:bodyPr wrap="square" anchor="t"/>
          <a:lstStyle/>
          <a:p>
            <a:pPr algn="l"/>
            <a:r>
              <a:rPr b="1" sz="2400">
                <a:solidFill>
                  <a:srgbClr val="157A74"/>
                </a:solidFill>
                <a:latin typeface="Cambria"/>
              </a:rPr>
              <a:t>The hardest part: a bug no local test could catch</a:t>
            </a:r>
          </a:p>
        </p:txBody>
      </p:sp>
      <p:sp>
        <p:nvSpPr>
          <p:cNvPr id="3" name="Content Placeholder 2"/>
          <p:cNvSpPr>
            <a:spLocks noGrp="1"/>
          </p:cNvSpPr>
          <p:nvPr>
            <p:ph idx="1"/>
          </p:nvPr>
        </p:nvSpPr>
        <p:spPr>
          <a:xfrm>
            <a:off x="658368" y="1481328"/>
            <a:ext cx="10972800" cy="4846320"/>
          </a:xfrm>
        </p:spPr>
        <p:txBody>
          <a:bodyPr wrap="square">
            <a:normAutofit/>
          </a:bodyPr>
          <a:lstStyle/>
          <a:p>
            <a:pPr>
              <a:spcAft>
                <a:spcPts val="600"/>
              </a:spcAft>
            </a:pPr>
            <a:r>
              <a:rPr sz="1500" b="1">
                <a:solidFill>
                  <a:srgbClr val="157A74"/>
                </a:solidFill>
                <a:latin typeface="Georgia"/>
              </a:rPr>
              <a:t>The problem:</a:t>
            </a:r>
          </a:p>
          <a:p>
            <a:pPr lvl="1">
              <a:spcAft>
                <a:spcPts val="600"/>
              </a:spcAft>
            </a:pPr>
            <a:r>
              <a:rPr sz="1300" b="0">
                <a:solidFill>
                  <a:srgbClr val="232A26"/>
                </a:solidFill>
                <a:latin typeface="Georgia"/>
              </a:rPr>
              <a:t>The fog gateway's queue publisher shipped with the emulator's fake access keys hard-coded into every connection; locally everything worked, but on real AWS every send would be rejected the moment we deployed.</a:t>
            </a:r>
          </a:p>
          <a:p>
            <a:pPr>
              <a:spcAft>
                <a:spcPts val="600"/>
              </a:spcAft>
            </a:pPr>
            <a:r>
              <a:rPr sz="1500" b="1">
                <a:solidFill>
                  <a:srgbClr val="157A74"/>
                </a:solidFill>
                <a:latin typeface="Georgia"/>
              </a:rPr>
              <a:t>Why it was hard:</a:t>
            </a:r>
          </a:p>
          <a:p>
            <a:pPr lvl="1">
              <a:spcAft>
                <a:spcPts val="600"/>
              </a:spcAft>
            </a:pPr>
            <a:r>
              <a:rPr sz="1300" b="0">
                <a:solidFill>
                  <a:srgbClr val="232A26"/>
                </a:solidFill>
                <a:latin typeface="Georgia"/>
              </a:rPr>
              <a:t>The emulator accepts any credentials, so all 35 tests and the full end-to-end check stayed green while the failure existed only in the real cloud (35/35 tests green with the cloud-only bug hidden).</a:t>
            </a:r>
          </a:p>
          <a:p>
            <a:pPr lvl="1">
              <a:spcAft>
                <a:spcPts val="600"/>
              </a:spcAft>
            </a:pPr>
            <a:r>
              <a:rPr sz="1300" b="0">
                <a:solidFill>
                  <a:srgbClr val="232A26"/>
                </a:solidFill>
                <a:latin typeface="Georgia"/>
              </a:rPr>
              <a:t>The same audit surfaced two more silent issues: the record count read only the first page of the database scan, and aggregates left the gateway one message at a time.</a:t>
            </a:r>
          </a:p>
          <a:p>
            <a:pPr>
              <a:spcAft>
                <a:spcPts val="600"/>
              </a:spcAft>
            </a:pPr>
            <a:r>
              <a:rPr sz="1500" b="1">
                <a:solidFill>
                  <a:srgbClr val="157A74"/>
                </a:solidFill>
                <a:latin typeface="Georgia"/>
              </a:rPr>
              <a:t>How it was solved:</a:t>
            </a:r>
          </a:p>
          <a:p>
            <a:pPr lvl="1">
              <a:spcAft>
                <a:spcPts val="600"/>
              </a:spcAft>
            </a:pPr>
            <a:r>
              <a:rPr sz="1300" b="0">
                <a:solidFill>
                  <a:srgbClr val="232A26"/>
                </a:solidFill>
                <a:latin typeface="Georgia"/>
              </a:rPr>
              <a:t>Fake keys are now attached only when an emulator endpoint is configured, and on real AWS the toolkit falls back to its own identity chain.</a:t>
            </a:r>
          </a:p>
          <a:p>
            <a:pPr lvl="1">
              <a:spcAft>
                <a:spcPts val="600"/>
              </a:spcAft>
            </a:pPr>
            <a:r>
              <a:rPr sz="1300" b="0">
                <a:solidFill>
                  <a:srgbClr val="232A26"/>
                </a:solidFill>
                <a:latin typeface="Georgia"/>
              </a:rPr>
              <a:t>The count follows every page of the scan, sends are batched ten to a call, and new regression tests lock all three fixes in.</a:t>
            </a:r>
          </a:p>
          <a:p>
            <a:pPr>
              <a:spcAft>
                <a:spcPts val="600"/>
              </a:spcAft>
            </a:pPr>
            <a:r>
              <a:rPr sz="1500" b="0">
                <a:solidFill>
                  <a:srgbClr val="232A26"/>
                </a:solidFill>
                <a:latin typeface="Georgia"/>
              </a:rPr>
              <a:t>In total, 3 silent emulator assumptions were found and fixed in one cloud-readiness audit.</a:t>
            </a:r>
          </a:p>
        </p:txBody>
      </p:sp>
      <p:sp>
        <p:nvSpPr>
          <p:cNvPr id="4" name="Rectangle 3"/>
          <p:cNvSpPr/>
          <p:nvPr/>
        </p:nvSpPr>
        <p:spPr>
          <a:xfrm>
            <a:off x="658368" y="1261872"/>
            <a:ext cx="3108960" cy="36576"/>
          </a:xfrm>
          <a:prstGeom prst="rect">
            <a:avLst/>
          </a:prstGeom>
          <a:solidFill>
            <a:srgbClr val="157A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384048"/>
            <a:ext cx="10972800" cy="868680"/>
          </a:xfrm>
        </p:spPr>
        <p:txBody>
          <a:bodyPr wrap="square" anchor="t"/>
          <a:lstStyle/>
          <a:p>
            <a:pPr algn="l"/>
            <a:r>
              <a:rPr b="1" sz="2700">
                <a:solidFill>
                  <a:srgbClr val="157A74"/>
                </a:solidFill>
                <a:latin typeface="Cambria"/>
              </a:rPr>
              <a:t>What this project shows</a:t>
            </a:r>
          </a:p>
        </p:txBody>
      </p:sp>
      <p:sp>
        <p:nvSpPr>
          <p:cNvPr id="3" name="Content Placeholder 2"/>
          <p:cNvSpPr>
            <a:spLocks noGrp="1"/>
          </p:cNvSpPr>
          <p:nvPr>
            <p:ph idx="1"/>
          </p:nvPr>
        </p:nvSpPr>
        <p:spPr>
          <a:xfrm>
            <a:off x="658368" y="1481328"/>
            <a:ext cx="10972800" cy="4846320"/>
          </a:xfrm>
        </p:spPr>
        <p:txBody>
          <a:bodyPr wrap="square">
            <a:normAutofit/>
          </a:bodyPr>
          <a:lstStyle/>
          <a:p>
            <a:pPr>
              <a:spcAft>
                <a:spcPts val="900"/>
              </a:spcAft>
            </a:pPr>
            <a:r>
              <a:rPr sz="1700" b="0">
                <a:solidFill>
                  <a:srgbClr val="232A26"/>
                </a:solidFill>
                <a:latin typeface="Georgia"/>
              </a:rPr>
              <a:t>Intelligence lives at the edge: alert decisions happen at the bedside gateway within a ten-second window, and the cloud receives compact aggregates, not raw streams.</a:t>
            </a:r>
          </a:p>
          <a:p>
            <a:pPr>
              <a:spcAft>
                <a:spcPts val="900"/>
              </a:spcAft>
            </a:pPr>
            <a:r>
              <a:rPr sz="1700" b="0">
                <a:solidFill>
                  <a:srgbClr val="232A26"/>
                </a:solidFill>
                <a:latin typeface="Georgia"/>
              </a:rPr>
              <a:t>The backbone is serverless: Amazon SQS, AWS Lambda and DynamoDB scale with no servers to manage, and one scripted step takes the pipeline from emulator to real AWS.</a:t>
            </a:r>
          </a:p>
          <a:p>
            <a:pPr>
              <a:spcAft>
                <a:spcPts val="900"/>
              </a:spcAft>
            </a:pPr>
            <a:r>
              <a:rPr sz="1700" b="1">
                <a:solidFill>
                  <a:srgbClr val="157A74"/>
                </a:solidFill>
                <a:latin typeface="Georgia"/>
              </a:rPr>
              <a:t>Verified, not assumed: 35 automated tests plus an end-to-end pipeline check, including the failure modes only the real cloud would expose.</a:t>
            </a:r>
          </a:p>
          <a:p>
            <a:pPr>
              <a:spcAft>
                <a:spcPts val="900"/>
              </a:spcAft>
            </a:pPr>
            <a:r>
              <a:rPr sz="1700" b="0">
                <a:solidFill>
                  <a:srgbClr val="232A26"/>
                </a:solidFill>
                <a:latin typeface="Georgia"/>
              </a:rPr>
              <a:t>Thank you. Questions?</a:t>
            </a:r>
          </a:p>
        </p:txBody>
      </p:sp>
      <p:sp>
        <p:nvSpPr>
          <p:cNvPr id="4" name="Rectangle 3"/>
          <p:cNvSpPr/>
          <p:nvPr/>
        </p:nvSpPr>
        <p:spPr>
          <a:xfrm>
            <a:off x="658368" y="1261872"/>
            <a:ext cx="3108960" cy="36576"/>
          </a:xfrm>
          <a:prstGeom prst="rect">
            <a:avLst/>
          </a:prstGeom>
          <a:solidFill>
            <a:srgbClr val="157A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