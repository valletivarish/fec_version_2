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33A"/>
        </a:solidFill>
      </p:bgPr>
    </p:bg>
    <p:spTree>
      <p:nvGrpSpPr>
        <p:cNvPr id="1" name=""/>
        <p:cNvGrpSpPr/>
        <p:nvPr/>
      </p:nvGrpSpPr>
      <p:grpSpPr>
        <a:xfrm>
          <a:off x="0" y="0"/>
          <a:ext cx="0" cy="0"/>
          <a:chOff x="0" y="0"/>
          <a:chExt cx="0" cy="0"/>
        </a:xfrm>
      </p:grpSpPr>
      <p:sp>
        <p:nvSpPr>
          <p:cNvPr id="2" name="Shape 0"/>
          <p:cNvSpPr/>
          <p:nvPr/>
        </p:nvSpPr>
        <p:spPr>
          <a:xfrm>
            <a:off x="9722815" y="-274320"/>
            <a:ext cx="2743200" cy="2743200"/>
          </a:xfrm>
          <a:prstGeom prst="ellipse">
            <a:avLst/>
          </a:prstGeom>
          <a:ln w="12700">
            <a:solidFill>
              <a:srgbClr val="2FB6A8"/>
            </a:solidFill>
            <a:prstDash val="solid"/>
          </a:ln>
        </p:spPr>
      </p:sp>
      <p:sp>
        <p:nvSpPr>
          <p:cNvPr id="3" name="Shape 1"/>
          <p:cNvSpPr/>
          <p:nvPr/>
        </p:nvSpPr>
        <p:spPr>
          <a:xfrm>
            <a:off x="10180015" y="182880"/>
            <a:ext cx="1828800" cy="1828800"/>
          </a:xfrm>
          <a:prstGeom prst="ellipse">
            <a:avLst/>
          </a:prstGeom>
          <a:ln w="12700">
            <a:solidFill>
              <a:srgbClr val="2FB6A8"/>
            </a:solidFill>
            <a:prstDash val="solid"/>
          </a:ln>
        </p:spPr>
      </p:sp>
      <p:sp>
        <p:nvSpPr>
          <p:cNvPr id="4" name="Shape 2"/>
          <p:cNvSpPr/>
          <p:nvPr/>
        </p:nvSpPr>
        <p:spPr>
          <a:xfrm>
            <a:off x="10637215" y="640080"/>
            <a:ext cx="914400" cy="914400"/>
          </a:xfrm>
          <a:prstGeom prst="ellipse">
            <a:avLst/>
          </a:prstGeom>
          <a:solidFill>
            <a:srgbClr val="2FB6A8"/>
          </a:solidFill>
          <a:ln w="12700">
            <a:solidFill>
              <a:srgbClr val="2FB6A8"/>
            </a:solidFill>
            <a:prstDash val="solid"/>
          </a:ln>
        </p:spPr>
      </p:sp>
      <p:sp>
        <p:nvSpPr>
          <p:cNvPr id="5" name="Text 3"/>
          <p:cNvSpPr/>
          <p:nvPr/>
        </p:nvSpPr>
        <p:spPr>
          <a:xfrm>
            <a:off x="758952" y="1645920"/>
            <a:ext cx="10637215" cy="1645920"/>
          </a:xfrm>
          <a:prstGeom prst="rect">
            <a:avLst/>
          </a:prstGeom>
          <a:noFill/>
          <a:ln/>
        </p:spPr>
        <p:txBody>
          <a:bodyPr wrap="square" rtlCol="0" anchor="t"/>
          <a:lstStyle/>
          <a:p>
            <a:pPr indent="0" marL="0">
              <a:lnSpc>
                <a:spcPct val="98000"/>
              </a:lnSpc>
              <a:buNone/>
            </a:pPr>
            <a:r>
              <a:rPr lang="en-US" sz="3800" b="1" dirty="0">
                <a:solidFill>
                  <a:srgbClr val="EDF3EF"/>
                </a:solidFill>
                <a:latin typeface="Calibri" pitchFamily="34" charset="0"/>
                <a:ea typeface="Calibri" pitchFamily="34" charset="-122"/>
                <a:cs typeface="Calibri" pitchFamily="34" charset="-120"/>
              </a:rPr>
              <a:t>Aquaculture Fish Farm Water Quality</a:t>
            </a:r>
            <a:endParaRPr lang="en-US" sz="3800" dirty="0"/>
          </a:p>
        </p:txBody>
      </p:sp>
      <p:sp>
        <p:nvSpPr>
          <p:cNvPr id="6" name="Text 4"/>
          <p:cNvSpPr/>
          <p:nvPr/>
        </p:nvSpPr>
        <p:spPr>
          <a:xfrm>
            <a:off x="777240" y="3337560"/>
            <a:ext cx="10637215" cy="365760"/>
          </a:xfrm>
          <a:prstGeom prst="rect">
            <a:avLst/>
          </a:prstGeom>
          <a:noFill/>
          <a:ln/>
        </p:spPr>
        <p:txBody>
          <a:bodyPr wrap="square" rtlCol="0" anchor="ctr"/>
          <a:lstStyle/>
          <a:p>
            <a:pPr indent="0" marL="0">
              <a:buNone/>
            </a:pPr>
            <a:r>
              <a:rPr lang="en-US" sz="1450" dirty="0">
                <a:solidFill>
                  <a:srgbClr val="8B98A6"/>
                </a:solidFill>
                <a:latin typeface="Calibri" pitchFamily="34" charset="0"/>
                <a:ea typeface="Calibri" pitchFamily="34" charset="-122"/>
                <a:cs typeface="Calibri" pitchFamily="34" charset="-120"/>
              </a:rPr>
              <a:t>Anjaneya Reddy Gurram   ·   24288853</a:t>
            </a:r>
            <a:endParaRPr lang="en-US" sz="1450" dirty="0"/>
          </a:p>
        </p:txBody>
      </p:sp>
      <p:sp>
        <p:nvSpPr>
          <p:cNvPr id="7" name="Text 5"/>
          <p:cNvSpPr/>
          <p:nvPr/>
        </p:nvSpPr>
        <p:spPr>
          <a:xfrm>
            <a:off x="777240" y="3931920"/>
            <a:ext cx="8138160" cy="1325880"/>
          </a:xfrm>
          <a:prstGeom prst="rect">
            <a:avLst/>
          </a:prstGeom>
          <a:noFill/>
          <a:ln/>
        </p:spPr>
        <p:txBody>
          <a:bodyPr wrap="square" rtlCol="0" anchor="t"/>
          <a:lstStyle/>
          <a:p>
            <a:pPr indent="0" marL="0">
              <a:lnSpc>
                <a:spcPct val="130000"/>
              </a:lnSpc>
              <a:buNone/>
            </a:pPr>
            <a:r>
              <a:rPr lang="en-US" sz="1400" dirty="0">
                <a:solidFill>
                  <a:srgbClr val="EDF3EF"/>
                </a:solidFill>
                <a:latin typeface="Calibri" pitchFamily="34" charset="0"/>
                <a:ea typeface="Calibri" pitchFamily="34" charset="-122"/>
                <a:cs typeface="Calibri" pitchFamily="34" charset="-120"/>
              </a:rPr>
              <a:t>A warm, still night can crash dissolved oxygen and push ammonia up over a few hours — entirely inside the gap between two once-a-day manual water checks.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333A"/>
        </a:solidFill>
      </p:bgPr>
    </p:bg>
    <p:spTree>
      <p:nvGrpSpPr>
        <p:cNvPr id="1" name=""/>
        <p:cNvGrpSpPr/>
        <p:nvPr/>
      </p:nvGrpSpPr>
      <p:grpSpPr>
        <a:xfrm>
          <a:off x="0" y="0"/>
          <a:ext cx="0" cy="0"/>
          <a:chOff x="0" y="0"/>
          <a:chExt cx="0" cy="0"/>
        </a:xfrm>
      </p:grpSpPr>
      <p:sp>
        <p:nvSpPr>
          <p:cNvPr id="2" name="Shape 0"/>
          <p:cNvSpPr/>
          <p:nvPr/>
        </p:nvSpPr>
        <p:spPr>
          <a:xfrm>
            <a:off x="9722815" y="-274320"/>
            <a:ext cx="2743200" cy="2743200"/>
          </a:xfrm>
          <a:prstGeom prst="ellipse">
            <a:avLst/>
          </a:prstGeom>
          <a:ln w="12700">
            <a:solidFill>
              <a:srgbClr val="2FB6A8"/>
            </a:solidFill>
            <a:prstDash val="solid"/>
          </a:ln>
        </p:spPr>
      </p:sp>
      <p:sp>
        <p:nvSpPr>
          <p:cNvPr id="3" name="Shape 1"/>
          <p:cNvSpPr/>
          <p:nvPr/>
        </p:nvSpPr>
        <p:spPr>
          <a:xfrm>
            <a:off x="10180015" y="182880"/>
            <a:ext cx="1828800" cy="1828800"/>
          </a:xfrm>
          <a:prstGeom prst="ellipse">
            <a:avLst/>
          </a:prstGeom>
          <a:ln w="12700">
            <a:solidFill>
              <a:srgbClr val="2FB6A8"/>
            </a:solidFill>
            <a:prstDash val="solid"/>
          </a:ln>
        </p:spPr>
      </p:sp>
      <p:sp>
        <p:nvSpPr>
          <p:cNvPr id="4" name="Shape 2"/>
          <p:cNvSpPr/>
          <p:nvPr/>
        </p:nvSpPr>
        <p:spPr>
          <a:xfrm>
            <a:off x="10637215" y="640080"/>
            <a:ext cx="914400" cy="914400"/>
          </a:xfrm>
          <a:prstGeom prst="ellipse">
            <a:avLst/>
          </a:prstGeom>
          <a:solidFill>
            <a:srgbClr val="2FB6A8"/>
          </a:solidFill>
          <a:ln w="12700">
            <a:solidFill>
              <a:srgbClr val="2FB6A8"/>
            </a:solidFill>
            <a:prstDash val="solid"/>
          </a:ln>
        </p:spPr>
      </p:sp>
      <p:sp>
        <p:nvSpPr>
          <p:cNvPr id="5" name="Text 3"/>
          <p:cNvSpPr/>
          <p:nvPr/>
        </p:nvSpPr>
        <p:spPr>
          <a:xfrm>
            <a:off x="777240" y="731520"/>
            <a:ext cx="914400" cy="640080"/>
          </a:xfrm>
          <a:prstGeom prst="rect">
            <a:avLst/>
          </a:prstGeom>
          <a:noFill/>
          <a:ln/>
        </p:spPr>
        <p:txBody>
          <a:bodyPr wrap="square" lIns="0" tIns="0" rIns="0" bIns="0" rtlCol="0" anchor="ctr"/>
          <a:lstStyle/>
          <a:p>
            <a:pPr indent="0" marL="0">
              <a:buNone/>
            </a:pPr>
            <a:r>
              <a:rPr lang="en-US" sz="3000" b="1" dirty="0">
                <a:solidFill>
                  <a:srgbClr val="2FB6A8"/>
                </a:solidFill>
                <a:latin typeface="Calibri" pitchFamily="34" charset="0"/>
                <a:ea typeface="Calibri" pitchFamily="34" charset="-122"/>
                <a:cs typeface="Calibri" pitchFamily="34" charset="-120"/>
              </a:rPr>
              <a:t>01</a:t>
            </a:r>
            <a:endParaRPr lang="en-US" sz="3000" dirty="0"/>
          </a:p>
        </p:txBody>
      </p:sp>
      <p:sp>
        <p:nvSpPr>
          <p:cNvPr id="6" name="Text 4"/>
          <p:cNvSpPr/>
          <p:nvPr/>
        </p:nvSpPr>
        <p:spPr>
          <a:xfrm>
            <a:off x="1645920" y="905256"/>
            <a:ext cx="9768535" cy="274320"/>
          </a:xfrm>
          <a:prstGeom prst="rect">
            <a:avLst/>
          </a:prstGeom>
          <a:noFill/>
          <a:ln/>
        </p:spPr>
        <p:txBody>
          <a:bodyPr wrap="square" lIns="0" tIns="0" rIns="0" bIns="0" rtlCol="0" anchor="ctr"/>
          <a:lstStyle/>
          <a:p>
            <a:pPr indent="0" marL="0">
              <a:buNone/>
            </a:pPr>
            <a:r>
              <a:rPr lang="en-US" sz="1100" b="1" spc="200" kern="0" dirty="0">
                <a:solidFill>
                  <a:srgbClr val="8B98A6"/>
                </a:solidFill>
                <a:latin typeface="Calibri" pitchFamily="34" charset="0"/>
                <a:ea typeface="Calibri" pitchFamily="34" charset="-122"/>
                <a:cs typeface="Calibri" pitchFamily="34" charset="-120"/>
              </a:rPr>
              <a:t>ARCHITECTURE</a:t>
            </a:r>
            <a:endParaRPr lang="en-US" sz="1100" dirty="0"/>
          </a:p>
        </p:txBody>
      </p:sp>
      <p:sp>
        <p:nvSpPr>
          <p:cNvPr id="7" name="Text 5"/>
          <p:cNvSpPr/>
          <p:nvPr/>
        </p:nvSpPr>
        <p:spPr>
          <a:xfrm>
            <a:off x="777240" y="1380744"/>
            <a:ext cx="10637215" cy="640080"/>
          </a:xfrm>
          <a:prstGeom prst="rect">
            <a:avLst/>
          </a:prstGeom>
          <a:noFill/>
          <a:ln/>
        </p:spPr>
        <p:txBody>
          <a:bodyPr wrap="square" lIns="0" tIns="0" rIns="0" bIns="0" rtlCol="0" anchor="ctr"/>
          <a:lstStyle/>
          <a:p>
            <a:pPr indent="0" marL="0">
              <a:buNone/>
            </a:pPr>
            <a:r>
              <a:rPr lang="en-US" sz="2300" b="1" dirty="0">
                <a:solidFill>
                  <a:srgbClr val="EDF3EF"/>
                </a:solidFill>
                <a:latin typeface="Calibri" pitchFamily="34" charset="0"/>
                <a:ea typeface="Calibri" pitchFamily="34" charset="-122"/>
                <a:cs typeface="Calibri" pitchFamily="34" charset="-120"/>
              </a:rPr>
              <a:t>What I Built — Pond to Cloud</a:t>
            </a:r>
            <a:endParaRPr lang="en-US" sz="2300" dirty="0"/>
          </a:p>
        </p:txBody>
      </p:sp>
      <p:sp>
        <p:nvSpPr>
          <p:cNvPr id="8" name="Shape 6"/>
          <p:cNvSpPr/>
          <p:nvPr/>
        </p:nvSpPr>
        <p:spPr>
          <a:xfrm>
            <a:off x="777240" y="2971800"/>
            <a:ext cx="1391869" cy="1965960"/>
          </a:xfrm>
          <a:prstGeom prst="roundRect">
            <a:avLst>
              <a:gd name="adj" fmla="val 7884"/>
            </a:avLst>
          </a:prstGeom>
          <a:solidFill>
            <a:srgbClr val="2FB6A8"/>
          </a:solidFill>
          <a:ln w="12700">
            <a:solidFill>
              <a:srgbClr val="2FB6A8"/>
            </a:solidFill>
            <a:prstDash val="solid"/>
          </a:ln>
        </p:spPr>
      </p:sp>
      <p:sp>
        <p:nvSpPr>
          <p:cNvPr id="9" name="Text 7"/>
          <p:cNvSpPr/>
          <p:nvPr/>
        </p:nvSpPr>
        <p:spPr>
          <a:xfrm>
            <a:off x="923544" y="3154680"/>
            <a:ext cx="1099261" cy="320040"/>
          </a:xfrm>
          <a:prstGeom prst="rect">
            <a:avLst/>
          </a:prstGeom>
          <a:noFill/>
          <a:ln/>
        </p:spPr>
        <p:txBody>
          <a:bodyPr wrap="square" lIns="0" tIns="0" rIns="0" bIns="0" rtlCol="0" anchor="ctr"/>
          <a:lstStyle/>
          <a:p>
            <a:pPr indent="0" marL="0">
              <a:buNone/>
            </a:pPr>
            <a:r>
              <a:rPr lang="en-US" sz="1100" dirty="0">
                <a:solidFill>
                  <a:srgbClr val="FFFFFF"/>
                </a:solidFill>
                <a:latin typeface="Consolas" pitchFamily="34" charset="0"/>
                <a:ea typeface="Consolas" pitchFamily="34" charset="-122"/>
                <a:cs typeface="Consolas" pitchFamily="34" charset="-120"/>
              </a:rPr>
              <a:t>01</a:t>
            </a:r>
            <a:endParaRPr lang="en-US" sz="1100" dirty="0"/>
          </a:p>
        </p:txBody>
      </p:sp>
      <p:sp>
        <p:nvSpPr>
          <p:cNvPr id="10" name="Text 8"/>
          <p:cNvSpPr/>
          <p:nvPr/>
        </p:nvSpPr>
        <p:spPr>
          <a:xfrm>
            <a:off x="923544" y="3593592"/>
            <a:ext cx="1099261" cy="868680"/>
          </a:xfrm>
          <a:prstGeom prst="rect">
            <a:avLst/>
          </a:prstGeom>
          <a:noFill/>
          <a:ln/>
        </p:spPr>
        <p:txBody>
          <a:bodyPr wrap="square" lIns="0" tIns="0" rIns="0" bIns="0" rtlCol="0" anchor="t"/>
          <a:lstStyle/>
          <a:p>
            <a:pPr indent="0" marL="0">
              <a:lnSpc>
                <a:spcPct val="96000"/>
              </a:lnSpc>
              <a:buNone/>
            </a:pPr>
            <a:r>
              <a:rPr lang="en-US" sz="1300" b="1" dirty="0">
                <a:solidFill>
                  <a:srgbClr val="FFFFFF"/>
                </a:solidFill>
                <a:latin typeface="Calibri" pitchFamily="34" charset="0"/>
                <a:ea typeface="Calibri" pitchFamily="34" charset="-122"/>
                <a:cs typeface="Calibri" pitchFamily="34" charset="-120"/>
              </a:rPr>
              <a:t>Pond sensors</a:t>
            </a:r>
            <a:endParaRPr lang="en-US" sz="1300" dirty="0"/>
          </a:p>
        </p:txBody>
      </p:sp>
      <p:sp>
        <p:nvSpPr>
          <p:cNvPr id="11" name="Text 9"/>
          <p:cNvSpPr/>
          <p:nvPr/>
        </p:nvSpPr>
        <p:spPr>
          <a:xfrm>
            <a:off x="923544" y="4453128"/>
            <a:ext cx="1099261" cy="36576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10 · 2 ponds · 5 metrics</a:t>
            </a:r>
            <a:endParaRPr lang="en-US" sz="900" dirty="0"/>
          </a:p>
        </p:txBody>
      </p:sp>
      <p:sp>
        <p:nvSpPr>
          <p:cNvPr id="12" name="Shape 10"/>
          <p:cNvSpPr/>
          <p:nvPr/>
        </p:nvSpPr>
        <p:spPr>
          <a:xfrm>
            <a:off x="2242261" y="3845052"/>
            <a:ext cx="310896" cy="219456"/>
          </a:xfrm>
          <a:prstGeom prst="rightArrow">
            <a:avLst/>
          </a:prstGeom>
          <a:solidFill>
            <a:srgbClr val="8B98A6"/>
          </a:solidFill>
          <a:ln/>
        </p:spPr>
      </p:sp>
      <p:sp>
        <p:nvSpPr>
          <p:cNvPr id="13" name="Shape 11"/>
          <p:cNvSpPr/>
          <p:nvPr/>
        </p:nvSpPr>
        <p:spPr>
          <a:xfrm>
            <a:off x="2626309" y="2971800"/>
            <a:ext cx="1391869" cy="1965960"/>
          </a:xfrm>
          <a:prstGeom prst="roundRect">
            <a:avLst>
              <a:gd name="adj" fmla="val 7884"/>
            </a:avLst>
          </a:prstGeom>
          <a:solidFill>
            <a:srgbClr val="2FB6A8"/>
          </a:solidFill>
          <a:ln w="12700">
            <a:solidFill>
              <a:srgbClr val="2FB6A8"/>
            </a:solidFill>
            <a:prstDash val="solid"/>
          </a:ln>
        </p:spPr>
      </p:sp>
      <p:sp>
        <p:nvSpPr>
          <p:cNvPr id="14" name="Text 12"/>
          <p:cNvSpPr/>
          <p:nvPr/>
        </p:nvSpPr>
        <p:spPr>
          <a:xfrm>
            <a:off x="2772613" y="3154680"/>
            <a:ext cx="1099261" cy="320040"/>
          </a:xfrm>
          <a:prstGeom prst="rect">
            <a:avLst/>
          </a:prstGeom>
          <a:noFill/>
          <a:ln/>
        </p:spPr>
        <p:txBody>
          <a:bodyPr wrap="square" lIns="0" tIns="0" rIns="0" bIns="0" rtlCol="0" anchor="ctr"/>
          <a:lstStyle/>
          <a:p>
            <a:pPr indent="0" marL="0">
              <a:buNone/>
            </a:pPr>
            <a:r>
              <a:rPr lang="en-US" sz="1100" dirty="0">
                <a:solidFill>
                  <a:srgbClr val="FFFFFF"/>
                </a:solidFill>
                <a:latin typeface="Consolas" pitchFamily="34" charset="0"/>
                <a:ea typeface="Consolas" pitchFamily="34" charset="-122"/>
                <a:cs typeface="Consolas" pitchFamily="34" charset="-120"/>
              </a:rPr>
              <a:t>02</a:t>
            </a:r>
            <a:endParaRPr lang="en-US" sz="1100" dirty="0"/>
          </a:p>
        </p:txBody>
      </p:sp>
      <p:sp>
        <p:nvSpPr>
          <p:cNvPr id="15" name="Text 13"/>
          <p:cNvSpPr/>
          <p:nvPr/>
        </p:nvSpPr>
        <p:spPr>
          <a:xfrm>
            <a:off x="2772613" y="3593592"/>
            <a:ext cx="1099261" cy="868680"/>
          </a:xfrm>
          <a:prstGeom prst="rect">
            <a:avLst/>
          </a:prstGeom>
          <a:noFill/>
          <a:ln/>
        </p:spPr>
        <p:txBody>
          <a:bodyPr wrap="square" lIns="0" tIns="0" rIns="0" bIns="0" rtlCol="0" anchor="t"/>
          <a:lstStyle/>
          <a:p>
            <a:pPr indent="0" marL="0">
              <a:lnSpc>
                <a:spcPct val="96000"/>
              </a:lnSpc>
              <a:buNone/>
            </a:pPr>
            <a:r>
              <a:rPr lang="en-US" sz="1300" b="1" dirty="0">
                <a:solidFill>
                  <a:srgbClr val="FFFFFF"/>
                </a:solidFill>
                <a:latin typeface="Calibri" pitchFamily="34" charset="0"/>
                <a:ea typeface="Calibri" pitchFamily="34" charset="-122"/>
                <a:cs typeface="Calibri" pitchFamily="34" charset="-120"/>
              </a:rPr>
              <a:t>Fog gateway</a:t>
            </a:r>
            <a:endParaRPr lang="en-US" sz="1300" dirty="0"/>
          </a:p>
        </p:txBody>
      </p:sp>
      <p:sp>
        <p:nvSpPr>
          <p:cNvPr id="16" name="Text 14"/>
          <p:cNvSpPr/>
          <p:nvPr/>
        </p:nvSpPr>
        <p:spPr>
          <a:xfrm>
            <a:off x="2772613" y="4453128"/>
            <a:ext cx="1099261" cy="36576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10 s windows · rules</a:t>
            </a:r>
            <a:endParaRPr lang="en-US" sz="900" dirty="0"/>
          </a:p>
        </p:txBody>
      </p:sp>
      <p:sp>
        <p:nvSpPr>
          <p:cNvPr id="17" name="Shape 15"/>
          <p:cNvSpPr/>
          <p:nvPr/>
        </p:nvSpPr>
        <p:spPr>
          <a:xfrm>
            <a:off x="4091330" y="3845052"/>
            <a:ext cx="310896" cy="219456"/>
          </a:xfrm>
          <a:prstGeom prst="rightArrow">
            <a:avLst/>
          </a:prstGeom>
          <a:solidFill>
            <a:srgbClr val="8B98A6"/>
          </a:solidFill>
          <a:ln/>
        </p:spPr>
      </p:sp>
      <p:sp>
        <p:nvSpPr>
          <p:cNvPr id="18" name="Shape 16"/>
          <p:cNvSpPr/>
          <p:nvPr/>
        </p:nvSpPr>
        <p:spPr>
          <a:xfrm>
            <a:off x="4475378" y="2971800"/>
            <a:ext cx="1391869" cy="1965960"/>
          </a:xfrm>
          <a:prstGeom prst="roundRect">
            <a:avLst>
              <a:gd name="adj" fmla="val 7884"/>
            </a:avLst>
          </a:prstGeom>
          <a:solidFill>
            <a:srgbClr val="1A4249"/>
          </a:solidFill>
          <a:ln w="12700">
            <a:solidFill>
              <a:srgbClr val="2E565D"/>
            </a:solidFill>
            <a:prstDash val="solid"/>
          </a:ln>
        </p:spPr>
      </p:sp>
      <p:sp>
        <p:nvSpPr>
          <p:cNvPr id="19" name="Text 17"/>
          <p:cNvSpPr/>
          <p:nvPr/>
        </p:nvSpPr>
        <p:spPr>
          <a:xfrm>
            <a:off x="4621682" y="3154680"/>
            <a:ext cx="1099261" cy="320040"/>
          </a:xfrm>
          <a:prstGeom prst="rect">
            <a:avLst/>
          </a:prstGeom>
          <a:noFill/>
          <a:ln/>
        </p:spPr>
        <p:txBody>
          <a:bodyPr wrap="square" lIns="0" tIns="0" rIns="0" bIns="0" rtlCol="0" anchor="ctr"/>
          <a:lstStyle/>
          <a:p>
            <a:pPr indent="0" marL="0">
              <a:buNone/>
            </a:pPr>
            <a:r>
              <a:rPr lang="en-US" sz="1100" dirty="0">
                <a:solidFill>
                  <a:srgbClr val="2FB6A8"/>
                </a:solidFill>
                <a:latin typeface="Consolas" pitchFamily="34" charset="0"/>
                <a:ea typeface="Consolas" pitchFamily="34" charset="-122"/>
                <a:cs typeface="Consolas" pitchFamily="34" charset="-120"/>
              </a:rPr>
              <a:t>03</a:t>
            </a:r>
            <a:endParaRPr lang="en-US" sz="1100" dirty="0"/>
          </a:p>
        </p:txBody>
      </p:sp>
      <p:sp>
        <p:nvSpPr>
          <p:cNvPr id="20" name="Text 18"/>
          <p:cNvSpPr/>
          <p:nvPr/>
        </p:nvSpPr>
        <p:spPr>
          <a:xfrm>
            <a:off x="4621682" y="3593592"/>
            <a:ext cx="1099261" cy="868680"/>
          </a:xfrm>
          <a:prstGeom prst="rect">
            <a:avLst/>
          </a:prstGeom>
          <a:noFill/>
          <a:ln/>
        </p:spPr>
        <p:txBody>
          <a:bodyPr wrap="square" lIns="0" tIns="0" rIns="0" bIns="0" rtlCol="0" anchor="t"/>
          <a:lstStyle/>
          <a:p>
            <a:pPr indent="0" marL="0">
              <a:lnSpc>
                <a:spcPct val="96000"/>
              </a:lnSpc>
              <a:buNone/>
            </a:pPr>
            <a:r>
              <a:rPr lang="en-US" sz="1300" b="1" dirty="0">
                <a:solidFill>
                  <a:srgbClr val="EDF3EF"/>
                </a:solidFill>
                <a:latin typeface="Calibri" pitchFamily="34" charset="0"/>
                <a:ea typeface="Calibri" pitchFamily="34" charset="-122"/>
                <a:cs typeface="Calibri" pitchFamily="34" charset="-120"/>
              </a:rPr>
              <a:t>Amazon SQS</a:t>
            </a:r>
            <a:endParaRPr lang="en-US" sz="1300" dirty="0"/>
          </a:p>
        </p:txBody>
      </p:sp>
      <p:sp>
        <p:nvSpPr>
          <p:cNvPr id="21" name="Text 19"/>
          <p:cNvSpPr/>
          <p:nvPr/>
        </p:nvSpPr>
        <p:spPr>
          <a:xfrm>
            <a:off x="4621682" y="4453128"/>
            <a:ext cx="1099261" cy="365760"/>
          </a:xfrm>
          <a:prstGeom prst="rect">
            <a:avLst/>
          </a:prstGeom>
          <a:noFill/>
          <a:ln/>
        </p:spPr>
        <p:txBody>
          <a:bodyPr wrap="square" lIns="0" tIns="0" rIns="0" bIns="0" rtlCol="0" anchor="ctr"/>
          <a:lstStyle/>
          <a:p>
            <a:pPr indent="0" marL="0">
              <a:buNone/>
            </a:pPr>
            <a:r>
              <a:rPr lang="en-US" sz="900" dirty="0">
                <a:solidFill>
                  <a:srgbClr val="8B98A6"/>
                </a:solidFill>
                <a:latin typeface="Calibri" pitchFamily="34" charset="0"/>
                <a:ea typeface="Calibri" pitchFamily="34" charset="-122"/>
                <a:cs typeface="Calibri" pitchFamily="34" charset="-120"/>
              </a:rPr>
              <a:t>1 batched send / cycle</a:t>
            </a:r>
            <a:endParaRPr lang="en-US" sz="900" dirty="0"/>
          </a:p>
        </p:txBody>
      </p:sp>
      <p:sp>
        <p:nvSpPr>
          <p:cNvPr id="22" name="Shape 20"/>
          <p:cNvSpPr/>
          <p:nvPr/>
        </p:nvSpPr>
        <p:spPr>
          <a:xfrm>
            <a:off x="5940400" y="3845052"/>
            <a:ext cx="310896" cy="219456"/>
          </a:xfrm>
          <a:prstGeom prst="rightArrow">
            <a:avLst/>
          </a:prstGeom>
          <a:solidFill>
            <a:srgbClr val="8B98A6"/>
          </a:solidFill>
          <a:ln/>
        </p:spPr>
      </p:sp>
      <p:sp>
        <p:nvSpPr>
          <p:cNvPr id="23" name="Shape 21"/>
          <p:cNvSpPr/>
          <p:nvPr/>
        </p:nvSpPr>
        <p:spPr>
          <a:xfrm>
            <a:off x="6324448" y="2971800"/>
            <a:ext cx="1391869" cy="1965960"/>
          </a:xfrm>
          <a:prstGeom prst="roundRect">
            <a:avLst>
              <a:gd name="adj" fmla="val 7884"/>
            </a:avLst>
          </a:prstGeom>
          <a:solidFill>
            <a:srgbClr val="1A4249"/>
          </a:solidFill>
          <a:ln w="12700">
            <a:solidFill>
              <a:srgbClr val="2E565D"/>
            </a:solidFill>
            <a:prstDash val="solid"/>
          </a:ln>
        </p:spPr>
      </p:sp>
      <p:sp>
        <p:nvSpPr>
          <p:cNvPr id="24" name="Text 22"/>
          <p:cNvSpPr/>
          <p:nvPr/>
        </p:nvSpPr>
        <p:spPr>
          <a:xfrm>
            <a:off x="6470752" y="3154680"/>
            <a:ext cx="1099261" cy="320040"/>
          </a:xfrm>
          <a:prstGeom prst="rect">
            <a:avLst/>
          </a:prstGeom>
          <a:noFill/>
          <a:ln/>
        </p:spPr>
        <p:txBody>
          <a:bodyPr wrap="square" lIns="0" tIns="0" rIns="0" bIns="0" rtlCol="0" anchor="ctr"/>
          <a:lstStyle/>
          <a:p>
            <a:pPr indent="0" marL="0">
              <a:buNone/>
            </a:pPr>
            <a:r>
              <a:rPr lang="en-US" sz="1100" dirty="0">
                <a:solidFill>
                  <a:srgbClr val="2FB6A8"/>
                </a:solidFill>
                <a:latin typeface="Consolas" pitchFamily="34" charset="0"/>
                <a:ea typeface="Consolas" pitchFamily="34" charset="-122"/>
                <a:cs typeface="Consolas" pitchFamily="34" charset="-120"/>
              </a:rPr>
              <a:t>04</a:t>
            </a:r>
            <a:endParaRPr lang="en-US" sz="1100" dirty="0"/>
          </a:p>
        </p:txBody>
      </p:sp>
      <p:sp>
        <p:nvSpPr>
          <p:cNvPr id="25" name="Text 23"/>
          <p:cNvSpPr/>
          <p:nvPr/>
        </p:nvSpPr>
        <p:spPr>
          <a:xfrm>
            <a:off x="6470752" y="3593592"/>
            <a:ext cx="1099261" cy="868680"/>
          </a:xfrm>
          <a:prstGeom prst="rect">
            <a:avLst/>
          </a:prstGeom>
          <a:noFill/>
          <a:ln/>
        </p:spPr>
        <p:txBody>
          <a:bodyPr wrap="square" lIns="0" tIns="0" rIns="0" bIns="0" rtlCol="0" anchor="t"/>
          <a:lstStyle/>
          <a:p>
            <a:pPr indent="0" marL="0">
              <a:lnSpc>
                <a:spcPct val="96000"/>
              </a:lnSpc>
              <a:buNone/>
            </a:pPr>
            <a:r>
              <a:rPr lang="en-US" sz="1300" b="1" dirty="0">
                <a:solidFill>
                  <a:srgbClr val="EDF3EF"/>
                </a:solidFill>
                <a:latin typeface="Calibri" pitchFamily="34" charset="0"/>
                <a:ea typeface="Calibri" pitchFamily="34" charset="-122"/>
                <a:cs typeface="Calibri" pitchFamily="34" charset="-120"/>
              </a:rPr>
              <a:t>AWS Lambda</a:t>
            </a:r>
            <a:endParaRPr lang="en-US" sz="1300" dirty="0"/>
          </a:p>
        </p:txBody>
      </p:sp>
      <p:sp>
        <p:nvSpPr>
          <p:cNvPr id="26" name="Text 24"/>
          <p:cNvSpPr/>
          <p:nvPr/>
        </p:nvSpPr>
        <p:spPr>
          <a:xfrm>
            <a:off x="6470752" y="4453128"/>
            <a:ext cx="1099261" cy="365760"/>
          </a:xfrm>
          <a:prstGeom prst="rect">
            <a:avLst/>
          </a:prstGeom>
          <a:noFill/>
          <a:ln/>
        </p:spPr>
        <p:txBody>
          <a:bodyPr wrap="square" lIns="0" tIns="0" rIns="0" bIns="0" rtlCol="0" anchor="ctr"/>
          <a:lstStyle/>
          <a:p>
            <a:pPr indent="0" marL="0">
              <a:buNone/>
            </a:pPr>
            <a:r>
              <a:rPr lang="en-US" sz="900" dirty="0">
                <a:solidFill>
                  <a:srgbClr val="8B98A6"/>
                </a:solidFill>
                <a:latin typeface="Calibri" pitchFamily="34" charset="0"/>
                <a:ea typeface="Calibri" pitchFamily="34" charset="-122"/>
                <a:cs typeface="Calibri" pitchFamily="34" charset="-120"/>
              </a:rPr>
              <a:t>java17 ingest</a:t>
            </a:r>
            <a:endParaRPr lang="en-US" sz="900" dirty="0"/>
          </a:p>
        </p:txBody>
      </p:sp>
      <p:sp>
        <p:nvSpPr>
          <p:cNvPr id="27" name="Shape 25"/>
          <p:cNvSpPr/>
          <p:nvPr/>
        </p:nvSpPr>
        <p:spPr>
          <a:xfrm>
            <a:off x="7789469" y="3845052"/>
            <a:ext cx="310896" cy="219456"/>
          </a:xfrm>
          <a:prstGeom prst="rightArrow">
            <a:avLst/>
          </a:prstGeom>
          <a:solidFill>
            <a:srgbClr val="8B98A6"/>
          </a:solidFill>
          <a:ln/>
        </p:spPr>
      </p:sp>
      <p:sp>
        <p:nvSpPr>
          <p:cNvPr id="28" name="Shape 26"/>
          <p:cNvSpPr/>
          <p:nvPr/>
        </p:nvSpPr>
        <p:spPr>
          <a:xfrm>
            <a:off x="8173517" y="2971800"/>
            <a:ext cx="1391869" cy="1965960"/>
          </a:xfrm>
          <a:prstGeom prst="roundRect">
            <a:avLst>
              <a:gd name="adj" fmla="val 7884"/>
            </a:avLst>
          </a:prstGeom>
          <a:solidFill>
            <a:srgbClr val="1A4249"/>
          </a:solidFill>
          <a:ln w="12700">
            <a:solidFill>
              <a:srgbClr val="2E565D"/>
            </a:solidFill>
            <a:prstDash val="solid"/>
          </a:ln>
        </p:spPr>
      </p:sp>
      <p:sp>
        <p:nvSpPr>
          <p:cNvPr id="29" name="Text 27"/>
          <p:cNvSpPr/>
          <p:nvPr/>
        </p:nvSpPr>
        <p:spPr>
          <a:xfrm>
            <a:off x="8319821" y="3154680"/>
            <a:ext cx="1099261" cy="320040"/>
          </a:xfrm>
          <a:prstGeom prst="rect">
            <a:avLst/>
          </a:prstGeom>
          <a:noFill/>
          <a:ln/>
        </p:spPr>
        <p:txBody>
          <a:bodyPr wrap="square" lIns="0" tIns="0" rIns="0" bIns="0" rtlCol="0" anchor="ctr"/>
          <a:lstStyle/>
          <a:p>
            <a:pPr indent="0" marL="0">
              <a:buNone/>
            </a:pPr>
            <a:r>
              <a:rPr lang="en-US" sz="1100" dirty="0">
                <a:solidFill>
                  <a:srgbClr val="2FB6A8"/>
                </a:solidFill>
                <a:latin typeface="Consolas" pitchFamily="34" charset="0"/>
                <a:ea typeface="Consolas" pitchFamily="34" charset="-122"/>
                <a:cs typeface="Consolas" pitchFamily="34" charset="-120"/>
              </a:rPr>
              <a:t>05</a:t>
            </a:r>
            <a:endParaRPr lang="en-US" sz="1100" dirty="0"/>
          </a:p>
        </p:txBody>
      </p:sp>
      <p:sp>
        <p:nvSpPr>
          <p:cNvPr id="30" name="Text 28"/>
          <p:cNvSpPr/>
          <p:nvPr/>
        </p:nvSpPr>
        <p:spPr>
          <a:xfrm>
            <a:off x="8319821" y="3593592"/>
            <a:ext cx="1099261" cy="868680"/>
          </a:xfrm>
          <a:prstGeom prst="rect">
            <a:avLst/>
          </a:prstGeom>
          <a:noFill/>
          <a:ln/>
        </p:spPr>
        <p:txBody>
          <a:bodyPr wrap="square" lIns="0" tIns="0" rIns="0" bIns="0" rtlCol="0" anchor="t"/>
          <a:lstStyle/>
          <a:p>
            <a:pPr indent="0" marL="0">
              <a:lnSpc>
                <a:spcPct val="96000"/>
              </a:lnSpc>
              <a:buNone/>
            </a:pPr>
            <a:r>
              <a:rPr lang="en-US" sz="1300" b="1" dirty="0">
                <a:solidFill>
                  <a:srgbClr val="EDF3EF"/>
                </a:solidFill>
                <a:latin typeface="Calibri" pitchFamily="34" charset="0"/>
                <a:ea typeface="Calibri" pitchFamily="34" charset="-122"/>
                <a:cs typeface="Calibri" pitchFamily="34" charset="-120"/>
              </a:rPr>
              <a:t>DynamoDB</a:t>
            </a:r>
            <a:endParaRPr lang="en-US" sz="1300" dirty="0"/>
          </a:p>
        </p:txBody>
      </p:sp>
      <p:sp>
        <p:nvSpPr>
          <p:cNvPr id="31" name="Text 29"/>
          <p:cNvSpPr/>
          <p:nvPr/>
        </p:nvSpPr>
        <p:spPr>
          <a:xfrm>
            <a:off x="8319821" y="4453128"/>
            <a:ext cx="1099261" cy="365760"/>
          </a:xfrm>
          <a:prstGeom prst="rect">
            <a:avLst/>
          </a:prstGeom>
          <a:noFill/>
          <a:ln/>
        </p:spPr>
        <p:txBody>
          <a:bodyPr wrap="square" lIns="0" tIns="0" rIns="0" bIns="0" rtlCol="0" anchor="ctr"/>
          <a:lstStyle/>
          <a:p>
            <a:pPr indent="0" marL="0">
              <a:buNone/>
            </a:pPr>
            <a:r>
              <a:rPr lang="en-US" sz="900" dirty="0">
                <a:solidFill>
                  <a:srgbClr val="8B98A6"/>
                </a:solidFill>
                <a:latin typeface="Calibri" pitchFamily="34" charset="0"/>
                <a:ea typeface="Calibri" pitchFamily="34" charset="-122"/>
                <a:cs typeface="Calibri" pitchFamily="34" charset="-120"/>
              </a:rPr>
              <a:t>by type · time</a:t>
            </a:r>
            <a:endParaRPr lang="en-US" sz="900" dirty="0"/>
          </a:p>
        </p:txBody>
      </p:sp>
      <p:sp>
        <p:nvSpPr>
          <p:cNvPr id="32" name="Shape 30"/>
          <p:cNvSpPr/>
          <p:nvPr/>
        </p:nvSpPr>
        <p:spPr>
          <a:xfrm>
            <a:off x="9638538" y="3845052"/>
            <a:ext cx="310896" cy="219456"/>
          </a:xfrm>
          <a:prstGeom prst="rightArrow">
            <a:avLst/>
          </a:prstGeom>
          <a:solidFill>
            <a:srgbClr val="8B98A6"/>
          </a:solidFill>
          <a:ln/>
        </p:spPr>
      </p:sp>
      <p:sp>
        <p:nvSpPr>
          <p:cNvPr id="33" name="Shape 31"/>
          <p:cNvSpPr/>
          <p:nvPr/>
        </p:nvSpPr>
        <p:spPr>
          <a:xfrm>
            <a:off x="10022586" y="2971800"/>
            <a:ext cx="1391869" cy="1965960"/>
          </a:xfrm>
          <a:prstGeom prst="roundRect">
            <a:avLst>
              <a:gd name="adj" fmla="val 7884"/>
            </a:avLst>
          </a:prstGeom>
          <a:solidFill>
            <a:srgbClr val="1A4249"/>
          </a:solidFill>
          <a:ln w="12700">
            <a:solidFill>
              <a:srgbClr val="2E565D"/>
            </a:solidFill>
            <a:prstDash val="solid"/>
          </a:ln>
        </p:spPr>
      </p:sp>
      <p:sp>
        <p:nvSpPr>
          <p:cNvPr id="34" name="Text 32"/>
          <p:cNvSpPr/>
          <p:nvPr/>
        </p:nvSpPr>
        <p:spPr>
          <a:xfrm>
            <a:off x="10168890" y="3154680"/>
            <a:ext cx="1099261" cy="320040"/>
          </a:xfrm>
          <a:prstGeom prst="rect">
            <a:avLst/>
          </a:prstGeom>
          <a:noFill/>
          <a:ln/>
        </p:spPr>
        <p:txBody>
          <a:bodyPr wrap="square" lIns="0" tIns="0" rIns="0" bIns="0" rtlCol="0" anchor="ctr"/>
          <a:lstStyle/>
          <a:p>
            <a:pPr indent="0" marL="0">
              <a:buNone/>
            </a:pPr>
            <a:r>
              <a:rPr lang="en-US" sz="1100" dirty="0">
                <a:solidFill>
                  <a:srgbClr val="2FB6A8"/>
                </a:solidFill>
                <a:latin typeface="Consolas" pitchFamily="34" charset="0"/>
                <a:ea typeface="Consolas" pitchFamily="34" charset="-122"/>
                <a:cs typeface="Consolas" pitchFamily="34" charset="-120"/>
              </a:rPr>
              <a:t>06</a:t>
            </a:r>
            <a:endParaRPr lang="en-US" sz="1100" dirty="0"/>
          </a:p>
        </p:txBody>
      </p:sp>
      <p:sp>
        <p:nvSpPr>
          <p:cNvPr id="35" name="Text 33"/>
          <p:cNvSpPr/>
          <p:nvPr/>
        </p:nvSpPr>
        <p:spPr>
          <a:xfrm>
            <a:off x="10168890" y="3593592"/>
            <a:ext cx="1099261" cy="868680"/>
          </a:xfrm>
          <a:prstGeom prst="rect">
            <a:avLst/>
          </a:prstGeom>
          <a:noFill/>
          <a:ln/>
        </p:spPr>
        <p:txBody>
          <a:bodyPr wrap="square" lIns="0" tIns="0" rIns="0" bIns="0" rtlCol="0" anchor="t"/>
          <a:lstStyle/>
          <a:p>
            <a:pPr indent="0" marL="0">
              <a:lnSpc>
                <a:spcPct val="96000"/>
              </a:lnSpc>
              <a:buNone/>
            </a:pPr>
            <a:r>
              <a:rPr lang="en-US" sz="1300" b="1" dirty="0">
                <a:solidFill>
                  <a:srgbClr val="EDF3EF"/>
                </a:solidFill>
                <a:latin typeface="Calibri" pitchFamily="34" charset="0"/>
                <a:ea typeface="Calibri" pitchFamily="34" charset="-122"/>
                <a:cs typeface="Calibri" pitchFamily="34" charset="-120"/>
              </a:rPr>
              <a:t>API GW + S3</a:t>
            </a:r>
            <a:endParaRPr lang="en-US" sz="1300" dirty="0"/>
          </a:p>
        </p:txBody>
      </p:sp>
      <p:sp>
        <p:nvSpPr>
          <p:cNvPr id="36" name="Text 34"/>
          <p:cNvSpPr/>
          <p:nvPr/>
        </p:nvSpPr>
        <p:spPr>
          <a:xfrm>
            <a:off x="10168890" y="4453128"/>
            <a:ext cx="1099261" cy="365760"/>
          </a:xfrm>
          <a:prstGeom prst="rect">
            <a:avLst/>
          </a:prstGeom>
          <a:noFill/>
          <a:ln/>
        </p:spPr>
        <p:txBody>
          <a:bodyPr wrap="square" lIns="0" tIns="0" rIns="0" bIns="0" rtlCol="0" anchor="ctr"/>
          <a:lstStyle/>
          <a:p>
            <a:pPr indent="0" marL="0">
              <a:buNone/>
            </a:pPr>
            <a:r>
              <a:rPr lang="en-US" sz="900" dirty="0">
                <a:solidFill>
                  <a:srgbClr val="8B98A6"/>
                </a:solidFill>
                <a:latin typeface="Calibri" pitchFamily="34" charset="0"/>
                <a:ea typeface="Calibri" pitchFamily="34" charset="-122"/>
                <a:cs typeface="Calibri" pitchFamily="34" charset="-120"/>
              </a:rPr>
              <a:t>live dashboard</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333A"/>
        </a:solidFill>
      </p:bgPr>
    </p:bg>
    <p:spTree>
      <p:nvGrpSpPr>
        <p:cNvPr id="1" name=""/>
        <p:cNvGrpSpPr/>
        <p:nvPr/>
      </p:nvGrpSpPr>
      <p:grpSpPr>
        <a:xfrm>
          <a:off x="0" y="0"/>
          <a:ext cx="0" cy="0"/>
          <a:chOff x="0" y="0"/>
          <a:chExt cx="0" cy="0"/>
        </a:xfrm>
      </p:grpSpPr>
      <p:sp>
        <p:nvSpPr>
          <p:cNvPr id="2" name="Shape 0"/>
          <p:cNvSpPr/>
          <p:nvPr/>
        </p:nvSpPr>
        <p:spPr>
          <a:xfrm>
            <a:off x="9722815" y="-274320"/>
            <a:ext cx="2743200" cy="2743200"/>
          </a:xfrm>
          <a:prstGeom prst="ellipse">
            <a:avLst/>
          </a:prstGeom>
          <a:ln w="12700">
            <a:solidFill>
              <a:srgbClr val="2FB6A8"/>
            </a:solidFill>
            <a:prstDash val="solid"/>
          </a:ln>
        </p:spPr>
      </p:sp>
      <p:sp>
        <p:nvSpPr>
          <p:cNvPr id="3" name="Shape 1"/>
          <p:cNvSpPr/>
          <p:nvPr/>
        </p:nvSpPr>
        <p:spPr>
          <a:xfrm>
            <a:off x="10180015" y="182880"/>
            <a:ext cx="1828800" cy="1828800"/>
          </a:xfrm>
          <a:prstGeom prst="ellipse">
            <a:avLst/>
          </a:prstGeom>
          <a:ln w="12700">
            <a:solidFill>
              <a:srgbClr val="2FB6A8"/>
            </a:solidFill>
            <a:prstDash val="solid"/>
          </a:ln>
        </p:spPr>
      </p:sp>
      <p:sp>
        <p:nvSpPr>
          <p:cNvPr id="4" name="Shape 2"/>
          <p:cNvSpPr/>
          <p:nvPr/>
        </p:nvSpPr>
        <p:spPr>
          <a:xfrm>
            <a:off x="10637215" y="640080"/>
            <a:ext cx="914400" cy="914400"/>
          </a:xfrm>
          <a:prstGeom prst="ellipse">
            <a:avLst/>
          </a:prstGeom>
          <a:solidFill>
            <a:srgbClr val="2FB6A8"/>
          </a:solidFill>
          <a:ln w="12700">
            <a:solidFill>
              <a:srgbClr val="2FB6A8"/>
            </a:solidFill>
            <a:prstDash val="solid"/>
          </a:ln>
        </p:spPr>
      </p:sp>
      <p:sp>
        <p:nvSpPr>
          <p:cNvPr id="5" name="Text 3"/>
          <p:cNvSpPr/>
          <p:nvPr/>
        </p:nvSpPr>
        <p:spPr>
          <a:xfrm>
            <a:off x="777240" y="731520"/>
            <a:ext cx="914400" cy="640080"/>
          </a:xfrm>
          <a:prstGeom prst="rect">
            <a:avLst/>
          </a:prstGeom>
          <a:noFill/>
          <a:ln/>
        </p:spPr>
        <p:txBody>
          <a:bodyPr wrap="square" lIns="0" tIns="0" rIns="0" bIns="0" rtlCol="0" anchor="ctr"/>
          <a:lstStyle/>
          <a:p>
            <a:pPr indent="0" marL="0">
              <a:buNone/>
            </a:pPr>
            <a:r>
              <a:rPr lang="en-US" sz="3000" b="1" dirty="0">
                <a:solidFill>
                  <a:srgbClr val="2FB6A8"/>
                </a:solidFill>
                <a:latin typeface="Calibri" pitchFamily="34" charset="0"/>
                <a:ea typeface="Calibri" pitchFamily="34" charset="-122"/>
                <a:cs typeface="Calibri" pitchFamily="34" charset="-120"/>
              </a:rPr>
              <a:t>02</a:t>
            </a:r>
            <a:endParaRPr lang="en-US" sz="3000" dirty="0"/>
          </a:p>
        </p:txBody>
      </p:sp>
      <p:sp>
        <p:nvSpPr>
          <p:cNvPr id="6" name="Text 4"/>
          <p:cNvSpPr/>
          <p:nvPr/>
        </p:nvSpPr>
        <p:spPr>
          <a:xfrm>
            <a:off x="1645920" y="905256"/>
            <a:ext cx="9768535" cy="274320"/>
          </a:xfrm>
          <a:prstGeom prst="rect">
            <a:avLst/>
          </a:prstGeom>
          <a:noFill/>
          <a:ln/>
        </p:spPr>
        <p:txBody>
          <a:bodyPr wrap="square" lIns="0" tIns="0" rIns="0" bIns="0" rtlCol="0" anchor="ctr"/>
          <a:lstStyle/>
          <a:p>
            <a:pPr indent="0" marL="0">
              <a:buNone/>
            </a:pPr>
            <a:r>
              <a:rPr lang="en-US" sz="1100" b="1" spc="200" kern="0" dirty="0">
                <a:solidFill>
                  <a:srgbClr val="8B98A6"/>
                </a:solidFill>
                <a:latin typeface="Calibri" pitchFamily="34" charset="0"/>
                <a:ea typeface="Calibri" pitchFamily="34" charset="-122"/>
                <a:cs typeface="Calibri" pitchFamily="34" charset="-120"/>
              </a:rPr>
              <a:t>LIVE DEMO</a:t>
            </a:r>
            <a:endParaRPr lang="en-US" sz="1100" dirty="0"/>
          </a:p>
        </p:txBody>
      </p:sp>
      <p:sp>
        <p:nvSpPr>
          <p:cNvPr id="7" name="Text 5"/>
          <p:cNvSpPr/>
          <p:nvPr/>
        </p:nvSpPr>
        <p:spPr>
          <a:xfrm>
            <a:off x="777240" y="1380744"/>
            <a:ext cx="10637215" cy="640080"/>
          </a:xfrm>
          <a:prstGeom prst="rect">
            <a:avLst/>
          </a:prstGeom>
          <a:noFill/>
          <a:ln/>
        </p:spPr>
        <p:txBody>
          <a:bodyPr wrap="square" lIns="0" tIns="0" rIns="0" bIns="0" rtlCol="0" anchor="ctr"/>
          <a:lstStyle/>
          <a:p>
            <a:pPr indent="0" marL="0">
              <a:buNone/>
            </a:pPr>
            <a:r>
              <a:rPr lang="en-US" sz="2300" b="1" dirty="0">
                <a:solidFill>
                  <a:srgbClr val="EDF3EF"/>
                </a:solidFill>
                <a:latin typeface="Calibri" pitchFamily="34" charset="0"/>
                <a:ea typeface="Calibri" pitchFamily="34" charset="-122"/>
                <a:cs typeface="Calibri" pitchFamily="34" charset="-120"/>
              </a:rPr>
              <a:t>See it running on AWS</a:t>
            </a:r>
            <a:endParaRPr lang="en-US" sz="2300" dirty="0"/>
          </a:p>
        </p:txBody>
      </p:sp>
      <p:sp>
        <p:nvSpPr>
          <p:cNvPr id="8" name="Text 6"/>
          <p:cNvSpPr/>
          <p:nvPr/>
        </p:nvSpPr>
        <p:spPr>
          <a:xfrm>
            <a:off x="777240" y="1901952"/>
            <a:ext cx="10637215" cy="274320"/>
          </a:xfrm>
          <a:prstGeom prst="rect">
            <a:avLst/>
          </a:prstGeom>
          <a:noFill/>
          <a:ln/>
        </p:spPr>
        <p:txBody>
          <a:bodyPr wrap="square" rtlCol="0" anchor="ctr"/>
          <a:lstStyle/>
          <a:p>
            <a:pPr indent="0" marL="0">
              <a:buNone/>
            </a:pPr>
            <a:r>
              <a:rPr lang="en-US" sz="1100" dirty="0">
                <a:solidFill>
                  <a:srgbClr val="2FB6A8"/>
                </a:solidFill>
                <a:latin typeface="Consolas" pitchFamily="34" charset="0"/>
                <a:ea typeface="Consolas" pitchFamily="34" charset="-122"/>
                <a:cs typeface="Consolas" pitchFamily="34" charset="-120"/>
              </a:rPr>
              <a:t>aff-frontend-713939620116.s3.us-east-1.amazonaws.com</a:t>
            </a:r>
            <a:endParaRPr lang="en-US" sz="1100" dirty="0"/>
          </a:p>
        </p:txBody>
      </p:sp>
      <p:sp>
        <p:nvSpPr>
          <p:cNvPr id="9" name="Shape 7"/>
          <p:cNvSpPr/>
          <p:nvPr/>
        </p:nvSpPr>
        <p:spPr>
          <a:xfrm>
            <a:off x="777240" y="2514600"/>
            <a:ext cx="3301898" cy="3566160"/>
          </a:xfrm>
          <a:prstGeom prst="roundRect">
            <a:avLst>
              <a:gd name="adj" fmla="val 3323"/>
            </a:avLst>
          </a:prstGeom>
          <a:solidFill>
            <a:srgbClr val="1A4249"/>
          </a:solidFill>
          <a:ln w="12700">
            <a:solidFill>
              <a:srgbClr val="2E565D"/>
            </a:solidFill>
            <a:prstDash val="solid"/>
          </a:ln>
        </p:spPr>
      </p:sp>
      <p:sp>
        <p:nvSpPr>
          <p:cNvPr id="10" name="Text 8"/>
          <p:cNvSpPr/>
          <p:nvPr/>
        </p:nvSpPr>
        <p:spPr>
          <a:xfrm>
            <a:off x="1051560" y="2752344"/>
            <a:ext cx="1828800" cy="777240"/>
          </a:xfrm>
          <a:prstGeom prst="rect">
            <a:avLst/>
          </a:prstGeom>
          <a:noFill/>
          <a:ln/>
        </p:spPr>
        <p:txBody>
          <a:bodyPr wrap="square" lIns="0" tIns="0" rIns="0" bIns="0" rtlCol="0" anchor="ctr"/>
          <a:lstStyle/>
          <a:p>
            <a:pPr indent="0" marL="0">
              <a:buNone/>
            </a:pPr>
            <a:r>
              <a:rPr lang="en-US" sz="3800" b="1" dirty="0">
                <a:solidFill>
                  <a:srgbClr val="2FB6A8"/>
                </a:solidFill>
                <a:latin typeface="Calibri" pitchFamily="34" charset="0"/>
                <a:ea typeface="Calibri" pitchFamily="34" charset="-122"/>
                <a:cs typeface="Calibri" pitchFamily="34" charset="-120"/>
              </a:rPr>
              <a:t>01</a:t>
            </a:r>
            <a:endParaRPr lang="en-US" sz="3800" dirty="0"/>
          </a:p>
        </p:txBody>
      </p:sp>
      <p:sp>
        <p:nvSpPr>
          <p:cNvPr id="11" name="Text 9"/>
          <p:cNvSpPr/>
          <p:nvPr/>
        </p:nvSpPr>
        <p:spPr>
          <a:xfrm>
            <a:off x="1069848" y="3566160"/>
            <a:ext cx="2753258" cy="868680"/>
          </a:xfrm>
          <a:prstGeom prst="rect">
            <a:avLst/>
          </a:prstGeom>
          <a:noFill/>
          <a:ln/>
        </p:spPr>
        <p:txBody>
          <a:bodyPr wrap="square" lIns="0" tIns="0" rIns="0" bIns="0" rtlCol="0" anchor="t"/>
          <a:lstStyle/>
          <a:p>
            <a:pPr indent="0" marL="0">
              <a:lnSpc>
                <a:spcPct val="100000"/>
              </a:lnSpc>
              <a:buNone/>
            </a:pPr>
            <a:r>
              <a:rPr lang="en-US" sz="1550" b="1" dirty="0">
                <a:solidFill>
                  <a:srgbClr val="EDF3EF"/>
                </a:solidFill>
                <a:latin typeface="Calibri" pitchFamily="34" charset="0"/>
                <a:ea typeface="Calibri" pitchFamily="34" charset="-122"/>
                <a:cs typeface="Calibri" pitchFamily="34" charset="-120"/>
              </a:rPr>
              <a:t>Two ponds, five water metrics</a:t>
            </a:r>
            <a:endParaRPr lang="en-US" sz="1550" dirty="0"/>
          </a:p>
        </p:txBody>
      </p:sp>
      <p:sp>
        <p:nvSpPr>
          <p:cNvPr id="12" name="Text 10"/>
          <p:cNvSpPr/>
          <p:nvPr/>
        </p:nvSpPr>
        <p:spPr>
          <a:xfrm>
            <a:off x="1069848" y="4434840"/>
            <a:ext cx="2753258" cy="1463040"/>
          </a:xfrm>
          <a:prstGeom prst="rect">
            <a:avLst/>
          </a:prstGeom>
          <a:noFill/>
          <a:ln/>
        </p:spPr>
        <p:txBody>
          <a:bodyPr wrap="square" lIns="0" tIns="0" rIns="0" bIns="0" rtlCol="0" anchor="ctr"/>
          <a:lstStyle/>
          <a:p>
            <a:pPr indent="0" marL="0">
              <a:lnSpc>
                <a:spcPct val="120000"/>
              </a:lnSpc>
              <a:buNone/>
            </a:pPr>
            <a:r>
              <a:rPr lang="en-US" sz="1200" dirty="0">
                <a:solidFill>
                  <a:srgbClr val="8B98A6"/>
                </a:solidFill>
                <a:latin typeface="Calibri" pitchFamily="34" charset="0"/>
                <a:ea typeface="Calibri" pitchFamily="34" charset="-122"/>
                <a:cs typeface="Calibri" pitchFamily="34" charset="-120"/>
              </a:rPr>
              <a:t>Temperature, dissolved oxygen, pH, ammonia and feed live for both ponds, freshest reading under two seconds old.</a:t>
            </a:r>
            <a:endParaRPr lang="en-US" sz="1200" dirty="0"/>
          </a:p>
        </p:txBody>
      </p:sp>
      <p:sp>
        <p:nvSpPr>
          <p:cNvPr id="13" name="Shape 11"/>
          <p:cNvSpPr/>
          <p:nvPr/>
        </p:nvSpPr>
        <p:spPr>
          <a:xfrm>
            <a:off x="4444898" y="2514600"/>
            <a:ext cx="3301898" cy="3566160"/>
          </a:xfrm>
          <a:prstGeom prst="roundRect">
            <a:avLst>
              <a:gd name="adj" fmla="val 3323"/>
            </a:avLst>
          </a:prstGeom>
          <a:solidFill>
            <a:srgbClr val="1A4249"/>
          </a:solidFill>
          <a:ln w="12700">
            <a:solidFill>
              <a:srgbClr val="2E565D"/>
            </a:solidFill>
            <a:prstDash val="solid"/>
          </a:ln>
        </p:spPr>
      </p:sp>
      <p:sp>
        <p:nvSpPr>
          <p:cNvPr id="14" name="Text 12"/>
          <p:cNvSpPr/>
          <p:nvPr/>
        </p:nvSpPr>
        <p:spPr>
          <a:xfrm>
            <a:off x="4719218" y="2752344"/>
            <a:ext cx="1828800" cy="777240"/>
          </a:xfrm>
          <a:prstGeom prst="rect">
            <a:avLst/>
          </a:prstGeom>
          <a:noFill/>
          <a:ln/>
        </p:spPr>
        <p:txBody>
          <a:bodyPr wrap="square" lIns="0" tIns="0" rIns="0" bIns="0" rtlCol="0" anchor="ctr"/>
          <a:lstStyle/>
          <a:p>
            <a:pPr indent="0" marL="0">
              <a:buNone/>
            </a:pPr>
            <a:r>
              <a:rPr lang="en-US" sz="3800" b="1" dirty="0">
                <a:solidFill>
                  <a:srgbClr val="2FB6A8"/>
                </a:solidFill>
                <a:latin typeface="Calibri" pitchFamily="34" charset="0"/>
                <a:ea typeface="Calibri" pitchFamily="34" charset="-122"/>
                <a:cs typeface="Calibri" pitchFamily="34" charset="-120"/>
              </a:rPr>
              <a:t>02</a:t>
            </a:r>
            <a:endParaRPr lang="en-US" sz="3800" dirty="0"/>
          </a:p>
        </p:txBody>
      </p:sp>
      <p:sp>
        <p:nvSpPr>
          <p:cNvPr id="15" name="Text 13"/>
          <p:cNvSpPr/>
          <p:nvPr/>
        </p:nvSpPr>
        <p:spPr>
          <a:xfrm>
            <a:off x="4737506" y="3566160"/>
            <a:ext cx="2753258" cy="868680"/>
          </a:xfrm>
          <a:prstGeom prst="rect">
            <a:avLst/>
          </a:prstGeom>
          <a:noFill/>
          <a:ln/>
        </p:spPr>
        <p:txBody>
          <a:bodyPr wrap="square" lIns="0" tIns="0" rIns="0" bIns="0" rtlCol="0" anchor="t"/>
          <a:lstStyle/>
          <a:p>
            <a:pPr indent="0" marL="0">
              <a:lnSpc>
                <a:spcPct val="100000"/>
              </a:lnSpc>
              <a:buNone/>
            </a:pPr>
            <a:r>
              <a:rPr lang="en-US" sz="1550" b="1" dirty="0">
                <a:solidFill>
                  <a:srgbClr val="EDF3EF"/>
                </a:solidFill>
                <a:latin typeface="Calibri" pitchFamily="34" charset="0"/>
                <a:ea typeface="Calibri" pitchFamily="34" charset="-122"/>
                <a:cs typeface="Calibri" pitchFamily="34" charset="-120"/>
              </a:rPr>
              <a:t>Four alerts firing at once</a:t>
            </a:r>
            <a:endParaRPr lang="en-US" sz="1550" dirty="0"/>
          </a:p>
        </p:txBody>
      </p:sp>
      <p:sp>
        <p:nvSpPr>
          <p:cNvPr id="16" name="Text 14"/>
          <p:cNvSpPr/>
          <p:nvPr/>
        </p:nvSpPr>
        <p:spPr>
          <a:xfrm>
            <a:off x="4737506" y="4434840"/>
            <a:ext cx="2753258" cy="1463040"/>
          </a:xfrm>
          <a:prstGeom prst="rect">
            <a:avLst/>
          </a:prstGeom>
          <a:noFill/>
          <a:ln/>
        </p:spPr>
        <p:txBody>
          <a:bodyPr wrap="square" lIns="0" tIns="0" rIns="0" bIns="0" rtlCol="0" anchor="ctr"/>
          <a:lstStyle/>
          <a:p>
            <a:pPr indent="0" marL="0">
              <a:lnSpc>
                <a:spcPct val="120000"/>
              </a:lnSpc>
              <a:buNone/>
            </a:pPr>
            <a:r>
              <a:rPr lang="en-US" sz="1200" dirty="0">
                <a:solidFill>
                  <a:srgbClr val="8B98A6"/>
                </a:solidFill>
                <a:latin typeface="Calibri" pitchFamily="34" charset="0"/>
                <a:ea typeface="Calibri" pitchFamily="34" charset="-122"/>
                <a:cs typeface="Calibri" pitchFamily="34" charset="-120"/>
              </a:rPr>
              <a:t>Heat stress, hypoxia and acidic risk on pond-1 and alkaline risk on pond-2 are all live on the board right now.</a:t>
            </a:r>
            <a:endParaRPr lang="en-US" sz="1200" dirty="0"/>
          </a:p>
        </p:txBody>
      </p:sp>
      <p:sp>
        <p:nvSpPr>
          <p:cNvPr id="17" name="Shape 15"/>
          <p:cNvSpPr/>
          <p:nvPr/>
        </p:nvSpPr>
        <p:spPr>
          <a:xfrm>
            <a:off x="8112557" y="2514600"/>
            <a:ext cx="3301898" cy="3566160"/>
          </a:xfrm>
          <a:prstGeom prst="roundRect">
            <a:avLst>
              <a:gd name="adj" fmla="val 3323"/>
            </a:avLst>
          </a:prstGeom>
          <a:solidFill>
            <a:srgbClr val="1A4249"/>
          </a:solidFill>
          <a:ln w="12700">
            <a:solidFill>
              <a:srgbClr val="2E565D"/>
            </a:solidFill>
            <a:prstDash val="solid"/>
          </a:ln>
        </p:spPr>
      </p:sp>
      <p:sp>
        <p:nvSpPr>
          <p:cNvPr id="18" name="Text 16"/>
          <p:cNvSpPr/>
          <p:nvPr/>
        </p:nvSpPr>
        <p:spPr>
          <a:xfrm>
            <a:off x="8386877" y="2752344"/>
            <a:ext cx="1828800" cy="777240"/>
          </a:xfrm>
          <a:prstGeom prst="rect">
            <a:avLst/>
          </a:prstGeom>
          <a:noFill/>
          <a:ln/>
        </p:spPr>
        <p:txBody>
          <a:bodyPr wrap="square" lIns="0" tIns="0" rIns="0" bIns="0" rtlCol="0" anchor="ctr"/>
          <a:lstStyle/>
          <a:p>
            <a:pPr indent="0" marL="0">
              <a:buNone/>
            </a:pPr>
            <a:r>
              <a:rPr lang="en-US" sz="3800" b="1" dirty="0">
                <a:solidFill>
                  <a:srgbClr val="2FB6A8"/>
                </a:solidFill>
                <a:latin typeface="Calibri" pitchFamily="34" charset="0"/>
                <a:ea typeface="Calibri" pitchFamily="34" charset="-122"/>
                <a:cs typeface="Calibri" pitchFamily="34" charset="-120"/>
              </a:rPr>
              <a:t>03</a:t>
            </a:r>
            <a:endParaRPr lang="en-US" sz="3800" dirty="0"/>
          </a:p>
        </p:txBody>
      </p:sp>
      <p:sp>
        <p:nvSpPr>
          <p:cNvPr id="19" name="Text 17"/>
          <p:cNvSpPr/>
          <p:nvPr/>
        </p:nvSpPr>
        <p:spPr>
          <a:xfrm>
            <a:off x="8405165" y="3566160"/>
            <a:ext cx="2753258" cy="868680"/>
          </a:xfrm>
          <a:prstGeom prst="rect">
            <a:avLst/>
          </a:prstGeom>
          <a:noFill/>
          <a:ln/>
        </p:spPr>
        <p:txBody>
          <a:bodyPr wrap="square" lIns="0" tIns="0" rIns="0" bIns="0" rtlCol="0" anchor="t"/>
          <a:lstStyle/>
          <a:p>
            <a:pPr indent="0" marL="0">
              <a:lnSpc>
                <a:spcPct val="100000"/>
              </a:lnSpc>
              <a:buNone/>
            </a:pPr>
            <a:r>
              <a:rPr lang="en-US" sz="1550" b="1" dirty="0">
                <a:solidFill>
                  <a:srgbClr val="EDF3EF"/>
                </a:solidFill>
                <a:latin typeface="Calibri" pitchFamily="34" charset="0"/>
                <a:ea typeface="Calibri" pitchFamily="34" charset="-122"/>
                <a:cs typeface="Calibri" pitchFamily="34" charset="-120"/>
              </a:rPr>
              <a:t>Real data, climbing</a:t>
            </a:r>
            <a:endParaRPr lang="en-US" sz="1550" dirty="0"/>
          </a:p>
        </p:txBody>
      </p:sp>
      <p:sp>
        <p:nvSpPr>
          <p:cNvPr id="20" name="Text 18"/>
          <p:cNvSpPr/>
          <p:nvPr/>
        </p:nvSpPr>
        <p:spPr>
          <a:xfrm>
            <a:off x="8405165" y="4434840"/>
            <a:ext cx="2753258" cy="1463040"/>
          </a:xfrm>
          <a:prstGeom prst="rect">
            <a:avLst/>
          </a:prstGeom>
          <a:noFill/>
          <a:ln/>
        </p:spPr>
        <p:txBody>
          <a:bodyPr wrap="square" lIns="0" tIns="0" rIns="0" bIns="0" rtlCol="0" anchor="ctr"/>
          <a:lstStyle/>
          <a:p>
            <a:pPr indent="0" marL="0">
              <a:lnSpc>
                <a:spcPct val="120000"/>
              </a:lnSpc>
              <a:buNone/>
            </a:pPr>
            <a:r>
              <a:rPr lang="en-US" sz="1200" dirty="0">
                <a:solidFill>
                  <a:srgbClr val="8B98A6"/>
                </a:solidFill>
                <a:latin typeface="Calibri" pitchFamily="34" charset="0"/>
                <a:ea typeface="Calibri" pitchFamily="34" charset="-122"/>
                <a:cs typeface="Calibri" pitchFamily="34" charset="-120"/>
              </a:rPr>
              <a:t>The stored-record count reads 590 and keeps rising as new windows land, so the board is reading live data, not a snapshot.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333A"/>
        </a:solidFill>
      </p:bgPr>
    </p:bg>
    <p:spTree>
      <p:nvGrpSpPr>
        <p:cNvPr id="1" name=""/>
        <p:cNvGrpSpPr/>
        <p:nvPr/>
      </p:nvGrpSpPr>
      <p:grpSpPr>
        <a:xfrm>
          <a:off x="0" y="0"/>
          <a:ext cx="0" cy="0"/>
          <a:chOff x="0" y="0"/>
          <a:chExt cx="0" cy="0"/>
        </a:xfrm>
      </p:grpSpPr>
      <p:sp>
        <p:nvSpPr>
          <p:cNvPr id="2" name="Shape 0"/>
          <p:cNvSpPr/>
          <p:nvPr/>
        </p:nvSpPr>
        <p:spPr>
          <a:xfrm>
            <a:off x="9722815" y="-274320"/>
            <a:ext cx="2743200" cy="2743200"/>
          </a:xfrm>
          <a:prstGeom prst="ellipse">
            <a:avLst/>
          </a:prstGeom>
          <a:ln w="12700">
            <a:solidFill>
              <a:srgbClr val="2FB6A8"/>
            </a:solidFill>
            <a:prstDash val="solid"/>
          </a:ln>
        </p:spPr>
      </p:sp>
      <p:sp>
        <p:nvSpPr>
          <p:cNvPr id="3" name="Shape 1"/>
          <p:cNvSpPr/>
          <p:nvPr/>
        </p:nvSpPr>
        <p:spPr>
          <a:xfrm>
            <a:off x="10180015" y="182880"/>
            <a:ext cx="1828800" cy="1828800"/>
          </a:xfrm>
          <a:prstGeom prst="ellipse">
            <a:avLst/>
          </a:prstGeom>
          <a:ln w="12700">
            <a:solidFill>
              <a:srgbClr val="2FB6A8"/>
            </a:solidFill>
            <a:prstDash val="solid"/>
          </a:ln>
        </p:spPr>
      </p:sp>
      <p:sp>
        <p:nvSpPr>
          <p:cNvPr id="4" name="Shape 2"/>
          <p:cNvSpPr/>
          <p:nvPr/>
        </p:nvSpPr>
        <p:spPr>
          <a:xfrm>
            <a:off x="10637215" y="640080"/>
            <a:ext cx="914400" cy="914400"/>
          </a:xfrm>
          <a:prstGeom prst="ellipse">
            <a:avLst/>
          </a:prstGeom>
          <a:solidFill>
            <a:srgbClr val="2FB6A8"/>
          </a:solidFill>
          <a:ln w="12700">
            <a:solidFill>
              <a:srgbClr val="2FB6A8"/>
            </a:solidFill>
            <a:prstDash val="solid"/>
          </a:ln>
        </p:spPr>
      </p:sp>
      <p:sp>
        <p:nvSpPr>
          <p:cNvPr id="5" name="Text 3"/>
          <p:cNvSpPr/>
          <p:nvPr/>
        </p:nvSpPr>
        <p:spPr>
          <a:xfrm>
            <a:off x="777240" y="731520"/>
            <a:ext cx="914400" cy="640080"/>
          </a:xfrm>
          <a:prstGeom prst="rect">
            <a:avLst/>
          </a:prstGeom>
          <a:noFill/>
          <a:ln/>
        </p:spPr>
        <p:txBody>
          <a:bodyPr wrap="square" lIns="0" tIns="0" rIns="0" bIns="0" rtlCol="0" anchor="ctr"/>
          <a:lstStyle/>
          <a:p>
            <a:pPr indent="0" marL="0">
              <a:buNone/>
            </a:pPr>
            <a:r>
              <a:rPr lang="en-US" sz="3000" b="1" dirty="0">
                <a:solidFill>
                  <a:srgbClr val="2FB6A8"/>
                </a:solidFill>
                <a:latin typeface="Calibri" pitchFamily="34" charset="0"/>
                <a:ea typeface="Calibri" pitchFamily="34" charset="-122"/>
                <a:cs typeface="Calibri" pitchFamily="34" charset="-120"/>
              </a:rPr>
              <a:t>03</a:t>
            </a:r>
            <a:endParaRPr lang="en-US" sz="3000" dirty="0"/>
          </a:p>
        </p:txBody>
      </p:sp>
      <p:sp>
        <p:nvSpPr>
          <p:cNvPr id="6" name="Text 4"/>
          <p:cNvSpPr/>
          <p:nvPr/>
        </p:nvSpPr>
        <p:spPr>
          <a:xfrm>
            <a:off x="1645920" y="905256"/>
            <a:ext cx="9768535" cy="274320"/>
          </a:xfrm>
          <a:prstGeom prst="rect">
            <a:avLst/>
          </a:prstGeom>
          <a:noFill/>
          <a:ln/>
        </p:spPr>
        <p:txBody>
          <a:bodyPr wrap="square" lIns="0" tIns="0" rIns="0" bIns="0" rtlCol="0" anchor="ctr"/>
          <a:lstStyle/>
          <a:p>
            <a:pPr indent="0" marL="0">
              <a:buNone/>
            </a:pPr>
            <a:r>
              <a:rPr lang="en-US" sz="1100" b="1" spc="200" kern="0" dirty="0">
                <a:solidFill>
                  <a:srgbClr val="8B98A6"/>
                </a:solidFill>
                <a:latin typeface="Calibri" pitchFamily="34" charset="0"/>
                <a:ea typeface="Calibri" pitchFamily="34" charset="-122"/>
                <a:cs typeface="Calibri" pitchFamily="34" charset="-120"/>
              </a:rPr>
              <a:t>CHALLENGE</a:t>
            </a:r>
            <a:endParaRPr lang="en-US" sz="1100" dirty="0"/>
          </a:p>
        </p:txBody>
      </p:sp>
      <p:sp>
        <p:nvSpPr>
          <p:cNvPr id="7" name="Text 5"/>
          <p:cNvSpPr/>
          <p:nvPr/>
        </p:nvSpPr>
        <p:spPr>
          <a:xfrm>
            <a:off x="777240" y="1380744"/>
            <a:ext cx="10637215" cy="640080"/>
          </a:xfrm>
          <a:prstGeom prst="rect">
            <a:avLst/>
          </a:prstGeom>
          <a:noFill/>
          <a:ln/>
        </p:spPr>
        <p:txBody>
          <a:bodyPr wrap="square" lIns="0" tIns="0" rIns="0" bIns="0" rtlCol="0" anchor="ctr"/>
          <a:lstStyle/>
          <a:p>
            <a:pPr indent="0" marL="0">
              <a:buNone/>
            </a:pPr>
            <a:r>
              <a:rPr lang="en-US" sz="2300" b="1" dirty="0">
                <a:solidFill>
                  <a:srgbClr val="EDF3EF"/>
                </a:solidFill>
                <a:latin typeface="Calibri" pitchFamily="34" charset="0"/>
                <a:ea typeface="Calibri" pitchFamily="34" charset="-122"/>
                <a:cs typeface="Calibri" pitchFamily="34" charset="-120"/>
              </a:rPr>
              <a:t>two clocks in one thread</a:t>
            </a:r>
            <a:endParaRPr lang="en-US" sz="2300" dirty="0"/>
          </a:p>
        </p:txBody>
      </p:sp>
      <p:sp>
        <p:nvSpPr>
          <p:cNvPr id="8" name="Shape 6"/>
          <p:cNvSpPr/>
          <p:nvPr/>
        </p:nvSpPr>
        <p:spPr>
          <a:xfrm>
            <a:off x="777240" y="2423160"/>
            <a:ext cx="5090008" cy="3657600"/>
          </a:xfrm>
          <a:prstGeom prst="roundRect">
            <a:avLst>
              <a:gd name="adj" fmla="val 3000"/>
            </a:avLst>
          </a:prstGeom>
          <a:solidFill>
            <a:srgbClr val="1A4249"/>
          </a:solidFill>
          <a:ln w="12700">
            <a:solidFill>
              <a:srgbClr val="2E565D"/>
            </a:solidFill>
            <a:prstDash val="solid"/>
          </a:ln>
        </p:spPr>
      </p:sp>
      <p:sp>
        <p:nvSpPr>
          <p:cNvPr id="9" name="Text 7"/>
          <p:cNvSpPr/>
          <p:nvPr/>
        </p:nvSpPr>
        <p:spPr>
          <a:xfrm>
            <a:off x="1097280" y="2697480"/>
            <a:ext cx="4449928" cy="320040"/>
          </a:xfrm>
          <a:prstGeom prst="rect">
            <a:avLst/>
          </a:prstGeom>
          <a:noFill/>
          <a:ln/>
        </p:spPr>
        <p:txBody>
          <a:bodyPr wrap="square" lIns="0" tIns="0" rIns="0" bIns="0" rtlCol="0" anchor="ctr"/>
          <a:lstStyle/>
          <a:p>
            <a:pPr indent="0" marL="0">
              <a:buNone/>
            </a:pPr>
            <a:r>
              <a:rPr lang="en-US" sz="1200" b="1" spc="200" kern="0" dirty="0">
                <a:solidFill>
                  <a:srgbClr val="D1584E"/>
                </a:solidFill>
                <a:latin typeface="Calibri" pitchFamily="34" charset="0"/>
                <a:ea typeface="Calibri" pitchFamily="34" charset="-122"/>
                <a:cs typeface="Calibri" pitchFamily="34" charset="-120"/>
              </a:rPr>
              <a:t>PROBLEM</a:t>
            </a:r>
            <a:endParaRPr lang="en-US" sz="1200" dirty="0"/>
          </a:p>
        </p:txBody>
      </p:sp>
      <p:sp>
        <p:nvSpPr>
          <p:cNvPr id="10" name="Shape 8"/>
          <p:cNvSpPr/>
          <p:nvPr/>
        </p:nvSpPr>
        <p:spPr>
          <a:xfrm>
            <a:off x="1097280" y="3081528"/>
            <a:ext cx="4449928" cy="0"/>
          </a:xfrm>
          <a:prstGeom prst="line">
            <a:avLst/>
          </a:prstGeom>
          <a:noFill/>
          <a:ln w="19050">
            <a:solidFill>
              <a:srgbClr val="D1584E"/>
            </a:solidFill>
            <a:prstDash val="solid"/>
          </a:ln>
        </p:spPr>
      </p:sp>
      <p:sp>
        <p:nvSpPr>
          <p:cNvPr id="11" name="Text 9"/>
          <p:cNvSpPr/>
          <p:nvPr/>
        </p:nvSpPr>
        <p:spPr>
          <a:xfrm>
            <a:off x="1097280" y="3246120"/>
            <a:ext cx="4449928" cy="2651760"/>
          </a:xfrm>
          <a:prstGeom prst="rect">
            <a:avLst/>
          </a:prstGeom>
          <a:noFill/>
          <a:ln/>
        </p:spPr>
        <p:txBody>
          <a:bodyPr wrap="square" lIns="0" tIns="0" rIns="0" bIns="0" rtlCol="0" anchor="t"/>
          <a:lstStyle/>
          <a:p>
            <a:pPr indent="0" marL="0">
              <a:lnSpc>
                <a:spcPct val="128000"/>
              </a:lnSpc>
              <a:buNone/>
            </a:pPr>
            <a:r>
              <a:rPr lang="en-US" sz="1350" dirty="0">
                <a:solidFill>
                  <a:srgbClr val="EDF3EF"/>
                </a:solidFill>
                <a:latin typeface="Calibri" pitchFamily="34" charset="0"/>
                <a:ea typeface="Calibri" pitchFamily="34" charset="-122"/>
                <a:cs typeface="Calibri" pitchFamily="34" charset="-120"/>
              </a:rPr>
              <a:t>Each sensor should sample often enough to trace a real signal but send rarely enough to spare the network, and dissolved oxygen, pH and ammonia each want a different balance. Splitting sampling and dispatch across separate threads or processes for ten sensor-and-pond pairs would multiply the moving parts and the ways they can race.</a:t>
            </a:r>
            <a:endParaRPr lang="en-US" sz="1350" dirty="0"/>
          </a:p>
        </p:txBody>
      </p:sp>
      <p:sp>
        <p:nvSpPr>
          <p:cNvPr id="12" name="Shape 10"/>
          <p:cNvSpPr/>
          <p:nvPr/>
        </p:nvSpPr>
        <p:spPr>
          <a:xfrm>
            <a:off x="6324448" y="2423160"/>
            <a:ext cx="5090008" cy="3657600"/>
          </a:xfrm>
          <a:prstGeom prst="roundRect">
            <a:avLst>
              <a:gd name="adj" fmla="val 3000"/>
            </a:avLst>
          </a:prstGeom>
          <a:solidFill>
            <a:srgbClr val="1A4249"/>
          </a:solidFill>
          <a:ln w="12700">
            <a:solidFill>
              <a:srgbClr val="2E565D"/>
            </a:solidFill>
            <a:prstDash val="solid"/>
          </a:ln>
        </p:spPr>
      </p:sp>
      <p:sp>
        <p:nvSpPr>
          <p:cNvPr id="13" name="Text 11"/>
          <p:cNvSpPr/>
          <p:nvPr/>
        </p:nvSpPr>
        <p:spPr>
          <a:xfrm>
            <a:off x="6644488" y="2697480"/>
            <a:ext cx="4449928" cy="320040"/>
          </a:xfrm>
          <a:prstGeom prst="rect">
            <a:avLst/>
          </a:prstGeom>
          <a:noFill/>
          <a:ln/>
        </p:spPr>
        <p:txBody>
          <a:bodyPr wrap="square" lIns="0" tIns="0" rIns="0" bIns="0" rtlCol="0" anchor="ctr"/>
          <a:lstStyle/>
          <a:p>
            <a:pPr indent="0" marL="0">
              <a:buNone/>
            </a:pPr>
            <a:r>
              <a:rPr lang="en-US" sz="1200" b="1" spc="200" kern="0" dirty="0">
                <a:solidFill>
                  <a:srgbClr val="6FBD93"/>
                </a:solidFill>
                <a:latin typeface="Calibri" pitchFamily="34" charset="0"/>
                <a:ea typeface="Calibri" pitchFamily="34" charset="-122"/>
                <a:cs typeface="Calibri" pitchFamily="34" charset="-120"/>
              </a:rPr>
              <a:t>SOLUTION</a:t>
            </a:r>
            <a:endParaRPr lang="en-US" sz="1200" dirty="0"/>
          </a:p>
        </p:txBody>
      </p:sp>
      <p:sp>
        <p:nvSpPr>
          <p:cNvPr id="14" name="Shape 12"/>
          <p:cNvSpPr/>
          <p:nvPr/>
        </p:nvSpPr>
        <p:spPr>
          <a:xfrm>
            <a:off x="6644488" y="3081528"/>
            <a:ext cx="4449928" cy="0"/>
          </a:xfrm>
          <a:prstGeom prst="line">
            <a:avLst/>
          </a:prstGeom>
          <a:noFill/>
          <a:ln w="19050">
            <a:solidFill>
              <a:srgbClr val="6FBD93"/>
            </a:solidFill>
            <a:prstDash val="solid"/>
          </a:ln>
        </p:spPr>
      </p:sp>
      <p:sp>
        <p:nvSpPr>
          <p:cNvPr id="15" name="Text 13"/>
          <p:cNvSpPr/>
          <p:nvPr/>
        </p:nvSpPr>
        <p:spPr>
          <a:xfrm>
            <a:off x="6644488" y="3246120"/>
            <a:ext cx="4449928" cy="2651760"/>
          </a:xfrm>
          <a:prstGeom prst="rect">
            <a:avLst/>
          </a:prstGeom>
          <a:noFill/>
          <a:ln/>
        </p:spPr>
        <p:txBody>
          <a:bodyPr wrap="square" lIns="0" tIns="0" rIns="0" bIns="0" rtlCol="0" anchor="t"/>
          <a:lstStyle/>
          <a:p>
            <a:pPr indent="0" marL="0">
              <a:lnSpc>
                <a:spcPct val="128000"/>
              </a:lnSpc>
              <a:buNone/>
            </a:pPr>
            <a:r>
              <a:rPr lang="en-US" sz="1350" dirty="0">
                <a:solidFill>
                  <a:srgbClr val="EDF3EF"/>
                </a:solidFill>
                <a:latin typeface="Calibri" pitchFamily="34" charset="0"/>
                <a:ea typeface="Calibri" pitchFamily="34" charset="-122"/>
                <a:cs typeface="Calibri" pitchFamily="34" charset="-120"/>
              </a:rPr>
              <a:t>Each process holds two independent deadlines inside one thread: a tight loop compares the clock against a next-sample time and a next-dispatch time, advances the reading when the first passes, flushes the batch when the second passes, and sleeps until whichever is nearer. Both intervals are configurable per container, so several readings accumulate into one network round with no locks and no second thread.</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2026-07-24T09:15:27Z</dcterms:created>
  <dcterms:modified xsi:type="dcterms:W3CDTF">2026-07-24T09:15:27Z</dcterms:modified>
</cp:coreProperties>
</file>