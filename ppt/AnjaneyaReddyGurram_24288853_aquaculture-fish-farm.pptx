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2E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051560"/>
            <a:ext cx="110642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Aquaculture Fish Farm Water Quality</a:t>
            </a:r>
            <a:endParaRPr lang="en-US" sz="3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Anjaneya Reddy Gurram   ·   24288853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1463040" y="2926080"/>
            <a:ext cx="92354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000" dirty="0">
                <a:solidFill>
                  <a:srgbClr val="CDE7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warm, still night can crash dissolved oxygen and push ammonia up over a few hours — entirely inside the gap between two once-a-day manual water checks.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8960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8960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checks / day today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76996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6996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sensors · 2 ponds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50328" y="4526280"/>
            <a:ext cx="2651760" cy="566928"/>
          </a:xfrm>
          <a:prstGeom prst="roundRect">
            <a:avLst>
              <a:gd name="adj" fmla="val 50000"/>
            </a:avLst>
          </a:prstGeom>
          <a:solidFill>
            <a:srgbClr val="123B3E"/>
          </a:solidFill>
          <a:ln w="12700">
            <a:solidFill>
              <a:srgbClr val="E7A93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50328" y="45262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7A9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edge rules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48640" y="612648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&amp; Edge Computing (H9FECC)   ·   deployed live on AWS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 Built — Pond to Cloud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69164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5" name="Text 3"/>
          <p:cNvSpPr/>
          <p:nvPr/>
        </p:nvSpPr>
        <p:spPr>
          <a:xfrm>
            <a:off x="61264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Pond sensors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2 ponds · 5 metrics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94436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493776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4FB0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89320" y="2039112"/>
            <a:ext cx="182880" cy="182880"/>
          </a:xfrm>
          <a:prstGeom prst="ellipse">
            <a:avLst/>
          </a:prstGeom>
          <a:solidFill>
            <a:srgbClr val="4FB0A6"/>
          </a:solidFill>
          <a:ln/>
        </p:spPr>
      </p:sp>
      <p:sp>
        <p:nvSpPr>
          <p:cNvPr id="10" name="Text 8"/>
          <p:cNvSpPr/>
          <p:nvPr/>
        </p:nvSpPr>
        <p:spPr>
          <a:xfrm>
            <a:off x="491032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Fog gateway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93776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 windows · rules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242048" y="251460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235440" y="187452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287000" y="203911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5" name="Text 13"/>
          <p:cNvSpPr/>
          <p:nvPr/>
        </p:nvSpPr>
        <p:spPr>
          <a:xfrm>
            <a:off x="9208008" y="225856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SQS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9235440" y="2606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batched send / cycle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923544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28700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9" name="Text 17"/>
          <p:cNvSpPr/>
          <p:nvPr/>
        </p:nvSpPr>
        <p:spPr>
          <a:xfrm>
            <a:off x="920800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Lambda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923544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java17 ingest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724204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2" name="Shape 20"/>
          <p:cNvSpPr/>
          <p:nvPr/>
        </p:nvSpPr>
        <p:spPr>
          <a:xfrm>
            <a:off x="493776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0F6E6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9320" y="3685032"/>
            <a:ext cx="182880" cy="1828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24" name="Text 22"/>
          <p:cNvSpPr/>
          <p:nvPr/>
        </p:nvSpPr>
        <p:spPr>
          <a:xfrm>
            <a:off x="491032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</a:t>
            </a:r>
            <a:endParaRPr lang="en-US" sz="1450" dirty="0"/>
          </a:p>
        </p:txBody>
      </p:sp>
      <p:sp>
        <p:nvSpPr>
          <p:cNvPr id="25" name="Text 23"/>
          <p:cNvSpPr/>
          <p:nvPr/>
        </p:nvSpPr>
        <p:spPr>
          <a:xfrm>
            <a:off x="493776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type · time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2944368" y="4160520"/>
            <a:ext cx="1975104" cy="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headEnd type="triangle"/>
            <a:tailEnd type="oval"/>
          </a:ln>
        </p:spPr>
      </p:sp>
      <p:sp>
        <p:nvSpPr>
          <p:cNvPr id="27" name="Shape 25"/>
          <p:cNvSpPr/>
          <p:nvPr/>
        </p:nvSpPr>
        <p:spPr>
          <a:xfrm>
            <a:off x="640080" y="3520440"/>
            <a:ext cx="2286000" cy="1280160"/>
          </a:xfrm>
          <a:prstGeom prst="roundRect">
            <a:avLst>
              <a:gd name="adj" fmla="val 7143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691640" y="3685032"/>
            <a:ext cx="182880" cy="182880"/>
          </a:xfrm>
          <a:prstGeom prst="ellipse">
            <a:avLst/>
          </a:prstGeom>
          <a:solidFill>
            <a:srgbClr val="1E9188"/>
          </a:solidFill>
          <a:ln/>
        </p:spPr>
      </p:sp>
      <p:sp>
        <p:nvSpPr>
          <p:cNvPr id="29" name="Text 27"/>
          <p:cNvSpPr/>
          <p:nvPr/>
        </p:nvSpPr>
        <p:spPr>
          <a:xfrm>
            <a:off x="612648" y="3904488"/>
            <a:ext cx="2340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GW + S3</a:t>
            </a:r>
            <a:endParaRPr lang="en-US" sz="1450" dirty="0"/>
          </a:p>
        </p:txBody>
      </p:sp>
      <p:sp>
        <p:nvSpPr>
          <p:cNvPr id="30" name="Text 28"/>
          <p:cNvSpPr/>
          <p:nvPr/>
        </p:nvSpPr>
        <p:spPr>
          <a:xfrm>
            <a:off x="640080" y="4251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0378440" y="3154680"/>
            <a:ext cx="0" cy="365760"/>
          </a:xfrm>
          <a:prstGeom prst="line">
            <a:avLst/>
          </a:prstGeom>
          <a:noFill/>
          <a:ln w="25400">
            <a:solidFill>
              <a:srgbClr val="4FB0A6"/>
            </a:solidFill>
            <a:prstDash val="solid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640080" y="52578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0F6E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compact window summaries ever leave the pond; raw readings stay at the edge and alert rules fire on site, next to the fish.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58368" y="1143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91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aff-frontend-713939620116.s3.us-east-1.amazonaws.com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ponds, five water metrics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914400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Temperature, dissolved oxygen, pH, ammonia and feed live for both ponds, freshest reading under two seconds old.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416552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90872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1" name="Text 9"/>
          <p:cNvSpPr/>
          <p:nvPr/>
        </p:nvSpPr>
        <p:spPr>
          <a:xfrm>
            <a:off x="4690872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690872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alerts firing at once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690872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 stress, hypoxia and acidic risk on pond-1 and alkaline risk on pond-2 are all live on the board right now.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93024" y="1874520"/>
            <a:ext cx="3502152" cy="3657600"/>
          </a:xfrm>
          <a:prstGeom prst="roundRect">
            <a:avLst>
              <a:gd name="adj" fmla="val 2611"/>
            </a:avLst>
          </a:prstGeom>
          <a:solidFill>
            <a:srgbClr val="EDF6F5"/>
          </a:solidFill>
          <a:ln w="15240">
            <a:solidFill>
              <a:srgbClr val="1E918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67344" y="2194560"/>
            <a:ext cx="640080" cy="640080"/>
          </a:xfrm>
          <a:prstGeom prst="ellipse">
            <a:avLst/>
          </a:prstGeom>
          <a:solidFill>
            <a:srgbClr val="0F6E6A"/>
          </a:solidFill>
          <a:ln/>
        </p:spPr>
      </p:sp>
      <p:sp>
        <p:nvSpPr>
          <p:cNvPr id="16" name="Text 14"/>
          <p:cNvSpPr/>
          <p:nvPr/>
        </p:nvSpPr>
        <p:spPr>
          <a:xfrm>
            <a:off x="8467344" y="21945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467344" y="3017520"/>
            <a:ext cx="29535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data, climbing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8467344" y="3794760"/>
            <a:ext cx="295351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5573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stored-record count reads 590 and keeps rising as new windows land, so the board is reading live data, not a snapshot.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4FB0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to the live dashboard here — backup video ready.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F2E3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Hardest Part — a hidden concurrency race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920240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5"/>
          </a:solidFill>
          <a:ln w="19050">
            <a:solidFill>
              <a:srgbClr val="E7A93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21031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7A9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1005840" y="2578608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fog gateway buffers every reading in one shared in-memory map — ten streams writing at once while a ten-second flush retires it, deliberately with no lock. A 64-thread stress test failed once and readings silently vanished: one field in the accumulator was still mutable, so two simultaneous merges could each read it before either wrote back. Nothing crashed; data just disappeared.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4041648"/>
            <a:ext cx="10698480" cy="1965960"/>
          </a:xfrm>
          <a:prstGeom prst="roundRect">
            <a:avLst>
              <a:gd name="adj" fmla="val 4651"/>
            </a:avLst>
          </a:prstGeom>
          <a:solidFill>
            <a:srgbClr val="EDF6F5"/>
          </a:solidFill>
          <a:ln w="19050">
            <a:solidFill>
              <a:srgbClr val="1E91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422452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918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1005840" y="4700016"/>
            <a:ext cx="9966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0F2E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the accumulator fully immutable, so every combine returns a fresh value instead of editing one in place — the map's atomic merge is only guaranteed when the merge function has no side effects, a narrower promise than "thread-safe" sounds. The suite replays the 64-thread collision, and after the fix not one reading is lost.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2026-07-24T07:12:01Z</dcterms:created>
  <dcterms:modified xsi:type="dcterms:W3CDTF">2026-07-24T07:12:01Z</dcterms:modified>
</cp:coreProperties>
</file>