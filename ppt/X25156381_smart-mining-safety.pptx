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7040880"/>
          </a:xfrm>
          <a:prstGeom prst="rect">
            <a:avLst/>
          </a:prstGeom>
          <a:solidFill>
            <a:srgbClr val="8A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91440" y="3108960"/>
            <a:ext cx="6858000" cy="3840480"/>
          </a:xfrm>
          <a:prstGeom prst="rtTriangle">
            <a:avLst/>
          </a:prstGeom>
          <a:solidFill>
            <a:srgbClr val="5B3B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91640"/>
            <a:ext cx="10332720" cy="2011680"/>
          </a:xfrm>
          <a:prstGeom prst="rect">
            <a:avLst/>
          </a:prstGeom>
          <a:noFill/>
        </p:spPr>
        <p:txBody>
          <a:bodyPr wrap="square" anchor="t">
            <a:spAutoFit/>
          </a:bodyPr>
          <a:lstStyle/>
          <a:p>
            <a:pPr algn="l"/>
            <a:r>
              <a:rPr sz="3400" b="1" i="0">
                <a:solidFill>
                  <a:srgbClr val="FFFFFF"/>
                </a:solidFill>
                <a:latin typeface="Georgia"/>
              </a:rPr>
              <a:t>Smart Mining Safety Monitoring</a:t>
            </a:r>
          </a:p>
        </p:txBody>
      </p:sp>
      <p:sp>
        <p:nvSpPr>
          <p:cNvPr id="5" name="TextBox 4"/>
          <p:cNvSpPr txBox="1"/>
          <p:nvPr/>
        </p:nvSpPr>
        <p:spPr>
          <a:xfrm>
            <a:off x="868680" y="3794760"/>
            <a:ext cx="8686800" cy="640080"/>
          </a:xfrm>
          <a:prstGeom prst="rect">
            <a:avLst/>
          </a:prstGeom>
          <a:noFill/>
        </p:spPr>
        <p:txBody>
          <a:bodyPr wrap="square" anchor="t">
            <a:spAutoFit/>
          </a:bodyPr>
          <a:lstStyle/>
          <a:p>
            <a:pPr algn="l"/>
            <a:r>
              <a:rPr sz="1700" b="0" i="1">
                <a:solidFill>
                  <a:srgbClr val="E7DED2"/>
                </a:solidFill>
                <a:latin typeface="Cambria"/>
              </a:rPr>
              <a:t>A fog-to-cloud hazard pipeline for two underground shafts, deployed live on AWS</a:t>
            </a:r>
          </a:p>
        </p:txBody>
      </p:sp>
      <p:sp>
        <p:nvSpPr>
          <p:cNvPr id="6" name="TextBox 5"/>
          <p:cNvSpPr txBox="1"/>
          <p:nvPr/>
        </p:nvSpPr>
        <p:spPr>
          <a:xfrm>
            <a:off x="868680" y="4709160"/>
            <a:ext cx="8229600" cy="1463040"/>
          </a:xfrm>
          <a:prstGeom prst="rect">
            <a:avLst/>
          </a:prstGeom>
          <a:noFill/>
        </p:spPr>
        <p:txBody>
          <a:bodyPr wrap="square" anchor="t">
            <a:spAutoFit/>
          </a:bodyPr>
          <a:lstStyle/>
          <a:p>
            <a:pPr algn="l"/>
            <a:r>
              <a:rPr sz="1700" b="1" i="0">
                <a:solidFill>
                  <a:srgbClr val="FFFFFF"/>
                </a:solidFill>
                <a:latin typeface="Cambria"/>
              </a:rPr>
              <a:t>Jaipal Kasireddy</a:t>
            </a:r>
          </a:p>
          <a:p>
            <a:pPr algn="l"/>
            <a:r>
              <a:rPr sz="1300" b="0" i="0">
                <a:solidFill>
                  <a:srgbClr val="E9E1D6"/>
                </a:solidFill>
                <a:latin typeface="Cambria"/>
              </a:rPr>
              <a:t>Student ID X25156381</a:t>
            </a:r>
          </a:p>
          <a:p>
            <a:pPr algn="l"/>
            <a:r>
              <a:rPr sz="1250" b="0" i="0">
                <a:solidFill>
                  <a:srgbClr val="E9E1D6"/>
                </a:solidFill>
                <a:latin typeface="Cambria"/>
              </a:rPr>
              <a:t>MSc in Cloud Computing   ·   Fog and Edge Computing (H9FECC)</a:t>
            </a:r>
          </a:p>
          <a:p>
            <a:pPr algn="l"/>
            <a:r>
              <a:rPr sz="1250" b="0" i="0">
                <a:solidFill>
                  <a:srgbClr val="E9E1D6"/>
                </a:solidFill>
                <a:latin typeface="Cambria"/>
              </a:rPr>
              <a:t>National College of Ireland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411480"/>
            <a:ext cx="10972800" cy="822960"/>
          </a:xfrm>
        </p:spPr>
        <p:txBody>
          <a:bodyPr wrap="square" anchor="t"/>
          <a:lstStyle/>
          <a:p>
            <a:pPr algn="l"/>
            <a:r>
              <a:rPr b="1" sz="2700">
                <a:solidFill>
                  <a:srgbClr val="232A26"/>
                </a:solidFill>
                <a:latin typeface="Georgia"/>
              </a:rPr>
              <a:t>Why periodic checks fail underground</a:t>
            </a:r>
          </a:p>
        </p:txBody>
      </p:sp>
      <p:sp>
        <p:nvSpPr>
          <p:cNvPr id="3" name="Content Placeholder 2"/>
          <p:cNvSpPr>
            <a:spLocks noGrp="1"/>
          </p:cNvSpPr>
          <p:nvPr>
            <p:ph idx="1"/>
          </p:nvPr>
        </p:nvSpPr>
        <p:spPr>
          <a:xfrm>
            <a:off x="658368" y="1463040"/>
            <a:ext cx="10972800" cy="4663440"/>
          </a:xfrm>
        </p:spPr>
        <p:txBody>
          <a:bodyPr wrap="square">
            <a:normAutofit/>
          </a:bodyPr>
          <a:lstStyle/>
          <a:p>
            <a:pPr>
              <a:spcAft>
                <a:spcPts val="600"/>
              </a:spcAft>
            </a:pPr>
            <a:r>
              <a:rPr sz="1500" b="0">
                <a:solidFill>
                  <a:srgbClr val="232A26"/>
                </a:solidFill>
                <a:latin typeface="Cambria"/>
              </a:rPr>
              <a:t>Methane moves in minutes: a ventilation fan can clear a methane pocket in under a minute, or leave it in place for an hour, depending on airflow.</a:t>
            </a:r>
          </a:p>
          <a:p>
            <a:pPr>
              <a:spcAft>
                <a:spcPts val="600"/>
              </a:spcAft>
            </a:pPr>
            <a:r>
              <a:rPr sz="1500" b="0">
                <a:solidFill>
                  <a:srgbClr val="232A26"/>
                </a:solidFill>
                <a:latin typeface="Cambria"/>
              </a:rPr>
              <a:t>Carbon monoxide gives no visible warning: CO from blasting or equipment exhaust displaces breathable air silently. By the time a round reaches the shaft, the air has already changed.</a:t>
            </a:r>
          </a:p>
          <a:p>
            <a:pPr>
              <a:spcAft>
                <a:spcPts val="600"/>
              </a:spcAft>
            </a:pPr>
            <a:r>
              <a:rPr sz="1500" b="0">
                <a:solidFill>
                  <a:srgbClr val="232A26"/>
                </a:solidFill>
                <a:latin typeface="Cambria"/>
              </a:rPr>
              <a:t>Rockfall precursors last seconds: ground vibration from an unstable face can precede a rockfall by seconds rather than hours. No inspection schedule is that fast.</a:t>
            </a:r>
          </a:p>
          <a:p>
            <a:pPr>
              <a:spcAft>
                <a:spcPts val="600"/>
              </a:spcAft>
            </a:pPr>
            <a:r>
              <a:rPr sz="1500" b="1">
                <a:solidFill>
                  <a:srgbClr val="8A5A1E"/>
                </a:solidFill>
                <a:latin typeface="Cambria"/>
              </a:rPr>
              <a:t>Four hard limits, watched continuously:</a:t>
            </a:r>
          </a:p>
          <a:p>
            <a:pPr lvl="1">
              <a:spcAft>
                <a:spcPts val="600"/>
              </a:spcAft>
            </a:pPr>
            <a:r>
              <a:rPr sz="1300" b="0">
                <a:solidFill>
                  <a:srgbClr val="232A26"/>
                </a:solidFill>
                <a:latin typeface="Cambria"/>
              </a:rPr>
              <a:t>Methane (window average): 1,000 ppm.</a:t>
            </a:r>
          </a:p>
          <a:p>
            <a:pPr lvl="1">
              <a:spcAft>
                <a:spcPts val="600"/>
              </a:spcAft>
            </a:pPr>
            <a:r>
              <a:rPr sz="1300" b="0">
                <a:solidFill>
                  <a:srgbClr val="232A26"/>
                </a:solidFill>
                <a:latin typeface="Cambria"/>
              </a:rPr>
              <a:t>Carbon monoxide (average): 50 ppm.</a:t>
            </a:r>
          </a:p>
          <a:p>
            <a:pPr lvl="1">
              <a:spcAft>
                <a:spcPts val="600"/>
              </a:spcAft>
            </a:pPr>
            <a:r>
              <a:rPr sz="1300" b="0">
                <a:solidFill>
                  <a:srgbClr val="232A26"/>
                </a:solidFill>
                <a:latin typeface="Cambria"/>
              </a:rPr>
              <a:t>Respirable dust (average): 10 mg/m3.</a:t>
            </a:r>
          </a:p>
          <a:p>
            <a:pPr lvl="1">
              <a:spcAft>
                <a:spcPts val="600"/>
              </a:spcAft>
            </a:pPr>
            <a:r>
              <a:rPr sz="1300" b="0">
                <a:solidFill>
                  <a:srgbClr val="232A26"/>
                </a:solidFill>
                <a:latin typeface="Cambria"/>
              </a:rPr>
              <a:t>Ground vibration (maximum): 25 mm/s.</a:t>
            </a:r>
          </a:p>
          <a:p>
            <a:pPr>
              <a:spcAft>
                <a:spcPts val="600"/>
              </a:spcAft>
            </a:pPr>
            <a:r>
              <a:rPr sz="1500" b="0">
                <a:solidFill>
                  <a:srgbClr val="232A26"/>
                </a:solidFill>
                <a:latin typeface="Cambria"/>
              </a:rPr>
              <a:t>Every sensor window is checked against these limits at the fog node itself, not on an inspector's schedule.</a:t>
            </a:r>
          </a:p>
        </p:txBody>
      </p:sp>
      <p:sp>
        <p:nvSpPr>
          <p:cNvPr id="4" name="Rectangle 3"/>
          <p:cNvSpPr/>
          <p:nvPr/>
        </p:nvSpPr>
        <p:spPr>
          <a:xfrm>
            <a:off x="658368" y="1207008"/>
            <a:ext cx="10881360" cy="45720"/>
          </a:xfrm>
          <a:prstGeom prst="rect">
            <a:avLst/>
          </a:prstGeom>
          <a:solidFill>
            <a:srgbClr val="8A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355080"/>
            <a:ext cx="2743200" cy="36576"/>
          </a:xfrm>
          <a:prstGeom prst="rect">
            <a:avLst/>
          </a:prstGeom>
          <a:solidFill>
            <a:srgbClr val="8A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411480"/>
            <a:ext cx="10972800" cy="822960"/>
          </a:xfrm>
        </p:spPr>
        <p:txBody>
          <a:bodyPr wrap="square" anchor="t"/>
          <a:lstStyle/>
          <a:p>
            <a:pPr algn="l"/>
            <a:r>
              <a:rPr b="1" sz="2700">
                <a:solidFill>
                  <a:srgbClr val="232A26"/>
                </a:solidFill>
                <a:latin typeface="Georgia"/>
              </a:rPr>
              <a:t>How it works: edge to live dashboard</a:t>
            </a:r>
          </a:p>
        </p:txBody>
      </p:sp>
      <p:sp>
        <p:nvSpPr>
          <p:cNvPr id="3" name="Content Placeholder 2"/>
          <p:cNvSpPr>
            <a:spLocks noGrp="1"/>
          </p:cNvSpPr>
          <p:nvPr>
            <p:ph idx="1"/>
          </p:nvPr>
        </p:nvSpPr>
        <p:spPr>
          <a:xfrm>
            <a:off x="658368" y="1463040"/>
            <a:ext cx="5760720" cy="4663440"/>
          </a:xfrm>
        </p:spPr>
        <p:txBody>
          <a:bodyPr wrap="square">
            <a:normAutofit/>
          </a:bodyPr>
          <a:lstStyle/>
          <a:p>
            <a:pPr>
              <a:spcAft>
                <a:spcPts val="800"/>
              </a:spcAft>
            </a:pPr>
            <a:r>
              <a:rPr sz="1500" b="1">
                <a:solidFill>
                  <a:srgbClr val="8A5A1E"/>
                </a:solidFill>
                <a:latin typeface="Cambria"/>
              </a:rPr>
              <a:t>Underground, edge tier:</a:t>
            </a:r>
          </a:p>
          <a:p>
            <a:pPr lvl="1">
              <a:spcAft>
                <a:spcPts val="800"/>
              </a:spcAft>
            </a:pPr>
            <a:r>
              <a:rPr sz="1300" b="0">
                <a:solidFill>
                  <a:srgbClr val="232A26"/>
                </a:solidFill>
                <a:latin typeface="Cambria"/>
              </a:rPr>
              <a:t>Ten sensors (2 shafts x 5 hazard types) post readings continuously; the fog node windows, aggregates and evaluates alert thresholds at the edge.</a:t>
            </a:r>
          </a:p>
          <a:p>
            <a:pPr>
              <a:spcAft>
                <a:spcPts val="800"/>
              </a:spcAft>
            </a:pPr>
            <a:r>
              <a:rPr sz="1500" b="1">
                <a:solidFill>
                  <a:srgbClr val="8A5A1E"/>
                </a:solidFill>
                <a:latin typeface="Cambria"/>
              </a:rPr>
              <a:t>AWS cloud, serverless tier:</a:t>
            </a:r>
          </a:p>
          <a:p>
            <a:pPr lvl="1">
              <a:spcAft>
                <a:spcPts val="800"/>
              </a:spcAft>
            </a:pPr>
            <a:r>
              <a:rPr sz="1300" b="0">
                <a:solidFill>
                  <a:srgbClr val="232A26"/>
                </a:solidFill>
                <a:latin typeface="Cambria"/>
              </a:rPr>
              <a:t>Amazon SQS carries compact window summaries in batches of up to ten; AWS Lambda reads the queue and stores each finished window.</a:t>
            </a:r>
          </a:p>
          <a:p>
            <a:pPr lvl="1">
              <a:spcAft>
                <a:spcPts val="800"/>
              </a:spcAft>
            </a:pPr>
            <a:r>
              <a:rPr sz="1300" b="0">
                <a:solidFill>
                  <a:srgbClr val="232A26"/>
                </a:solidFill>
                <a:latin typeface="Cambria"/>
              </a:rPr>
              <a:t>Amazon DynamoDB holds readings history keyed per sensor type and shaft; the live dashboard (Amazon API Gateway plus Amazon S3) shows SAFE, CAUTION or DANGER per shaft.</a:t>
            </a:r>
          </a:p>
          <a:p>
            <a:pPr>
              <a:spcAft>
                <a:spcPts val="800"/>
              </a:spcAft>
            </a:pPr>
            <a:r>
              <a:rPr sz="1500" b="0">
                <a:solidFill>
                  <a:srgbClr val="232A26"/>
                </a:solidFill>
                <a:latin typeface="Cambria"/>
              </a:rPr>
              <a:t>Only finished window summaries cross the mine uplink; raw readings never leave the edge, and alerts fire in the same process that measured them.</a:t>
            </a:r>
          </a:p>
        </p:txBody>
      </p:sp>
      <p:sp>
        <p:nvSpPr>
          <p:cNvPr id="4" name="Rectangle 3"/>
          <p:cNvSpPr/>
          <p:nvPr/>
        </p:nvSpPr>
        <p:spPr>
          <a:xfrm>
            <a:off x="658368" y="1207008"/>
            <a:ext cx="10881360" cy="45720"/>
          </a:xfrm>
          <a:prstGeom prst="rect">
            <a:avLst/>
          </a:prstGeom>
          <a:solidFill>
            <a:srgbClr val="8A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opology.png"/>
          <p:cNvPicPr>
            <a:picLocks noChangeAspect="1"/>
          </p:cNvPicPr>
          <p:nvPr/>
        </p:nvPicPr>
        <p:blipFill>
          <a:blip r:embed="rId2"/>
          <a:stretch>
            <a:fillRect/>
          </a:stretch>
        </p:blipFill>
        <p:spPr>
          <a:xfrm>
            <a:off x="6629400" y="2058877"/>
            <a:ext cx="5120640" cy="3362036"/>
          </a:xfrm>
          <a:prstGeom prst="rect">
            <a:avLst/>
          </a:prstGeom>
        </p:spPr>
      </p:pic>
      <p:sp>
        <p:nvSpPr>
          <p:cNvPr id="6" name="Rectangle 5"/>
          <p:cNvSpPr/>
          <p:nvPr/>
        </p:nvSpPr>
        <p:spPr>
          <a:xfrm>
            <a:off x="658368" y="6355080"/>
            <a:ext cx="2743200" cy="36576"/>
          </a:xfrm>
          <a:prstGeom prst="rect">
            <a:avLst/>
          </a:prstGeom>
          <a:solidFill>
            <a:srgbClr val="8A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411480"/>
            <a:ext cx="10972800" cy="822960"/>
          </a:xfrm>
        </p:spPr>
        <p:txBody>
          <a:bodyPr wrap="square" anchor="t"/>
          <a:lstStyle/>
          <a:p>
            <a:pPr algn="l"/>
            <a:r>
              <a:rPr b="1" sz="2700">
                <a:solidFill>
                  <a:srgbClr val="232A26"/>
                </a:solidFill>
                <a:latin typeface="Georgia"/>
              </a:rPr>
              <a:t>Live on AWS: demonstration highlights</a:t>
            </a:r>
          </a:p>
        </p:txBody>
      </p:sp>
      <p:sp>
        <p:nvSpPr>
          <p:cNvPr id="3" name="Content Placeholder 2"/>
          <p:cNvSpPr>
            <a:spLocks noGrp="1"/>
          </p:cNvSpPr>
          <p:nvPr>
            <p:ph idx="1"/>
          </p:nvPr>
        </p:nvSpPr>
        <p:spPr>
          <a:xfrm>
            <a:off x="658368" y="1463040"/>
            <a:ext cx="5760720" cy="4663440"/>
          </a:xfrm>
        </p:spPr>
        <p:txBody>
          <a:bodyPr wrap="square">
            <a:normAutofit/>
          </a:bodyPr>
          <a:lstStyle/>
          <a:p>
            <a:pPr>
              <a:spcAft>
                <a:spcPts val="800"/>
              </a:spcAft>
            </a:pPr>
            <a:r>
              <a:rPr sz="1500" b="0">
                <a:solidFill>
                  <a:srgbClr val="232A26"/>
                </a:solidFill>
                <a:latin typeface="Cambria"/>
              </a:rPr>
              <a:t>The deployed dashboard in a live browser session.</a:t>
            </a:r>
          </a:p>
          <a:p>
            <a:pPr>
              <a:spcAft>
                <a:spcPts val="800"/>
              </a:spcAft>
            </a:pPr>
            <a:r>
              <a:rPr sz="1500" b="1">
                <a:solidFill>
                  <a:srgbClr val="8A5A1E"/>
                </a:solidFill>
                <a:latin typeface="Cambria"/>
              </a:rPr>
              <a:t>All four health checks green: gateway, queue, Lambda and pipeline all reported true on the very first check after deployment.</a:t>
            </a:r>
          </a:p>
          <a:p>
            <a:pPr>
              <a:spcAft>
                <a:spcPts val="800"/>
              </a:spcAft>
            </a:pPr>
            <a:r>
              <a:rPr sz="1500" b="0">
                <a:solidFill>
                  <a:srgbClr val="232A26"/>
                </a:solidFill>
                <a:latin typeface="Cambria"/>
              </a:rPr>
              <a:t>90 automated tests pass across four modules: sensors (5), fog (47), processor (8) and dashboard (30).</a:t>
            </a:r>
          </a:p>
          <a:p>
            <a:pPr>
              <a:spcAft>
                <a:spcPts val="800"/>
              </a:spcAft>
            </a:pPr>
            <a:r>
              <a:rPr sz="1500" b="0">
                <a:solidFill>
                  <a:srgbClr val="232A26"/>
                </a:solidFill>
                <a:latin typeface="Cambria"/>
              </a:rPr>
              <a:t>Data climbing live: stored readings passed 1,400 during the verification window and kept rising.</a:t>
            </a:r>
          </a:p>
          <a:p>
            <a:pPr>
              <a:spcAft>
                <a:spcPts val="800"/>
              </a:spcAft>
            </a:pPr>
            <a:r>
              <a:rPr sz="1500" b="0">
                <a:solidFill>
                  <a:srgbClr val="232A26"/>
                </a:solidFill>
                <a:latin typeface="Cambria"/>
              </a:rPr>
              <a:t>Real alerts firing: a silica-dust breach classifies shaft A as DANGER while shaft B stays SAFE, with zero console errors and zero CORS failures.</a:t>
            </a:r>
          </a:p>
        </p:txBody>
      </p:sp>
      <p:sp>
        <p:nvSpPr>
          <p:cNvPr id="4" name="Rectangle 3"/>
          <p:cNvSpPr/>
          <p:nvPr/>
        </p:nvSpPr>
        <p:spPr>
          <a:xfrm>
            <a:off x="658368" y="1207008"/>
            <a:ext cx="10881360" cy="45720"/>
          </a:xfrm>
          <a:prstGeom prst="rect">
            <a:avLst/>
          </a:prstGeom>
          <a:solidFill>
            <a:srgbClr val="8A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shboard.png"/>
          <p:cNvPicPr>
            <a:picLocks noChangeAspect="1"/>
          </p:cNvPicPr>
          <p:nvPr/>
        </p:nvPicPr>
        <p:blipFill>
          <a:blip r:embed="rId2"/>
          <a:stretch>
            <a:fillRect/>
          </a:stretch>
        </p:blipFill>
        <p:spPr>
          <a:xfrm>
            <a:off x="7521565" y="1499616"/>
            <a:ext cx="3336309" cy="4480560"/>
          </a:xfrm>
          <a:prstGeom prst="rect">
            <a:avLst/>
          </a:prstGeom>
        </p:spPr>
      </p:pic>
      <p:sp>
        <p:nvSpPr>
          <p:cNvPr id="6" name="Rectangle 5"/>
          <p:cNvSpPr/>
          <p:nvPr/>
        </p:nvSpPr>
        <p:spPr>
          <a:xfrm>
            <a:off x="658368" y="6355080"/>
            <a:ext cx="2743200" cy="36576"/>
          </a:xfrm>
          <a:prstGeom prst="rect">
            <a:avLst/>
          </a:prstGeom>
          <a:solidFill>
            <a:srgbClr val="8A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411480"/>
            <a:ext cx="10972800" cy="822960"/>
          </a:xfrm>
        </p:spPr>
        <p:txBody>
          <a:bodyPr wrap="square" anchor="t"/>
          <a:lstStyle/>
          <a:p>
            <a:pPr algn="l"/>
            <a:r>
              <a:rPr b="1" sz="2700">
                <a:solidFill>
                  <a:srgbClr val="232A26"/>
                </a:solidFill>
                <a:latin typeface="Georgia"/>
              </a:rPr>
              <a:t>The hardest part</a:t>
            </a:r>
          </a:p>
        </p:txBody>
      </p:sp>
      <p:sp>
        <p:nvSpPr>
          <p:cNvPr id="3" name="Content Placeholder 2"/>
          <p:cNvSpPr>
            <a:spLocks noGrp="1"/>
          </p:cNvSpPr>
          <p:nvPr>
            <p:ph idx="1"/>
          </p:nvPr>
        </p:nvSpPr>
        <p:spPr>
          <a:xfrm>
            <a:off x="658368" y="1463040"/>
            <a:ext cx="10972800" cy="4663440"/>
          </a:xfrm>
        </p:spPr>
        <p:txBody>
          <a:bodyPr wrap="square">
            <a:normAutofit/>
          </a:bodyPr>
          <a:lstStyle/>
          <a:p>
            <a:pPr>
              <a:spcAft>
                <a:spcPts val="600"/>
              </a:spcAft>
            </a:pPr>
            <a:r>
              <a:rPr sz="1500" b="0">
                <a:solidFill>
                  <a:srgbClr val="232A26"/>
                </a:solidFill>
                <a:latin typeface="Cambria"/>
              </a:rPr>
              <a:t>A credential defect only the real cloud could expose.</a:t>
            </a:r>
          </a:p>
          <a:p>
            <a:pPr>
              <a:spcAft>
                <a:spcPts val="600"/>
              </a:spcAft>
            </a:pPr>
            <a:r>
              <a:rPr sz="1500" b="1">
                <a:solidFill>
                  <a:srgbClr val="8A5A1E"/>
                </a:solidFill>
                <a:latin typeface="Cambria"/>
              </a:rPr>
              <a:t>The defect:</a:t>
            </a:r>
          </a:p>
          <a:p>
            <a:pPr lvl="1">
              <a:spcAft>
                <a:spcPts val="600"/>
              </a:spcAft>
            </a:pPr>
            <a:r>
              <a:rPr sz="1300" b="0">
                <a:solidFill>
                  <a:srgbClr val="232A26"/>
                </a:solidFill>
                <a:latin typeface="Cambria"/>
              </a:rPr>
              <a:t>All three AWS-facing classes (dashboard, processor and queue publisher) hardcoded a fixed pair of test credentials into every client they built.</a:t>
            </a:r>
          </a:p>
          <a:p>
            <a:pPr>
              <a:spcAft>
                <a:spcPts val="600"/>
              </a:spcAft>
            </a:pPr>
            <a:r>
              <a:rPr sz="1500" b="1">
                <a:solidFill>
                  <a:srgbClr val="8A5A1E"/>
                </a:solidFill>
                <a:latin typeface="Cambria"/>
              </a:rPr>
              <a:t>Why it was hard to see:</a:t>
            </a:r>
          </a:p>
          <a:p>
            <a:pPr lvl="1">
              <a:spcAft>
                <a:spcPts val="600"/>
              </a:spcAft>
            </a:pPr>
            <a:r>
              <a:rPr sz="1300" b="0">
                <a:solidFill>
                  <a:srgbClr val="232A26"/>
                </a:solidFill>
                <a:latin typeface="Cambria"/>
              </a:rPr>
              <a:t>LocalStack expects exactly those test values, so all 90 tests passed and every local run looked perfect. On real AWS, the same pair overrides the IAM role, and every call to DynamoDB, SQS or Lambda fails authentication.</a:t>
            </a:r>
          </a:p>
          <a:p>
            <a:pPr>
              <a:spcAft>
                <a:spcPts val="600"/>
              </a:spcAft>
            </a:pPr>
            <a:r>
              <a:rPr sz="1500" b="1">
                <a:solidFill>
                  <a:srgbClr val="8A5A1E"/>
                </a:solidFill>
                <a:latin typeface="Cambria"/>
              </a:rPr>
              <a:t>How it was solved:</a:t>
            </a:r>
          </a:p>
          <a:p>
            <a:pPr lvl="1">
              <a:spcAft>
                <a:spcPts val="600"/>
              </a:spcAft>
            </a:pPr>
            <a:r>
              <a:rPr sz="1300" b="0">
                <a:solidFill>
                  <a:srgbClr val="232A26"/>
                </a:solidFill>
                <a:latin typeface="Cambria"/>
              </a:rPr>
              <a:t>Build static credentials only when a LocalStack endpoint is configured; otherwise fall through to the Lambda role or EC2 instance profile. All three constructors were then audited side by side before deployment.</a:t>
            </a:r>
          </a:p>
          <a:p>
            <a:pPr>
              <a:spcAft>
                <a:spcPts val="600"/>
              </a:spcAft>
            </a:pPr>
            <a:r>
              <a:rPr sz="1500" b="1">
                <a:solidFill>
                  <a:srgbClr val="8A5A1E"/>
                </a:solidFill>
                <a:latin typeface="Cambria"/>
              </a:rPr>
              <a:t>The payoff:</a:t>
            </a:r>
          </a:p>
          <a:p>
            <a:pPr lvl="1">
              <a:spcAft>
                <a:spcPts val="600"/>
              </a:spcAft>
            </a:pPr>
            <a:r>
              <a:rPr sz="1300" b="0">
                <a:solidFill>
                  <a:srgbClr val="232A26"/>
                </a:solidFill>
                <a:latin typeface="Cambria"/>
              </a:rPr>
              <a:t>4 / 4 pipeline health checks true on the very first live check.</a:t>
            </a:r>
          </a:p>
          <a:p>
            <a:pPr lvl="1">
              <a:spcAft>
                <a:spcPts val="600"/>
              </a:spcAft>
            </a:pPr>
            <a:r>
              <a:rPr sz="1300" b="0">
                <a:solidFill>
                  <a:srgbClr val="232A26"/>
                </a:solidFill>
                <a:latin typeface="Cambria"/>
              </a:rPr>
              <a:t>Caught in a pre-deployment audit, so the bug never reached the live account: no outage, no fix-forward cycle.</a:t>
            </a:r>
          </a:p>
        </p:txBody>
      </p:sp>
      <p:sp>
        <p:nvSpPr>
          <p:cNvPr id="4" name="Rectangle 3"/>
          <p:cNvSpPr/>
          <p:nvPr/>
        </p:nvSpPr>
        <p:spPr>
          <a:xfrm>
            <a:off x="658368" y="1207008"/>
            <a:ext cx="10881360" cy="45720"/>
          </a:xfrm>
          <a:prstGeom prst="rect">
            <a:avLst/>
          </a:prstGeom>
          <a:solidFill>
            <a:srgbClr val="8A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355080"/>
            <a:ext cx="2743200" cy="36576"/>
          </a:xfrm>
          <a:prstGeom prst="rect">
            <a:avLst/>
          </a:prstGeom>
          <a:solidFill>
            <a:srgbClr val="8A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411480"/>
            <a:ext cx="10972800" cy="822960"/>
          </a:xfrm>
        </p:spPr>
        <p:txBody>
          <a:bodyPr wrap="square" anchor="t"/>
          <a:lstStyle/>
          <a:p>
            <a:pPr algn="l"/>
            <a:r>
              <a:rPr b="1" sz="2700">
                <a:solidFill>
                  <a:srgbClr val="232A26"/>
                </a:solidFill>
                <a:latin typeface="Georgia"/>
              </a:rPr>
              <a:t>Takeaways</a:t>
            </a:r>
          </a:p>
        </p:txBody>
      </p:sp>
      <p:sp>
        <p:nvSpPr>
          <p:cNvPr id="3" name="Content Placeholder 2"/>
          <p:cNvSpPr>
            <a:spLocks noGrp="1"/>
          </p:cNvSpPr>
          <p:nvPr>
            <p:ph idx="1"/>
          </p:nvPr>
        </p:nvSpPr>
        <p:spPr>
          <a:xfrm>
            <a:off x="658368" y="1463040"/>
            <a:ext cx="10972800" cy="4663440"/>
          </a:xfrm>
        </p:spPr>
        <p:txBody>
          <a:bodyPr wrap="square">
            <a:normAutofit/>
          </a:bodyPr>
          <a:lstStyle/>
          <a:p>
            <a:pPr>
              <a:spcAft>
                <a:spcPts val="900"/>
              </a:spcAft>
            </a:pPr>
            <a:r>
              <a:rPr sz="1700" b="1">
                <a:solidFill>
                  <a:srgbClr val="8A5A1E"/>
                </a:solidFill>
                <a:latin typeface="Cambria"/>
              </a:rPr>
              <a:t>Alert at the edge:</a:t>
            </a:r>
          </a:p>
          <a:p>
            <a:pPr lvl="1">
              <a:spcAft>
                <a:spcPts val="900"/>
              </a:spcAft>
            </a:pPr>
            <a:r>
              <a:rPr sz="1500" b="0">
                <a:solidFill>
                  <a:srgbClr val="232A26"/>
                </a:solidFill>
                <a:latin typeface="Cambria"/>
              </a:rPr>
              <a:t>Thresholds are evaluated in the same process that measured the reading, so a breach is flagged in seconds, before data ever crosses the uplink.</a:t>
            </a:r>
          </a:p>
          <a:p>
            <a:pPr>
              <a:spcAft>
                <a:spcPts val="900"/>
              </a:spcAft>
            </a:pPr>
            <a:r>
              <a:rPr sz="1700" b="1">
                <a:solidFill>
                  <a:srgbClr val="8A5A1E"/>
                </a:solidFill>
                <a:latin typeface="Cambria"/>
              </a:rPr>
              <a:t>Scale without servers:</a:t>
            </a:r>
          </a:p>
          <a:p>
            <a:pPr lvl="1">
              <a:spcAft>
                <a:spcPts val="900"/>
              </a:spcAft>
            </a:pPr>
            <a:r>
              <a:rPr sz="1500" b="0">
                <a:solidFill>
                  <a:srgbClr val="232A26"/>
                </a:solidFill>
                <a:latin typeface="Cambria"/>
              </a:rPr>
              <a:t>SQS absorbs bursts as backlog, Lambda and DynamoDB scale on demand, and nothing bills while the mine is quiet.</a:t>
            </a:r>
          </a:p>
          <a:p>
            <a:pPr>
              <a:spcAft>
                <a:spcPts val="900"/>
              </a:spcAft>
            </a:pPr>
            <a:r>
              <a:rPr sz="1700" b="1">
                <a:solidFill>
                  <a:srgbClr val="8A5A1E"/>
                </a:solidFill>
                <a:latin typeface="Cambria"/>
              </a:rPr>
              <a:t>Audit before deploying:</a:t>
            </a:r>
          </a:p>
          <a:p>
            <a:pPr lvl="1">
              <a:spcAft>
                <a:spcPts val="900"/>
              </a:spcAft>
            </a:pPr>
            <a:r>
              <a:rPr sz="1500" b="0">
                <a:solidFill>
                  <a:srgbClr val="232A26"/>
                </a:solidFill>
                <a:latin typeface="Cambria"/>
              </a:rPr>
              <a:t>A pre-deployment code audit caught four defects the local emulator had masked. The first live health check came back all green.</a:t>
            </a:r>
          </a:p>
        </p:txBody>
      </p:sp>
      <p:sp>
        <p:nvSpPr>
          <p:cNvPr id="4" name="Rectangle 3"/>
          <p:cNvSpPr/>
          <p:nvPr/>
        </p:nvSpPr>
        <p:spPr>
          <a:xfrm>
            <a:off x="658368" y="1207008"/>
            <a:ext cx="10881360" cy="45720"/>
          </a:xfrm>
          <a:prstGeom prst="rect">
            <a:avLst/>
          </a:prstGeom>
          <a:solidFill>
            <a:srgbClr val="8A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355080"/>
            <a:ext cx="2743200" cy="36576"/>
          </a:xfrm>
          <a:prstGeom prst="rect">
            <a:avLst/>
          </a:prstGeom>
          <a:solidFill>
            <a:srgbClr val="8A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