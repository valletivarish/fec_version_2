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32720" cy="1783080"/>
          </a:xfrm>
          <a:prstGeom prst="rect">
            <a:avLst/>
          </a:prstGeom>
          <a:noFill/>
        </p:spPr>
        <p:txBody>
          <a:bodyPr wrap="square" anchor="ctr">
            <a:spAutoFit/>
          </a:bodyPr>
          <a:lstStyle/>
          <a:p>
            <a:pPr algn="ctr"/>
            <a:r>
              <a:rPr sz="3400" b="1" i="0">
                <a:solidFill>
                  <a:srgbClr val="668C9F"/>
                </a:solidFill>
                <a:latin typeface="Corbel"/>
              </a:rPr>
              <a:t>Marine Vessel Condition Monitoring</a:t>
            </a:r>
          </a:p>
        </p:txBody>
      </p:sp>
      <p:sp>
        <p:nvSpPr>
          <p:cNvPr id="4" name="TextBox 3"/>
          <p:cNvSpPr txBox="1"/>
          <p:nvPr/>
        </p:nvSpPr>
        <p:spPr>
          <a:xfrm>
            <a:off x="1371600" y="3931920"/>
            <a:ext cx="9418320" cy="548640"/>
          </a:xfrm>
          <a:prstGeom prst="rect">
            <a:avLst/>
          </a:prstGeom>
          <a:noFill/>
        </p:spPr>
        <p:txBody>
          <a:bodyPr wrap="square" anchor="t">
            <a:spAutoFit/>
          </a:bodyPr>
          <a:lstStyle/>
          <a:p>
            <a:pPr algn="ctr"/>
            <a:r>
              <a:rPr sz="1800" b="0" i="1">
                <a:solidFill>
                  <a:srgbClr val="C7CFCB"/>
                </a:solidFill>
                <a:latin typeface="Calibri"/>
              </a:rPr>
              <a:t>A fog and edge computing pipeline for two cruise vessels, deployed live on AWS</a:t>
            </a:r>
          </a:p>
        </p:txBody>
      </p:sp>
      <p:sp>
        <p:nvSpPr>
          <p:cNvPr id="5" name="TextBox 4"/>
          <p:cNvSpPr txBox="1"/>
          <p:nvPr/>
        </p:nvSpPr>
        <p:spPr>
          <a:xfrm>
            <a:off x="1371600" y="4800600"/>
            <a:ext cx="9418320" cy="1371600"/>
          </a:xfrm>
          <a:prstGeom prst="rect">
            <a:avLst/>
          </a:prstGeom>
          <a:noFill/>
        </p:spPr>
        <p:txBody>
          <a:bodyPr wrap="square" anchor="t">
            <a:spAutoFit/>
          </a:bodyPr>
          <a:lstStyle/>
          <a:p>
            <a:pPr algn="ctr"/>
            <a:r>
              <a:rPr sz="1700" b="1" i="0">
                <a:solidFill>
                  <a:srgbClr val="E6EBE8"/>
                </a:solidFill>
                <a:latin typeface="Calibri"/>
              </a:rPr>
              <a:t>Gopi Krishnan</a:t>
            </a:r>
          </a:p>
          <a:p>
            <a:pPr algn="ctr"/>
            <a:r>
              <a:rPr sz="1300" b="0" i="0">
                <a:solidFill>
                  <a:srgbClr val="98A3A0"/>
                </a:solidFill>
                <a:latin typeface="Calibri"/>
              </a:rPr>
              <a:t>Student ID X25112627</a:t>
            </a:r>
          </a:p>
          <a:p>
            <a:pPr algn="ctr"/>
            <a:r>
              <a:rPr sz="1250" b="0" i="0">
                <a:solidFill>
                  <a:srgbClr val="98A3A0"/>
                </a:solidFill>
                <a:latin typeface="Calibri"/>
              </a:rPr>
              <a:t>MSc in Cloud Computing   ·   Fog and Edge Computing (H9FECC)</a:t>
            </a:r>
          </a:p>
          <a:p>
            <a:pPr algn="ctr"/>
            <a:r>
              <a:rPr sz="1250" b="0" i="0">
                <a:solidFill>
                  <a:srgbClr val="98A3A0"/>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9CAD"/>
                </a:solidFill>
                <a:latin typeface="Corbel"/>
              </a:rPr>
              <a:t>Between Rounds, the Bridge Is Blind</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600"/>
              </a:spcAft>
            </a:pPr>
            <a:r>
              <a:rPr sz="1500" b="0">
                <a:solidFill>
                  <a:srgbClr val="E6EBE8"/>
                </a:solidFill>
                <a:latin typeface="Calibri"/>
              </a:rPr>
              <a:t>Fixed rounds find problems late: a fuel-burn spike, a ballast imbalance, or rising hull vibration surfaces only at the next scheduled check, not when it starts.</a:t>
            </a:r>
          </a:p>
          <a:p>
            <a:pPr>
              <a:spcAft>
                <a:spcPts val="600"/>
              </a:spcAft>
            </a:pPr>
            <a:r>
              <a:rPr sz="1500" b="0">
                <a:solidFill>
                  <a:srgbClr val="E6EBE8"/>
                </a:solidFill>
                <a:latin typeface="Calibri"/>
              </a:rPr>
              <a:t>Continuous data will not fit the link: ten sensor streams, five readings on each of two vessels, produce far more raw data than a narrow, unreliable ship-to-shore link can carry.</a:t>
            </a:r>
          </a:p>
          <a:p>
            <a:pPr>
              <a:spcAft>
                <a:spcPts val="600"/>
              </a:spcAft>
            </a:pPr>
            <a:r>
              <a:rPr sz="1500" b="1">
                <a:solidFill>
                  <a:srgbClr val="7D9CAD"/>
                </a:solidFill>
                <a:latin typeface="Calibri"/>
              </a:rPr>
              <a:t>So the answer must live on board: aggregate and evaluate readings on the vessel itself, and send ashore only compact window summaries.</a:t>
            </a:r>
          </a:p>
          <a:p>
            <a:pPr>
              <a:spcAft>
                <a:spcPts val="600"/>
              </a:spcAft>
            </a:pPr>
            <a:r>
              <a:rPr sz="1500" b="0">
                <a:solidFill>
                  <a:srgbClr val="E6EBE8"/>
                </a:solidFill>
                <a:latin typeface="Calibri"/>
              </a:rPr>
              <a:t>10 live sensor streams: engine, fuel, ballast, hull vibration, passengers, on each of two vessels.</a:t>
            </a:r>
          </a:p>
          <a:p>
            <a:pPr>
              <a:spcAft>
                <a:spcPts val="600"/>
              </a:spcAft>
            </a:pPr>
            <a:r>
              <a:rPr sz="1500" b="1">
                <a:solidFill>
                  <a:srgbClr val="7D9CAD"/>
                </a:solidFill>
                <a:latin typeface="Calibri"/>
              </a:rPr>
              <a:t>Alert rules, checked on every window:</a:t>
            </a:r>
          </a:p>
          <a:p>
            <a:pPr lvl="1">
              <a:spcAft>
                <a:spcPts val="600"/>
              </a:spcAft>
            </a:pPr>
            <a:r>
              <a:rPr sz="1300" b="0">
                <a:solidFill>
                  <a:srgbClr val="E6EBE8"/>
                </a:solidFill>
                <a:latin typeface="Calibri"/>
              </a:rPr>
              <a:t>Engine overheat: average above 75 °C.</a:t>
            </a:r>
          </a:p>
          <a:p>
            <a:pPr lvl="1">
              <a:spcAft>
                <a:spcPts val="600"/>
              </a:spcAft>
            </a:pPr>
            <a:r>
              <a:rPr sz="1300" b="0">
                <a:solidFill>
                  <a:srgbClr val="E6EBE8"/>
                </a:solidFill>
                <a:latin typeface="Calibri"/>
              </a:rPr>
              <a:t>Excessive fuel burn: average above 350 L/h.</a:t>
            </a:r>
          </a:p>
          <a:p>
            <a:pPr lvl="1">
              <a:spcAft>
                <a:spcPts val="600"/>
              </a:spcAft>
            </a:pPr>
            <a:r>
              <a:rPr sz="1300" b="0">
                <a:solidFill>
                  <a:srgbClr val="E6EBE8"/>
                </a:solidFill>
                <a:latin typeface="Calibri"/>
              </a:rPr>
              <a:t>Ballast overfill: average above 90 percent.</a:t>
            </a:r>
          </a:p>
          <a:p>
            <a:pPr lvl="1">
              <a:spcAft>
                <a:spcPts val="600"/>
              </a:spcAft>
            </a:pPr>
            <a:r>
              <a:rPr sz="1300" b="0">
                <a:solidFill>
                  <a:srgbClr val="E6EBE8"/>
                </a:solidFill>
                <a:latin typeface="Calibri"/>
              </a:rPr>
              <a:t>Hull stress: maximum above 15 mm/s.</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400">
                <a:solidFill>
                  <a:srgbClr val="7D9CAD"/>
                </a:solidFill>
                <a:latin typeface="Corbel"/>
              </a:rPr>
              <a:t>How It Works: From Sensor to Bridge Screen</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E6EBE8"/>
                </a:solidFill>
                <a:latin typeface="Calibri"/>
              </a:rPr>
              <a:t>On board the vessel: sensors produce 10 streams with 5 readings per vessel, and the fog node windows, aggregates, and raises alerts.</a:t>
            </a:r>
          </a:p>
          <a:p>
            <a:pPr>
              <a:spcAft>
                <a:spcPts val="800"/>
              </a:spcAft>
            </a:pPr>
            <a:r>
              <a:rPr sz="1500" b="0">
                <a:solidFill>
                  <a:srgbClr val="E6EBE8"/>
                </a:solidFill>
                <a:latin typeface="Calibri"/>
              </a:rPr>
              <a:t>AWS cloud, fully serverless: Amazon SQS queues the summaries, AWS Lambda ingests each window, Amazon DynamoDB stores the aggregates, and a live dashboard runs on Amazon S3 and API Gateway.</a:t>
            </a:r>
          </a:p>
          <a:p>
            <a:pPr>
              <a:spcAft>
                <a:spcPts val="800"/>
              </a:spcAft>
            </a:pPr>
            <a:r>
              <a:rPr sz="1500" b="0">
                <a:solidFill>
                  <a:srgbClr val="E6EBE8"/>
                </a:solidFill>
                <a:latin typeface="Calibri"/>
              </a:rPr>
              <a:t>Aggregate at the edge: each window is reduced to min, max, average, latest and sample count, and checked against the alert rules before anything leaves the vessel.</a:t>
            </a:r>
          </a:p>
          <a:p>
            <a:pPr>
              <a:spcAft>
                <a:spcPts val="800"/>
              </a:spcAft>
            </a:pPr>
            <a:r>
              <a:rPr sz="1500" b="0">
                <a:solidFill>
                  <a:srgbClr val="E6EBE8"/>
                </a:solidFill>
                <a:latin typeface="Calibri"/>
              </a:rPr>
              <a:t>Only summaries go ashore: compact aggregates cross the narrow ship-to-shore link in batches of up to ten per queue call, and raw readings never leave the ship.</a:t>
            </a:r>
          </a:p>
          <a:p>
            <a:pPr>
              <a:spcAft>
                <a:spcPts val="800"/>
              </a:spcAft>
            </a:pPr>
            <a:r>
              <a:rPr sz="1500" b="1">
                <a:solidFill>
                  <a:srgbClr val="7D9CAD"/>
                </a:solidFill>
                <a:latin typeface="Calibri"/>
              </a:rPr>
              <a:t>Serverless, scales per request: SQS triggers Lambda per batch and DynamoDB bills per request, so the dashboard stays up even when the vessel itself is offline.</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opology.png"/>
          <p:cNvPicPr>
            <a:picLocks noChangeAspect="1"/>
          </p:cNvPicPr>
          <p:nvPr/>
        </p:nvPicPr>
        <p:blipFill>
          <a:blip r:embed="rId2"/>
          <a:stretch>
            <a:fillRect/>
          </a:stretch>
        </p:blipFill>
        <p:spPr>
          <a:xfrm>
            <a:off x="6629400" y="2687731"/>
            <a:ext cx="5120640" cy="223234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9CAD"/>
                </a:solidFill>
                <a:latin typeface="Corbel"/>
              </a:rPr>
              <a:t>Live on AWS: What the Demo Shows</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E6EBE8"/>
                </a:solidFill>
                <a:latin typeface="Calibri"/>
              </a:rPr>
              <a:t>The deployed dashboard, rendered live in a browser.</a:t>
            </a:r>
          </a:p>
          <a:p>
            <a:pPr>
              <a:spcAft>
                <a:spcPts val="800"/>
              </a:spcAft>
            </a:pPr>
            <a:r>
              <a:rPr sz="1500" b="0">
                <a:solidFill>
                  <a:srgbClr val="E6EBE8"/>
                </a:solidFill>
                <a:latin typeface="Calibri"/>
              </a:rPr>
              <a:t>Every pipeline health check green: the live health endpoint reports gateway, queue, Lambda and pipeline all true, with the freshest reading under one second old, and all five AWS resources verified healthy independently.</a:t>
            </a:r>
          </a:p>
          <a:p>
            <a:pPr>
              <a:spcAft>
                <a:spcPts val="800"/>
              </a:spcAft>
            </a:pPr>
            <a:r>
              <a:rPr sz="1500" b="0">
                <a:solidFill>
                  <a:srgbClr val="E6EBE8"/>
                </a:solidFill>
                <a:latin typeface="Calibri"/>
              </a:rPr>
              <a:t>120 automated tests pass: unit and real-socket HTTP tests across every module, sensors, fog, publisher, processor and dashboard, with the critical fixes re-verified against the live account, not just the emulator.</a:t>
            </a:r>
          </a:p>
          <a:p>
            <a:pPr>
              <a:spcAft>
                <a:spcPts val="800"/>
              </a:spcAft>
            </a:pPr>
            <a:r>
              <a:rPr sz="1500" b="1">
                <a:solidFill>
                  <a:srgbClr val="7D9CAD"/>
                </a:solidFill>
                <a:latin typeface="Calibri"/>
              </a:rPr>
              <a:t>Real data, climbing live: stored items grew 59 to 374 to 425 during verification, and genuine alerts, excessive fuel burn and hull stress, fire on the Bridge Console as thresholds are crossed.</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png"/>
          <p:cNvPicPr>
            <a:picLocks noChangeAspect="1"/>
          </p:cNvPicPr>
          <p:nvPr/>
        </p:nvPicPr>
        <p:blipFill>
          <a:blip r:embed="rId2"/>
          <a:stretch>
            <a:fillRect/>
          </a:stretch>
        </p:blipFill>
        <p:spPr>
          <a:xfrm>
            <a:off x="7589019" y="1517904"/>
            <a:ext cx="3201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400">
                <a:solidFill>
                  <a:srgbClr val="7D9CAD"/>
                </a:solidFill>
                <a:latin typeface="Corbel"/>
              </a:rPr>
              <a:t>The Hardest Part: Green Checks, Broken Page</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600"/>
              </a:spcAft>
            </a:pPr>
            <a:r>
              <a:rPr sz="1500" b="1">
                <a:solidFill>
                  <a:srgbClr val="7D9CAD"/>
                </a:solidFill>
                <a:latin typeface="Calibri"/>
              </a:rPr>
              <a:t>The problem:</a:t>
            </a:r>
          </a:p>
          <a:p>
            <a:pPr lvl="1">
              <a:spcAft>
                <a:spcPts val="600"/>
              </a:spcAft>
            </a:pPr>
            <a:r>
              <a:rPr sz="1300" b="0">
                <a:solidFill>
                  <a:srgbClr val="E6EBE8"/>
                </a:solidFill>
                <a:latin typeface="Calibri"/>
              </a:rPr>
              <a:t>Deployed to the real AWS account, the dashboard page loaded, but every panel stayed empty. Its stylesheet, script and chart library all returned 404 from S3.</a:t>
            </a:r>
          </a:p>
          <a:p>
            <a:pPr>
              <a:spcAft>
                <a:spcPts val="600"/>
              </a:spcAft>
            </a:pPr>
            <a:r>
              <a:rPr sz="1500" b="1">
                <a:solidFill>
                  <a:srgbClr val="7D9CAD"/>
                </a:solidFill>
                <a:latin typeface="Calibri"/>
              </a:rPr>
              <a:t>Why it was hard:</a:t>
            </a:r>
          </a:p>
          <a:p>
            <a:pPr lvl="1">
              <a:spcAft>
                <a:spcPts val="600"/>
              </a:spcAft>
            </a:pPr>
            <a:r>
              <a:rPr sz="1300" b="0">
                <a:solidFill>
                  <a:srgbClr val="E6EBE8"/>
                </a:solidFill>
                <a:latin typeface="Calibri"/>
              </a:rPr>
              <a:t>Every signal said healthy: 120 tests green, a full LocalStack integration run clean, every curl check on the JSON API returning live data. The upload had flattened the static folder to the bucket root, and nothing was testing the page's own asset requests.</a:t>
            </a:r>
          </a:p>
          <a:p>
            <a:pPr>
              <a:spcAft>
                <a:spcPts val="600"/>
              </a:spcAft>
            </a:pPr>
            <a:r>
              <a:rPr sz="1500" b="1">
                <a:solidFill>
                  <a:srgbClr val="7D9CAD"/>
                </a:solidFill>
                <a:latin typeface="Calibri"/>
              </a:rPr>
              <a:t>The fix:</a:t>
            </a:r>
          </a:p>
          <a:p>
            <a:pPr lvl="1">
              <a:spcAft>
                <a:spcPts val="600"/>
              </a:spcAft>
            </a:pPr>
            <a:r>
              <a:rPr sz="1300" b="0">
                <a:solidFill>
                  <a:srgbClr val="E6EBE8"/>
                </a:solidFill>
                <a:latin typeface="Calibri"/>
              </a:rPr>
              <a:t>Open the real page in a real browser and read its network requests: three 404s, visible immediately. Re-upload preserving the exact paths the page asks for, then re-verify by watching the item count climb across live reloads.</a:t>
            </a:r>
          </a:p>
          <a:p>
            <a:pPr>
              <a:spcAft>
                <a:spcPts val="600"/>
              </a:spcAft>
            </a:pPr>
            <a:r>
              <a:rPr sz="1500" b="1">
                <a:solidFill>
                  <a:srgbClr val="7D9CAD"/>
                </a:solidFill>
                <a:latin typeface="Calibri"/>
              </a:rPr>
              <a:t>Only the real cloud caught these too:</a:t>
            </a:r>
          </a:p>
          <a:p>
            <a:pPr lvl="1">
              <a:spcAft>
                <a:spcPts val="600"/>
              </a:spcAft>
            </a:pPr>
            <a:r>
              <a:rPr sz="1300" b="0">
                <a:solidFill>
                  <a:srgbClr val="E6EBE8"/>
                </a:solidFill>
                <a:latin typeface="Calibri"/>
              </a:rPr>
              <a:t>A count-only database scan silently undercounted the table beyond its first page, fixed by following every pagination cursor.</a:t>
            </a:r>
          </a:p>
          <a:p>
            <a:pPr lvl="1">
              <a:spcAft>
                <a:spcPts val="600"/>
              </a:spcAft>
            </a:pPr>
            <a:r>
              <a:rPr sz="1300" b="0">
                <a:solidFill>
                  <a:srgbClr val="E6EBE8"/>
                </a:solidFill>
                <a:latin typeface="Calibri"/>
              </a:rPr>
              <a:t>The fog sent one queue message per aggregate, fixed with batched sends of up to ten per call.</a:t>
            </a:r>
          </a:p>
          <a:p>
            <a:pPr>
              <a:spcAft>
                <a:spcPts val="600"/>
              </a:spcAft>
            </a:pPr>
            <a:r>
              <a:rPr sz="1500" b="0">
                <a:solidFill>
                  <a:srgbClr val="E6EBE8"/>
                </a:solidFill>
                <a:latin typeface="Calibri"/>
              </a:rPr>
              <a:t>A green API check proves less than it looks.</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9CAD"/>
                </a:solidFill>
                <a:latin typeface="Corbel"/>
              </a:rPr>
              <a:t>Three Things to Take Away</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E6EBE8"/>
                </a:solidFill>
                <a:latin typeface="Calibri"/>
              </a:rPr>
              <a:t>Aggregate at the edge: windowing and alert checks run on board, so only compact summaries ever cross the ship-to-shore link.</a:t>
            </a:r>
          </a:p>
          <a:p>
            <a:pPr>
              <a:spcAft>
                <a:spcPts val="900"/>
              </a:spcAft>
            </a:pPr>
            <a:r>
              <a:rPr sz="1700" b="0">
                <a:solidFill>
                  <a:srgbClr val="E6EBE8"/>
                </a:solidFill>
                <a:latin typeface="Calibri"/>
              </a:rPr>
              <a:t>Serverless where it counts: SQS, Lambda, DynamoDB, API Gateway and S3 scale per request, with no backend server to run or patch.</a:t>
            </a:r>
          </a:p>
          <a:p>
            <a:pPr>
              <a:spcAft>
                <a:spcPts val="900"/>
              </a:spcAft>
            </a:pPr>
            <a:r>
              <a:rPr sz="1700" b="1">
                <a:solidFill>
                  <a:srgbClr val="7D9CAD"/>
                </a:solidFill>
                <a:latin typeface="Calibri"/>
              </a:rPr>
              <a:t>Test the real thing: the live account and a real browser caught three defects that 120 green tests and an emulator masked.</a:t>
            </a:r>
          </a:p>
          <a:p>
            <a:pPr>
              <a:spcAft>
                <a:spcPts val="900"/>
              </a:spcAft>
            </a:pPr>
            <a:r>
              <a:rPr sz="1700" b="0">
                <a:solidFill>
                  <a:srgbClr val="E6EBE8"/>
                </a:solidFill>
                <a:latin typeface="Calibri"/>
              </a:rPr>
              <a:t>Thank you. Questions?</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