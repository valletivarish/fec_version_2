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Lst>
  <p:notesMasterIdLst>
    <p:notesMasterId r:id="rId6"/>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EF5F4"/>
        </a:solidFill>
      </p:bgPr>
    </p:bg>
    <p:spTree>
      <p:nvGrpSpPr>
        <p:cNvPr id="1" name=""/>
        <p:cNvGrpSpPr/>
        <p:nvPr/>
      </p:nvGrpSpPr>
      <p:grpSpPr>
        <a:xfrm>
          <a:off x="0" y="0"/>
          <a:ext cx="0" cy="0"/>
          <a:chOff x="0" y="0"/>
          <a:chExt cx="0" cy="0"/>
        </a:xfrm>
      </p:grpSpPr>
      <p:sp>
        <p:nvSpPr>
          <p:cNvPr id="2" name="Shape 0"/>
          <p:cNvSpPr/>
          <p:nvPr/>
        </p:nvSpPr>
        <p:spPr>
          <a:xfrm>
            <a:off x="365760" y="365760"/>
            <a:ext cx="365760" cy="0"/>
          </a:xfrm>
          <a:prstGeom prst="line">
            <a:avLst/>
          </a:prstGeom>
          <a:noFill/>
          <a:ln w="19050">
            <a:solidFill>
              <a:srgbClr val="0A4F4C"/>
            </a:solidFill>
            <a:prstDash val="solid"/>
          </a:ln>
        </p:spPr>
      </p:sp>
      <p:sp>
        <p:nvSpPr>
          <p:cNvPr id="3" name="Shape 1"/>
          <p:cNvSpPr/>
          <p:nvPr/>
        </p:nvSpPr>
        <p:spPr>
          <a:xfrm>
            <a:off x="365760" y="365760"/>
            <a:ext cx="0" cy="365760"/>
          </a:xfrm>
          <a:prstGeom prst="line">
            <a:avLst/>
          </a:prstGeom>
          <a:noFill/>
          <a:ln w="19050">
            <a:solidFill>
              <a:srgbClr val="0A4F4C"/>
            </a:solidFill>
            <a:prstDash val="solid"/>
          </a:ln>
        </p:spPr>
      </p:sp>
      <p:sp>
        <p:nvSpPr>
          <p:cNvPr id="4" name="Shape 2"/>
          <p:cNvSpPr/>
          <p:nvPr/>
        </p:nvSpPr>
        <p:spPr>
          <a:xfrm>
            <a:off x="11460175" y="365760"/>
            <a:ext cx="365760" cy="0"/>
          </a:xfrm>
          <a:prstGeom prst="line">
            <a:avLst/>
          </a:prstGeom>
          <a:noFill/>
          <a:ln w="19050">
            <a:solidFill>
              <a:srgbClr val="0A4F4C"/>
            </a:solidFill>
            <a:prstDash val="solid"/>
          </a:ln>
        </p:spPr>
      </p:sp>
      <p:sp>
        <p:nvSpPr>
          <p:cNvPr id="5" name="Shape 3"/>
          <p:cNvSpPr/>
          <p:nvPr/>
        </p:nvSpPr>
        <p:spPr>
          <a:xfrm>
            <a:off x="11825935" y="365760"/>
            <a:ext cx="0" cy="365760"/>
          </a:xfrm>
          <a:prstGeom prst="line">
            <a:avLst/>
          </a:prstGeom>
          <a:noFill/>
          <a:ln w="19050">
            <a:solidFill>
              <a:srgbClr val="0A4F4C"/>
            </a:solidFill>
            <a:prstDash val="solid"/>
          </a:ln>
        </p:spPr>
      </p:sp>
      <p:sp>
        <p:nvSpPr>
          <p:cNvPr id="6" name="Shape 4"/>
          <p:cNvSpPr/>
          <p:nvPr/>
        </p:nvSpPr>
        <p:spPr>
          <a:xfrm>
            <a:off x="365760" y="6492240"/>
            <a:ext cx="365760" cy="0"/>
          </a:xfrm>
          <a:prstGeom prst="line">
            <a:avLst/>
          </a:prstGeom>
          <a:noFill/>
          <a:ln w="19050">
            <a:solidFill>
              <a:srgbClr val="0A4F4C"/>
            </a:solidFill>
            <a:prstDash val="solid"/>
          </a:ln>
        </p:spPr>
      </p:sp>
      <p:sp>
        <p:nvSpPr>
          <p:cNvPr id="7" name="Shape 5"/>
          <p:cNvSpPr/>
          <p:nvPr/>
        </p:nvSpPr>
        <p:spPr>
          <a:xfrm>
            <a:off x="365760" y="6126480"/>
            <a:ext cx="0" cy="365760"/>
          </a:xfrm>
          <a:prstGeom prst="line">
            <a:avLst/>
          </a:prstGeom>
          <a:noFill/>
          <a:ln w="19050">
            <a:solidFill>
              <a:srgbClr val="0A4F4C"/>
            </a:solidFill>
            <a:prstDash val="solid"/>
          </a:ln>
        </p:spPr>
      </p:sp>
      <p:sp>
        <p:nvSpPr>
          <p:cNvPr id="8" name="Shape 6"/>
          <p:cNvSpPr/>
          <p:nvPr/>
        </p:nvSpPr>
        <p:spPr>
          <a:xfrm>
            <a:off x="11460175" y="6492240"/>
            <a:ext cx="365760" cy="0"/>
          </a:xfrm>
          <a:prstGeom prst="line">
            <a:avLst/>
          </a:prstGeom>
          <a:noFill/>
          <a:ln w="19050">
            <a:solidFill>
              <a:srgbClr val="0A4F4C"/>
            </a:solidFill>
            <a:prstDash val="solid"/>
          </a:ln>
        </p:spPr>
      </p:sp>
      <p:sp>
        <p:nvSpPr>
          <p:cNvPr id="9" name="Shape 7"/>
          <p:cNvSpPr/>
          <p:nvPr/>
        </p:nvSpPr>
        <p:spPr>
          <a:xfrm>
            <a:off x="11825935" y="6126480"/>
            <a:ext cx="0" cy="365760"/>
          </a:xfrm>
          <a:prstGeom prst="line">
            <a:avLst/>
          </a:prstGeom>
          <a:noFill/>
          <a:ln w="19050">
            <a:solidFill>
              <a:srgbClr val="0A4F4C"/>
            </a:solidFill>
            <a:prstDash val="solid"/>
          </a:ln>
        </p:spPr>
      </p:sp>
      <p:sp>
        <p:nvSpPr>
          <p:cNvPr id="10" name="Text 8"/>
          <p:cNvSpPr/>
          <p:nvPr/>
        </p:nvSpPr>
        <p:spPr>
          <a:xfrm>
            <a:off x="896112" y="1645920"/>
            <a:ext cx="10362895" cy="1645920"/>
          </a:xfrm>
          <a:prstGeom prst="rect">
            <a:avLst/>
          </a:prstGeom>
          <a:noFill/>
          <a:ln/>
        </p:spPr>
        <p:txBody>
          <a:bodyPr wrap="square" rtlCol="0" anchor="t"/>
          <a:lstStyle/>
          <a:p>
            <a:pPr indent="0" marL="0">
              <a:lnSpc>
                <a:spcPct val="98000"/>
              </a:lnSpc>
              <a:buNone/>
            </a:pPr>
            <a:r>
              <a:rPr lang="en-US" sz="3800" b="1" dirty="0">
                <a:solidFill>
                  <a:srgbClr val="17302C"/>
                </a:solidFill>
                <a:latin typeface="Century Gothic" pitchFamily="34" charset="0"/>
                <a:ea typeface="Century Gothic" pitchFamily="34" charset="-122"/>
                <a:cs typeface="Century Gothic" pitchFamily="34" charset="-120"/>
              </a:rPr>
              <a:t>Marine Vessel Condition Monitoring</a:t>
            </a:r>
            <a:endParaRPr lang="en-US" sz="3800" dirty="0"/>
          </a:p>
        </p:txBody>
      </p:sp>
      <p:sp>
        <p:nvSpPr>
          <p:cNvPr id="11" name="Text 9"/>
          <p:cNvSpPr/>
          <p:nvPr/>
        </p:nvSpPr>
        <p:spPr>
          <a:xfrm>
            <a:off x="914400" y="3337560"/>
            <a:ext cx="10362895" cy="365760"/>
          </a:xfrm>
          <a:prstGeom prst="rect">
            <a:avLst/>
          </a:prstGeom>
          <a:noFill/>
          <a:ln/>
        </p:spPr>
        <p:txBody>
          <a:bodyPr wrap="square" rtlCol="0" anchor="ctr"/>
          <a:lstStyle/>
          <a:p>
            <a:pPr indent="0" marL="0">
              <a:buNone/>
            </a:pPr>
            <a:r>
              <a:rPr lang="en-US" sz="1450" dirty="0">
                <a:solidFill>
                  <a:srgbClr val="5F6B74"/>
                </a:solidFill>
                <a:latin typeface="Calibri" pitchFamily="34" charset="0"/>
                <a:ea typeface="Calibri" pitchFamily="34" charset="-122"/>
                <a:cs typeface="Calibri" pitchFamily="34" charset="-120"/>
              </a:rPr>
              <a:t>Gopi Krishnan   ·   X25112627</a:t>
            </a:r>
            <a:endParaRPr lang="en-US" sz="1450" dirty="0"/>
          </a:p>
        </p:txBody>
      </p:sp>
      <p:sp>
        <p:nvSpPr>
          <p:cNvPr id="12" name="Text 10"/>
          <p:cNvSpPr/>
          <p:nvPr/>
        </p:nvSpPr>
        <p:spPr>
          <a:xfrm>
            <a:off x="914400" y="3931920"/>
            <a:ext cx="8138160" cy="1325880"/>
          </a:xfrm>
          <a:prstGeom prst="rect">
            <a:avLst/>
          </a:prstGeom>
          <a:noFill/>
          <a:ln/>
        </p:spPr>
        <p:txBody>
          <a:bodyPr wrap="square" rtlCol="0" anchor="t"/>
          <a:lstStyle/>
          <a:p>
            <a:pPr indent="0" marL="0">
              <a:lnSpc>
                <a:spcPct val="130000"/>
              </a:lnSpc>
              <a:buNone/>
            </a:pPr>
            <a:r>
              <a:rPr lang="en-US" sz="1400" dirty="0">
                <a:solidFill>
                  <a:srgbClr val="17302C"/>
                </a:solidFill>
                <a:latin typeface="Calibri" pitchFamily="34" charset="0"/>
                <a:ea typeface="Calibri" pitchFamily="34" charset="-122"/>
                <a:cs typeface="Calibri" pitchFamily="34" charset="-120"/>
              </a:rPr>
              <a:t>Between fixed rounds the bridge is blind — a fuel-burn spike, a ballast imbalance or rising hull vibration surfaces only at the next check, and the raw data cannot fit the ship-to-shore link.</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EF5F4"/>
        </a:solidFill>
      </p:bgPr>
    </p:bg>
    <p:spTree>
      <p:nvGrpSpPr>
        <p:cNvPr id="1" name=""/>
        <p:cNvGrpSpPr/>
        <p:nvPr/>
      </p:nvGrpSpPr>
      <p:grpSpPr>
        <a:xfrm>
          <a:off x="0" y="0"/>
          <a:ext cx="0" cy="0"/>
          <a:chOff x="0" y="0"/>
          <a:chExt cx="0" cy="0"/>
        </a:xfrm>
      </p:grpSpPr>
      <p:sp>
        <p:nvSpPr>
          <p:cNvPr id="2" name="Shape 0"/>
          <p:cNvSpPr/>
          <p:nvPr/>
        </p:nvSpPr>
        <p:spPr>
          <a:xfrm>
            <a:off x="365760" y="365760"/>
            <a:ext cx="365760" cy="0"/>
          </a:xfrm>
          <a:prstGeom prst="line">
            <a:avLst/>
          </a:prstGeom>
          <a:noFill/>
          <a:ln w="19050">
            <a:solidFill>
              <a:srgbClr val="0A4F4C"/>
            </a:solidFill>
            <a:prstDash val="solid"/>
          </a:ln>
        </p:spPr>
      </p:sp>
      <p:sp>
        <p:nvSpPr>
          <p:cNvPr id="3" name="Shape 1"/>
          <p:cNvSpPr/>
          <p:nvPr/>
        </p:nvSpPr>
        <p:spPr>
          <a:xfrm>
            <a:off x="365760" y="365760"/>
            <a:ext cx="0" cy="365760"/>
          </a:xfrm>
          <a:prstGeom prst="line">
            <a:avLst/>
          </a:prstGeom>
          <a:noFill/>
          <a:ln w="19050">
            <a:solidFill>
              <a:srgbClr val="0A4F4C"/>
            </a:solidFill>
            <a:prstDash val="solid"/>
          </a:ln>
        </p:spPr>
      </p:sp>
      <p:sp>
        <p:nvSpPr>
          <p:cNvPr id="4" name="Shape 2"/>
          <p:cNvSpPr/>
          <p:nvPr/>
        </p:nvSpPr>
        <p:spPr>
          <a:xfrm>
            <a:off x="11460175" y="365760"/>
            <a:ext cx="365760" cy="0"/>
          </a:xfrm>
          <a:prstGeom prst="line">
            <a:avLst/>
          </a:prstGeom>
          <a:noFill/>
          <a:ln w="19050">
            <a:solidFill>
              <a:srgbClr val="0A4F4C"/>
            </a:solidFill>
            <a:prstDash val="solid"/>
          </a:ln>
        </p:spPr>
      </p:sp>
      <p:sp>
        <p:nvSpPr>
          <p:cNvPr id="5" name="Shape 3"/>
          <p:cNvSpPr/>
          <p:nvPr/>
        </p:nvSpPr>
        <p:spPr>
          <a:xfrm>
            <a:off x="11825935" y="365760"/>
            <a:ext cx="0" cy="365760"/>
          </a:xfrm>
          <a:prstGeom prst="line">
            <a:avLst/>
          </a:prstGeom>
          <a:noFill/>
          <a:ln w="19050">
            <a:solidFill>
              <a:srgbClr val="0A4F4C"/>
            </a:solidFill>
            <a:prstDash val="solid"/>
          </a:ln>
        </p:spPr>
      </p:sp>
      <p:sp>
        <p:nvSpPr>
          <p:cNvPr id="6" name="Shape 4"/>
          <p:cNvSpPr/>
          <p:nvPr/>
        </p:nvSpPr>
        <p:spPr>
          <a:xfrm>
            <a:off x="365760" y="6492240"/>
            <a:ext cx="365760" cy="0"/>
          </a:xfrm>
          <a:prstGeom prst="line">
            <a:avLst/>
          </a:prstGeom>
          <a:noFill/>
          <a:ln w="19050">
            <a:solidFill>
              <a:srgbClr val="0A4F4C"/>
            </a:solidFill>
            <a:prstDash val="solid"/>
          </a:ln>
        </p:spPr>
      </p:sp>
      <p:sp>
        <p:nvSpPr>
          <p:cNvPr id="7" name="Shape 5"/>
          <p:cNvSpPr/>
          <p:nvPr/>
        </p:nvSpPr>
        <p:spPr>
          <a:xfrm>
            <a:off x="365760" y="6126480"/>
            <a:ext cx="0" cy="365760"/>
          </a:xfrm>
          <a:prstGeom prst="line">
            <a:avLst/>
          </a:prstGeom>
          <a:noFill/>
          <a:ln w="19050">
            <a:solidFill>
              <a:srgbClr val="0A4F4C"/>
            </a:solidFill>
            <a:prstDash val="solid"/>
          </a:ln>
        </p:spPr>
      </p:sp>
      <p:sp>
        <p:nvSpPr>
          <p:cNvPr id="8" name="Shape 6"/>
          <p:cNvSpPr/>
          <p:nvPr/>
        </p:nvSpPr>
        <p:spPr>
          <a:xfrm>
            <a:off x="11460175" y="6492240"/>
            <a:ext cx="365760" cy="0"/>
          </a:xfrm>
          <a:prstGeom prst="line">
            <a:avLst/>
          </a:prstGeom>
          <a:noFill/>
          <a:ln w="19050">
            <a:solidFill>
              <a:srgbClr val="0A4F4C"/>
            </a:solidFill>
            <a:prstDash val="solid"/>
          </a:ln>
        </p:spPr>
      </p:sp>
      <p:sp>
        <p:nvSpPr>
          <p:cNvPr id="9" name="Shape 7"/>
          <p:cNvSpPr/>
          <p:nvPr/>
        </p:nvSpPr>
        <p:spPr>
          <a:xfrm>
            <a:off x="11825935" y="6126480"/>
            <a:ext cx="0" cy="365760"/>
          </a:xfrm>
          <a:prstGeom prst="line">
            <a:avLst/>
          </a:prstGeom>
          <a:noFill/>
          <a:ln w="19050">
            <a:solidFill>
              <a:srgbClr val="0A4F4C"/>
            </a:solidFill>
            <a:prstDash val="solid"/>
          </a:ln>
        </p:spPr>
      </p:sp>
      <p:sp>
        <p:nvSpPr>
          <p:cNvPr id="10" name="Text 8"/>
          <p:cNvSpPr/>
          <p:nvPr/>
        </p:nvSpPr>
        <p:spPr>
          <a:xfrm>
            <a:off x="914400" y="822960"/>
            <a:ext cx="914400" cy="640080"/>
          </a:xfrm>
          <a:prstGeom prst="rect">
            <a:avLst/>
          </a:prstGeom>
          <a:noFill/>
          <a:ln/>
        </p:spPr>
        <p:txBody>
          <a:bodyPr wrap="square" lIns="0" tIns="0" rIns="0" bIns="0" rtlCol="0" anchor="ctr"/>
          <a:lstStyle/>
          <a:p>
            <a:pPr indent="0" marL="0">
              <a:buNone/>
            </a:pPr>
            <a:r>
              <a:rPr lang="en-US" sz="3000" b="1" dirty="0">
                <a:solidFill>
                  <a:srgbClr val="0A4F4C"/>
                </a:solidFill>
                <a:latin typeface="Century Gothic" pitchFamily="34" charset="0"/>
                <a:ea typeface="Century Gothic" pitchFamily="34" charset="-122"/>
                <a:cs typeface="Century Gothic" pitchFamily="34" charset="-120"/>
              </a:rPr>
              <a:t>01</a:t>
            </a:r>
            <a:endParaRPr lang="en-US" sz="3000" dirty="0"/>
          </a:p>
        </p:txBody>
      </p:sp>
      <p:sp>
        <p:nvSpPr>
          <p:cNvPr id="11" name="Text 9"/>
          <p:cNvSpPr/>
          <p:nvPr/>
        </p:nvSpPr>
        <p:spPr>
          <a:xfrm>
            <a:off x="1783080" y="996696"/>
            <a:ext cx="9494215" cy="274320"/>
          </a:xfrm>
          <a:prstGeom prst="rect">
            <a:avLst/>
          </a:prstGeom>
          <a:noFill/>
          <a:ln/>
        </p:spPr>
        <p:txBody>
          <a:bodyPr wrap="square" lIns="0" tIns="0" rIns="0" bIns="0" rtlCol="0" anchor="ctr"/>
          <a:lstStyle/>
          <a:p>
            <a:pPr indent="0" marL="0">
              <a:buNone/>
            </a:pPr>
            <a:r>
              <a:rPr lang="en-US" sz="1100" b="1" spc="200" kern="0" dirty="0">
                <a:solidFill>
                  <a:srgbClr val="5F6B74"/>
                </a:solidFill>
                <a:latin typeface="Calibri" pitchFamily="34" charset="0"/>
                <a:ea typeface="Calibri" pitchFamily="34" charset="-122"/>
                <a:cs typeface="Calibri" pitchFamily="34" charset="-120"/>
              </a:rPr>
              <a:t>ARCHITECTURE</a:t>
            </a:r>
            <a:endParaRPr lang="en-US" sz="1100" dirty="0"/>
          </a:p>
        </p:txBody>
      </p:sp>
      <p:sp>
        <p:nvSpPr>
          <p:cNvPr id="12" name="Text 10"/>
          <p:cNvSpPr/>
          <p:nvPr/>
        </p:nvSpPr>
        <p:spPr>
          <a:xfrm>
            <a:off x="914400" y="1472184"/>
            <a:ext cx="10362895" cy="640080"/>
          </a:xfrm>
          <a:prstGeom prst="rect">
            <a:avLst/>
          </a:prstGeom>
          <a:noFill/>
          <a:ln/>
        </p:spPr>
        <p:txBody>
          <a:bodyPr wrap="square" lIns="0" tIns="0" rIns="0" bIns="0" rtlCol="0" anchor="ctr"/>
          <a:lstStyle/>
          <a:p>
            <a:pPr indent="0" marL="0">
              <a:buNone/>
            </a:pPr>
            <a:r>
              <a:rPr lang="en-US" sz="2300" b="1" dirty="0">
                <a:solidFill>
                  <a:srgbClr val="17302C"/>
                </a:solidFill>
                <a:latin typeface="Century Gothic" pitchFamily="34" charset="0"/>
                <a:ea typeface="Century Gothic" pitchFamily="34" charset="-122"/>
                <a:cs typeface="Century Gothic" pitchFamily="34" charset="-120"/>
              </a:rPr>
              <a:t>What I Built — Sensor to Bridge Screen</a:t>
            </a:r>
            <a:endParaRPr lang="en-US" sz="2300" dirty="0"/>
          </a:p>
        </p:txBody>
      </p:sp>
      <p:sp>
        <p:nvSpPr>
          <p:cNvPr id="13" name="Shape 11"/>
          <p:cNvSpPr/>
          <p:nvPr/>
        </p:nvSpPr>
        <p:spPr>
          <a:xfrm>
            <a:off x="914400" y="3063240"/>
            <a:ext cx="1346149" cy="1965960"/>
          </a:xfrm>
          <a:prstGeom prst="roundRect">
            <a:avLst/>
          </a:prstGeom>
          <a:solidFill>
            <a:srgbClr val="0A4F4C"/>
          </a:solidFill>
          <a:ln w="12700">
            <a:solidFill>
              <a:srgbClr val="0A4F4C"/>
            </a:solidFill>
            <a:prstDash val="solid"/>
          </a:ln>
        </p:spPr>
      </p:sp>
      <p:sp>
        <p:nvSpPr>
          <p:cNvPr id="14" name="Text 12"/>
          <p:cNvSpPr/>
          <p:nvPr/>
        </p:nvSpPr>
        <p:spPr>
          <a:xfrm>
            <a:off x="1060704" y="3246120"/>
            <a:ext cx="1053541" cy="320040"/>
          </a:xfrm>
          <a:prstGeom prst="rect">
            <a:avLst/>
          </a:prstGeom>
          <a:noFill/>
          <a:ln/>
        </p:spPr>
        <p:txBody>
          <a:bodyPr wrap="square" lIns="0" tIns="0" rIns="0" bIns="0" rtlCol="0" anchor="ctr"/>
          <a:lstStyle/>
          <a:p>
            <a:pPr indent="0" marL="0">
              <a:buNone/>
            </a:pPr>
            <a:r>
              <a:rPr lang="en-US" sz="1100" dirty="0">
                <a:solidFill>
                  <a:srgbClr val="FFFFFF"/>
                </a:solidFill>
                <a:latin typeface="Consolas" pitchFamily="34" charset="0"/>
                <a:ea typeface="Consolas" pitchFamily="34" charset="-122"/>
                <a:cs typeface="Consolas" pitchFamily="34" charset="-120"/>
              </a:rPr>
              <a:t>01</a:t>
            </a:r>
            <a:endParaRPr lang="en-US" sz="1100" dirty="0"/>
          </a:p>
        </p:txBody>
      </p:sp>
      <p:sp>
        <p:nvSpPr>
          <p:cNvPr id="15" name="Text 13"/>
          <p:cNvSpPr/>
          <p:nvPr/>
        </p:nvSpPr>
        <p:spPr>
          <a:xfrm>
            <a:off x="1060704" y="3685032"/>
            <a:ext cx="1053541" cy="868680"/>
          </a:xfrm>
          <a:prstGeom prst="rect">
            <a:avLst/>
          </a:prstGeom>
          <a:noFill/>
          <a:ln/>
        </p:spPr>
        <p:txBody>
          <a:bodyPr wrap="square" lIns="0" tIns="0" rIns="0" bIns="0" rtlCol="0" anchor="t"/>
          <a:lstStyle/>
          <a:p>
            <a:pPr indent="0" marL="0">
              <a:lnSpc>
                <a:spcPct val="96000"/>
              </a:lnSpc>
              <a:buNone/>
            </a:pPr>
            <a:r>
              <a:rPr lang="en-US" sz="1300" b="1" dirty="0">
                <a:solidFill>
                  <a:srgbClr val="FFFFFF"/>
                </a:solidFill>
                <a:latin typeface="Century Gothic" pitchFamily="34" charset="0"/>
                <a:ea typeface="Century Gothic" pitchFamily="34" charset="-122"/>
                <a:cs typeface="Century Gothic" pitchFamily="34" charset="-120"/>
              </a:rPr>
              <a:t>Vessel sensors</a:t>
            </a:r>
            <a:endParaRPr lang="en-US" sz="1300" dirty="0"/>
          </a:p>
        </p:txBody>
      </p:sp>
      <p:sp>
        <p:nvSpPr>
          <p:cNvPr id="16" name="Text 14"/>
          <p:cNvSpPr/>
          <p:nvPr/>
        </p:nvSpPr>
        <p:spPr>
          <a:xfrm>
            <a:off x="1060704" y="4544568"/>
            <a:ext cx="1053541" cy="365760"/>
          </a:xfrm>
          <a:prstGeom prst="rect">
            <a:avLst/>
          </a:prstGeom>
          <a:noFill/>
          <a:ln/>
        </p:spPr>
        <p:txBody>
          <a:bodyPr wrap="square" lIns="0" tIns="0" rIns="0" bIns="0" rtlCol="0" anchor="ctr"/>
          <a:lstStyle/>
          <a:p>
            <a:pPr indent="0" marL="0">
              <a:buNone/>
            </a:pPr>
            <a:r>
              <a:rPr lang="en-US" sz="900" dirty="0">
                <a:solidFill>
                  <a:srgbClr val="FFFFFF"/>
                </a:solidFill>
                <a:latin typeface="Calibri" pitchFamily="34" charset="0"/>
                <a:ea typeface="Calibri" pitchFamily="34" charset="-122"/>
                <a:cs typeface="Calibri" pitchFamily="34" charset="-120"/>
              </a:rPr>
              <a:t>10 · 2 vessels</a:t>
            </a:r>
            <a:endParaRPr lang="en-US" sz="900" dirty="0"/>
          </a:p>
        </p:txBody>
      </p:sp>
      <p:sp>
        <p:nvSpPr>
          <p:cNvPr id="17" name="Shape 15"/>
          <p:cNvSpPr/>
          <p:nvPr/>
        </p:nvSpPr>
        <p:spPr>
          <a:xfrm>
            <a:off x="2333701" y="3936492"/>
            <a:ext cx="310896" cy="219456"/>
          </a:xfrm>
          <a:prstGeom prst="rightArrow">
            <a:avLst/>
          </a:prstGeom>
          <a:solidFill>
            <a:srgbClr val="5F6B74"/>
          </a:solidFill>
          <a:ln/>
        </p:spPr>
      </p:sp>
      <p:sp>
        <p:nvSpPr>
          <p:cNvPr id="18" name="Shape 16"/>
          <p:cNvSpPr/>
          <p:nvPr/>
        </p:nvSpPr>
        <p:spPr>
          <a:xfrm>
            <a:off x="2717749" y="3063240"/>
            <a:ext cx="1346149" cy="1965960"/>
          </a:xfrm>
          <a:prstGeom prst="roundRect">
            <a:avLst/>
          </a:prstGeom>
          <a:solidFill>
            <a:srgbClr val="0A4F4C"/>
          </a:solidFill>
          <a:ln w="12700">
            <a:solidFill>
              <a:srgbClr val="0A4F4C"/>
            </a:solidFill>
            <a:prstDash val="solid"/>
          </a:ln>
        </p:spPr>
      </p:sp>
      <p:sp>
        <p:nvSpPr>
          <p:cNvPr id="19" name="Text 17"/>
          <p:cNvSpPr/>
          <p:nvPr/>
        </p:nvSpPr>
        <p:spPr>
          <a:xfrm>
            <a:off x="2864053" y="3246120"/>
            <a:ext cx="1053541" cy="320040"/>
          </a:xfrm>
          <a:prstGeom prst="rect">
            <a:avLst/>
          </a:prstGeom>
          <a:noFill/>
          <a:ln/>
        </p:spPr>
        <p:txBody>
          <a:bodyPr wrap="square" lIns="0" tIns="0" rIns="0" bIns="0" rtlCol="0" anchor="ctr"/>
          <a:lstStyle/>
          <a:p>
            <a:pPr indent="0" marL="0">
              <a:buNone/>
            </a:pPr>
            <a:r>
              <a:rPr lang="en-US" sz="1100" dirty="0">
                <a:solidFill>
                  <a:srgbClr val="FFFFFF"/>
                </a:solidFill>
                <a:latin typeface="Consolas" pitchFamily="34" charset="0"/>
                <a:ea typeface="Consolas" pitchFamily="34" charset="-122"/>
                <a:cs typeface="Consolas" pitchFamily="34" charset="-120"/>
              </a:rPr>
              <a:t>02</a:t>
            </a:r>
            <a:endParaRPr lang="en-US" sz="1100" dirty="0"/>
          </a:p>
        </p:txBody>
      </p:sp>
      <p:sp>
        <p:nvSpPr>
          <p:cNvPr id="20" name="Text 18"/>
          <p:cNvSpPr/>
          <p:nvPr/>
        </p:nvSpPr>
        <p:spPr>
          <a:xfrm>
            <a:off x="2864053" y="3685032"/>
            <a:ext cx="1053541" cy="868680"/>
          </a:xfrm>
          <a:prstGeom prst="rect">
            <a:avLst/>
          </a:prstGeom>
          <a:noFill/>
          <a:ln/>
        </p:spPr>
        <p:txBody>
          <a:bodyPr wrap="square" lIns="0" tIns="0" rIns="0" bIns="0" rtlCol="0" anchor="t"/>
          <a:lstStyle/>
          <a:p>
            <a:pPr indent="0" marL="0">
              <a:lnSpc>
                <a:spcPct val="96000"/>
              </a:lnSpc>
              <a:buNone/>
            </a:pPr>
            <a:r>
              <a:rPr lang="en-US" sz="1300" b="1" dirty="0">
                <a:solidFill>
                  <a:srgbClr val="FFFFFF"/>
                </a:solidFill>
                <a:latin typeface="Century Gothic" pitchFamily="34" charset="0"/>
                <a:ea typeface="Century Gothic" pitchFamily="34" charset="-122"/>
                <a:cs typeface="Century Gothic" pitchFamily="34" charset="-120"/>
              </a:rPr>
              <a:t>Fog node</a:t>
            </a:r>
            <a:endParaRPr lang="en-US" sz="1300" dirty="0"/>
          </a:p>
        </p:txBody>
      </p:sp>
      <p:sp>
        <p:nvSpPr>
          <p:cNvPr id="21" name="Text 19"/>
          <p:cNvSpPr/>
          <p:nvPr/>
        </p:nvSpPr>
        <p:spPr>
          <a:xfrm>
            <a:off x="2864053" y="4544568"/>
            <a:ext cx="1053541" cy="365760"/>
          </a:xfrm>
          <a:prstGeom prst="rect">
            <a:avLst/>
          </a:prstGeom>
          <a:noFill/>
          <a:ln/>
        </p:spPr>
        <p:txBody>
          <a:bodyPr wrap="square" lIns="0" tIns="0" rIns="0" bIns="0" rtlCol="0" anchor="ctr"/>
          <a:lstStyle/>
          <a:p>
            <a:pPr indent="0" marL="0">
              <a:buNone/>
            </a:pPr>
            <a:r>
              <a:rPr lang="en-US" sz="900" dirty="0">
                <a:solidFill>
                  <a:srgbClr val="FFFFFF"/>
                </a:solidFill>
                <a:latin typeface="Calibri" pitchFamily="34" charset="0"/>
                <a:ea typeface="Calibri" pitchFamily="34" charset="-122"/>
                <a:cs typeface="Calibri" pitchFamily="34" charset="-120"/>
              </a:rPr>
              <a:t>window · aggregate · alert</a:t>
            </a:r>
            <a:endParaRPr lang="en-US" sz="900" dirty="0"/>
          </a:p>
        </p:txBody>
      </p:sp>
      <p:sp>
        <p:nvSpPr>
          <p:cNvPr id="22" name="Shape 20"/>
          <p:cNvSpPr/>
          <p:nvPr/>
        </p:nvSpPr>
        <p:spPr>
          <a:xfrm>
            <a:off x="4137050" y="3936492"/>
            <a:ext cx="310896" cy="219456"/>
          </a:xfrm>
          <a:prstGeom prst="rightArrow">
            <a:avLst/>
          </a:prstGeom>
          <a:solidFill>
            <a:srgbClr val="5F6B74"/>
          </a:solidFill>
          <a:ln/>
        </p:spPr>
      </p:sp>
      <p:sp>
        <p:nvSpPr>
          <p:cNvPr id="23" name="Shape 21"/>
          <p:cNvSpPr/>
          <p:nvPr/>
        </p:nvSpPr>
        <p:spPr>
          <a:xfrm>
            <a:off x="4521098" y="3063240"/>
            <a:ext cx="1346149" cy="1965960"/>
          </a:xfrm>
          <a:prstGeom prst="roundRect">
            <a:avLst/>
          </a:prstGeom>
          <a:solidFill>
            <a:srgbClr val="FFFFFF"/>
          </a:solidFill>
          <a:ln w="12700">
            <a:solidFill>
              <a:srgbClr val="E4E6E9"/>
            </a:solidFill>
            <a:prstDash val="solid"/>
          </a:ln>
        </p:spPr>
      </p:sp>
      <p:sp>
        <p:nvSpPr>
          <p:cNvPr id="24" name="Text 22"/>
          <p:cNvSpPr/>
          <p:nvPr/>
        </p:nvSpPr>
        <p:spPr>
          <a:xfrm>
            <a:off x="4667402" y="3246120"/>
            <a:ext cx="1053541" cy="320040"/>
          </a:xfrm>
          <a:prstGeom prst="rect">
            <a:avLst/>
          </a:prstGeom>
          <a:noFill/>
          <a:ln/>
        </p:spPr>
        <p:txBody>
          <a:bodyPr wrap="square" lIns="0" tIns="0" rIns="0" bIns="0" rtlCol="0" anchor="ctr"/>
          <a:lstStyle/>
          <a:p>
            <a:pPr indent="0" marL="0">
              <a:buNone/>
            </a:pPr>
            <a:r>
              <a:rPr lang="en-US" sz="1100" dirty="0">
                <a:solidFill>
                  <a:srgbClr val="0A4F4C"/>
                </a:solidFill>
                <a:latin typeface="Consolas" pitchFamily="34" charset="0"/>
                <a:ea typeface="Consolas" pitchFamily="34" charset="-122"/>
                <a:cs typeface="Consolas" pitchFamily="34" charset="-120"/>
              </a:rPr>
              <a:t>03</a:t>
            </a:r>
            <a:endParaRPr lang="en-US" sz="1100" dirty="0"/>
          </a:p>
        </p:txBody>
      </p:sp>
      <p:sp>
        <p:nvSpPr>
          <p:cNvPr id="25" name="Text 23"/>
          <p:cNvSpPr/>
          <p:nvPr/>
        </p:nvSpPr>
        <p:spPr>
          <a:xfrm>
            <a:off x="4667402" y="3685032"/>
            <a:ext cx="1053541" cy="868680"/>
          </a:xfrm>
          <a:prstGeom prst="rect">
            <a:avLst/>
          </a:prstGeom>
          <a:noFill/>
          <a:ln/>
        </p:spPr>
        <p:txBody>
          <a:bodyPr wrap="square" lIns="0" tIns="0" rIns="0" bIns="0" rtlCol="0" anchor="t"/>
          <a:lstStyle/>
          <a:p>
            <a:pPr indent="0" marL="0">
              <a:lnSpc>
                <a:spcPct val="96000"/>
              </a:lnSpc>
              <a:buNone/>
            </a:pPr>
            <a:r>
              <a:rPr lang="en-US" sz="1300" b="1" dirty="0">
                <a:solidFill>
                  <a:srgbClr val="17302C"/>
                </a:solidFill>
                <a:latin typeface="Century Gothic" pitchFamily="34" charset="0"/>
                <a:ea typeface="Century Gothic" pitchFamily="34" charset="-122"/>
                <a:cs typeface="Century Gothic" pitchFamily="34" charset="-120"/>
              </a:rPr>
              <a:t>Amazon SQS</a:t>
            </a:r>
            <a:endParaRPr lang="en-US" sz="1300" dirty="0"/>
          </a:p>
        </p:txBody>
      </p:sp>
      <p:sp>
        <p:nvSpPr>
          <p:cNvPr id="26" name="Text 24"/>
          <p:cNvSpPr/>
          <p:nvPr/>
        </p:nvSpPr>
        <p:spPr>
          <a:xfrm>
            <a:off x="4667402" y="4544568"/>
            <a:ext cx="1053541" cy="365760"/>
          </a:xfrm>
          <a:prstGeom prst="rect">
            <a:avLst/>
          </a:prstGeom>
          <a:noFill/>
          <a:ln/>
        </p:spPr>
        <p:txBody>
          <a:bodyPr wrap="square" lIns="0" tIns="0" rIns="0" bIns="0" rtlCol="0" anchor="ctr"/>
          <a:lstStyle/>
          <a:p>
            <a:pPr indent="0" marL="0">
              <a:buNone/>
            </a:pPr>
            <a:r>
              <a:rPr lang="en-US" sz="900" dirty="0">
                <a:solidFill>
                  <a:srgbClr val="5F6B74"/>
                </a:solidFill>
                <a:latin typeface="Calibri" pitchFamily="34" charset="0"/>
                <a:ea typeface="Calibri" pitchFamily="34" charset="-122"/>
                <a:cs typeface="Calibri" pitchFamily="34" charset="-120"/>
              </a:rPr>
              <a:t>batches ≤10 ashore</a:t>
            </a:r>
            <a:endParaRPr lang="en-US" sz="900" dirty="0"/>
          </a:p>
        </p:txBody>
      </p:sp>
      <p:sp>
        <p:nvSpPr>
          <p:cNvPr id="27" name="Shape 25"/>
          <p:cNvSpPr/>
          <p:nvPr/>
        </p:nvSpPr>
        <p:spPr>
          <a:xfrm>
            <a:off x="5940400" y="3936492"/>
            <a:ext cx="310896" cy="219456"/>
          </a:xfrm>
          <a:prstGeom prst="rightArrow">
            <a:avLst/>
          </a:prstGeom>
          <a:solidFill>
            <a:srgbClr val="5F6B74"/>
          </a:solidFill>
          <a:ln/>
        </p:spPr>
      </p:sp>
      <p:sp>
        <p:nvSpPr>
          <p:cNvPr id="28" name="Shape 26"/>
          <p:cNvSpPr/>
          <p:nvPr/>
        </p:nvSpPr>
        <p:spPr>
          <a:xfrm>
            <a:off x="6324448" y="3063240"/>
            <a:ext cx="1346149" cy="1965960"/>
          </a:xfrm>
          <a:prstGeom prst="roundRect">
            <a:avLst/>
          </a:prstGeom>
          <a:solidFill>
            <a:srgbClr val="FFFFFF"/>
          </a:solidFill>
          <a:ln w="12700">
            <a:solidFill>
              <a:srgbClr val="E4E6E9"/>
            </a:solidFill>
            <a:prstDash val="solid"/>
          </a:ln>
        </p:spPr>
      </p:sp>
      <p:sp>
        <p:nvSpPr>
          <p:cNvPr id="29" name="Text 27"/>
          <p:cNvSpPr/>
          <p:nvPr/>
        </p:nvSpPr>
        <p:spPr>
          <a:xfrm>
            <a:off x="6470752" y="3246120"/>
            <a:ext cx="1053541" cy="320040"/>
          </a:xfrm>
          <a:prstGeom prst="rect">
            <a:avLst/>
          </a:prstGeom>
          <a:noFill/>
          <a:ln/>
        </p:spPr>
        <p:txBody>
          <a:bodyPr wrap="square" lIns="0" tIns="0" rIns="0" bIns="0" rtlCol="0" anchor="ctr"/>
          <a:lstStyle/>
          <a:p>
            <a:pPr indent="0" marL="0">
              <a:buNone/>
            </a:pPr>
            <a:r>
              <a:rPr lang="en-US" sz="1100" dirty="0">
                <a:solidFill>
                  <a:srgbClr val="0A4F4C"/>
                </a:solidFill>
                <a:latin typeface="Consolas" pitchFamily="34" charset="0"/>
                <a:ea typeface="Consolas" pitchFamily="34" charset="-122"/>
                <a:cs typeface="Consolas" pitchFamily="34" charset="-120"/>
              </a:rPr>
              <a:t>04</a:t>
            </a:r>
            <a:endParaRPr lang="en-US" sz="1100" dirty="0"/>
          </a:p>
        </p:txBody>
      </p:sp>
      <p:sp>
        <p:nvSpPr>
          <p:cNvPr id="30" name="Text 28"/>
          <p:cNvSpPr/>
          <p:nvPr/>
        </p:nvSpPr>
        <p:spPr>
          <a:xfrm>
            <a:off x="6470752" y="3685032"/>
            <a:ext cx="1053541" cy="868680"/>
          </a:xfrm>
          <a:prstGeom prst="rect">
            <a:avLst/>
          </a:prstGeom>
          <a:noFill/>
          <a:ln/>
        </p:spPr>
        <p:txBody>
          <a:bodyPr wrap="square" lIns="0" tIns="0" rIns="0" bIns="0" rtlCol="0" anchor="t"/>
          <a:lstStyle/>
          <a:p>
            <a:pPr indent="0" marL="0">
              <a:lnSpc>
                <a:spcPct val="96000"/>
              </a:lnSpc>
              <a:buNone/>
            </a:pPr>
            <a:r>
              <a:rPr lang="en-US" sz="1300" b="1" dirty="0">
                <a:solidFill>
                  <a:srgbClr val="17302C"/>
                </a:solidFill>
                <a:latin typeface="Century Gothic" pitchFamily="34" charset="0"/>
                <a:ea typeface="Century Gothic" pitchFamily="34" charset="-122"/>
                <a:cs typeface="Century Gothic" pitchFamily="34" charset="-120"/>
              </a:rPr>
              <a:t>AWS Lambda</a:t>
            </a:r>
            <a:endParaRPr lang="en-US" sz="1300" dirty="0"/>
          </a:p>
        </p:txBody>
      </p:sp>
      <p:sp>
        <p:nvSpPr>
          <p:cNvPr id="31" name="Text 29"/>
          <p:cNvSpPr/>
          <p:nvPr/>
        </p:nvSpPr>
        <p:spPr>
          <a:xfrm>
            <a:off x="6470752" y="4544568"/>
            <a:ext cx="1053541" cy="365760"/>
          </a:xfrm>
          <a:prstGeom prst="rect">
            <a:avLst/>
          </a:prstGeom>
          <a:noFill/>
          <a:ln/>
        </p:spPr>
        <p:txBody>
          <a:bodyPr wrap="square" lIns="0" tIns="0" rIns="0" bIns="0" rtlCol="0" anchor="ctr"/>
          <a:lstStyle/>
          <a:p>
            <a:pPr indent="0" marL="0">
              <a:buNone/>
            </a:pPr>
            <a:r>
              <a:rPr lang="en-US" sz="900" dirty="0">
                <a:solidFill>
                  <a:srgbClr val="5F6B74"/>
                </a:solidFill>
                <a:latin typeface="Calibri" pitchFamily="34" charset="0"/>
                <a:ea typeface="Calibri" pitchFamily="34" charset="-122"/>
                <a:cs typeface="Calibri" pitchFamily="34" charset="-120"/>
              </a:rPr>
              <a:t>nodejs20 ingest</a:t>
            </a:r>
            <a:endParaRPr lang="en-US" sz="900" dirty="0"/>
          </a:p>
        </p:txBody>
      </p:sp>
      <p:sp>
        <p:nvSpPr>
          <p:cNvPr id="32" name="Shape 30"/>
          <p:cNvSpPr/>
          <p:nvPr/>
        </p:nvSpPr>
        <p:spPr>
          <a:xfrm>
            <a:off x="7743749" y="3936492"/>
            <a:ext cx="310896" cy="219456"/>
          </a:xfrm>
          <a:prstGeom prst="rightArrow">
            <a:avLst/>
          </a:prstGeom>
          <a:solidFill>
            <a:srgbClr val="5F6B74"/>
          </a:solidFill>
          <a:ln/>
        </p:spPr>
      </p:sp>
      <p:sp>
        <p:nvSpPr>
          <p:cNvPr id="33" name="Shape 31"/>
          <p:cNvSpPr/>
          <p:nvPr/>
        </p:nvSpPr>
        <p:spPr>
          <a:xfrm>
            <a:off x="8127797" y="3063240"/>
            <a:ext cx="1346149" cy="1965960"/>
          </a:xfrm>
          <a:prstGeom prst="roundRect">
            <a:avLst/>
          </a:prstGeom>
          <a:solidFill>
            <a:srgbClr val="FFFFFF"/>
          </a:solidFill>
          <a:ln w="12700">
            <a:solidFill>
              <a:srgbClr val="E4E6E9"/>
            </a:solidFill>
            <a:prstDash val="solid"/>
          </a:ln>
        </p:spPr>
      </p:sp>
      <p:sp>
        <p:nvSpPr>
          <p:cNvPr id="34" name="Text 32"/>
          <p:cNvSpPr/>
          <p:nvPr/>
        </p:nvSpPr>
        <p:spPr>
          <a:xfrm>
            <a:off x="8274101" y="3246120"/>
            <a:ext cx="1053541" cy="320040"/>
          </a:xfrm>
          <a:prstGeom prst="rect">
            <a:avLst/>
          </a:prstGeom>
          <a:noFill/>
          <a:ln/>
        </p:spPr>
        <p:txBody>
          <a:bodyPr wrap="square" lIns="0" tIns="0" rIns="0" bIns="0" rtlCol="0" anchor="ctr"/>
          <a:lstStyle/>
          <a:p>
            <a:pPr indent="0" marL="0">
              <a:buNone/>
            </a:pPr>
            <a:r>
              <a:rPr lang="en-US" sz="1100" dirty="0">
                <a:solidFill>
                  <a:srgbClr val="0A4F4C"/>
                </a:solidFill>
                <a:latin typeface="Consolas" pitchFamily="34" charset="0"/>
                <a:ea typeface="Consolas" pitchFamily="34" charset="-122"/>
                <a:cs typeface="Consolas" pitchFamily="34" charset="-120"/>
              </a:rPr>
              <a:t>05</a:t>
            </a:r>
            <a:endParaRPr lang="en-US" sz="1100" dirty="0"/>
          </a:p>
        </p:txBody>
      </p:sp>
      <p:sp>
        <p:nvSpPr>
          <p:cNvPr id="35" name="Text 33"/>
          <p:cNvSpPr/>
          <p:nvPr/>
        </p:nvSpPr>
        <p:spPr>
          <a:xfrm>
            <a:off x="8274101" y="3685032"/>
            <a:ext cx="1053541" cy="868680"/>
          </a:xfrm>
          <a:prstGeom prst="rect">
            <a:avLst/>
          </a:prstGeom>
          <a:noFill/>
          <a:ln/>
        </p:spPr>
        <p:txBody>
          <a:bodyPr wrap="square" lIns="0" tIns="0" rIns="0" bIns="0" rtlCol="0" anchor="t"/>
          <a:lstStyle/>
          <a:p>
            <a:pPr indent="0" marL="0">
              <a:lnSpc>
                <a:spcPct val="96000"/>
              </a:lnSpc>
              <a:buNone/>
            </a:pPr>
            <a:r>
              <a:rPr lang="en-US" sz="1300" b="1" dirty="0">
                <a:solidFill>
                  <a:srgbClr val="17302C"/>
                </a:solidFill>
                <a:latin typeface="Century Gothic" pitchFamily="34" charset="0"/>
                <a:ea typeface="Century Gothic" pitchFamily="34" charset="-122"/>
                <a:cs typeface="Century Gothic" pitchFamily="34" charset="-120"/>
              </a:rPr>
              <a:t>DynamoDB</a:t>
            </a:r>
            <a:endParaRPr lang="en-US" sz="1300" dirty="0"/>
          </a:p>
        </p:txBody>
      </p:sp>
      <p:sp>
        <p:nvSpPr>
          <p:cNvPr id="36" name="Text 34"/>
          <p:cNvSpPr/>
          <p:nvPr/>
        </p:nvSpPr>
        <p:spPr>
          <a:xfrm>
            <a:off x="8274101" y="4544568"/>
            <a:ext cx="1053541" cy="365760"/>
          </a:xfrm>
          <a:prstGeom prst="rect">
            <a:avLst/>
          </a:prstGeom>
          <a:noFill/>
          <a:ln/>
        </p:spPr>
        <p:txBody>
          <a:bodyPr wrap="square" lIns="0" tIns="0" rIns="0" bIns="0" rtlCol="0" anchor="ctr"/>
          <a:lstStyle/>
          <a:p>
            <a:pPr indent="0" marL="0">
              <a:buNone/>
            </a:pPr>
            <a:r>
              <a:rPr lang="en-US" sz="900" dirty="0">
                <a:solidFill>
                  <a:srgbClr val="5F6B74"/>
                </a:solidFill>
                <a:latin typeface="Calibri" pitchFamily="34" charset="0"/>
                <a:ea typeface="Calibri" pitchFamily="34" charset="-122"/>
                <a:cs typeface="Calibri" pitchFamily="34" charset="-120"/>
              </a:rPr>
              <a:t>aggregate store</a:t>
            </a:r>
            <a:endParaRPr lang="en-US" sz="900" dirty="0"/>
          </a:p>
        </p:txBody>
      </p:sp>
      <p:sp>
        <p:nvSpPr>
          <p:cNvPr id="37" name="Shape 35"/>
          <p:cNvSpPr/>
          <p:nvPr/>
        </p:nvSpPr>
        <p:spPr>
          <a:xfrm>
            <a:off x="9547098" y="3936492"/>
            <a:ext cx="310896" cy="219456"/>
          </a:xfrm>
          <a:prstGeom prst="rightArrow">
            <a:avLst/>
          </a:prstGeom>
          <a:solidFill>
            <a:srgbClr val="5F6B74"/>
          </a:solidFill>
          <a:ln/>
        </p:spPr>
      </p:sp>
      <p:sp>
        <p:nvSpPr>
          <p:cNvPr id="38" name="Shape 36"/>
          <p:cNvSpPr/>
          <p:nvPr/>
        </p:nvSpPr>
        <p:spPr>
          <a:xfrm>
            <a:off x="9931146" y="3063240"/>
            <a:ext cx="1346149" cy="1965960"/>
          </a:xfrm>
          <a:prstGeom prst="roundRect">
            <a:avLst/>
          </a:prstGeom>
          <a:solidFill>
            <a:srgbClr val="FFFFFF"/>
          </a:solidFill>
          <a:ln w="12700">
            <a:solidFill>
              <a:srgbClr val="E4E6E9"/>
            </a:solidFill>
            <a:prstDash val="solid"/>
          </a:ln>
        </p:spPr>
      </p:sp>
      <p:sp>
        <p:nvSpPr>
          <p:cNvPr id="39" name="Text 37"/>
          <p:cNvSpPr/>
          <p:nvPr/>
        </p:nvSpPr>
        <p:spPr>
          <a:xfrm>
            <a:off x="10077450" y="3246120"/>
            <a:ext cx="1053541" cy="320040"/>
          </a:xfrm>
          <a:prstGeom prst="rect">
            <a:avLst/>
          </a:prstGeom>
          <a:noFill/>
          <a:ln/>
        </p:spPr>
        <p:txBody>
          <a:bodyPr wrap="square" lIns="0" tIns="0" rIns="0" bIns="0" rtlCol="0" anchor="ctr"/>
          <a:lstStyle/>
          <a:p>
            <a:pPr indent="0" marL="0">
              <a:buNone/>
            </a:pPr>
            <a:r>
              <a:rPr lang="en-US" sz="1100" dirty="0">
                <a:solidFill>
                  <a:srgbClr val="0A4F4C"/>
                </a:solidFill>
                <a:latin typeface="Consolas" pitchFamily="34" charset="0"/>
                <a:ea typeface="Consolas" pitchFamily="34" charset="-122"/>
                <a:cs typeface="Consolas" pitchFamily="34" charset="-120"/>
              </a:rPr>
              <a:t>06</a:t>
            </a:r>
            <a:endParaRPr lang="en-US" sz="1100" dirty="0"/>
          </a:p>
        </p:txBody>
      </p:sp>
      <p:sp>
        <p:nvSpPr>
          <p:cNvPr id="40" name="Text 38"/>
          <p:cNvSpPr/>
          <p:nvPr/>
        </p:nvSpPr>
        <p:spPr>
          <a:xfrm>
            <a:off x="10077450" y="3685032"/>
            <a:ext cx="1053541" cy="868680"/>
          </a:xfrm>
          <a:prstGeom prst="rect">
            <a:avLst/>
          </a:prstGeom>
          <a:noFill/>
          <a:ln/>
        </p:spPr>
        <p:txBody>
          <a:bodyPr wrap="square" lIns="0" tIns="0" rIns="0" bIns="0" rtlCol="0" anchor="t"/>
          <a:lstStyle/>
          <a:p>
            <a:pPr indent="0" marL="0">
              <a:lnSpc>
                <a:spcPct val="96000"/>
              </a:lnSpc>
              <a:buNone/>
            </a:pPr>
            <a:r>
              <a:rPr lang="en-US" sz="1300" b="1" dirty="0">
                <a:solidFill>
                  <a:srgbClr val="17302C"/>
                </a:solidFill>
                <a:latin typeface="Century Gothic" pitchFamily="34" charset="0"/>
                <a:ea typeface="Century Gothic" pitchFamily="34" charset="-122"/>
                <a:cs typeface="Century Gothic" pitchFamily="34" charset="-120"/>
              </a:rPr>
              <a:t>API GW + S3</a:t>
            </a:r>
            <a:endParaRPr lang="en-US" sz="1300" dirty="0"/>
          </a:p>
        </p:txBody>
      </p:sp>
      <p:sp>
        <p:nvSpPr>
          <p:cNvPr id="41" name="Text 39"/>
          <p:cNvSpPr/>
          <p:nvPr/>
        </p:nvSpPr>
        <p:spPr>
          <a:xfrm>
            <a:off x="10077450" y="4544568"/>
            <a:ext cx="1053541" cy="365760"/>
          </a:xfrm>
          <a:prstGeom prst="rect">
            <a:avLst/>
          </a:prstGeom>
          <a:noFill/>
          <a:ln/>
        </p:spPr>
        <p:txBody>
          <a:bodyPr wrap="square" lIns="0" tIns="0" rIns="0" bIns="0" rtlCol="0" anchor="ctr"/>
          <a:lstStyle/>
          <a:p>
            <a:pPr indent="0" marL="0">
              <a:buNone/>
            </a:pPr>
            <a:r>
              <a:rPr lang="en-US" sz="900" dirty="0">
                <a:solidFill>
                  <a:srgbClr val="5F6B74"/>
                </a:solidFill>
                <a:latin typeface="Calibri" pitchFamily="34" charset="0"/>
                <a:ea typeface="Calibri" pitchFamily="34" charset="-122"/>
                <a:cs typeface="Calibri" pitchFamily="34" charset="-120"/>
              </a:rPr>
              <a:t>bridge console</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EF5F4"/>
        </a:solidFill>
      </p:bgPr>
    </p:bg>
    <p:spTree>
      <p:nvGrpSpPr>
        <p:cNvPr id="1" name=""/>
        <p:cNvGrpSpPr/>
        <p:nvPr/>
      </p:nvGrpSpPr>
      <p:grpSpPr>
        <a:xfrm>
          <a:off x="0" y="0"/>
          <a:ext cx="0" cy="0"/>
          <a:chOff x="0" y="0"/>
          <a:chExt cx="0" cy="0"/>
        </a:xfrm>
      </p:grpSpPr>
      <p:sp>
        <p:nvSpPr>
          <p:cNvPr id="2" name="Shape 0"/>
          <p:cNvSpPr/>
          <p:nvPr/>
        </p:nvSpPr>
        <p:spPr>
          <a:xfrm>
            <a:off x="365760" y="365760"/>
            <a:ext cx="365760" cy="0"/>
          </a:xfrm>
          <a:prstGeom prst="line">
            <a:avLst/>
          </a:prstGeom>
          <a:noFill/>
          <a:ln w="19050">
            <a:solidFill>
              <a:srgbClr val="0A4F4C"/>
            </a:solidFill>
            <a:prstDash val="solid"/>
          </a:ln>
        </p:spPr>
      </p:sp>
      <p:sp>
        <p:nvSpPr>
          <p:cNvPr id="3" name="Shape 1"/>
          <p:cNvSpPr/>
          <p:nvPr/>
        </p:nvSpPr>
        <p:spPr>
          <a:xfrm>
            <a:off x="365760" y="365760"/>
            <a:ext cx="0" cy="365760"/>
          </a:xfrm>
          <a:prstGeom prst="line">
            <a:avLst/>
          </a:prstGeom>
          <a:noFill/>
          <a:ln w="19050">
            <a:solidFill>
              <a:srgbClr val="0A4F4C"/>
            </a:solidFill>
            <a:prstDash val="solid"/>
          </a:ln>
        </p:spPr>
      </p:sp>
      <p:sp>
        <p:nvSpPr>
          <p:cNvPr id="4" name="Shape 2"/>
          <p:cNvSpPr/>
          <p:nvPr/>
        </p:nvSpPr>
        <p:spPr>
          <a:xfrm>
            <a:off x="11460175" y="365760"/>
            <a:ext cx="365760" cy="0"/>
          </a:xfrm>
          <a:prstGeom prst="line">
            <a:avLst/>
          </a:prstGeom>
          <a:noFill/>
          <a:ln w="19050">
            <a:solidFill>
              <a:srgbClr val="0A4F4C"/>
            </a:solidFill>
            <a:prstDash val="solid"/>
          </a:ln>
        </p:spPr>
      </p:sp>
      <p:sp>
        <p:nvSpPr>
          <p:cNvPr id="5" name="Shape 3"/>
          <p:cNvSpPr/>
          <p:nvPr/>
        </p:nvSpPr>
        <p:spPr>
          <a:xfrm>
            <a:off x="11825935" y="365760"/>
            <a:ext cx="0" cy="365760"/>
          </a:xfrm>
          <a:prstGeom prst="line">
            <a:avLst/>
          </a:prstGeom>
          <a:noFill/>
          <a:ln w="19050">
            <a:solidFill>
              <a:srgbClr val="0A4F4C"/>
            </a:solidFill>
            <a:prstDash val="solid"/>
          </a:ln>
        </p:spPr>
      </p:sp>
      <p:sp>
        <p:nvSpPr>
          <p:cNvPr id="6" name="Shape 4"/>
          <p:cNvSpPr/>
          <p:nvPr/>
        </p:nvSpPr>
        <p:spPr>
          <a:xfrm>
            <a:off x="365760" y="6492240"/>
            <a:ext cx="365760" cy="0"/>
          </a:xfrm>
          <a:prstGeom prst="line">
            <a:avLst/>
          </a:prstGeom>
          <a:noFill/>
          <a:ln w="19050">
            <a:solidFill>
              <a:srgbClr val="0A4F4C"/>
            </a:solidFill>
            <a:prstDash val="solid"/>
          </a:ln>
        </p:spPr>
      </p:sp>
      <p:sp>
        <p:nvSpPr>
          <p:cNvPr id="7" name="Shape 5"/>
          <p:cNvSpPr/>
          <p:nvPr/>
        </p:nvSpPr>
        <p:spPr>
          <a:xfrm>
            <a:off x="365760" y="6126480"/>
            <a:ext cx="0" cy="365760"/>
          </a:xfrm>
          <a:prstGeom prst="line">
            <a:avLst/>
          </a:prstGeom>
          <a:noFill/>
          <a:ln w="19050">
            <a:solidFill>
              <a:srgbClr val="0A4F4C"/>
            </a:solidFill>
            <a:prstDash val="solid"/>
          </a:ln>
        </p:spPr>
      </p:sp>
      <p:sp>
        <p:nvSpPr>
          <p:cNvPr id="8" name="Shape 6"/>
          <p:cNvSpPr/>
          <p:nvPr/>
        </p:nvSpPr>
        <p:spPr>
          <a:xfrm>
            <a:off x="11460175" y="6492240"/>
            <a:ext cx="365760" cy="0"/>
          </a:xfrm>
          <a:prstGeom prst="line">
            <a:avLst/>
          </a:prstGeom>
          <a:noFill/>
          <a:ln w="19050">
            <a:solidFill>
              <a:srgbClr val="0A4F4C"/>
            </a:solidFill>
            <a:prstDash val="solid"/>
          </a:ln>
        </p:spPr>
      </p:sp>
      <p:sp>
        <p:nvSpPr>
          <p:cNvPr id="9" name="Shape 7"/>
          <p:cNvSpPr/>
          <p:nvPr/>
        </p:nvSpPr>
        <p:spPr>
          <a:xfrm>
            <a:off x="11825935" y="6126480"/>
            <a:ext cx="0" cy="365760"/>
          </a:xfrm>
          <a:prstGeom prst="line">
            <a:avLst/>
          </a:prstGeom>
          <a:noFill/>
          <a:ln w="19050">
            <a:solidFill>
              <a:srgbClr val="0A4F4C"/>
            </a:solidFill>
            <a:prstDash val="solid"/>
          </a:ln>
        </p:spPr>
      </p:sp>
      <p:sp>
        <p:nvSpPr>
          <p:cNvPr id="10" name="Text 8"/>
          <p:cNvSpPr/>
          <p:nvPr/>
        </p:nvSpPr>
        <p:spPr>
          <a:xfrm>
            <a:off x="914400" y="822960"/>
            <a:ext cx="914400" cy="640080"/>
          </a:xfrm>
          <a:prstGeom prst="rect">
            <a:avLst/>
          </a:prstGeom>
          <a:noFill/>
          <a:ln/>
        </p:spPr>
        <p:txBody>
          <a:bodyPr wrap="square" lIns="0" tIns="0" rIns="0" bIns="0" rtlCol="0" anchor="ctr"/>
          <a:lstStyle/>
          <a:p>
            <a:pPr indent="0" marL="0">
              <a:buNone/>
            </a:pPr>
            <a:r>
              <a:rPr lang="en-US" sz="3000" b="1" dirty="0">
                <a:solidFill>
                  <a:srgbClr val="0A4F4C"/>
                </a:solidFill>
                <a:latin typeface="Century Gothic" pitchFamily="34" charset="0"/>
                <a:ea typeface="Century Gothic" pitchFamily="34" charset="-122"/>
                <a:cs typeface="Century Gothic" pitchFamily="34" charset="-120"/>
              </a:rPr>
              <a:t>02</a:t>
            </a:r>
            <a:endParaRPr lang="en-US" sz="3000" dirty="0"/>
          </a:p>
        </p:txBody>
      </p:sp>
      <p:sp>
        <p:nvSpPr>
          <p:cNvPr id="11" name="Text 9"/>
          <p:cNvSpPr/>
          <p:nvPr/>
        </p:nvSpPr>
        <p:spPr>
          <a:xfrm>
            <a:off x="1783080" y="996696"/>
            <a:ext cx="9494215" cy="274320"/>
          </a:xfrm>
          <a:prstGeom prst="rect">
            <a:avLst/>
          </a:prstGeom>
          <a:noFill/>
          <a:ln/>
        </p:spPr>
        <p:txBody>
          <a:bodyPr wrap="square" lIns="0" tIns="0" rIns="0" bIns="0" rtlCol="0" anchor="ctr"/>
          <a:lstStyle/>
          <a:p>
            <a:pPr indent="0" marL="0">
              <a:buNone/>
            </a:pPr>
            <a:r>
              <a:rPr lang="en-US" sz="1100" b="1" spc="200" kern="0" dirty="0">
                <a:solidFill>
                  <a:srgbClr val="5F6B74"/>
                </a:solidFill>
                <a:latin typeface="Calibri" pitchFamily="34" charset="0"/>
                <a:ea typeface="Calibri" pitchFamily="34" charset="-122"/>
                <a:cs typeface="Calibri" pitchFamily="34" charset="-120"/>
              </a:rPr>
              <a:t>LIVE DEMO</a:t>
            </a:r>
            <a:endParaRPr lang="en-US" sz="1100" dirty="0"/>
          </a:p>
        </p:txBody>
      </p:sp>
      <p:sp>
        <p:nvSpPr>
          <p:cNvPr id="12" name="Text 10"/>
          <p:cNvSpPr/>
          <p:nvPr/>
        </p:nvSpPr>
        <p:spPr>
          <a:xfrm>
            <a:off x="914400" y="1472184"/>
            <a:ext cx="10362895" cy="640080"/>
          </a:xfrm>
          <a:prstGeom prst="rect">
            <a:avLst/>
          </a:prstGeom>
          <a:noFill/>
          <a:ln/>
        </p:spPr>
        <p:txBody>
          <a:bodyPr wrap="square" lIns="0" tIns="0" rIns="0" bIns="0" rtlCol="0" anchor="ctr"/>
          <a:lstStyle/>
          <a:p>
            <a:pPr indent="0" marL="0">
              <a:buNone/>
            </a:pPr>
            <a:r>
              <a:rPr lang="en-US" sz="2300" b="1" dirty="0">
                <a:solidFill>
                  <a:srgbClr val="17302C"/>
                </a:solidFill>
                <a:latin typeface="Century Gothic" pitchFamily="34" charset="0"/>
                <a:ea typeface="Century Gothic" pitchFamily="34" charset="-122"/>
                <a:cs typeface="Century Gothic" pitchFamily="34" charset="-120"/>
              </a:rPr>
              <a:t>See it running on AWS</a:t>
            </a:r>
            <a:endParaRPr lang="en-US" sz="2300" dirty="0"/>
          </a:p>
        </p:txBody>
      </p:sp>
      <p:sp>
        <p:nvSpPr>
          <p:cNvPr id="13" name="Text 11"/>
          <p:cNvSpPr/>
          <p:nvPr/>
        </p:nvSpPr>
        <p:spPr>
          <a:xfrm>
            <a:off x="914400" y="1993392"/>
            <a:ext cx="10362895" cy="274320"/>
          </a:xfrm>
          <a:prstGeom prst="rect">
            <a:avLst/>
          </a:prstGeom>
          <a:noFill/>
          <a:ln/>
        </p:spPr>
        <p:txBody>
          <a:bodyPr wrap="square" rtlCol="0" anchor="ctr"/>
          <a:lstStyle/>
          <a:p>
            <a:pPr indent="0" marL="0">
              <a:buNone/>
            </a:pPr>
            <a:r>
              <a:rPr lang="en-US" sz="1100" dirty="0">
                <a:solidFill>
                  <a:srgbClr val="0A4F4C"/>
                </a:solidFill>
                <a:latin typeface="Consolas" pitchFamily="34" charset="0"/>
                <a:ea typeface="Consolas" pitchFamily="34" charset="-122"/>
                <a:cs typeface="Consolas" pitchFamily="34" charset="-120"/>
              </a:rPr>
              <a:t>mvs-frontend-573065484152.s3-website-us-east-1.amazonaws.com</a:t>
            </a:r>
            <a:endParaRPr lang="en-US" sz="1100" dirty="0"/>
          </a:p>
        </p:txBody>
      </p:sp>
      <p:sp>
        <p:nvSpPr>
          <p:cNvPr id="14" name="Shape 12"/>
          <p:cNvSpPr/>
          <p:nvPr/>
        </p:nvSpPr>
        <p:spPr>
          <a:xfrm>
            <a:off x="914400" y="2606040"/>
            <a:ext cx="3210458" cy="3291840"/>
          </a:xfrm>
          <a:prstGeom prst="roundRect">
            <a:avLst/>
          </a:prstGeom>
          <a:solidFill>
            <a:srgbClr val="FFFFFF"/>
          </a:solidFill>
          <a:ln w="12700">
            <a:solidFill>
              <a:srgbClr val="E4E6E9"/>
            </a:solidFill>
            <a:prstDash val="solid"/>
          </a:ln>
        </p:spPr>
      </p:sp>
      <p:sp>
        <p:nvSpPr>
          <p:cNvPr id="15" name="Text 13"/>
          <p:cNvSpPr/>
          <p:nvPr/>
        </p:nvSpPr>
        <p:spPr>
          <a:xfrm>
            <a:off x="1188720" y="2843784"/>
            <a:ext cx="1828800" cy="777240"/>
          </a:xfrm>
          <a:prstGeom prst="rect">
            <a:avLst/>
          </a:prstGeom>
          <a:noFill/>
          <a:ln/>
        </p:spPr>
        <p:txBody>
          <a:bodyPr wrap="square" lIns="0" tIns="0" rIns="0" bIns="0" rtlCol="0" anchor="ctr"/>
          <a:lstStyle/>
          <a:p>
            <a:pPr indent="0" marL="0">
              <a:buNone/>
            </a:pPr>
            <a:r>
              <a:rPr lang="en-US" sz="3800" b="1" dirty="0">
                <a:solidFill>
                  <a:srgbClr val="0A4F4C"/>
                </a:solidFill>
                <a:latin typeface="Century Gothic" pitchFamily="34" charset="0"/>
                <a:ea typeface="Century Gothic" pitchFamily="34" charset="-122"/>
                <a:cs typeface="Century Gothic" pitchFamily="34" charset="-120"/>
              </a:rPr>
              <a:t>01</a:t>
            </a:r>
            <a:endParaRPr lang="en-US" sz="3800" dirty="0"/>
          </a:p>
        </p:txBody>
      </p:sp>
      <p:sp>
        <p:nvSpPr>
          <p:cNvPr id="16" name="Text 14"/>
          <p:cNvSpPr/>
          <p:nvPr/>
        </p:nvSpPr>
        <p:spPr>
          <a:xfrm>
            <a:off x="1207008" y="3657600"/>
            <a:ext cx="2661818" cy="868680"/>
          </a:xfrm>
          <a:prstGeom prst="rect">
            <a:avLst/>
          </a:prstGeom>
          <a:noFill/>
          <a:ln/>
        </p:spPr>
        <p:txBody>
          <a:bodyPr wrap="square" lIns="0" tIns="0" rIns="0" bIns="0" rtlCol="0" anchor="t"/>
          <a:lstStyle/>
          <a:p>
            <a:pPr indent="0" marL="0">
              <a:lnSpc>
                <a:spcPct val="100000"/>
              </a:lnSpc>
              <a:buNone/>
            </a:pPr>
            <a:r>
              <a:rPr lang="en-US" sz="1550" b="1" dirty="0">
                <a:solidFill>
                  <a:srgbClr val="17302C"/>
                </a:solidFill>
                <a:latin typeface="Century Gothic" pitchFamily="34" charset="0"/>
                <a:ea typeface="Century Gothic" pitchFamily="34" charset="-122"/>
                <a:cs typeface="Century Gothic" pitchFamily="34" charset="-120"/>
              </a:rPr>
              <a:t>A Bridge Console per vessel</a:t>
            </a:r>
            <a:endParaRPr lang="en-US" sz="1550" dirty="0"/>
          </a:p>
        </p:txBody>
      </p:sp>
      <p:sp>
        <p:nvSpPr>
          <p:cNvPr id="17" name="Text 15"/>
          <p:cNvSpPr/>
          <p:nvPr/>
        </p:nvSpPr>
        <p:spPr>
          <a:xfrm>
            <a:off x="1207008" y="4526280"/>
            <a:ext cx="2661818" cy="1188720"/>
          </a:xfrm>
          <a:prstGeom prst="rect">
            <a:avLst/>
          </a:prstGeom>
          <a:noFill/>
          <a:ln/>
        </p:spPr>
        <p:txBody>
          <a:bodyPr wrap="square" lIns="0" tIns="0" rIns="0" bIns="0" rtlCol="0" anchor="ctr"/>
          <a:lstStyle/>
          <a:p>
            <a:pPr indent="0" marL="0">
              <a:lnSpc>
                <a:spcPct val="120000"/>
              </a:lnSpc>
              <a:buNone/>
            </a:pPr>
            <a:r>
              <a:rPr lang="en-US" sz="1200" dirty="0">
                <a:solidFill>
                  <a:srgbClr val="5F6B74"/>
                </a:solidFill>
                <a:latin typeface="Calibri" pitchFamily="34" charset="0"/>
                <a:ea typeface="Calibri" pitchFamily="34" charset="-122"/>
                <a:cs typeface="Calibri" pitchFamily="34" charset="-120"/>
              </a:rPr>
              <a:t>Engine, fuel, ballast, hull vibration and passengers live for both vessels, reduced to a summary before it leaves the ship.</a:t>
            </a:r>
            <a:endParaRPr lang="en-US" sz="1200" dirty="0"/>
          </a:p>
        </p:txBody>
      </p:sp>
      <p:sp>
        <p:nvSpPr>
          <p:cNvPr id="18" name="Shape 16"/>
          <p:cNvSpPr/>
          <p:nvPr/>
        </p:nvSpPr>
        <p:spPr>
          <a:xfrm>
            <a:off x="4490618" y="2606040"/>
            <a:ext cx="3210458" cy="3291840"/>
          </a:xfrm>
          <a:prstGeom prst="roundRect">
            <a:avLst/>
          </a:prstGeom>
          <a:solidFill>
            <a:srgbClr val="FFFFFF"/>
          </a:solidFill>
          <a:ln w="12700">
            <a:solidFill>
              <a:srgbClr val="E4E6E9"/>
            </a:solidFill>
            <a:prstDash val="solid"/>
          </a:ln>
        </p:spPr>
      </p:sp>
      <p:sp>
        <p:nvSpPr>
          <p:cNvPr id="19" name="Text 17"/>
          <p:cNvSpPr/>
          <p:nvPr/>
        </p:nvSpPr>
        <p:spPr>
          <a:xfrm>
            <a:off x="4764938" y="2843784"/>
            <a:ext cx="1828800" cy="777240"/>
          </a:xfrm>
          <a:prstGeom prst="rect">
            <a:avLst/>
          </a:prstGeom>
          <a:noFill/>
          <a:ln/>
        </p:spPr>
        <p:txBody>
          <a:bodyPr wrap="square" lIns="0" tIns="0" rIns="0" bIns="0" rtlCol="0" anchor="ctr"/>
          <a:lstStyle/>
          <a:p>
            <a:pPr indent="0" marL="0">
              <a:buNone/>
            </a:pPr>
            <a:r>
              <a:rPr lang="en-US" sz="3800" b="1" dirty="0">
                <a:solidFill>
                  <a:srgbClr val="0A4F4C"/>
                </a:solidFill>
                <a:latin typeface="Century Gothic" pitchFamily="34" charset="0"/>
                <a:ea typeface="Century Gothic" pitchFamily="34" charset="-122"/>
                <a:cs typeface="Century Gothic" pitchFamily="34" charset="-120"/>
              </a:rPr>
              <a:t>02</a:t>
            </a:r>
            <a:endParaRPr lang="en-US" sz="3800" dirty="0"/>
          </a:p>
        </p:txBody>
      </p:sp>
      <p:sp>
        <p:nvSpPr>
          <p:cNvPr id="20" name="Text 18"/>
          <p:cNvSpPr/>
          <p:nvPr/>
        </p:nvSpPr>
        <p:spPr>
          <a:xfrm>
            <a:off x="4783226" y="3657600"/>
            <a:ext cx="2661818" cy="868680"/>
          </a:xfrm>
          <a:prstGeom prst="rect">
            <a:avLst/>
          </a:prstGeom>
          <a:noFill/>
          <a:ln/>
        </p:spPr>
        <p:txBody>
          <a:bodyPr wrap="square" lIns="0" tIns="0" rIns="0" bIns="0" rtlCol="0" anchor="t"/>
          <a:lstStyle/>
          <a:p>
            <a:pPr indent="0" marL="0">
              <a:lnSpc>
                <a:spcPct val="100000"/>
              </a:lnSpc>
              <a:buNone/>
            </a:pPr>
            <a:r>
              <a:rPr lang="en-US" sz="1550" b="1" dirty="0">
                <a:solidFill>
                  <a:srgbClr val="17302C"/>
                </a:solidFill>
                <a:latin typeface="Century Gothic" pitchFamily="34" charset="0"/>
                <a:ea typeface="Century Gothic" pitchFamily="34" charset="-122"/>
                <a:cs typeface="Century Gothic" pitchFamily="34" charset="-120"/>
              </a:rPr>
              <a:t>Real alerts on the console</a:t>
            </a:r>
            <a:endParaRPr lang="en-US" sz="1550" dirty="0"/>
          </a:p>
        </p:txBody>
      </p:sp>
      <p:sp>
        <p:nvSpPr>
          <p:cNvPr id="21" name="Text 19"/>
          <p:cNvSpPr/>
          <p:nvPr/>
        </p:nvSpPr>
        <p:spPr>
          <a:xfrm>
            <a:off x="4783226" y="4526280"/>
            <a:ext cx="2661818" cy="1188720"/>
          </a:xfrm>
          <a:prstGeom prst="rect">
            <a:avLst/>
          </a:prstGeom>
          <a:noFill/>
          <a:ln/>
        </p:spPr>
        <p:txBody>
          <a:bodyPr wrap="square" lIns="0" tIns="0" rIns="0" bIns="0" rtlCol="0" anchor="ctr"/>
          <a:lstStyle/>
          <a:p>
            <a:pPr indent="0" marL="0">
              <a:lnSpc>
                <a:spcPct val="120000"/>
              </a:lnSpc>
              <a:buNone/>
            </a:pPr>
            <a:r>
              <a:rPr lang="en-US" sz="1200" dirty="0">
                <a:solidFill>
                  <a:srgbClr val="5F6B74"/>
                </a:solidFill>
                <a:latin typeface="Calibri" pitchFamily="34" charset="0"/>
                <a:ea typeface="Calibri" pitchFamily="34" charset="-122"/>
                <a:cs typeface="Calibri" pitchFamily="34" charset="-120"/>
              </a:rPr>
              <a:t>Excessive fuel burn and hull stress fire on the Bridge Console as their thresholds are crossed, on real data.</a:t>
            </a:r>
            <a:endParaRPr lang="en-US" sz="1200" dirty="0"/>
          </a:p>
        </p:txBody>
      </p:sp>
      <p:sp>
        <p:nvSpPr>
          <p:cNvPr id="22" name="Shape 20"/>
          <p:cNvSpPr/>
          <p:nvPr/>
        </p:nvSpPr>
        <p:spPr>
          <a:xfrm>
            <a:off x="8066837" y="2606040"/>
            <a:ext cx="3210458" cy="3291840"/>
          </a:xfrm>
          <a:prstGeom prst="roundRect">
            <a:avLst/>
          </a:prstGeom>
          <a:solidFill>
            <a:srgbClr val="FFFFFF"/>
          </a:solidFill>
          <a:ln w="12700">
            <a:solidFill>
              <a:srgbClr val="E4E6E9"/>
            </a:solidFill>
            <a:prstDash val="solid"/>
          </a:ln>
        </p:spPr>
      </p:sp>
      <p:sp>
        <p:nvSpPr>
          <p:cNvPr id="23" name="Text 21"/>
          <p:cNvSpPr/>
          <p:nvPr/>
        </p:nvSpPr>
        <p:spPr>
          <a:xfrm>
            <a:off x="8341157" y="2843784"/>
            <a:ext cx="1828800" cy="777240"/>
          </a:xfrm>
          <a:prstGeom prst="rect">
            <a:avLst/>
          </a:prstGeom>
          <a:noFill/>
          <a:ln/>
        </p:spPr>
        <p:txBody>
          <a:bodyPr wrap="square" lIns="0" tIns="0" rIns="0" bIns="0" rtlCol="0" anchor="ctr"/>
          <a:lstStyle/>
          <a:p>
            <a:pPr indent="0" marL="0">
              <a:buNone/>
            </a:pPr>
            <a:r>
              <a:rPr lang="en-US" sz="3800" b="1" dirty="0">
                <a:solidFill>
                  <a:srgbClr val="0A4F4C"/>
                </a:solidFill>
                <a:latin typeface="Century Gothic" pitchFamily="34" charset="0"/>
                <a:ea typeface="Century Gothic" pitchFamily="34" charset="-122"/>
                <a:cs typeface="Century Gothic" pitchFamily="34" charset="-120"/>
              </a:rPr>
              <a:t>03</a:t>
            </a:r>
            <a:endParaRPr lang="en-US" sz="3800" dirty="0"/>
          </a:p>
        </p:txBody>
      </p:sp>
      <p:sp>
        <p:nvSpPr>
          <p:cNvPr id="24" name="Text 22"/>
          <p:cNvSpPr/>
          <p:nvPr/>
        </p:nvSpPr>
        <p:spPr>
          <a:xfrm>
            <a:off x="8359445" y="3657600"/>
            <a:ext cx="2661818" cy="868680"/>
          </a:xfrm>
          <a:prstGeom prst="rect">
            <a:avLst/>
          </a:prstGeom>
          <a:noFill/>
          <a:ln/>
        </p:spPr>
        <p:txBody>
          <a:bodyPr wrap="square" lIns="0" tIns="0" rIns="0" bIns="0" rtlCol="0" anchor="t"/>
          <a:lstStyle/>
          <a:p>
            <a:pPr indent="0" marL="0">
              <a:lnSpc>
                <a:spcPct val="100000"/>
              </a:lnSpc>
              <a:buNone/>
            </a:pPr>
            <a:r>
              <a:rPr lang="en-US" sz="1550" b="1" dirty="0">
                <a:solidFill>
                  <a:srgbClr val="17302C"/>
                </a:solidFill>
                <a:latin typeface="Century Gothic" pitchFamily="34" charset="0"/>
                <a:ea typeface="Century Gothic" pitchFamily="34" charset="-122"/>
                <a:cs typeface="Century Gothic" pitchFamily="34" charset="-120"/>
              </a:rPr>
              <a:t>Stored items climbing live</a:t>
            </a:r>
            <a:endParaRPr lang="en-US" sz="1550" dirty="0"/>
          </a:p>
        </p:txBody>
      </p:sp>
      <p:sp>
        <p:nvSpPr>
          <p:cNvPr id="25" name="Text 23"/>
          <p:cNvSpPr/>
          <p:nvPr/>
        </p:nvSpPr>
        <p:spPr>
          <a:xfrm>
            <a:off x="8359445" y="4526280"/>
            <a:ext cx="2661818" cy="1188720"/>
          </a:xfrm>
          <a:prstGeom prst="rect">
            <a:avLst/>
          </a:prstGeom>
          <a:noFill/>
          <a:ln/>
        </p:spPr>
        <p:txBody>
          <a:bodyPr wrap="square" lIns="0" tIns="0" rIns="0" bIns="0" rtlCol="0" anchor="ctr"/>
          <a:lstStyle/>
          <a:p>
            <a:pPr indent="0" marL="0">
              <a:lnSpc>
                <a:spcPct val="120000"/>
              </a:lnSpc>
              <a:buNone/>
            </a:pPr>
            <a:r>
              <a:rPr lang="en-US" sz="1200" dirty="0">
                <a:solidFill>
                  <a:srgbClr val="5F6B74"/>
                </a:solidFill>
                <a:latin typeface="Calibri" pitchFamily="34" charset="0"/>
                <a:ea typeface="Calibri" pitchFamily="34" charset="-122"/>
                <a:cs typeface="Calibri" pitchFamily="34" charset="-120"/>
              </a:rPr>
              <a:t>The count grows 59 to 374 to 425 during verification, and the freshest reading stays under a second old.</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EF5F4"/>
        </a:solidFill>
      </p:bgPr>
    </p:bg>
    <p:spTree>
      <p:nvGrpSpPr>
        <p:cNvPr id="1" name=""/>
        <p:cNvGrpSpPr/>
        <p:nvPr/>
      </p:nvGrpSpPr>
      <p:grpSpPr>
        <a:xfrm>
          <a:off x="0" y="0"/>
          <a:ext cx="0" cy="0"/>
          <a:chOff x="0" y="0"/>
          <a:chExt cx="0" cy="0"/>
        </a:xfrm>
      </p:grpSpPr>
      <p:sp>
        <p:nvSpPr>
          <p:cNvPr id="2" name="Shape 0"/>
          <p:cNvSpPr/>
          <p:nvPr/>
        </p:nvSpPr>
        <p:spPr>
          <a:xfrm>
            <a:off x="365760" y="365760"/>
            <a:ext cx="365760" cy="0"/>
          </a:xfrm>
          <a:prstGeom prst="line">
            <a:avLst/>
          </a:prstGeom>
          <a:noFill/>
          <a:ln w="19050">
            <a:solidFill>
              <a:srgbClr val="0A4F4C"/>
            </a:solidFill>
            <a:prstDash val="solid"/>
          </a:ln>
        </p:spPr>
      </p:sp>
      <p:sp>
        <p:nvSpPr>
          <p:cNvPr id="3" name="Shape 1"/>
          <p:cNvSpPr/>
          <p:nvPr/>
        </p:nvSpPr>
        <p:spPr>
          <a:xfrm>
            <a:off x="365760" y="365760"/>
            <a:ext cx="0" cy="365760"/>
          </a:xfrm>
          <a:prstGeom prst="line">
            <a:avLst/>
          </a:prstGeom>
          <a:noFill/>
          <a:ln w="19050">
            <a:solidFill>
              <a:srgbClr val="0A4F4C"/>
            </a:solidFill>
            <a:prstDash val="solid"/>
          </a:ln>
        </p:spPr>
      </p:sp>
      <p:sp>
        <p:nvSpPr>
          <p:cNvPr id="4" name="Shape 2"/>
          <p:cNvSpPr/>
          <p:nvPr/>
        </p:nvSpPr>
        <p:spPr>
          <a:xfrm>
            <a:off x="11460175" y="365760"/>
            <a:ext cx="365760" cy="0"/>
          </a:xfrm>
          <a:prstGeom prst="line">
            <a:avLst/>
          </a:prstGeom>
          <a:noFill/>
          <a:ln w="19050">
            <a:solidFill>
              <a:srgbClr val="0A4F4C"/>
            </a:solidFill>
            <a:prstDash val="solid"/>
          </a:ln>
        </p:spPr>
      </p:sp>
      <p:sp>
        <p:nvSpPr>
          <p:cNvPr id="5" name="Shape 3"/>
          <p:cNvSpPr/>
          <p:nvPr/>
        </p:nvSpPr>
        <p:spPr>
          <a:xfrm>
            <a:off x="11825935" y="365760"/>
            <a:ext cx="0" cy="365760"/>
          </a:xfrm>
          <a:prstGeom prst="line">
            <a:avLst/>
          </a:prstGeom>
          <a:noFill/>
          <a:ln w="19050">
            <a:solidFill>
              <a:srgbClr val="0A4F4C"/>
            </a:solidFill>
            <a:prstDash val="solid"/>
          </a:ln>
        </p:spPr>
      </p:sp>
      <p:sp>
        <p:nvSpPr>
          <p:cNvPr id="6" name="Shape 4"/>
          <p:cNvSpPr/>
          <p:nvPr/>
        </p:nvSpPr>
        <p:spPr>
          <a:xfrm>
            <a:off x="365760" y="6492240"/>
            <a:ext cx="365760" cy="0"/>
          </a:xfrm>
          <a:prstGeom prst="line">
            <a:avLst/>
          </a:prstGeom>
          <a:noFill/>
          <a:ln w="19050">
            <a:solidFill>
              <a:srgbClr val="0A4F4C"/>
            </a:solidFill>
            <a:prstDash val="solid"/>
          </a:ln>
        </p:spPr>
      </p:sp>
      <p:sp>
        <p:nvSpPr>
          <p:cNvPr id="7" name="Shape 5"/>
          <p:cNvSpPr/>
          <p:nvPr/>
        </p:nvSpPr>
        <p:spPr>
          <a:xfrm>
            <a:off x="365760" y="6126480"/>
            <a:ext cx="0" cy="365760"/>
          </a:xfrm>
          <a:prstGeom prst="line">
            <a:avLst/>
          </a:prstGeom>
          <a:noFill/>
          <a:ln w="19050">
            <a:solidFill>
              <a:srgbClr val="0A4F4C"/>
            </a:solidFill>
            <a:prstDash val="solid"/>
          </a:ln>
        </p:spPr>
      </p:sp>
      <p:sp>
        <p:nvSpPr>
          <p:cNvPr id="8" name="Shape 6"/>
          <p:cNvSpPr/>
          <p:nvPr/>
        </p:nvSpPr>
        <p:spPr>
          <a:xfrm>
            <a:off x="11460175" y="6492240"/>
            <a:ext cx="365760" cy="0"/>
          </a:xfrm>
          <a:prstGeom prst="line">
            <a:avLst/>
          </a:prstGeom>
          <a:noFill/>
          <a:ln w="19050">
            <a:solidFill>
              <a:srgbClr val="0A4F4C"/>
            </a:solidFill>
            <a:prstDash val="solid"/>
          </a:ln>
        </p:spPr>
      </p:sp>
      <p:sp>
        <p:nvSpPr>
          <p:cNvPr id="9" name="Shape 7"/>
          <p:cNvSpPr/>
          <p:nvPr/>
        </p:nvSpPr>
        <p:spPr>
          <a:xfrm>
            <a:off x="11825935" y="6126480"/>
            <a:ext cx="0" cy="365760"/>
          </a:xfrm>
          <a:prstGeom prst="line">
            <a:avLst/>
          </a:prstGeom>
          <a:noFill/>
          <a:ln w="19050">
            <a:solidFill>
              <a:srgbClr val="0A4F4C"/>
            </a:solidFill>
            <a:prstDash val="solid"/>
          </a:ln>
        </p:spPr>
      </p:sp>
      <p:sp>
        <p:nvSpPr>
          <p:cNvPr id="10" name="Text 8"/>
          <p:cNvSpPr/>
          <p:nvPr/>
        </p:nvSpPr>
        <p:spPr>
          <a:xfrm>
            <a:off x="914400" y="822960"/>
            <a:ext cx="914400" cy="640080"/>
          </a:xfrm>
          <a:prstGeom prst="rect">
            <a:avLst/>
          </a:prstGeom>
          <a:noFill/>
          <a:ln/>
        </p:spPr>
        <p:txBody>
          <a:bodyPr wrap="square" lIns="0" tIns="0" rIns="0" bIns="0" rtlCol="0" anchor="ctr"/>
          <a:lstStyle/>
          <a:p>
            <a:pPr indent="0" marL="0">
              <a:buNone/>
            </a:pPr>
            <a:r>
              <a:rPr lang="en-US" sz="3000" b="1" dirty="0">
                <a:solidFill>
                  <a:srgbClr val="0A4F4C"/>
                </a:solidFill>
                <a:latin typeface="Century Gothic" pitchFamily="34" charset="0"/>
                <a:ea typeface="Century Gothic" pitchFamily="34" charset="-122"/>
                <a:cs typeface="Century Gothic" pitchFamily="34" charset="-120"/>
              </a:rPr>
              <a:t>03</a:t>
            </a:r>
            <a:endParaRPr lang="en-US" sz="3000" dirty="0"/>
          </a:p>
        </p:txBody>
      </p:sp>
      <p:sp>
        <p:nvSpPr>
          <p:cNvPr id="11" name="Text 9"/>
          <p:cNvSpPr/>
          <p:nvPr/>
        </p:nvSpPr>
        <p:spPr>
          <a:xfrm>
            <a:off x="1783080" y="996696"/>
            <a:ext cx="9494215" cy="274320"/>
          </a:xfrm>
          <a:prstGeom prst="rect">
            <a:avLst/>
          </a:prstGeom>
          <a:noFill/>
          <a:ln/>
        </p:spPr>
        <p:txBody>
          <a:bodyPr wrap="square" lIns="0" tIns="0" rIns="0" bIns="0" rtlCol="0" anchor="ctr"/>
          <a:lstStyle/>
          <a:p>
            <a:pPr indent="0" marL="0">
              <a:buNone/>
            </a:pPr>
            <a:r>
              <a:rPr lang="en-US" sz="1100" b="1" spc="200" kern="0" dirty="0">
                <a:solidFill>
                  <a:srgbClr val="5F6B74"/>
                </a:solidFill>
                <a:latin typeface="Calibri" pitchFamily="34" charset="0"/>
                <a:ea typeface="Calibri" pitchFamily="34" charset="-122"/>
                <a:cs typeface="Calibri" pitchFamily="34" charset="-120"/>
              </a:rPr>
              <a:t>CHALLENGE</a:t>
            </a:r>
            <a:endParaRPr lang="en-US" sz="1100" dirty="0"/>
          </a:p>
        </p:txBody>
      </p:sp>
      <p:sp>
        <p:nvSpPr>
          <p:cNvPr id="12" name="Text 10"/>
          <p:cNvSpPr/>
          <p:nvPr/>
        </p:nvSpPr>
        <p:spPr>
          <a:xfrm>
            <a:off x="914400" y="1472184"/>
            <a:ext cx="10362895" cy="640080"/>
          </a:xfrm>
          <a:prstGeom prst="rect">
            <a:avLst/>
          </a:prstGeom>
          <a:noFill/>
          <a:ln/>
        </p:spPr>
        <p:txBody>
          <a:bodyPr wrap="square" lIns="0" tIns="0" rIns="0" bIns="0" rtlCol="0" anchor="ctr"/>
          <a:lstStyle/>
          <a:p>
            <a:pPr indent="0" marL="0">
              <a:buNone/>
            </a:pPr>
            <a:r>
              <a:rPr lang="en-US" sz="2300" b="1" dirty="0">
                <a:solidFill>
                  <a:srgbClr val="17302C"/>
                </a:solidFill>
                <a:latin typeface="Century Gothic" pitchFamily="34" charset="0"/>
                <a:ea typeface="Century Gothic" pitchFamily="34" charset="-122"/>
                <a:cs typeface="Century Gothic" pitchFamily="34" charset="-120"/>
              </a:rPr>
              <a:t>one routing table, two runtimes</a:t>
            </a:r>
            <a:endParaRPr lang="en-US" sz="2300" dirty="0"/>
          </a:p>
        </p:txBody>
      </p:sp>
      <p:sp>
        <p:nvSpPr>
          <p:cNvPr id="13" name="Shape 11"/>
          <p:cNvSpPr/>
          <p:nvPr/>
        </p:nvSpPr>
        <p:spPr>
          <a:xfrm>
            <a:off x="914400" y="2514600"/>
            <a:ext cx="4952848" cy="3383280"/>
          </a:xfrm>
          <a:prstGeom prst="roundRect">
            <a:avLst/>
          </a:prstGeom>
          <a:solidFill>
            <a:srgbClr val="FFFFFF"/>
          </a:solidFill>
          <a:ln w="12700">
            <a:solidFill>
              <a:srgbClr val="E4E6E9"/>
            </a:solidFill>
            <a:prstDash val="solid"/>
          </a:ln>
        </p:spPr>
      </p:sp>
      <p:sp>
        <p:nvSpPr>
          <p:cNvPr id="14" name="Text 12"/>
          <p:cNvSpPr/>
          <p:nvPr/>
        </p:nvSpPr>
        <p:spPr>
          <a:xfrm>
            <a:off x="1234440" y="2788920"/>
            <a:ext cx="4312768" cy="320040"/>
          </a:xfrm>
          <a:prstGeom prst="rect">
            <a:avLst/>
          </a:prstGeom>
          <a:noFill/>
          <a:ln/>
        </p:spPr>
        <p:txBody>
          <a:bodyPr wrap="square" lIns="0" tIns="0" rIns="0" bIns="0" rtlCol="0" anchor="ctr"/>
          <a:lstStyle/>
          <a:p>
            <a:pPr indent="0" marL="0">
              <a:buNone/>
            </a:pPr>
            <a:r>
              <a:rPr lang="en-US" sz="1200" b="1" spc="200" kern="0" dirty="0">
                <a:solidFill>
                  <a:srgbClr val="D1584E"/>
                </a:solidFill>
                <a:latin typeface="Calibri" pitchFamily="34" charset="0"/>
                <a:ea typeface="Calibri" pitchFamily="34" charset="-122"/>
                <a:cs typeface="Calibri" pitchFamily="34" charset="-120"/>
              </a:rPr>
              <a:t>PROBLEM</a:t>
            </a:r>
            <a:endParaRPr lang="en-US" sz="1200" dirty="0"/>
          </a:p>
        </p:txBody>
      </p:sp>
      <p:sp>
        <p:nvSpPr>
          <p:cNvPr id="15" name="Shape 13"/>
          <p:cNvSpPr/>
          <p:nvPr/>
        </p:nvSpPr>
        <p:spPr>
          <a:xfrm>
            <a:off x="1234440" y="3172968"/>
            <a:ext cx="4312768" cy="0"/>
          </a:xfrm>
          <a:prstGeom prst="line">
            <a:avLst/>
          </a:prstGeom>
          <a:noFill/>
          <a:ln w="19050">
            <a:solidFill>
              <a:srgbClr val="D1584E"/>
            </a:solidFill>
            <a:prstDash val="solid"/>
          </a:ln>
        </p:spPr>
      </p:sp>
      <p:sp>
        <p:nvSpPr>
          <p:cNvPr id="16" name="Text 14"/>
          <p:cNvSpPr/>
          <p:nvPr/>
        </p:nvSpPr>
        <p:spPr>
          <a:xfrm>
            <a:off x="1234440" y="3337560"/>
            <a:ext cx="4312768" cy="2377440"/>
          </a:xfrm>
          <a:prstGeom prst="rect">
            <a:avLst/>
          </a:prstGeom>
          <a:noFill/>
          <a:ln/>
        </p:spPr>
        <p:txBody>
          <a:bodyPr wrap="square" lIns="0" tIns="0" rIns="0" bIns="0" rtlCol="0" anchor="t"/>
          <a:lstStyle/>
          <a:p>
            <a:pPr indent="0" marL="0">
              <a:lnSpc>
                <a:spcPct val="128000"/>
              </a:lnSpc>
              <a:buNone/>
            </a:pPr>
            <a:r>
              <a:rPr lang="en-US" sz="1350" dirty="0">
                <a:solidFill>
                  <a:srgbClr val="17302C"/>
                </a:solidFill>
                <a:latin typeface="Calibri" pitchFamily="34" charset="0"/>
                <a:ea typeface="Calibri" pitchFamily="34" charset="-122"/>
                <a:cs typeface="Calibri" pitchFamily="34" charset="-120"/>
              </a:rPr>
              <a:t>The dashboard has to answer the same routes on a developer's laptop and inside a cloud function, and the two must stay identical: any divergence between a local route and its cloud counterpart is a bug that only appears in production, after the local checks have already gone green.</a:t>
            </a:r>
            <a:endParaRPr lang="en-US" sz="1350" dirty="0"/>
          </a:p>
        </p:txBody>
      </p:sp>
      <p:sp>
        <p:nvSpPr>
          <p:cNvPr id="17" name="Shape 15"/>
          <p:cNvSpPr/>
          <p:nvPr/>
        </p:nvSpPr>
        <p:spPr>
          <a:xfrm>
            <a:off x="6324448" y="2514600"/>
            <a:ext cx="4952848" cy="3383280"/>
          </a:xfrm>
          <a:prstGeom prst="roundRect">
            <a:avLst/>
          </a:prstGeom>
          <a:solidFill>
            <a:srgbClr val="FFFFFF"/>
          </a:solidFill>
          <a:ln w="12700">
            <a:solidFill>
              <a:srgbClr val="E4E6E9"/>
            </a:solidFill>
            <a:prstDash val="solid"/>
          </a:ln>
        </p:spPr>
      </p:sp>
      <p:sp>
        <p:nvSpPr>
          <p:cNvPr id="18" name="Text 16"/>
          <p:cNvSpPr/>
          <p:nvPr/>
        </p:nvSpPr>
        <p:spPr>
          <a:xfrm>
            <a:off x="6644488" y="2788920"/>
            <a:ext cx="4312768" cy="320040"/>
          </a:xfrm>
          <a:prstGeom prst="rect">
            <a:avLst/>
          </a:prstGeom>
          <a:noFill/>
          <a:ln/>
        </p:spPr>
        <p:txBody>
          <a:bodyPr wrap="square" lIns="0" tIns="0" rIns="0" bIns="0" rtlCol="0" anchor="ctr"/>
          <a:lstStyle/>
          <a:p>
            <a:pPr indent="0" marL="0">
              <a:buNone/>
            </a:pPr>
            <a:r>
              <a:rPr lang="en-US" sz="1200" b="1" spc="200" kern="0" dirty="0">
                <a:solidFill>
                  <a:srgbClr val="2F7D5B"/>
                </a:solidFill>
                <a:latin typeface="Calibri" pitchFamily="34" charset="0"/>
                <a:ea typeface="Calibri" pitchFamily="34" charset="-122"/>
                <a:cs typeface="Calibri" pitchFamily="34" charset="-120"/>
              </a:rPr>
              <a:t>SOLUTION</a:t>
            </a:r>
            <a:endParaRPr lang="en-US" sz="1200" dirty="0"/>
          </a:p>
        </p:txBody>
      </p:sp>
      <p:sp>
        <p:nvSpPr>
          <p:cNvPr id="19" name="Shape 17"/>
          <p:cNvSpPr/>
          <p:nvPr/>
        </p:nvSpPr>
        <p:spPr>
          <a:xfrm>
            <a:off x="6644488" y="3172968"/>
            <a:ext cx="4312768" cy="0"/>
          </a:xfrm>
          <a:prstGeom prst="line">
            <a:avLst/>
          </a:prstGeom>
          <a:noFill/>
          <a:ln w="19050">
            <a:solidFill>
              <a:srgbClr val="2F7D5B"/>
            </a:solidFill>
            <a:prstDash val="solid"/>
          </a:ln>
        </p:spPr>
      </p:sp>
      <p:sp>
        <p:nvSpPr>
          <p:cNvPr id="20" name="Text 18"/>
          <p:cNvSpPr/>
          <p:nvPr/>
        </p:nvSpPr>
        <p:spPr>
          <a:xfrm>
            <a:off x="6644488" y="3337560"/>
            <a:ext cx="4312768" cy="2377440"/>
          </a:xfrm>
          <a:prstGeom prst="rect">
            <a:avLst/>
          </a:prstGeom>
          <a:noFill/>
          <a:ln/>
        </p:spPr>
        <p:txBody>
          <a:bodyPr wrap="square" lIns="0" tIns="0" rIns="0" bIns="0" rtlCol="0" anchor="t"/>
          <a:lstStyle/>
          <a:p>
            <a:pPr indent="0" marL="0">
              <a:lnSpc>
                <a:spcPct val="128000"/>
              </a:lnSpc>
              <a:buNone/>
            </a:pPr>
            <a:r>
              <a:rPr lang="en-US" sz="1350" dirty="0">
                <a:solidFill>
                  <a:srgbClr val="17302C"/>
                </a:solidFill>
                <a:latin typeface="Calibri" pitchFamily="34" charset="0"/>
                <a:ea typeface="Calibri" pitchFamily="34" charset="-122"/>
                <a:cs typeface="Calibri" pitchFamily="34" charset="-120"/>
              </a:rPr>
              <a:t>Routing is a single flat dispatch table pairing each path with its handler, and both the local server and the function driver read that one table, so adding or changing an endpoint is one edit that both runtimes inherit. The routes cannot drift, and a real-browser check confirmed the live deployment matched the local server exactly.</a:t>
            </a:r>
            <a:endParaRPr lang="en-US" sz="13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Slides>
  <Notes>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Slide 1</vt:lpstr>
      <vt:lpstr>Slide 2</vt:lpstr>
      <vt:lpstr>Slide 3</vt:lpstr>
      <vt:lpstr>Slide 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2026-07-24T09:15:27Z</dcterms:created>
  <dcterms:modified xsi:type="dcterms:W3CDTF">2026-07-24T09:15:27Z</dcterms:modified>
</cp:coreProperties>
</file>