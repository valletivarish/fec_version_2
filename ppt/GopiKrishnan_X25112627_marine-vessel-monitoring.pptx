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436"/>
        </a:solidFill>
      </p:bgPr>
    </p:bg>
    <p:spTree>
      <p:nvGrpSpPr>
        <p:cNvPr id="1" name=""/>
        <p:cNvGrpSpPr/>
        <p:nvPr/>
      </p:nvGrpSpPr>
      <p:grpSpPr>
        <a:xfrm>
          <a:off x="0" y="0"/>
          <a:ext cx="0" cy="0"/>
          <a:chOff x="0" y="0"/>
          <a:chExt cx="0" cy="0"/>
        </a:xfrm>
      </p:grpSpPr>
      <p:sp>
        <p:nvSpPr>
          <p:cNvPr id="2" name="Text 0"/>
          <p:cNvSpPr/>
          <p:nvPr/>
        </p:nvSpPr>
        <p:spPr>
          <a:xfrm>
            <a:off x="640080" y="914400"/>
            <a:ext cx="10972800" cy="1280160"/>
          </a:xfrm>
          <a:prstGeom prst="rect">
            <a:avLst/>
          </a:prstGeom>
          <a:noFill/>
          <a:ln/>
        </p:spPr>
        <p:txBody>
          <a:bodyPr wrap="square" rtlCol="0" anchor="t"/>
          <a:lstStyle/>
          <a:p>
            <a:pPr algn="l" indent="0" marL="0">
              <a:buNone/>
            </a:pPr>
            <a:r>
              <a:rPr lang="en-US" sz="3600" b="1" dirty="0">
                <a:solidFill>
                  <a:srgbClr val="FFFFFF"/>
                </a:solidFill>
                <a:latin typeface="Times New Roman" pitchFamily="34" charset="0"/>
                <a:ea typeface="Times New Roman" pitchFamily="34" charset="-122"/>
                <a:cs typeface="Times New Roman" pitchFamily="34" charset="-120"/>
              </a:rPr>
              <a:t>Marine Vessel Condition Monitoring</a:t>
            </a:r>
            <a:endParaRPr lang="en-US" sz="3600" dirty="0"/>
          </a:p>
        </p:txBody>
      </p:sp>
      <p:sp>
        <p:nvSpPr>
          <p:cNvPr id="3" name="Text 1"/>
          <p:cNvSpPr/>
          <p:nvPr/>
        </p:nvSpPr>
        <p:spPr>
          <a:xfrm>
            <a:off x="658368" y="2148840"/>
            <a:ext cx="10972800" cy="365760"/>
          </a:xfrm>
          <a:prstGeom prst="rect">
            <a:avLst/>
          </a:prstGeom>
          <a:noFill/>
          <a:ln/>
        </p:spPr>
        <p:txBody>
          <a:bodyPr wrap="square" rtlCol="0" anchor="ctr"/>
          <a:lstStyle/>
          <a:p>
            <a:pPr indent="0" marL="0">
              <a:buNone/>
            </a:pPr>
            <a:r>
              <a:rPr lang="en-US" sz="1600" dirty="0">
                <a:solidFill>
                  <a:srgbClr val="4F98C0"/>
                </a:solidFill>
                <a:latin typeface="Calibri" pitchFamily="34" charset="0"/>
                <a:ea typeface="Calibri" pitchFamily="34" charset="-122"/>
                <a:cs typeface="Calibri" pitchFamily="34" charset="-120"/>
              </a:rPr>
              <a:t>Gopi Krishnan   ·   X25112627</a:t>
            </a:r>
            <a:endParaRPr lang="en-US" sz="1600" dirty="0"/>
          </a:p>
        </p:txBody>
      </p:sp>
      <p:sp>
        <p:nvSpPr>
          <p:cNvPr id="4" name="Text 2"/>
          <p:cNvSpPr/>
          <p:nvPr/>
        </p:nvSpPr>
        <p:spPr>
          <a:xfrm>
            <a:off x="658368" y="2697480"/>
            <a:ext cx="10424160" cy="1371600"/>
          </a:xfrm>
          <a:prstGeom prst="rect">
            <a:avLst/>
          </a:prstGeom>
          <a:noFill/>
          <a:ln/>
        </p:spPr>
        <p:txBody>
          <a:bodyPr wrap="square" rtlCol="0" anchor="ctr"/>
          <a:lstStyle/>
          <a:p>
            <a:pPr indent="0" marL="0">
              <a:lnSpc>
                <a:spcPct val="110000"/>
              </a:lnSpc>
              <a:buNone/>
            </a:pPr>
            <a:r>
              <a:rPr lang="en-US" sz="2000" dirty="0">
                <a:solidFill>
                  <a:srgbClr val="CEE2EE"/>
                </a:solidFill>
                <a:latin typeface="Calibri" pitchFamily="34" charset="0"/>
                <a:ea typeface="Calibri" pitchFamily="34" charset="-122"/>
                <a:cs typeface="Calibri" pitchFamily="34" charset="-120"/>
              </a:rPr>
              <a:t>Between fixed rounds the bridge is blind — a fuel-burn spike, a ballast imbalance or rising hull vibration surfaces only at the next check, and the raw data cannot fit the ship-to-shore link.</a:t>
            </a:r>
            <a:endParaRPr lang="en-US" sz="2000" dirty="0"/>
          </a:p>
        </p:txBody>
      </p:sp>
      <p:sp>
        <p:nvSpPr>
          <p:cNvPr id="5" name="Shape 3"/>
          <p:cNvSpPr/>
          <p:nvPr/>
        </p:nvSpPr>
        <p:spPr>
          <a:xfrm>
            <a:off x="658368" y="4206240"/>
            <a:ext cx="2651760" cy="566928"/>
          </a:xfrm>
          <a:prstGeom prst="roundRect">
            <a:avLst>
              <a:gd name="adj" fmla="val 50000"/>
            </a:avLst>
          </a:prstGeom>
          <a:solidFill>
            <a:srgbClr val="143A54"/>
          </a:solidFill>
          <a:ln w="12700">
            <a:solidFill>
              <a:srgbClr val="E5A83C"/>
            </a:solidFill>
            <a:prstDash val="solid"/>
          </a:ln>
        </p:spPr>
      </p:sp>
      <p:sp>
        <p:nvSpPr>
          <p:cNvPr id="6" name="Text 4"/>
          <p:cNvSpPr/>
          <p:nvPr/>
        </p:nvSpPr>
        <p:spPr>
          <a:xfrm>
            <a:off x="658368" y="4206240"/>
            <a:ext cx="2651760" cy="566928"/>
          </a:xfrm>
          <a:prstGeom prst="rect">
            <a:avLst/>
          </a:prstGeom>
          <a:noFill/>
          <a:ln/>
        </p:spPr>
        <p:txBody>
          <a:bodyPr wrap="square" lIns="0" tIns="0" rIns="0" bIns="0" rtlCol="0" anchor="ctr"/>
          <a:lstStyle/>
          <a:p>
            <a:pPr algn="ctr" indent="0" marL="0">
              <a:buNone/>
            </a:pPr>
            <a:r>
              <a:rPr lang="en-US" sz="1400" b="1" dirty="0">
                <a:solidFill>
                  <a:srgbClr val="E5A83C"/>
                </a:solidFill>
                <a:latin typeface="Calibri" pitchFamily="34" charset="0"/>
                <a:ea typeface="Calibri" pitchFamily="34" charset="-122"/>
                <a:cs typeface="Calibri" pitchFamily="34" charset="-120"/>
              </a:rPr>
              <a:t>Engine &gt; 75 °C</a:t>
            </a:r>
            <a:endParaRPr lang="en-US" sz="1400" dirty="0"/>
          </a:p>
        </p:txBody>
      </p:sp>
      <p:sp>
        <p:nvSpPr>
          <p:cNvPr id="7" name="Shape 5"/>
          <p:cNvSpPr/>
          <p:nvPr/>
        </p:nvSpPr>
        <p:spPr>
          <a:xfrm>
            <a:off x="3538728" y="4206240"/>
            <a:ext cx="2651760" cy="566928"/>
          </a:xfrm>
          <a:prstGeom prst="roundRect">
            <a:avLst>
              <a:gd name="adj" fmla="val 50000"/>
            </a:avLst>
          </a:prstGeom>
          <a:solidFill>
            <a:srgbClr val="143A54"/>
          </a:solidFill>
          <a:ln w="12700">
            <a:solidFill>
              <a:srgbClr val="E5A83C"/>
            </a:solidFill>
            <a:prstDash val="solid"/>
          </a:ln>
        </p:spPr>
      </p:sp>
      <p:sp>
        <p:nvSpPr>
          <p:cNvPr id="8" name="Text 6"/>
          <p:cNvSpPr/>
          <p:nvPr/>
        </p:nvSpPr>
        <p:spPr>
          <a:xfrm>
            <a:off x="3538728" y="4206240"/>
            <a:ext cx="2651760" cy="566928"/>
          </a:xfrm>
          <a:prstGeom prst="rect">
            <a:avLst/>
          </a:prstGeom>
          <a:noFill/>
          <a:ln/>
        </p:spPr>
        <p:txBody>
          <a:bodyPr wrap="square" lIns="0" tIns="0" rIns="0" bIns="0" rtlCol="0" anchor="ctr"/>
          <a:lstStyle/>
          <a:p>
            <a:pPr algn="ctr" indent="0" marL="0">
              <a:buNone/>
            </a:pPr>
            <a:r>
              <a:rPr lang="en-US" sz="1400" b="1" dirty="0">
                <a:solidFill>
                  <a:srgbClr val="E5A83C"/>
                </a:solidFill>
                <a:latin typeface="Calibri" pitchFamily="34" charset="0"/>
                <a:ea typeface="Calibri" pitchFamily="34" charset="-122"/>
                <a:cs typeface="Calibri" pitchFamily="34" charset="-120"/>
              </a:rPr>
              <a:t>Fuel burn &gt; 350 L/h</a:t>
            </a:r>
            <a:endParaRPr lang="en-US" sz="1400" dirty="0"/>
          </a:p>
        </p:txBody>
      </p:sp>
      <p:sp>
        <p:nvSpPr>
          <p:cNvPr id="9" name="Shape 7"/>
          <p:cNvSpPr/>
          <p:nvPr/>
        </p:nvSpPr>
        <p:spPr>
          <a:xfrm>
            <a:off x="6419088" y="4206240"/>
            <a:ext cx="2651760" cy="566928"/>
          </a:xfrm>
          <a:prstGeom prst="roundRect">
            <a:avLst>
              <a:gd name="adj" fmla="val 50000"/>
            </a:avLst>
          </a:prstGeom>
          <a:solidFill>
            <a:srgbClr val="143A54"/>
          </a:solidFill>
          <a:ln w="12700">
            <a:solidFill>
              <a:srgbClr val="E5A83C"/>
            </a:solidFill>
            <a:prstDash val="solid"/>
          </a:ln>
        </p:spPr>
      </p:sp>
      <p:sp>
        <p:nvSpPr>
          <p:cNvPr id="10" name="Text 8"/>
          <p:cNvSpPr/>
          <p:nvPr/>
        </p:nvSpPr>
        <p:spPr>
          <a:xfrm>
            <a:off x="6419088" y="4206240"/>
            <a:ext cx="2651760" cy="566928"/>
          </a:xfrm>
          <a:prstGeom prst="rect">
            <a:avLst/>
          </a:prstGeom>
          <a:noFill/>
          <a:ln/>
        </p:spPr>
        <p:txBody>
          <a:bodyPr wrap="square" lIns="0" tIns="0" rIns="0" bIns="0" rtlCol="0" anchor="ctr"/>
          <a:lstStyle/>
          <a:p>
            <a:pPr algn="ctr" indent="0" marL="0">
              <a:buNone/>
            </a:pPr>
            <a:r>
              <a:rPr lang="en-US" sz="1400" b="1" dirty="0">
                <a:solidFill>
                  <a:srgbClr val="E5A83C"/>
                </a:solidFill>
                <a:latin typeface="Calibri" pitchFamily="34" charset="0"/>
                <a:ea typeface="Calibri" pitchFamily="34" charset="-122"/>
                <a:cs typeface="Calibri" pitchFamily="34" charset="-120"/>
              </a:rPr>
              <a:t>Hull peak &gt; 15 mm/s</a:t>
            </a:r>
            <a:endParaRPr lang="en-US" sz="1400" dirty="0"/>
          </a:p>
        </p:txBody>
      </p:sp>
      <p:sp>
        <p:nvSpPr>
          <p:cNvPr id="11" name="Text 9"/>
          <p:cNvSpPr/>
          <p:nvPr/>
        </p:nvSpPr>
        <p:spPr>
          <a:xfrm>
            <a:off x="658368" y="6126480"/>
            <a:ext cx="10972800" cy="365760"/>
          </a:xfrm>
          <a:prstGeom prst="rect">
            <a:avLst/>
          </a:prstGeom>
          <a:noFill/>
          <a:ln/>
        </p:spPr>
        <p:txBody>
          <a:bodyPr wrap="square" rtlCol="0" anchor="ctr"/>
          <a:lstStyle/>
          <a:p>
            <a:pPr indent="0" marL="0">
              <a:buNone/>
            </a:pPr>
            <a:r>
              <a:rPr lang="en-US" sz="1300" dirty="0">
                <a:solidFill>
                  <a:srgbClr val="557280"/>
                </a:solidFill>
                <a:latin typeface="Calibri" pitchFamily="34" charset="0"/>
                <a:ea typeface="Calibri" pitchFamily="34" charset="-122"/>
                <a:cs typeface="Calibri" pitchFamily="34" charset="-120"/>
              </a:rPr>
              <a:t>Fog &amp; Edge Computing (H9FECC)   ·   deployed live on AWS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02636"/>
                </a:solidFill>
                <a:latin typeface="Times New Roman" pitchFamily="34" charset="0"/>
                <a:ea typeface="Times New Roman" pitchFamily="34" charset="-122"/>
                <a:cs typeface="Times New Roman" pitchFamily="34" charset="-120"/>
              </a:rPr>
              <a:t>What I Built — Sensor to Bridge Screen</a:t>
            </a:r>
            <a:endParaRPr lang="en-US" sz="3000" dirty="0"/>
          </a:p>
        </p:txBody>
      </p:sp>
      <p:sp>
        <p:nvSpPr>
          <p:cNvPr id="3" name="Shape 1"/>
          <p:cNvSpPr/>
          <p:nvPr/>
        </p:nvSpPr>
        <p:spPr>
          <a:xfrm>
            <a:off x="640080" y="2468880"/>
            <a:ext cx="1572768" cy="1371600"/>
          </a:xfrm>
          <a:prstGeom prst="roundRect">
            <a:avLst>
              <a:gd name="adj" fmla="val 6667"/>
            </a:avLst>
          </a:prstGeom>
          <a:solidFill>
            <a:srgbClr val="EDF4F9"/>
          </a:solidFill>
          <a:ln w="19050">
            <a:solidFill>
              <a:srgbClr val="4F98C0"/>
            </a:solidFill>
            <a:prstDash val="solid"/>
          </a:ln>
        </p:spPr>
      </p:sp>
      <p:sp>
        <p:nvSpPr>
          <p:cNvPr id="4" name="Shape 2"/>
          <p:cNvSpPr/>
          <p:nvPr/>
        </p:nvSpPr>
        <p:spPr>
          <a:xfrm>
            <a:off x="1325880" y="2670048"/>
            <a:ext cx="201168" cy="201168"/>
          </a:xfrm>
          <a:prstGeom prst="ellipse">
            <a:avLst/>
          </a:prstGeom>
          <a:solidFill>
            <a:srgbClr val="4F98C0"/>
          </a:solidFill>
          <a:ln/>
        </p:spPr>
      </p:sp>
      <p:sp>
        <p:nvSpPr>
          <p:cNvPr id="5" name="Text 3"/>
          <p:cNvSpPr/>
          <p:nvPr/>
        </p:nvSpPr>
        <p:spPr>
          <a:xfrm>
            <a:off x="594360" y="2926080"/>
            <a:ext cx="1664208" cy="411480"/>
          </a:xfrm>
          <a:prstGeom prst="rect">
            <a:avLst/>
          </a:prstGeom>
          <a:noFill/>
          <a:ln/>
        </p:spPr>
        <p:txBody>
          <a:bodyPr wrap="square" lIns="0" tIns="0" rIns="0" bIns="0" rtlCol="0" anchor="ctr"/>
          <a:lstStyle/>
          <a:p>
            <a:pPr algn="ctr" indent="0" marL="0">
              <a:buNone/>
            </a:pPr>
            <a:r>
              <a:rPr lang="en-US" sz="1450" b="1" dirty="0">
                <a:solidFill>
                  <a:srgbClr val="102636"/>
                </a:solidFill>
                <a:latin typeface="Calibri" pitchFamily="34" charset="0"/>
                <a:ea typeface="Calibri" pitchFamily="34" charset="-122"/>
                <a:cs typeface="Calibri" pitchFamily="34" charset="-120"/>
              </a:rPr>
              <a:t>Vessel sensors</a:t>
            </a:r>
            <a:endParaRPr lang="en-US" sz="1450" dirty="0"/>
          </a:p>
        </p:txBody>
      </p:sp>
      <p:sp>
        <p:nvSpPr>
          <p:cNvPr id="6" name="Text 4"/>
          <p:cNvSpPr/>
          <p:nvPr/>
        </p:nvSpPr>
        <p:spPr>
          <a:xfrm>
            <a:off x="621792" y="3310128"/>
            <a:ext cx="1609344" cy="457200"/>
          </a:xfrm>
          <a:prstGeom prst="rect">
            <a:avLst/>
          </a:prstGeom>
          <a:noFill/>
          <a:ln/>
        </p:spPr>
        <p:txBody>
          <a:bodyPr wrap="square" lIns="0" tIns="0" rIns="0" bIns="0" rtlCol="0" anchor="t"/>
          <a:lstStyle/>
          <a:p>
            <a:pPr algn="ctr" indent="0" marL="0">
              <a:buNone/>
            </a:pPr>
            <a:r>
              <a:rPr lang="en-US" sz="1050" dirty="0">
                <a:solidFill>
                  <a:srgbClr val="557280"/>
                </a:solidFill>
                <a:latin typeface="Calibri" pitchFamily="34" charset="0"/>
                <a:ea typeface="Calibri" pitchFamily="34" charset="-122"/>
                <a:cs typeface="Calibri" pitchFamily="34" charset="-120"/>
              </a:rPr>
              <a:t>10 · 2 vessels</a:t>
            </a:r>
            <a:endParaRPr lang="en-US" sz="1050" dirty="0"/>
          </a:p>
        </p:txBody>
      </p:sp>
      <p:sp>
        <p:nvSpPr>
          <p:cNvPr id="7" name="Shape 5"/>
          <p:cNvSpPr/>
          <p:nvPr/>
        </p:nvSpPr>
        <p:spPr>
          <a:xfrm>
            <a:off x="2231136" y="3154680"/>
            <a:ext cx="258409" cy="0"/>
          </a:xfrm>
          <a:prstGeom prst="line">
            <a:avLst/>
          </a:prstGeom>
          <a:noFill/>
          <a:ln w="25400">
            <a:solidFill>
              <a:srgbClr val="4F98C0"/>
            </a:solidFill>
            <a:prstDash val="solid"/>
            <a:tailEnd type="triangle"/>
          </a:ln>
        </p:spPr>
      </p:sp>
      <p:sp>
        <p:nvSpPr>
          <p:cNvPr id="8" name="Shape 6"/>
          <p:cNvSpPr/>
          <p:nvPr/>
        </p:nvSpPr>
        <p:spPr>
          <a:xfrm>
            <a:off x="2507833" y="2468880"/>
            <a:ext cx="1572768" cy="1371600"/>
          </a:xfrm>
          <a:prstGeom prst="roundRect">
            <a:avLst>
              <a:gd name="adj" fmla="val 6667"/>
            </a:avLst>
          </a:prstGeom>
          <a:solidFill>
            <a:srgbClr val="EDF4F9"/>
          </a:solidFill>
          <a:ln w="19050">
            <a:solidFill>
              <a:srgbClr val="4F98C0"/>
            </a:solidFill>
            <a:prstDash val="solid"/>
          </a:ln>
        </p:spPr>
      </p:sp>
      <p:sp>
        <p:nvSpPr>
          <p:cNvPr id="9" name="Shape 7"/>
          <p:cNvSpPr/>
          <p:nvPr/>
        </p:nvSpPr>
        <p:spPr>
          <a:xfrm>
            <a:off x="3193633" y="2670048"/>
            <a:ext cx="201168" cy="201168"/>
          </a:xfrm>
          <a:prstGeom prst="ellipse">
            <a:avLst/>
          </a:prstGeom>
          <a:solidFill>
            <a:srgbClr val="4F98C0"/>
          </a:solidFill>
          <a:ln/>
        </p:spPr>
      </p:sp>
      <p:sp>
        <p:nvSpPr>
          <p:cNvPr id="10" name="Text 8"/>
          <p:cNvSpPr/>
          <p:nvPr/>
        </p:nvSpPr>
        <p:spPr>
          <a:xfrm>
            <a:off x="2462113" y="2926080"/>
            <a:ext cx="1664208" cy="411480"/>
          </a:xfrm>
          <a:prstGeom prst="rect">
            <a:avLst/>
          </a:prstGeom>
          <a:noFill/>
          <a:ln/>
        </p:spPr>
        <p:txBody>
          <a:bodyPr wrap="square" lIns="0" tIns="0" rIns="0" bIns="0" rtlCol="0" anchor="ctr"/>
          <a:lstStyle/>
          <a:p>
            <a:pPr algn="ctr" indent="0" marL="0">
              <a:buNone/>
            </a:pPr>
            <a:r>
              <a:rPr lang="en-US" sz="1450" b="1" dirty="0">
                <a:solidFill>
                  <a:srgbClr val="102636"/>
                </a:solidFill>
                <a:latin typeface="Calibri" pitchFamily="34" charset="0"/>
                <a:ea typeface="Calibri" pitchFamily="34" charset="-122"/>
                <a:cs typeface="Calibri" pitchFamily="34" charset="-120"/>
              </a:rPr>
              <a:t>Fog node</a:t>
            </a:r>
            <a:endParaRPr lang="en-US" sz="1450" dirty="0"/>
          </a:p>
        </p:txBody>
      </p:sp>
      <p:sp>
        <p:nvSpPr>
          <p:cNvPr id="11" name="Text 9"/>
          <p:cNvSpPr/>
          <p:nvPr/>
        </p:nvSpPr>
        <p:spPr>
          <a:xfrm>
            <a:off x="2489545" y="3310128"/>
            <a:ext cx="1609344" cy="457200"/>
          </a:xfrm>
          <a:prstGeom prst="rect">
            <a:avLst/>
          </a:prstGeom>
          <a:noFill/>
          <a:ln/>
        </p:spPr>
        <p:txBody>
          <a:bodyPr wrap="square" lIns="0" tIns="0" rIns="0" bIns="0" rtlCol="0" anchor="t"/>
          <a:lstStyle/>
          <a:p>
            <a:pPr algn="ctr" indent="0" marL="0">
              <a:buNone/>
            </a:pPr>
            <a:r>
              <a:rPr lang="en-US" sz="1050" dirty="0">
                <a:solidFill>
                  <a:srgbClr val="557280"/>
                </a:solidFill>
                <a:latin typeface="Calibri" pitchFamily="34" charset="0"/>
                <a:ea typeface="Calibri" pitchFamily="34" charset="-122"/>
                <a:cs typeface="Calibri" pitchFamily="34" charset="-120"/>
              </a:rPr>
              <a:t>window · aggregate · alert</a:t>
            </a:r>
            <a:endParaRPr lang="en-US" sz="1050" dirty="0"/>
          </a:p>
        </p:txBody>
      </p:sp>
      <p:sp>
        <p:nvSpPr>
          <p:cNvPr id="12" name="Shape 10"/>
          <p:cNvSpPr/>
          <p:nvPr/>
        </p:nvSpPr>
        <p:spPr>
          <a:xfrm>
            <a:off x="4098889" y="3154680"/>
            <a:ext cx="258409" cy="0"/>
          </a:xfrm>
          <a:prstGeom prst="line">
            <a:avLst/>
          </a:prstGeom>
          <a:noFill/>
          <a:ln w="25400">
            <a:solidFill>
              <a:srgbClr val="4F98C0"/>
            </a:solidFill>
            <a:prstDash val="solid"/>
            <a:tailEnd type="triangle"/>
          </a:ln>
        </p:spPr>
      </p:sp>
      <p:sp>
        <p:nvSpPr>
          <p:cNvPr id="13" name="Shape 11"/>
          <p:cNvSpPr/>
          <p:nvPr/>
        </p:nvSpPr>
        <p:spPr>
          <a:xfrm>
            <a:off x="4375587" y="2468880"/>
            <a:ext cx="1572768" cy="1371600"/>
          </a:xfrm>
          <a:prstGeom prst="roundRect">
            <a:avLst>
              <a:gd name="adj" fmla="val 6667"/>
            </a:avLst>
          </a:prstGeom>
          <a:solidFill>
            <a:srgbClr val="EDF4F9"/>
          </a:solidFill>
          <a:ln w="19050">
            <a:solidFill>
              <a:srgbClr val="0F4E7E"/>
            </a:solidFill>
            <a:prstDash val="solid"/>
          </a:ln>
        </p:spPr>
      </p:sp>
      <p:sp>
        <p:nvSpPr>
          <p:cNvPr id="14" name="Shape 12"/>
          <p:cNvSpPr/>
          <p:nvPr/>
        </p:nvSpPr>
        <p:spPr>
          <a:xfrm>
            <a:off x="5061387" y="2670048"/>
            <a:ext cx="201168" cy="201168"/>
          </a:xfrm>
          <a:prstGeom prst="ellipse">
            <a:avLst/>
          </a:prstGeom>
          <a:solidFill>
            <a:srgbClr val="0F4E7E"/>
          </a:solidFill>
          <a:ln/>
        </p:spPr>
      </p:sp>
      <p:sp>
        <p:nvSpPr>
          <p:cNvPr id="15" name="Text 13"/>
          <p:cNvSpPr/>
          <p:nvPr/>
        </p:nvSpPr>
        <p:spPr>
          <a:xfrm>
            <a:off x="4329867" y="2926080"/>
            <a:ext cx="1664208" cy="411480"/>
          </a:xfrm>
          <a:prstGeom prst="rect">
            <a:avLst/>
          </a:prstGeom>
          <a:noFill/>
          <a:ln/>
        </p:spPr>
        <p:txBody>
          <a:bodyPr wrap="square" lIns="0" tIns="0" rIns="0" bIns="0" rtlCol="0" anchor="ctr"/>
          <a:lstStyle/>
          <a:p>
            <a:pPr algn="ctr" indent="0" marL="0">
              <a:buNone/>
            </a:pPr>
            <a:r>
              <a:rPr lang="en-US" sz="1450" b="1" dirty="0">
                <a:solidFill>
                  <a:srgbClr val="102636"/>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4357299" y="3310128"/>
            <a:ext cx="1609344" cy="457200"/>
          </a:xfrm>
          <a:prstGeom prst="rect">
            <a:avLst/>
          </a:prstGeom>
          <a:noFill/>
          <a:ln/>
        </p:spPr>
        <p:txBody>
          <a:bodyPr wrap="square" lIns="0" tIns="0" rIns="0" bIns="0" rtlCol="0" anchor="t"/>
          <a:lstStyle/>
          <a:p>
            <a:pPr algn="ctr" indent="0" marL="0">
              <a:buNone/>
            </a:pPr>
            <a:r>
              <a:rPr lang="en-US" sz="1050" dirty="0">
                <a:solidFill>
                  <a:srgbClr val="557280"/>
                </a:solidFill>
                <a:latin typeface="Calibri" pitchFamily="34" charset="0"/>
                <a:ea typeface="Calibri" pitchFamily="34" charset="-122"/>
                <a:cs typeface="Calibri" pitchFamily="34" charset="-120"/>
              </a:rPr>
              <a:t>batches ≤10 ashore</a:t>
            </a:r>
            <a:endParaRPr lang="en-US" sz="1050" dirty="0"/>
          </a:p>
        </p:txBody>
      </p:sp>
      <p:sp>
        <p:nvSpPr>
          <p:cNvPr id="17" name="Shape 15"/>
          <p:cNvSpPr/>
          <p:nvPr/>
        </p:nvSpPr>
        <p:spPr>
          <a:xfrm>
            <a:off x="5966643" y="3154680"/>
            <a:ext cx="258409" cy="0"/>
          </a:xfrm>
          <a:prstGeom prst="line">
            <a:avLst/>
          </a:prstGeom>
          <a:noFill/>
          <a:ln w="25400">
            <a:solidFill>
              <a:srgbClr val="4F98C0"/>
            </a:solidFill>
            <a:prstDash val="solid"/>
            <a:tailEnd type="triangle"/>
          </a:ln>
        </p:spPr>
      </p:sp>
      <p:sp>
        <p:nvSpPr>
          <p:cNvPr id="18" name="Shape 16"/>
          <p:cNvSpPr/>
          <p:nvPr/>
        </p:nvSpPr>
        <p:spPr>
          <a:xfrm>
            <a:off x="6243340" y="2468880"/>
            <a:ext cx="1572768" cy="1371600"/>
          </a:xfrm>
          <a:prstGeom prst="roundRect">
            <a:avLst>
              <a:gd name="adj" fmla="val 6667"/>
            </a:avLst>
          </a:prstGeom>
          <a:solidFill>
            <a:srgbClr val="EDF4F9"/>
          </a:solidFill>
          <a:ln w="19050">
            <a:solidFill>
              <a:srgbClr val="0F4E7E"/>
            </a:solidFill>
            <a:prstDash val="solid"/>
          </a:ln>
        </p:spPr>
      </p:sp>
      <p:sp>
        <p:nvSpPr>
          <p:cNvPr id="19" name="Shape 17"/>
          <p:cNvSpPr/>
          <p:nvPr/>
        </p:nvSpPr>
        <p:spPr>
          <a:xfrm>
            <a:off x="6929140" y="2670048"/>
            <a:ext cx="201168" cy="201168"/>
          </a:xfrm>
          <a:prstGeom prst="ellipse">
            <a:avLst/>
          </a:prstGeom>
          <a:solidFill>
            <a:srgbClr val="0F4E7E"/>
          </a:solidFill>
          <a:ln/>
        </p:spPr>
      </p:sp>
      <p:sp>
        <p:nvSpPr>
          <p:cNvPr id="20" name="Text 18"/>
          <p:cNvSpPr/>
          <p:nvPr/>
        </p:nvSpPr>
        <p:spPr>
          <a:xfrm>
            <a:off x="6197620" y="2926080"/>
            <a:ext cx="1664208" cy="411480"/>
          </a:xfrm>
          <a:prstGeom prst="rect">
            <a:avLst/>
          </a:prstGeom>
          <a:noFill/>
          <a:ln/>
        </p:spPr>
        <p:txBody>
          <a:bodyPr wrap="square" lIns="0" tIns="0" rIns="0" bIns="0" rtlCol="0" anchor="ctr"/>
          <a:lstStyle/>
          <a:p>
            <a:pPr algn="ctr" indent="0" marL="0">
              <a:buNone/>
            </a:pPr>
            <a:r>
              <a:rPr lang="en-US" sz="1450" b="1" dirty="0">
                <a:solidFill>
                  <a:srgbClr val="102636"/>
                </a:solidFill>
                <a:latin typeface="Calibri" pitchFamily="34" charset="0"/>
                <a:ea typeface="Calibri" pitchFamily="34" charset="-122"/>
                <a:cs typeface="Calibri" pitchFamily="34" charset="-120"/>
              </a:rPr>
              <a:t>AWS Lambda</a:t>
            </a:r>
            <a:endParaRPr lang="en-US" sz="1450" dirty="0"/>
          </a:p>
        </p:txBody>
      </p:sp>
      <p:sp>
        <p:nvSpPr>
          <p:cNvPr id="21" name="Text 19"/>
          <p:cNvSpPr/>
          <p:nvPr/>
        </p:nvSpPr>
        <p:spPr>
          <a:xfrm>
            <a:off x="6225052" y="3310128"/>
            <a:ext cx="1609344" cy="457200"/>
          </a:xfrm>
          <a:prstGeom prst="rect">
            <a:avLst/>
          </a:prstGeom>
          <a:noFill/>
          <a:ln/>
        </p:spPr>
        <p:txBody>
          <a:bodyPr wrap="square" lIns="0" tIns="0" rIns="0" bIns="0" rtlCol="0" anchor="t"/>
          <a:lstStyle/>
          <a:p>
            <a:pPr algn="ctr" indent="0" marL="0">
              <a:buNone/>
            </a:pPr>
            <a:r>
              <a:rPr lang="en-US" sz="1050" dirty="0">
                <a:solidFill>
                  <a:srgbClr val="557280"/>
                </a:solidFill>
                <a:latin typeface="Calibri" pitchFamily="34" charset="0"/>
                <a:ea typeface="Calibri" pitchFamily="34" charset="-122"/>
                <a:cs typeface="Calibri" pitchFamily="34" charset="-120"/>
              </a:rPr>
              <a:t>nodejs20 ingest</a:t>
            </a:r>
            <a:endParaRPr lang="en-US" sz="1050" dirty="0"/>
          </a:p>
        </p:txBody>
      </p:sp>
      <p:sp>
        <p:nvSpPr>
          <p:cNvPr id="22" name="Shape 20"/>
          <p:cNvSpPr/>
          <p:nvPr/>
        </p:nvSpPr>
        <p:spPr>
          <a:xfrm>
            <a:off x="7834396" y="3154680"/>
            <a:ext cx="258409" cy="0"/>
          </a:xfrm>
          <a:prstGeom prst="line">
            <a:avLst/>
          </a:prstGeom>
          <a:noFill/>
          <a:ln w="25400">
            <a:solidFill>
              <a:srgbClr val="4F98C0"/>
            </a:solidFill>
            <a:prstDash val="solid"/>
            <a:tailEnd type="triangle"/>
          </a:ln>
        </p:spPr>
      </p:sp>
      <p:sp>
        <p:nvSpPr>
          <p:cNvPr id="23" name="Shape 21"/>
          <p:cNvSpPr/>
          <p:nvPr/>
        </p:nvSpPr>
        <p:spPr>
          <a:xfrm>
            <a:off x="8111094" y="2468880"/>
            <a:ext cx="1572768" cy="1371600"/>
          </a:xfrm>
          <a:prstGeom prst="roundRect">
            <a:avLst>
              <a:gd name="adj" fmla="val 6667"/>
            </a:avLst>
          </a:prstGeom>
          <a:solidFill>
            <a:srgbClr val="EDF4F9"/>
          </a:solidFill>
          <a:ln w="19050">
            <a:solidFill>
              <a:srgbClr val="0F4E7E"/>
            </a:solidFill>
            <a:prstDash val="solid"/>
          </a:ln>
        </p:spPr>
      </p:sp>
      <p:sp>
        <p:nvSpPr>
          <p:cNvPr id="24" name="Shape 22"/>
          <p:cNvSpPr/>
          <p:nvPr/>
        </p:nvSpPr>
        <p:spPr>
          <a:xfrm>
            <a:off x="8796894" y="2670048"/>
            <a:ext cx="201168" cy="201168"/>
          </a:xfrm>
          <a:prstGeom prst="ellipse">
            <a:avLst/>
          </a:prstGeom>
          <a:solidFill>
            <a:srgbClr val="0F4E7E"/>
          </a:solidFill>
          <a:ln/>
        </p:spPr>
      </p:sp>
      <p:sp>
        <p:nvSpPr>
          <p:cNvPr id="25" name="Text 23"/>
          <p:cNvSpPr/>
          <p:nvPr/>
        </p:nvSpPr>
        <p:spPr>
          <a:xfrm>
            <a:off x="8065374" y="2926080"/>
            <a:ext cx="1664208" cy="411480"/>
          </a:xfrm>
          <a:prstGeom prst="rect">
            <a:avLst/>
          </a:prstGeom>
          <a:noFill/>
          <a:ln/>
        </p:spPr>
        <p:txBody>
          <a:bodyPr wrap="square" lIns="0" tIns="0" rIns="0" bIns="0" rtlCol="0" anchor="ctr"/>
          <a:lstStyle/>
          <a:p>
            <a:pPr algn="ctr" indent="0" marL="0">
              <a:buNone/>
            </a:pPr>
            <a:r>
              <a:rPr lang="en-US" sz="1450" b="1" dirty="0">
                <a:solidFill>
                  <a:srgbClr val="102636"/>
                </a:solidFill>
                <a:latin typeface="Calibri" pitchFamily="34" charset="0"/>
                <a:ea typeface="Calibri" pitchFamily="34" charset="-122"/>
                <a:cs typeface="Calibri" pitchFamily="34" charset="-120"/>
              </a:rPr>
              <a:t>DynamoDB</a:t>
            </a:r>
            <a:endParaRPr lang="en-US" sz="1450" dirty="0"/>
          </a:p>
        </p:txBody>
      </p:sp>
      <p:sp>
        <p:nvSpPr>
          <p:cNvPr id="26" name="Text 24"/>
          <p:cNvSpPr/>
          <p:nvPr/>
        </p:nvSpPr>
        <p:spPr>
          <a:xfrm>
            <a:off x="8092806" y="3310128"/>
            <a:ext cx="1609344" cy="457200"/>
          </a:xfrm>
          <a:prstGeom prst="rect">
            <a:avLst/>
          </a:prstGeom>
          <a:noFill/>
          <a:ln/>
        </p:spPr>
        <p:txBody>
          <a:bodyPr wrap="square" lIns="0" tIns="0" rIns="0" bIns="0" rtlCol="0" anchor="t"/>
          <a:lstStyle/>
          <a:p>
            <a:pPr algn="ctr" indent="0" marL="0">
              <a:buNone/>
            </a:pPr>
            <a:r>
              <a:rPr lang="en-US" sz="1050" dirty="0">
                <a:solidFill>
                  <a:srgbClr val="557280"/>
                </a:solidFill>
                <a:latin typeface="Calibri" pitchFamily="34" charset="0"/>
                <a:ea typeface="Calibri" pitchFamily="34" charset="-122"/>
                <a:cs typeface="Calibri" pitchFamily="34" charset="-120"/>
              </a:rPr>
              <a:t>aggregate store</a:t>
            </a:r>
            <a:endParaRPr lang="en-US" sz="1050" dirty="0"/>
          </a:p>
        </p:txBody>
      </p:sp>
      <p:sp>
        <p:nvSpPr>
          <p:cNvPr id="27" name="Shape 25"/>
          <p:cNvSpPr/>
          <p:nvPr/>
        </p:nvSpPr>
        <p:spPr>
          <a:xfrm>
            <a:off x="9702150" y="3154680"/>
            <a:ext cx="258409" cy="0"/>
          </a:xfrm>
          <a:prstGeom prst="line">
            <a:avLst/>
          </a:prstGeom>
          <a:noFill/>
          <a:ln w="25400">
            <a:solidFill>
              <a:srgbClr val="4F98C0"/>
            </a:solidFill>
            <a:prstDash val="solid"/>
            <a:tailEnd type="triangle"/>
          </a:ln>
        </p:spPr>
      </p:sp>
      <p:sp>
        <p:nvSpPr>
          <p:cNvPr id="28" name="Shape 26"/>
          <p:cNvSpPr/>
          <p:nvPr/>
        </p:nvSpPr>
        <p:spPr>
          <a:xfrm>
            <a:off x="9978847" y="2468880"/>
            <a:ext cx="1572768" cy="1371600"/>
          </a:xfrm>
          <a:prstGeom prst="roundRect">
            <a:avLst>
              <a:gd name="adj" fmla="val 6667"/>
            </a:avLst>
          </a:prstGeom>
          <a:solidFill>
            <a:srgbClr val="EDF4F9"/>
          </a:solidFill>
          <a:ln w="19050">
            <a:solidFill>
              <a:srgbClr val="1E76A6"/>
            </a:solidFill>
            <a:prstDash val="solid"/>
          </a:ln>
        </p:spPr>
      </p:sp>
      <p:sp>
        <p:nvSpPr>
          <p:cNvPr id="29" name="Shape 27"/>
          <p:cNvSpPr/>
          <p:nvPr/>
        </p:nvSpPr>
        <p:spPr>
          <a:xfrm>
            <a:off x="10664647" y="2670048"/>
            <a:ext cx="201168" cy="201168"/>
          </a:xfrm>
          <a:prstGeom prst="ellipse">
            <a:avLst/>
          </a:prstGeom>
          <a:solidFill>
            <a:srgbClr val="1E76A6"/>
          </a:solidFill>
          <a:ln/>
        </p:spPr>
      </p:sp>
      <p:sp>
        <p:nvSpPr>
          <p:cNvPr id="30" name="Text 28"/>
          <p:cNvSpPr/>
          <p:nvPr/>
        </p:nvSpPr>
        <p:spPr>
          <a:xfrm>
            <a:off x="9933127" y="2926080"/>
            <a:ext cx="1664208" cy="411480"/>
          </a:xfrm>
          <a:prstGeom prst="rect">
            <a:avLst/>
          </a:prstGeom>
          <a:noFill/>
          <a:ln/>
        </p:spPr>
        <p:txBody>
          <a:bodyPr wrap="square" lIns="0" tIns="0" rIns="0" bIns="0" rtlCol="0" anchor="ctr"/>
          <a:lstStyle/>
          <a:p>
            <a:pPr algn="ctr" indent="0" marL="0">
              <a:buNone/>
            </a:pPr>
            <a:r>
              <a:rPr lang="en-US" sz="1450" b="1" dirty="0">
                <a:solidFill>
                  <a:srgbClr val="102636"/>
                </a:solidFill>
                <a:latin typeface="Calibri" pitchFamily="34" charset="0"/>
                <a:ea typeface="Calibri" pitchFamily="34" charset="-122"/>
                <a:cs typeface="Calibri" pitchFamily="34" charset="-120"/>
              </a:rPr>
              <a:t>API GW + S3</a:t>
            </a:r>
            <a:endParaRPr lang="en-US" sz="1450" dirty="0"/>
          </a:p>
        </p:txBody>
      </p:sp>
      <p:sp>
        <p:nvSpPr>
          <p:cNvPr id="31" name="Text 29"/>
          <p:cNvSpPr/>
          <p:nvPr/>
        </p:nvSpPr>
        <p:spPr>
          <a:xfrm>
            <a:off x="9960559" y="3310128"/>
            <a:ext cx="1609344" cy="457200"/>
          </a:xfrm>
          <a:prstGeom prst="rect">
            <a:avLst/>
          </a:prstGeom>
          <a:noFill/>
          <a:ln/>
        </p:spPr>
        <p:txBody>
          <a:bodyPr wrap="square" lIns="0" tIns="0" rIns="0" bIns="0" rtlCol="0" anchor="t"/>
          <a:lstStyle/>
          <a:p>
            <a:pPr algn="ctr" indent="0" marL="0">
              <a:buNone/>
            </a:pPr>
            <a:r>
              <a:rPr lang="en-US" sz="1050" dirty="0">
                <a:solidFill>
                  <a:srgbClr val="557280"/>
                </a:solidFill>
                <a:latin typeface="Calibri" pitchFamily="34" charset="0"/>
                <a:ea typeface="Calibri" pitchFamily="34" charset="-122"/>
                <a:cs typeface="Calibri" pitchFamily="34" charset="-120"/>
              </a:rPr>
              <a:t>bridge console</a:t>
            </a:r>
            <a:endParaRPr lang="en-US" sz="1050" dirty="0"/>
          </a:p>
        </p:txBody>
      </p:sp>
      <p:sp>
        <p:nvSpPr>
          <p:cNvPr id="32" name="Text 30"/>
          <p:cNvSpPr/>
          <p:nvPr/>
        </p:nvSpPr>
        <p:spPr>
          <a:xfrm>
            <a:off x="640080" y="3977640"/>
            <a:ext cx="3440521" cy="274320"/>
          </a:xfrm>
          <a:prstGeom prst="rect">
            <a:avLst/>
          </a:prstGeom>
          <a:noFill/>
          <a:ln/>
        </p:spPr>
        <p:txBody>
          <a:bodyPr wrap="square" rtlCol="0" anchor="ctr"/>
          <a:lstStyle/>
          <a:p>
            <a:pPr algn="ctr" indent="0" marL="0">
              <a:buNone/>
            </a:pPr>
            <a:r>
              <a:rPr lang="en-US" sz="1100" b="1" spc="200" kern="0" dirty="0">
                <a:solidFill>
                  <a:srgbClr val="4F98C0"/>
                </a:solidFill>
                <a:latin typeface="Calibri" pitchFamily="34" charset="0"/>
                <a:ea typeface="Calibri" pitchFamily="34" charset="-122"/>
                <a:cs typeface="Calibri" pitchFamily="34" charset="-120"/>
              </a:rPr>
              <a:t>EDGE</a:t>
            </a:r>
            <a:endParaRPr lang="en-US" sz="1100" dirty="0"/>
          </a:p>
        </p:txBody>
      </p:sp>
      <p:sp>
        <p:nvSpPr>
          <p:cNvPr id="33" name="Text 31"/>
          <p:cNvSpPr/>
          <p:nvPr/>
        </p:nvSpPr>
        <p:spPr>
          <a:xfrm>
            <a:off x="4375587" y="3977640"/>
            <a:ext cx="7176028" cy="274320"/>
          </a:xfrm>
          <a:prstGeom prst="rect">
            <a:avLst/>
          </a:prstGeom>
          <a:noFill/>
          <a:ln/>
        </p:spPr>
        <p:txBody>
          <a:bodyPr wrap="square" rtlCol="0" anchor="ctr"/>
          <a:lstStyle/>
          <a:p>
            <a:pPr algn="ctr" indent="0" marL="0">
              <a:buNone/>
            </a:pPr>
            <a:r>
              <a:rPr lang="en-US" sz="1100" b="1" spc="200" kern="0" dirty="0">
                <a:solidFill>
                  <a:srgbClr val="0F4E7E"/>
                </a:solidFill>
                <a:latin typeface="Calibri" pitchFamily="34" charset="0"/>
                <a:ea typeface="Calibri" pitchFamily="34" charset="-122"/>
                <a:cs typeface="Calibri" pitchFamily="34" charset="-120"/>
              </a:rPr>
              <a:t>CLOUD</a:t>
            </a:r>
            <a:endParaRPr lang="en-US" sz="1100" dirty="0"/>
          </a:p>
        </p:txBody>
      </p:sp>
      <p:sp>
        <p:nvSpPr>
          <p:cNvPr id="34" name="Text 32"/>
          <p:cNvSpPr/>
          <p:nvPr/>
        </p:nvSpPr>
        <p:spPr>
          <a:xfrm>
            <a:off x="640080" y="5212080"/>
            <a:ext cx="10972800" cy="640080"/>
          </a:xfrm>
          <a:prstGeom prst="rect">
            <a:avLst/>
          </a:prstGeom>
          <a:noFill/>
          <a:ln/>
        </p:spPr>
        <p:txBody>
          <a:bodyPr wrap="square" rtlCol="0" anchor="ctr"/>
          <a:lstStyle/>
          <a:p>
            <a:pPr algn="ctr" indent="0" marL="0">
              <a:buNone/>
            </a:pPr>
            <a:r>
              <a:rPr lang="en-US" sz="1500" i="1" dirty="0">
                <a:solidFill>
                  <a:srgbClr val="0F4E7E"/>
                </a:solidFill>
                <a:latin typeface="Calibri" pitchFamily="34" charset="0"/>
                <a:ea typeface="Calibri" pitchFamily="34" charset="-122"/>
                <a:cs typeface="Calibri" pitchFamily="34" charset="-120"/>
              </a:rPr>
              <a:t>Each window is reduced to min, max, average, latest and count and checked against the alert rules before anything leaves the vessel; only summaries go ashore.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02636"/>
                </a:solidFill>
                <a:latin typeface="Times New Roman" pitchFamily="34" charset="0"/>
                <a:ea typeface="Times New Roman" pitchFamily="34" charset="-122"/>
                <a:cs typeface="Times New Roman"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1E76A6"/>
                </a:solidFill>
                <a:latin typeface="Consolas" pitchFamily="34" charset="0"/>
                <a:ea typeface="Consolas" pitchFamily="34" charset="-122"/>
                <a:cs typeface="Consolas" pitchFamily="34" charset="-120"/>
              </a:rPr>
              <a:t>mvs-frontend-573065484152.s3-website-us-east-1.amazonaws.com</a:t>
            </a:r>
            <a:endParaRPr lang="en-US" sz="1400" dirty="0"/>
          </a:p>
        </p:txBody>
      </p:sp>
      <p:sp>
        <p:nvSpPr>
          <p:cNvPr id="4" name="Shape 2"/>
          <p:cNvSpPr/>
          <p:nvPr/>
        </p:nvSpPr>
        <p:spPr>
          <a:xfrm>
            <a:off x="731520" y="1965960"/>
            <a:ext cx="685800" cy="685800"/>
          </a:xfrm>
          <a:prstGeom prst="ellipse">
            <a:avLst/>
          </a:prstGeom>
          <a:solidFill>
            <a:srgbClr val="0F4E7E"/>
          </a:solidFill>
          <a:ln/>
        </p:spPr>
      </p:sp>
      <p:sp>
        <p:nvSpPr>
          <p:cNvPr id="5" name="Text 3"/>
          <p:cNvSpPr/>
          <p:nvPr/>
        </p:nvSpPr>
        <p:spPr>
          <a:xfrm>
            <a:off x="731520" y="196596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Times New Roman" pitchFamily="34" charset="0"/>
                <a:ea typeface="Times New Roman" pitchFamily="34" charset="-122"/>
                <a:cs typeface="Times New Roman" pitchFamily="34" charset="-120"/>
              </a:rPr>
              <a:t>1</a:t>
            </a:r>
            <a:endParaRPr lang="en-US" sz="2600" dirty="0"/>
          </a:p>
        </p:txBody>
      </p:sp>
      <p:sp>
        <p:nvSpPr>
          <p:cNvPr id="6" name="Text 4"/>
          <p:cNvSpPr/>
          <p:nvPr/>
        </p:nvSpPr>
        <p:spPr>
          <a:xfrm>
            <a:off x="1691640" y="1920240"/>
            <a:ext cx="9875520" cy="411480"/>
          </a:xfrm>
          <a:prstGeom prst="rect">
            <a:avLst/>
          </a:prstGeom>
          <a:noFill/>
          <a:ln/>
        </p:spPr>
        <p:txBody>
          <a:bodyPr wrap="square" lIns="0" tIns="0" rIns="0" bIns="0" rtlCol="0" anchor="ctr"/>
          <a:lstStyle/>
          <a:p>
            <a:pPr indent="0" marL="0">
              <a:buNone/>
            </a:pPr>
            <a:r>
              <a:rPr lang="en-US" sz="1800" b="1" dirty="0">
                <a:solidFill>
                  <a:srgbClr val="102636"/>
                </a:solidFill>
                <a:latin typeface="Calibri" pitchFamily="34" charset="0"/>
                <a:ea typeface="Calibri" pitchFamily="34" charset="-122"/>
                <a:cs typeface="Calibri" pitchFamily="34" charset="-120"/>
              </a:rPr>
              <a:t>Pipeline health, all green</a:t>
            </a:r>
            <a:endParaRPr lang="en-US" sz="1800" dirty="0"/>
          </a:p>
        </p:txBody>
      </p:sp>
      <p:sp>
        <p:nvSpPr>
          <p:cNvPr id="7" name="Text 5"/>
          <p:cNvSpPr/>
          <p:nvPr/>
        </p:nvSpPr>
        <p:spPr>
          <a:xfrm>
            <a:off x="1691640" y="2340864"/>
            <a:ext cx="9875520" cy="640080"/>
          </a:xfrm>
          <a:prstGeom prst="rect">
            <a:avLst/>
          </a:prstGeom>
          <a:noFill/>
          <a:ln/>
        </p:spPr>
        <p:txBody>
          <a:bodyPr wrap="square" lIns="0" tIns="0" rIns="0" bIns="0" rtlCol="0" anchor="ctr"/>
          <a:lstStyle/>
          <a:p>
            <a:pPr indent="0" marL="0">
              <a:buNone/>
            </a:pPr>
            <a:r>
              <a:rPr lang="en-US" sz="1350" dirty="0">
                <a:solidFill>
                  <a:srgbClr val="557280"/>
                </a:solidFill>
                <a:latin typeface="Calibri" pitchFamily="34" charset="0"/>
                <a:ea typeface="Calibri" pitchFamily="34" charset="-122"/>
                <a:cs typeface="Calibri" pitchFamily="34" charset="-120"/>
              </a:rPr>
              <a:t>Live health reports gateway, queue, Lambda and pipeline all true, freshest reading under one second old.</a:t>
            </a:r>
            <a:endParaRPr lang="en-US" sz="1350" dirty="0"/>
          </a:p>
        </p:txBody>
      </p:sp>
      <p:sp>
        <p:nvSpPr>
          <p:cNvPr id="8" name="Shape 6"/>
          <p:cNvSpPr/>
          <p:nvPr/>
        </p:nvSpPr>
        <p:spPr>
          <a:xfrm>
            <a:off x="731520" y="3383280"/>
            <a:ext cx="685800" cy="685800"/>
          </a:xfrm>
          <a:prstGeom prst="ellipse">
            <a:avLst/>
          </a:prstGeom>
          <a:solidFill>
            <a:srgbClr val="0F4E7E"/>
          </a:solidFill>
          <a:ln/>
        </p:spPr>
      </p:sp>
      <p:sp>
        <p:nvSpPr>
          <p:cNvPr id="9" name="Text 7"/>
          <p:cNvSpPr/>
          <p:nvPr/>
        </p:nvSpPr>
        <p:spPr>
          <a:xfrm>
            <a:off x="731520" y="338328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Times New Roman" pitchFamily="34" charset="0"/>
                <a:ea typeface="Times New Roman" pitchFamily="34" charset="-122"/>
                <a:cs typeface="Times New Roman" pitchFamily="34" charset="-120"/>
              </a:rPr>
              <a:t>2</a:t>
            </a:r>
            <a:endParaRPr lang="en-US" sz="2600" dirty="0"/>
          </a:p>
        </p:txBody>
      </p:sp>
      <p:sp>
        <p:nvSpPr>
          <p:cNvPr id="10" name="Text 8"/>
          <p:cNvSpPr/>
          <p:nvPr/>
        </p:nvSpPr>
        <p:spPr>
          <a:xfrm>
            <a:off x="1691640" y="3337560"/>
            <a:ext cx="9875520" cy="411480"/>
          </a:xfrm>
          <a:prstGeom prst="rect">
            <a:avLst/>
          </a:prstGeom>
          <a:noFill/>
          <a:ln/>
        </p:spPr>
        <p:txBody>
          <a:bodyPr wrap="square" lIns="0" tIns="0" rIns="0" bIns="0" rtlCol="0" anchor="ctr"/>
          <a:lstStyle/>
          <a:p>
            <a:pPr indent="0" marL="0">
              <a:buNone/>
            </a:pPr>
            <a:r>
              <a:rPr lang="en-US" sz="1800" b="1" dirty="0">
                <a:solidFill>
                  <a:srgbClr val="102636"/>
                </a:solidFill>
                <a:latin typeface="Calibri" pitchFamily="34" charset="0"/>
                <a:ea typeface="Calibri" pitchFamily="34" charset="-122"/>
                <a:cs typeface="Calibri" pitchFamily="34" charset="-120"/>
              </a:rPr>
              <a:t>Real data, climbing</a:t>
            </a:r>
            <a:endParaRPr lang="en-US" sz="1800" dirty="0"/>
          </a:p>
        </p:txBody>
      </p:sp>
      <p:sp>
        <p:nvSpPr>
          <p:cNvPr id="11" name="Text 9"/>
          <p:cNvSpPr/>
          <p:nvPr/>
        </p:nvSpPr>
        <p:spPr>
          <a:xfrm>
            <a:off x="1691640" y="3758184"/>
            <a:ext cx="9875520" cy="640080"/>
          </a:xfrm>
          <a:prstGeom prst="rect">
            <a:avLst/>
          </a:prstGeom>
          <a:noFill/>
          <a:ln/>
        </p:spPr>
        <p:txBody>
          <a:bodyPr wrap="square" lIns="0" tIns="0" rIns="0" bIns="0" rtlCol="0" anchor="ctr"/>
          <a:lstStyle/>
          <a:p>
            <a:pPr indent="0" marL="0">
              <a:buNone/>
            </a:pPr>
            <a:r>
              <a:rPr lang="en-US" sz="1350" dirty="0">
                <a:solidFill>
                  <a:srgbClr val="557280"/>
                </a:solidFill>
                <a:latin typeface="Calibri" pitchFamily="34" charset="0"/>
                <a:ea typeface="Calibri" pitchFamily="34" charset="-122"/>
                <a:cs typeface="Calibri" pitchFamily="34" charset="-120"/>
              </a:rPr>
              <a:t>Stored items grew 59 to 374 to 425 during verification, with excessive fuel burn and hull stress firing on the Bridge Console.</a:t>
            </a:r>
            <a:endParaRPr lang="en-US" sz="1350" dirty="0"/>
          </a:p>
        </p:txBody>
      </p:sp>
      <p:sp>
        <p:nvSpPr>
          <p:cNvPr id="12" name="Shape 10"/>
          <p:cNvSpPr/>
          <p:nvPr/>
        </p:nvSpPr>
        <p:spPr>
          <a:xfrm>
            <a:off x="731520" y="4800600"/>
            <a:ext cx="685800" cy="685800"/>
          </a:xfrm>
          <a:prstGeom prst="ellipse">
            <a:avLst/>
          </a:prstGeom>
          <a:solidFill>
            <a:srgbClr val="0F4E7E"/>
          </a:solidFill>
          <a:ln/>
        </p:spPr>
      </p:sp>
      <p:sp>
        <p:nvSpPr>
          <p:cNvPr id="13" name="Text 11"/>
          <p:cNvSpPr/>
          <p:nvPr/>
        </p:nvSpPr>
        <p:spPr>
          <a:xfrm>
            <a:off x="731520" y="48006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Times New Roman" pitchFamily="34" charset="0"/>
                <a:ea typeface="Times New Roman" pitchFamily="34" charset="-122"/>
                <a:cs typeface="Times New Roman" pitchFamily="34" charset="-120"/>
              </a:rPr>
              <a:t>3</a:t>
            </a:r>
            <a:endParaRPr lang="en-US" sz="2600" dirty="0"/>
          </a:p>
        </p:txBody>
      </p:sp>
      <p:sp>
        <p:nvSpPr>
          <p:cNvPr id="14" name="Text 12"/>
          <p:cNvSpPr/>
          <p:nvPr/>
        </p:nvSpPr>
        <p:spPr>
          <a:xfrm>
            <a:off x="1691640" y="4754880"/>
            <a:ext cx="9875520" cy="411480"/>
          </a:xfrm>
          <a:prstGeom prst="rect">
            <a:avLst/>
          </a:prstGeom>
          <a:noFill/>
          <a:ln/>
        </p:spPr>
        <p:txBody>
          <a:bodyPr wrap="square" lIns="0" tIns="0" rIns="0" bIns="0" rtlCol="0" anchor="ctr"/>
          <a:lstStyle/>
          <a:p>
            <a:pPr indent="0" marL="0">
              <a:buNone/>
            </a:pPr>
            <a:r>
              <a:rPr lang="en-US" sz="1800" b="1" dirty="0">
                <a:solidFill>
                  <a:srgbClr val="102636"/>
                </a:solidFill>
                <a:latin typeface="Calibri" pitchFamily="34" charset="0"/>
                <a:ea typeface="Calibri" pitchFamily="34" charset="-122"/>
                <a:cs typeface="Calibri" pitchFamily="34" charset="-120"/>
              </a:rPr>
              <a:t>Tested end to end</a:t>
            </a:r>
            <a:endParaRPr lang="en-US" sz="1800" dirty="0"/>
          </a:p>
        </p:txBody>
      </p:sp>
      <p:sp>
        <p:nvSpPr>
          <p:cNvPr id="15" name="Text 13"/>
          <p:cNvSpPr/>
          <p:nvPr/>
        </p:nvSpPr>
        <p:spPr>
          <a:xfrm>
            <a:off x="1691640" y="5175504"/>
            <a:ext cx="9875520" cy="640080"/>
          </a:xfrm>
          <a:prstGeom prst="rect">
            <a:avLst/>
          </a:prstGeom>
          <a:noFill/>
          <a:ln/>
        </p:spPr>
        <p:txBody>
          <a:bodyPr wrap="square" lIns="0" tIns="0" rIns="0" bIns="0" rtlCol="0" anchor="ctr"/>
          <a:lstStyle/>
          <a:p>
            <a:pPr indent="0" marL="0">
              <a:buNone/>
            </a:pPr>
            <a:r>
              <a:rPr lang="en-US" sz="1350" dirty="0">
                <a:solidFill>
                  <a:srgbClr val="557280"/>
                </a:solidFill>
                <a:latin typeface="Calibri" pitchFamily="34" charset="0"/>
                <a:ea typeface="Calibri" pitchFamily="34" charset="-122"/>
                <a:cs typeface="Calibri" pitchFamily="34" charset="-120"/>
              </a:rPr>
              <a:t>120 automated tests pass — unit and real-socket HTTP across sensors, fog, publisher, processor and dashboard, re-verified against the live account.</a:t>
            </a:r>
            <a:endParaRPr lang="en-US" sz="1350" dirty="0"/>
          </a:p>
        </p:txBody>
      </p:sp>
      <p:sp>
        <p:nvSpPr>
          <p:cNvPr id="16" name="Text 14"/>
          <p:cNvSpPr/>
          <p:nvPr/>
        </p:nvSpPr>
        <p:spPr>
          <a:xfrm>
            <a:off x="640080" y="6263640"/>
            <a:ext cx="10972800" cy="365760"/>
          </a:xfrm>
          <a:prstGeom prst="rect">
            <a:avLst/>
          </a:prstGeom>
          <a:noFill/>
          <a:ln/>
        </p:spPr>
        <p:txBody>
          <a:bodyPr wrap="square" rtlCol="0" anchor="ctr"/>
          <a:lstStyle/>
          <a:p>
            <a:pPr indent="0" marL="0">
              <a:buNone/>
            </a:pPr>
            <a:r>
              <a:rPr lang="en-US" sz="1300" i="1" dirty="0">
                <a:solidFill>
                  <a:srgbClr val="4F98C0"/>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2436"/>
        </a:solidFill>
      </p:bgPr>
    </p:bg>
    <p:spTree>
      <p:nvGrpSpPr>
        <p:cNvPr id="1" name=""/>
        <p:cNvGrpSpPr/>
        <p:nvPr/>
      </p:nvGrpSpPr>
      <p:grpSpPr>
        <a:xfrm>
          <a:off x="0" y="0"/>
          <a:ext cx="0" cy="0"/>
          <a:chOff x="0" y="0"/>
          <a:chExt cx="0" cy="0"/>
        </a:xfrm>
      </p:grpSpPr>
      <p:sp>
        <p:nvSpPr>
          <p:cNvPr id="2" name="Text 0"/>
          <p:cNvSpPr/>
          <p:nvPr/>
        </p:nvSpPr>
        <p:spPr>
          <a:xfrm>
            <a:off x="640080" y="640080"/>
            <a:ext cx="10972800" cy="640080"/>
          </a:xfrm>
          <a:prstGeom prst="rect">
            <a:avLst/>
          </a:prstGeom>
          <a:noFill/>
          <a:ln/>
        </p:spPr>
        <p:txBody>
          <a:bodyPr wrap="square" rtlCol="0" anchor="ctr"/>
          <a:lstStyle/>
          <a:p>
            <a:pPr indent="0" marL="0">
              <a:buNone/>
            </a:pPr>
            <a:r>
              <a:rPr lang="en-US" sz="3000" b="1" dirty="0">
                <a:solidFill>
                  <a:srgbClr val="FFFFFF"/>
                </a:solidFill>
                <a:latin typeface="Times New Roman" pitchFamily="34" charset="0"/>
                <a:ea typeface="Times New Roman" pitchFamily="34" charset="-122"/>
                <a:cs typeface="Times New Roman" pitchFamily="34" charset="-120"/>
              </a:rPr>
              <a:t>Hardest Part — green checks, broken page</a:t>
            </a:r>
            <a:endParaRPr lang="en-US" sz="3000" dirty="0"/>
          </a:p>
        </p:txBody>
      </p:sp>
      <p:sp>
        <p:nvSpPr>
          <p:cNvPr id="3" name="Shape 1"/>
          <p:cNvSpPr/>
          <p:nvPr/>
        </p:nvSpPr>
        <p:spPr>
          <a:xfrm>
            <a:off x="731520" y="1920240"/>
            <a:ext cx="10698480" cy="1965960"/>
          </a:xfrm>
          <a:prstGeom prst="roundRect">
            <a:avLst>
              <a:gd name="adj" fmla="val 4651"/>
            </a:avLst>
          </a:prstGeom>
          <a:solidFill>
            <a:srgbClr val="174560"/>
          </a:solidFill>
          <a:ln w="15875">
            <a:solidFill>
              <a:srgbClr val="E5A83C"/>
            </a:solidFill>
            <a:prstDash val="solid"/>
          </a:ln>
        </p:spPr>
      </p:sp>
      <p:sp>
        <p:nvSpPr>
          <p:cNvPr id="4" name="Text 2"/>
          <p:cNvSpPr/>
          <p:nvPr/>
        </p:nvSpPr>
        <p:spPr>
          <a:xfrm>
            <a:off x="1005840" y="2103120"/>
            <a:ext cx="3657600" cy="457200"/>
          </a:xfrm>
          <a:prstGeom prst="rect">
            <a:avLst/>
          </a:prstGeom>
          <a:noFill/>
          <a:ln/>
        </p:spPr>
        <p:txBody>
          <a:bodyPr wrap="square" lIns="0" tIns="0" rIns="0" bIns="0" rtlCol="0" anchor="ctr"/>
          <a:lstStyle/>
          <a:p>
            <a:pPr indent="0" marL="0">
              <a:buNone/>
            </a:pPr>
            <a:r>
              <a:rPr lang="en-US" sz="1900" b="1" dirty="0">
                <a:solidFill>
                  <a:srgbClr val="E5A83C"/>
                </a:solidFill>
                <a:latin typeface="Times New Roman" pitchFamily="34" charset="0"/>
                <a:ea typeface="Times New Roman" pitchFamily="34" charset="-122"/>
                <a:cs typeface="Times New Roman" pitchFamily="34" charset="-120"/>
              </a:rPr>
              <a:t>Problem</a:t>
            </a:r>
            <a:endParaRPr lang="en-US" sz="1900" dirty="0"/>
          </a:p>
        </p:txBody>
      </p:sp>
      <p:sp>
        <p:nvSpPr>
          <p:cNvPr id="5" name="Text 3"/>
          <p:cNvSpPr/>
          <p:nvPr/>
        </p:nvSpPr>
        <p:spPr>
          <a:xfrm>
            <a:off x="1005840" y="2578608"/>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CEE2EE"/>
                </a:solidFill>
                <a:latin typeface="Calibri" pitchFamily="34" charset="0"/>
                <a:ea typeface="Calibri" pitchFamily="34" charset="-122"/>
                <a:cs typeface="Calibri" pitchFamily="34" charset="-120"/>
              </a:rPr>
              <a:t>Deployed to the real AWS account, the dashboard page loaded but every panel stayed empty — its stylesheet, script and chart library all returned 404 from S3. Every signal said healthy: 120 tests green, a full emulator run clean, every curl check on the JSON API returning live data. The upload had flattened the static folder to the bucket root, and nothing was testing the page's own asset requests.</a:t>
            </a:r>
            <a:endParaRPr lang="en-US" sz="1300" dirty="0"/>
          </a:p>
        </p:txBody>
      </p:sp>
      <p:sp>
        <p:nvSpPr>
          <p:cNvPr id="6" name="Shape 4"/>
          <p:cNvSpPr/>
          <p:nvPr/>
        </p:nvSpPr>
        <p:spPr>
          <a:xfrm>
            <a:off x="731520" y="4041648"/>
            <a:ext cx="10698480" cy="1965960"/>
          </a:xfrm>
          <a:prstGeom prst="roundRect">
            <a:avLst>
              <a:gd name="adj" fmla="val 4651"/>
            </a:avLst>
          </a:prstGeom>
          <a:solidFill>
            <a:srgbClr val="174560"/>
          </a:solidFill>
          <a:ln w="15875">
            <a:solidFill>
              <a:srgbClr val="4F98C0"/>
            </a:solidFill>
            <a:prstDash val="solid"/>
          </a:ln>
        </p:spPr>
      </p:sp>
      <p:sp>
        <p:nvSpPr>
          <p:cNvPr id="7" name="Text 5"/>
          <p:cNvSpPr/>
          <p:nvPr/>
        </p:nvSpPr>
        <p:spPr>
          <a:xfrm>
            <a:off x="1005840" y="4224528"/>
            <a:ext cx="3657600" cy="457200"/>
          </a:xfrm>
          <a:prstGeom prst="rect">
            <a:avLst/>
          </a:prstGeom>
          <a:noFill/>
          <a:ln/>
        </p:spPr>
        <p:txBody>
          <a:bodyPr wrap="square" lIns="0" tIns="0" rIns="0" bIns="0" rtlCol="0" anchor="ctr"/>
          <a:lstStyle/>
          <a:p>
            <a:pPr indent="0" marL="0">
              <a:buNone/>
            </a:pPr>
            <a:r>
              <a:rPr lang="en-US" sz="1900" b="1" dirty="0">
                <a:solidFill>
                  <a:srgbClr val="4F98C0"/>
                </a:solidFill>
                <a:latin typeface="Times New Roman" pitchFamily="34" charset="0"/>
                <a:ea typeface="Times New Roman" pitchFamily="34" charset="-122"/>
                <a:cs typeface="Times New Roman" pitchFamily="34" charset="-120"/>
              </a:rPr>
              <a:t>Solution</a:t>
            </a:r>
            <a:endParaRPr lang="en-US" sz="1900" dirty="0"/>
          </a:p>
        </p:txBody>
      </p:sp>
      <p:sp>
        <p:nvSpPr>
          <p:cNvPr id="8" name="Text 6"/>
          <p:cNvSpPr/>
          <p:nvPr/>
        </p:nvSpPr>
        <p:spPr>
          <a:xfrm>
            <a:off x="1005840" y="4700016"/>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CEE2EE"/>
                </a:solidFill>
                <a:latin typeface="Calibri" pitchFamily="34" charset="0"/>
                <a:ea typeface="Calibri" pitchFamily="34" charset="-122"/>
                <a:cs typeface="Calibri" pitchFamily="34" charset="-120"/>
              </a:rPr>
              <a:t>Open the real page in a real browser and read its network requests — three 404s, visible immediately. Re-upload preserving the exact paths the page asks for, then re-verify by watching the item count climb across live reloads. The same live run also exposed a count-only scan undercount and one-message-per-aggregate sends, both fixed.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2026-07-24T06:34:26Z</dcterms:created>
  <dcterms:modified xsi:type="dcterms:W3CDTF">2026-07-24T06:34:26Z</dcterms:modified>
</cp:coreProperties>
</file>