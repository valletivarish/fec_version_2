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436"/>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indent="0" marL="0">
              <a:buNone/>
            </a:pPr>
            <a:r>
              <a:rPr lang="en-US" sz="3600" b="1" dirty="0">
                <a:solidFill>
                  <a:srgbClr val="FFFFFF"/>
                </a:solidFill>
                <a:latin typeface="Times New Roman" pitchFamily="34" charset="0"/>
                <a:ea typeface="Times New Roman" pitchFamily="34" charset="-122"/>
                <a:cs typeface="Times New Roman" pitchFamily="34" charset="-120"/>
              </a:rPr>
              <a:t>Marine Vessel Condition Monitoring</a:t>
            </a:r>
            <a:endParaRPr lang="en-US" sz="36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4F98C0"/>
                </a:solidFill>
                <a:latin typeface="Calibri" pitchFamily="34" charset="0"/>
                <a:ea typeface="Calibri" pitchFamily="34" charset="-122"/>
                <a:cs typeface="Calibri" pitchFamily="34" charset="-120"/>
              </a:rPr>
              <a:t>Gopi Krishnan   ·   X25112627</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CEE2EE"/>
                </a:solidFill>
                <a:latin typeface="Calibri" pitchFamily="34" charset="0"/>
                <a:ea typeface="Calibri" pitchFamily="34" charset="-122"/>
                <a:cs typeface="Calibri" pitchFamily="34" charset="-120"/>
              </a:rPr>
              <a:t>Between fixed rounds the bridge is blind — a fuel-burn spike, a ballast imbalance or rising hull vibration surfaces only at the next check, and the raw data cannot fit the ship-to-shore link.</a:t>
            </a:r>
            <a:endParaRPr lang="en-US" sz="2000" dirty="0"/>
          </a:p>
        </p:txBody>
      </p:sp>
      <p:sp>
        <p:nvSpPr>
          <p:cNvPr id="5" name="Shape 3"/>
          <p:cNvSpPr/>
          <p:nvPr/>
        </p:nvSpPr>
        <p:spPr>
          <a:xfrm>
            <a:off x="658368" y="4206240"/>
            <a:ext cx="2651760" cy="566928"/>
          </a:xfrm>
          <a:prstGeom prst="roundRect">
            <a:avLst>
              <a:gd name="adj" fmla="val 50000"/>
            </a:avLst>
          </a:prstGeom>
          <a:solidFill>
            <a:srgbClr val="143A54"/>
          </a:solidFill>
          <a:ln w="12700">
            <a:solidFill>
              <a:srgbClr val="E5A83C"/>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Engine &gt; 75 °C</a:t>
            </a:r>
            <a:endParaRPr lang="en-US" sz="1350" dirty="0"/>
          </a:p>
        </p:txBody>
      </p:sp>
      <p:sp>
        <p:nvSpPr>
          <p:cNvPr id="7" name="Shape 5"/>
          <p:cNvSpPr/>
          <p:nvPr/>
        </p:nvSpPr>
        <p:spPr>
          <a:xfrm>
            <a:off x="3538728" y="4206240"/>
            <a:ext cx="2651760" cy="566928"/>
          </a:xfrm>
          <a:prstGeom prst="roundRect">
            <a:avLst>
              <a:gd name="adj" fmla="val 50000"/>
            </a:avLst>
          </a:prstGeom>
          <a:solidFill>
            <a:srgbClr val="143A54"/>
          </a:solidFill>
          <a:ln w="12700">
            <a:solidFill>
              <a:srgbClr val="E5A83C"/>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Fuel burn &gt; 350 L/h</a:t>
            </a:r>
            <a:endParaRPr lang="en-US" sz="1350" dirty="0"/>
          </a:p>
        </p:txBody>
      </p:sp>
      <p:sp>
        <p:nvSpPr>
          <p:cNvPr id="9" name="Shape 7"/>
          <p:cNvSpPr/>
          <p:nvPr/>
        </p:nvSpPr>
        <p:spPr>
          <a:xfrm>
            <a:off x="6419088" y="4206240"/>
            <a:ext cx="2651760" cy="566928"/>
          </a:xfrm>
          <a:prstGeom prst="roundRect">
            <a:avLst>
              <a:gd name="adj" fmla="val 50000"/>
            </a:avLst>
          </a:prstGeom>
          <a:solidFill>
            <a:srgbClr val="143A54"/>
          </a:solidFill>
          <a:ln w="12700">
            <a:solidFill>
              <a:srgbClr val="E5A83C"/>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Hull peak &gt; 15 mm/s</a:t>
            </a:r>
            <a:endParaRPr lang="en-US" sz="135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557280"/>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What I Built — Sensor to Bridge Screen</a:t>
            </a:r>
            <a:endParaRPr lang="en-US" sz="3000" dirty="0"/>
          </a:p>
        </p:txBody>
      </p:sp>
      <p:sp>
        <p:nvSpPr>
          <p:cNvPr id="3" name="Shape 1"/>
          <p:cNvSpPr/>
          <p:nvPr/>
        </p:nvSpPr>
        <p:spPr>
          <a:xfrm>
            <a:off x="640080" y="1874520"/>
            <a:ext cx="2286000" cy="1280160"/>
          </a:xfrm>
          <a:prstGeom prst="roundRect">
            <a:avLst>
              <a:gd name="adj" fmla="val 7143"/>
            </a:avLst>
          </a:prstGeom>
          <a:solidFill>
            <a:srgbClr val="EDF4F9"/>
          </a:solidFill>
          <a:ln w="19050">
            <a:solidFill>
              <a:srgbClr val="4F98C0"/>
            </a:solidFill>
            <a:prstDash val="solid"/>
          </a:ln>
        </p:spPr>
      </p:sp>
      <p:sp>
        <p:nvSpPr>
          <p:cNvPr id="4" name="Shape 2"/>
          <p:cNvSpPr/>
          <p:nvPr/>
        </p:nvSpPr>
        <p:spPr>
          <a:xfrm>
            <a:off x="1691640" y="2039112"/>
            <a:ext cx="182880" cy="182880"/>
          </a:xfrm>
          <a:prstGeom prst="ellipse">
            <a:avLst/>
          </a:prstGeom>
          <a:solidFill>
            <a:srgbClr val="4F98C0"/>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Vessel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10 · 2 vessels</a:t>
            </a:r>
            <a:endParaRPr lang="en-US" sz="1050" dirty="0"/>
          </a:p>
        </p:txBody>
      </p:sp>
      <p:sp>
        <p:nvSpPr>
          <p:cNvPr id="7" name="Shape 5"/>
          <p:cNvSpPr/>
          <p:nvPr/>
        </p:nvSpPr>
        <p:spPr>
          <a:xfrm>
            <a:off x="2944368" y="2514600"/>
            <a:ext cx="1975104" cy="0"/>
          </a:xfrm>
          <a:prstGeom prst="line">
            <a:avLst/>
          </a:prstGeom>
          <a:noFill/>
          <a:ln w="25400">
            <a:solidFill>
              <a:srgbClr val="4F98C0"/>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DF4F9"/>
          </a:solidFill>
          <a:ln w="19050">
            <a:solidFill>
              <a:srgbClr val="4F98C0"/>
            </a:solidFill>
            <a:prstDash val="solid"/>
          </a:ln>
        </p:spPr>
      </p:sp>
      <p:sp>
        <p:nvSpPr>
          <p:cNvPr id="9" name="Shape 7"/>
          <p:cNvSpPr/>
          <p:nvPr/>
        </p:nvSpPr>
        <p:spPr>
          <a:xfrm>
            <a:off x="5989320" y="2039112"/>
            <a:ext cx="182880" cy="182880"/>
          </a:xfrm>
          <a:prstGeom prst="ellipse">
            <a:avLst/>
          </a:prstGeom>
          <a:solidFill>
            <a:srgbClr val="4F98C0"/>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window · aggregate · alert</a:t>
            </a:r>
            <a:endParaRPr lang="en-US" sz="1050" dirty="0"/>
          </a:p>
        </p:txBody>
      </p:sp>
      <p:sp>
        <p:nvSpPr>
          <p:cNvPr id="12" name="Shape 10"/>
          <p:cNvSpPr/>
          <p:nvPr/>
        </p:nvSpPr>
        <p:spPr>
          <a:xfrm>
            <a:off x="7242048" y="2514600"/>
            <a:ext cx="1975104" cy="0"/>
          </a:xfrm>
          <a:prstGeom prst="line">
            <a:avLst/>
          </a:prstGeom>
          <a:noFill/>
          <a:ln w="25400">
            <a:solidFill>
              <a:srgbClr val="4F98C0"/>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DF4F9"/>
          </a:solidFill>
          <a:ln w="19050">
            <a:solidFill>
              <a:srgbClr val="0F4E7E"/>
            </a:solidFill>
            <a:prstDash val="solid"/>
          </a:ln>
        </p:spPr>
      </p:sp>
      <p:sp>
        <p:nvSpPr>
          <p:cNvPr id="14" name="Shape 12"/>
          <p:cNvSpPr/>
          <p:nvPr/>
        </p:nvSpPr>
        <p:spPr>
          <a:xfrm>
            <a:off x="10287000" y="2039112"/>
            <a:ext cx="182880" cy="182880"/>
          </a:xfrm>
          <a:prstGeom prst="ellipse">
            <a:avLst/>
          </a:prstGeom>
          <a:solidFill>
            <a:srgbClr val="0F4E7E"/>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batches ≤10 ashore</a:t>
            </a:r>
            <a:endParaRPr lang="en-US" sz="1050" dirty="0"/>
          </a:p>
        </p:txBody>
      </p:sp>
      <p:sp>
        <p:nvSpPr>
          <p:cNvPr id="17" name="Shape 15"/>
          <p:cNvSpPr/>
          <p:nvPr/>
        </p:nvSpPr>
        <p:spPr>
          <a:xfrm>
            <a:off x="9235440" y="3520440"/>
            <a:ext cx="2286000" cy="1280160"/>
          </a:xfrm>
          <a:prstGeom prst="roundRect">
            <a:avLst>
              <a:gd name="adj" fmla="val 7143"/>
            </a:avLst>
          </a:prstGeom>
          <a:solidFill>
            <a:srgbClr val="EDF4F9"/>
          </a:solidFill>
          <a:ln w="19050">
            <a:solidFill>
              <a:srgbClr val="0F4E7E"/>
            </a:solidFill>
            <a:prstDash val="solid"/>
          </a:ln>
        </p:spPr>
      </p:sp>
      <p:sp>
        <p:nvSpPr>
          <p:cNvPr id="18" name="Shape 16"/>
          <p:cNvSpPr/>
          <p:nvPr/>
        </p:nvSpPr>
        <p:spPr>
          <a:xfrm>
            <a:off x="10287000" y="3685032"/>
            <a:ext cx="182880" cy="182880"/>
          </a:xfrm>
          <a:prstGeom prst="ellipse">
            <a:avLst/>
          </a:prstGeom>
          <a:solidFill>
            <a:srgbClr val="0F4E7E"/>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nodejs20 ingest</a:t>
            </a:r>
            <a:endParaRPr lang="en-US" sz="1050" dirty="0"/>
          </a:p>
        </p:txBody>
      </p:sp>
      <p:sp>
        <p:nvSpPr>
          <p:cNvPr id="21" name="Shape 19"/>
          <p:cNvSpPr/>
          <p:nvPr/>
        </p:nvSpPr>
        <p:spPr>
          <a:xfrm>
            <a:off x="7242048" y="4160520"/>
            <a:ext cx="1975104" cy="0"/>
          </a:xfrm>
          <a:prstGeom prst="line">
            <a:avLst/>
          </a:prstGeom>
          <a:noFill/>
          <a:ln w="25400">
            <a:solidFill>
              <a:srgbClr val="4F98C0"/>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DF4F9"/>
          </a:solidFill>
          <a:ln w="19050">
            <a:solidFill>
              <a:srgbClr val="0F4E7E"/>
            </a:solidFill>
            <a:prstDash val="solid"/>
          </a:ln>
        </p:spPr>
      </p:sp>
      <p:sp>
        <p:nvSpPr>
          <p:cNvPr id="23" name="Shape 21"/>
          <p:cNvSpPr/>
          <p:nvPr/>
        </p:nvSpPr>
        <p:spPr>
          <a:xfrm>
            <a:off x="5989320" y="3685032"/>
            <a:ext cx="182880" cy="182880"/>
          </a:xfrm>
          <a:prstGeom prst="ellipse">
            <a:avLst/>
          </a:prstGeom>
          <a:solidFill>
            <a:srgbClr val="0F4E7E"/>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aggregate store</a:t>
            </a:r>
            <a:endParaRPr lang="en-US" sz="1050" dirty="0"/>
          </a:p>
        </p:txBody>
      </p:sp>
      <p:sp>
        <p:nvSpPr>
          <p:cNvPr id="26" name="Shape 24"/>
          <p:cNvSpPr/>
          <p:nvPr/>
        </p:nvSpPr>
        <p:spPr>
          <a:xfrm>
            <a:off x="2944368" y="4160520"/>
            <a:ext cx="1975104" cy="0"/>
          </a:xfrm>
          <a:prstGeom prst="line">
            <a:avLst/>
          </a:prstGeom>
          <a:noFill/>
          <a:ln w="25400">
            <a:solidFill>
              <a:srgbClr val="4F98C0"/>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DF4F9"/>
          </a:solidFill>
          <a:ln w="19050">
            <a:solidFill>
              <a:srgbClr val="1E76A6"/>
            </a:solidFill>
            <a:prstDash val="solid"/>
          </a:ln>
        </p:spPr>
      </p:sp>
      <p:sp>
        <p:nvSpPr>
          <p:cNvPr id="28" name="Shape 26"/>
          <p:cNvSpPr/>
          <p:nvPr/>
        </p:nvSpPr>
        <p:spPr>
          <a:xfrm>
            <a:off x="1691640" y="3685032"/>
            <a:ext cx="182880" cy="182880"/>
          </a:xfrm>
          <a:prstGeom prst="ellipse">
            <a:avLst/>
          </a:prstGeom>
          <a:solidFill>
            <a:srgbClr val="1E76A6"/>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bridge console</a:t>
            </a:r>
            <a:endParaRPr lang="en-US" sz="1050" dirty="0"/>
          </a:p>
        </p:txBody>
      </p:sp>
      <p:sp>
        <p:nvSpPr>
          <p:cNvPr id="31" name="Shape 29"/>
          <p:cNvSpPr/>
          <p:nvPr/>
        </p:nvSpPr>
        <p:spPr>
          <a:xfrm>
            <a:off x="10378440" y="3154680"/>
            <a:ext cx="0" cy="365760"/>
          </a:xfrm>
          <a:prstGeom prst="line">
            <a:avLst/>
          </a:prstGeom>
          <a:noFill/>
          <a:ln w="25400">
            <a:solidFill>
              <a:srgbClr val="4F98C0"/>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0F4E7E"/>
                </a:solidFill>
                <a:latin typeface="Calibri" pitchFamily="34" charset="0"/>
                <a:ea typeface="Calibri" pitchFamily="34" charset="-122"/>
                <a:cs typeface="Calibri" pitchFamily="34" charset="-120"/>
              </a:rPr>
              <a:t>Each window is reduced to min, max, average, latest and count and checked against the alert rules before anything leaves the vessel; only summaries go ashore.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6A6"/>
                </a:solidFill>
                <a:latin typeface="Consolas" pitchFamily="34" charset="0"/>
                <a:ea typeface="Consolas" pitchFamily="34" charset="-122"/>
                <a:cs typeface="Consolas" pitchFamily="34" charset="-120"/>
              </a:rPr>
              <a:t>mvs-frontend-573065484152.s3-website-us-east-1.amazonaws.com</a:t>
            </a:r>
            <a:endParaRPr lang="en-US" sz="1400" dirty="0"/>
          </a:p>
        </p:txBody>
      </p:sp>
      <p:sp>
        <p:nvSpPr>
          <p:cNvPr id="4" name="Shape 2"/>
          <p:cNvSpPr/>
          <p:nvPr/>
        </p:nvSpPr>
        <p:spPr>
          <a:xfrm>
            <a:off x="640080" y="1874520"/>
            <a:ext cx="3502152" cy="3657600"/>
          </a:xfrm>
          <a:prstGeom prst="roundRect">
            <a:avLst>
              <a:gd name="adj" fmla="val 2611"/>
            </a:avLst>
          </a:prstGeom>
          <a:solidFill>
            <a:srgbClr val="EDF4F9"/>
          </a:solidFill>
          <a:ln w="15240">
            <a:solidFill>
              <a:srgbClr val="1E76A6"/>
            </a:solidFill>
            <a:prstDash val="solid"/>
          </a:ln>
        </p:spPr>
      </p:sp>
      <p:sp>
        <p:nvSpPr>
          <p:cNvPr id="5" name="Shape 3"/>
          <p:cNvSpPr/>
          <p:nvPr/>
        </p:nvSpPr>
        <p:spPr>
          <a:xfrm>
            <a:off x="914400" y="2194560"/>
            <a:ext cx="640080" cy="640080"/>
          </a:xfrm>
          <a:prstGeom prst="ellipse">
            <a:avLst/>
          </a:prstGeom>
          <a:solidFill>
            <a:srgbClr val="0F4E7E"/>
          </a:solidFill>
          <a:ln/>
        </p:spPr>
      </p:sp>
      <p:sp>
        <p:nvSpPr>
          <p:cNvPr id="6" name="Text 4"/>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1</a:t>
            </a:r>
            <a:endParaRPr lang="en-US" sz="2400" dirty="0"/>
          </a:p>
        </p:txBody>
      </p:sp>
      <p:sp>
        <p:nvSpPr>
          <p:cNvPr id="7" name="Text 5"/>
          <p:cNvSpPr/>
          <p:nvPr/>
        </p:nvSpPr>
        <p:spPr>
          <a:xfrm>
            <a:off x="914400"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A Bridge Console per vessel</a:t>
            </a:r>
            <a:endParaRPr lang="en-US" sz="1700" dirty="0"/>
          </a:p>
        </p:txBody>
      </p:sp>
      <p:sp>
        <p:nvSpPr>
          <p:cNvPr id="8" name="Text 6"/>
          <p:cNvSpPr/>
          <p:nvPr/>
        </p:nvSpPr>
        <p:spPr>
          <a:xfrm>
            <a:off x="914400"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Engine, fuel, ballast, hull vibration and passengers live for both vessels, reduced to a summary before it leaves the ship.</a:t>
            </a:r>
            <a:endParaRPr lang="en-US" sz="1300" dirty="0"/>
          </a:p>
        </p:txBody>
      </p:sp>
      <p:sp>
        <p:nvSpPr>
          <p:cNvPr id="9" name="Shape 7"/>
          <p:cNvSpPr/>
          <p:nvPr/>
        </p:nvSpPr>
        <p:spPr>
          <a:xfrm>
            <a:off x="4416552" y="1874520"/>
            <a:ext cx="3502152" cy="3657600"/>
          </a:xfrm>
          <a:prstGeom prst="roundRect">
            <a:avLst>
              <a:gd name="adj" fmla="val 2611"/>
            </a:avLst>
          </a:prstGeom>
          <a:solidFill>
            <a:srgbClr val="EDF4F9"/>
          </a:solidFill>
          <a:ln w="15240">
            <a:solidFill>
              <a:srgbClr val="1E76A6"/>
            </a:solidFill>
            <a:prstDash val="solid"/>
          </a:ln>
        </p:spPr>
      </p:sp>
      <p:sp>
        <p:nvSpPr>
          <p:cNvPr id="10" name="Shape 8"/>
          <p:cNvSpPr/>
          <p:nvPr/>
        </p:nvSpPr>
        <p:spPr>
          <a:xfrm>
            <a:off x="4690872" y="2194560"/>
            <a:ext cx="640080" cy="640080"/>
          </a:xfrm>
          <a:prstGeom prst="ellipse">
            <a:avLst/>
          </a:prstGeom>
          <a:solidFill>
            <a:srgbClr val="0F4E7E"/>
          </a:solidFill>
          <a:ln/>
        </p:spPr>
      </p:sp>
      <p:sp>
        <p:nvSpPr>
          <p:cNvPr id="11" name="Text 9"/>
          <p:cNvSpPr/>
          <p:nvPr/>
        </p:nvSpPr>
        <p:spPr>
          <a:xfrm>
            <a:off x="4690872"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2</a:t>
            </a:r>
            <a:endParaRPr lang="en-US" sz="2400" dirty="0"/>
          </a:p>
        </p:txBody>
      </p:sp>
      <p:sp>
        <p:nvSpPr>
          <p:cNvPr id="12" name="Text 10"/>
          <p:cNvSpPr/>
          <p:nvPr/>
        </p:nvSpPr>
        <p:spPr>
          <a:xfrm>
            <a:off x="4690872"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Real alerts on the console</a:t>
            </a:r>
            <a:endParaRPr lang="en-US" sz="1700" dirty="0"/>
          </a:p>
        </p:txBody>
      </p:sp>
      <p:sp>
        <p:nvSpPr>
          <p:cNvPr id="13" name="Text 11"/>
          <p:cNvSpPr/>
          <p:nvPr/>
        </p:nvSpPr>
        <p:spPr>
          <a:xfrm>
            <a:off x="4690872"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Excessive fuel burn and hull stress fire on the Bridge Console as their thresholds are crossed, on real data.</a:t>
            </a:r>
            <a:endParaRPr lang="en-US" sz="1300" dirty="0"/>
          </a:p>
        </p:txBody>
      </p:sp>
      <p:sp>
        <p:nvSpPr>
          <p:cNvPr id="14" name="Shape 12"/>
          <p:cNvSpPr/>
          <p:nvPr/>
        </p:nvSpPr>
        <p:spPr>
          <a:xfrm>
            <a:off x="8193024" y="1874520"/>
            <a:ext cx="3502152" cy="3657600"/>
          </a:xfrm>
          <a:prstGeom prst="roundRect">
            <a:avLst>
              <a:gd name="adj" fmla="val 2611"/>
            </a:avLst>
          </a:prstGeom>
          <a:solidFill>
            <a:srgbClr val="EDF4F9"/>
          </a:solidFill>
          <a:ln w="15240">
            <a:solidFill>
              <a:srgbClr val="1E76A6"/>
            </a:solidFill>
            <a:prstDash val="solid"/>
          </a:ln>
        </p:spPr>
      </p:sp>
      <p:sp>
        <p:nvSpPr>
          <p:cNvPr id="15" name="Shape 13"/>
          <p:cNvSpPr/>
          <p:nvPr/>
        </p:nvSpPr>
        <p:spPr>
          <a:xfrm>
            <a:off x="8467344" y="2194560"/>
            <a:ext cx="640080" cy="640080"/>
          </a:xfrm>
          <a:prstGeom prst="ellipse">
            <a:avLst/>
          </a:prstGeom>
          <a:solidFill>
            <a:srgbClr val="0F4E7E"/>
          </a:solidFill>
          <a:ln/>
        </p:spPr>
      </p:sp>
      <p:sp>
        <p:nvSpPr>
          <p:cNvPr id="16" name="Text 14"/>
          <p:cNvSpPr/>
          <p:nvPr/>
        </p:nvSpPr>
        <p:spPr>
          <a:xfrm>
            <a:off x="8467344"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3</a:t>
            </a:r>
            <a:endParaRPr lang="en-US" sz="2400" dirty="0"/>
          </a:p>
        </p:txBody>
      </p:sp>
      <p:sp>
        <p:nvSpPr>
          <p:cNvPr id="17" name="Text 15"/>
          <p:cNvSpPr/>
          <p:nvPr/>
        </p:nvSpPr>
        <p:spPr>
          <a:xfrm>
            <a:off x="8467344"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Stored items climbing live</a:t>
            </a:r>
            <a:endParaRPr lang="en-US" sz="1700" dirty="0"/>
          </a:p>
        </p:txBody>
      </p:sp>
      <p:sp>
        <p:nvSpPr>
          <p:cNvPr id="18" name="Text 16"/>
          <p:cNvSpPr/>
          <p:nvPr/>
        </p:nvSpPr>
        <p:spPr>
          <a:xfrm>
            <a:off x="8467344"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The count grows 59 to 374 to 425 during verification, and the freshest reading stays under a second old.</a:t>
            </a:r>
            <a:endParaRPr lang="en-US" sz="1300" dirty="0"/>
          </a:p>
        </p:txBody>
      </p:sp>
      <p:sp>
        <p:nvSpPr>
          <p:cNvPr id="19" name="Text 17"/>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4F98C0"/>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2436"/>
        </a:solidFill>
      </p:bgPr>
    </p:bg>
    <p:spTree>
      <p:nvGrpSpPr>
        <p:cNvPr id="1" name=""/>
        <p:cNvGrpSpPr/>
        <p:nvPr/>
      </p:nvGrpSpPr>
      <p:grpSpPr>
        <a:xfrm>
          <a:off x="0" y="0"/>
          <a:ext cx="0" cy="0"/>
          <a:chOff x="0" y="0"/>
          <a:chExt cx="0" cy="0"/>
        </a:xfrm>
      </p:grpSpPr>
      <p:sp>
        <p:nvSpPr>
          <p:cNvPr id="2" name="Text 0"/>
          <p:cNvSpPr/>
          <p:nvPr/>
        </p:nvSpPr>
        <p:spPr>
          <a:xfrm>
            <a:off x="640080" y="594360"/>
            <a:ext cx="10972800" cy="822960"/>
          </a:xfrm>
          <a:prstGeom prst="rect">
            <a:avLst/>
          </a:prstGeom>
          <a:noFill/>
          <a:ln/>
        </p:spPr>
        <p:txBody>
          <a:bodyPr wrap="square" rtlCol="0" anchor="t"/>
          <a:lstStyle/>
          <a:p>
            <a:pPr indent="0" marL="0">
              <a:buNone/>
            </a:pPr>
            <a:r>
              <a:rPr lang="en-US" sz="2800" b="1" dirty="0">
                <a:solidFill>
                  <a:srgbClr val="FFFFFF"/>
                </a:solidFill>
                <a:latin typeface="Times New Roman" pitchFamily="34" charset="0"/>
                <a:ea typeface="Times New Roman" pitchFamily="34" charset="-122"/>
                <a:cs typeface="Times New Roman" pitchFamily="34" charset="-120"/>
              </a:rPr>
              <a:t>Hardest Part — green checks, broken page</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200" b="1" dirty="0">
                <a:solidFill>
                  <a:srgbClr val="E5A83C"/>
                </a:solidFill>
                <a:latin typeface="Times New Roman" pitchFamily="34" charset="0"/>
                <a:ea typeface="Times New Roman" pitchFamily="34" charset="-122"/>
                <a:cs typeface="Times New Roman" pitchFamily="34" charset="-120"/>
              </a:rPr>
              <a:t>Problem</a:t>
            </a:r>
            <a:endParaRPr lang="en-US" sz="2200" dirty="0"/>
          </a:p>
        </p:txBody>
      </p:sp>
      <p:sp>
        <p:nvSpPr>
          <p:cNvPr id="4" name="Shape 2"/>
          <p:cNvSpPr/>
          <p:nvPr/>
        </p:nvSpPr>
        <p:spPr>
          <a:xfrm>
            <a:off x="3200400" y="1920240"/>
            <a:ext cx="0" cy="1737360"/>
          </a:xfrm>
          <a:prstGeom prst="line">
            <a:avLst/>
          </a:prstGeom>
          <a:noFill/>
          <a:ln w="25400">
            <a:solidFill>
              <a:srgbClr val="E5A83C"/>
            </a:solidFill>
            <a:prstDash val="solid"/>
          </a:ln>
        </p:spPr>
      </p:sp>
      <p:sp>
        <p:nvSpPr>
          <p:cNvPr id="5" name="Text 3"/>
          <p:cNvSpPr/>
          <p:nvPr/>
        </p:nvSpPr>
        <p:spPr>
          <a:xfrm>
            <a:off x="3474720" y="1920240"/>
            <a:ext cx="7955280" cy="1874520"/>
          </a:xfrm>
          <a:prstGeom prst="rect">
            <a:avLst/>
          </a:prstGeom>
          <a:noFill/>
          <a:ln/>
        </p:spPr>
        <p:txBody>
          <a:bodyPr wrap="square" lIns="0" tIns="0" rIns="0" bIns="0" rtlCol="0" anchor="ctr"/>
          <a:lstStyle/>
          <a:p>
            <a:pPr indent="0" marL="0">
              <a:lnSpc>
                <a:spcPct val="110000"/>
              </a:lnSpc>
              <a:buNone/>
            </a:pPr>
            <a:r>
              <a:rPr lang="en-US" sz="1450" dirty="0">
                <a:solidFill>
                  <a:srgbClr val="CEE2EE"/>
                </a:solidFill>
                <a:latin typeface="Calibri" pitchFamily="34" charset="0"/>
                <a:ea typeface="Calibri" pitchFamily="34" charset="-122"/>
                <a:cs typeface="Calibri" pitchFamily="34" charset="-120"/>
              </a:rPr>
              <a:t>Deployed to the real AWS account, the dashboard page loaded but every panel stayed empty — its stylesheet, script and chart library all returned 404 from S3. Every signal said healthy: 120 tests green, a full emulator run clean, every curl check on the JSON API returning live data. The upload had flattened the static folder to the bucket root, and nothing was testing the page's own asset requests.</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200" b="1" dirty="0">
                <a:solidFill>
                  <a:srgbClr val="4F98C0"/>
                </a:solidFill>
                <a:latin typeface="Times New Roman" pitchFamily="34" charset="0"/>
                <a:ea typeface="Times New Roman" pitchFamily="34" charset="-122"/>
                <a:cs typeface="Times New Roman" pitchFamily="34" charset="-120"/>
              </a:rPr>
              <a:t>Solution</a:t>
            </a:r>
            <a:endParaRPr lang="en-US" sz="2200" dirty="0"/>
          </a:p>
        </p:txBody>
      </p:sp>
      <p:sp>
        <p:nvSpPr>
          <p:cNvPr id="7" name="Shape 5"/>
          <p:cNvSpPr/>
          <p:nvPr/>
        </p:nvSpPr>
        <p:spPr>
          <a:xfrm>
            <a:off x="3200400" y="4069080"/>
            <a:ext cx="0" cy="1737360"/>
          </a:xfrm>
          <a:prstGeom prst="line">
            <a:avLst/>
          </a:prstGeom>
          <a:noFill/>
          <a:ln w="25400">
            <a:solidFill>
              <a:srgbClr val="4F98C0"/>
            </a:solidFill>
            <a:prstDash val="solid"/>
          </a:ln>
        </p:spPr>
      </p:sp>
      <p:sp>
        <p:nvSpPr>
          <p:cNvPr id="8" name="Text 6"/>
          <p:cNvSpPr/>
          <p:nvPr/>
        </p:nvSpPr>
        <p:spPr>
          <a:xfrm>
            <a:off x="3474720" y="4069080"/>
            <a:ext cx="7955280" cy="1874520"/>
          </a:xfrm>
          <a:prstGeom prst="rect">
            <a:avLst/>
          </a:prstGeom>
          <a:noFill/>
          <a:ln/>
        </p:spPr>
        <p:txBody>
          <a:bodyPr wrap="square" lIns="0" tIns="0" rIns="0" bIns="0" rtlCol="0" anchor="ctr"/>
          <a:lstStyle/>
          <a:p>
            <a:pPr indent="0" marL="0">
              <a:lnSpc>
                <a:spcPct val="110000"/>
              </a:lnSpc>
              <a:buNone/>
            </a:pPr>
            <a:r>
              <a:rPr lang="en-US" sz="1450" dirty="0">
                <a:solidFill>
                  <a:srgbClr val="CEE2EE"/>
                </a:solidFill>
                <a:latin typeface="Calibri" pitchFamily="34" charset="0"/>
                <a:ea typeface="Calibri" pitchFamily="34" charset="-122"/>
                <a:cs typeface="Calibri" pitchFamily="34" charset="-120"/>
              </a:rPr>
              <a:t>Open the real page in a real browser and read its network requests — three 404s, visible immediately. Re-upload preserving the exact paths the page asks for, then re-verify by watching the item count climb across live reloads. The same live run also exposed a count-only scan undercount and one-message-per-aggregate sends, both fixed.</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2026-07-24T07:00:28Z</dcterms:created>
  <dcterms:modified xsi:type="dcterms:W3CDTF">2026-07-24T07:00:28Z</dcterms:modified>
</cp:coreProperties>
</file>