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2B6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E4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3383280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1">
                <a:solidFill>
                  <a:srgbClr val="DFE8F1"/>
                </a:solidFill>
                <a:latin typeface="Cambria"/>
              </a:rPr>
              <a:t>Two plants; turbidity, pH, chlorine, flow, pressure; edge decisions in seconds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783080"/>
            <a:ext cx="704088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eorgia"/>
              </a:rPr>
              <a:t>Water Treatment Utility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4434840"/>
            <a:ext cx="68580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BFD2E3"/>
                </a:solidFill>
                <a:latin typeface="Cambria"/>
              </a:rPr>
              <a:t>MSc in Cloud Computing   ·   Fog and Edge Computing (H9FECC)</a:t>
            </a:r>
          </a:p>
          <a:p>
            <a:pPr algn="l"/>
            <a:r>
              <a:rPr sz="1250" b="0" i="0">
                <a:solidFill>
                  <a:srgbClr val="BFD2E3"/>
                </a:solidFill>
                <a:latin typeface="Cambria"/>
              </a:rPr>
              <a:t>National College of Ireland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-91440" y="6693408"/>
            <a:ext cx="12435840" cy="164592"/>
          </a:xfrm>
          <a:prstGeom prst="rect">
            <a:avLst/>
          </a:prstGeom>
          <a:solidFill>
            <a:srgbClr val="2B6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-91440" y="0"/>
            <a:ext cx="12435840" cy="164592"/>
          </a:xfrm>
          <a:prstGeom prst="rect">
            <a:avLst/>
          </a:prstGeom>
          <a:solidFill>
            <a:srgbClr val="2B6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972800" cy="868680"/>
          </a:xfrm>
        </p:spPr>
        <p:txBody>
          <a:bodyPr wrap="square" anchor="t"/>
          <a:lstStyle/>
          <a:p>
            <a:pPr algn="l"/>
            <a:r>
              <a:rPr b="1" sz="2700">
                <a:solidFill>
                  <a:srgbClr val="2B6CA3"/>
                </a:solidFill>
                <a:latin typeface="Georgia"/>
              </a:rPr>
              <a:t>Why periodic checking fails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" y="1463040"/>
            <a:ext cx="10972800" cy="4754880"/>
          </a:xfrm>
        </p:spPr>
        <p:txBody>
          <a:bodyPr wrap="square">
            <a:norm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Cambria"/>
              </a:rPr>
              <a:t>Treatment quality moves second by second, and grab samples and periodic control-room rounds only ever see snapshots.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Cambria"/>
              </a:rPr>
              <a:t>Ten sensor points across two plants stream turbidity, pH, chlorine, flow and pressure every 1 to 3 seconds, far faster than any manual round.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Cambria"/>
              </a:rPr>
              <a:t>Transient events vanish into averages: a momentary pressure drop can mean a hydraulic fault even when the daily mean looks perfectly healthy.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Cambria"/>
              </a:rPr>
              <a:t>This pipeline scores every 10-second window as it closes, so a violation raises an alert in seconds, not at the next scheduled check.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2B6CA3"/>
                </a:solidFill>
                <a:latin typeface="Cambria"/>
              </a:rPr>
              <a:t>Two thresholds are checked against the window, never the average: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232A26"/>
                </a:solidFill>
                <a:latin typeface="Cambria"/>
              </a:rPr>
              <a:t>Low-pressure fault at &lt; 2 bar, checked against the window minimum, so a brief dip cannot hide.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232A26"/>
                </a:solidFill>
                <a:latin typeface="Cambria"/>
              </a:rPr>
              <a:t>Chlorine residual floor at &lt; 0.2 ppm, with an under-chlorination alert firing in the same window it happens.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-91440" y="6693408"/>
            <a:ext cx="12435840" cy="164592"/>
          </a:xfrm>
          <a:prstGeom prst="rect">
            <a:avLst/>
          </a:prstGeom>
          <a:solidFill>
            <a:srgbClr val="2B6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-91440" y="0"/>
            <a:ext cx="12435840" cy="164592"/>
          </a:xfrm>
          <a:prstGeom prst="rect">
            <a:avLst/>
          </a:prstGeom>
          <a:solidFill>
            <a:srgbClr val="2B6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972800" cy="868680"/>
          </a:xfrm>
        </p:spPr>
        <p:txBody>
          <a:bodyPr wrap="square" anchor="t"/>
          <a:lstStyle/>
          <a:p>
            <a:pPr algn="l"/>
            <a:r>
              <a:rPr b="1" sz="2700">
                <a:solidFill>
                  <a:srgbClr val="2B6CA3"/>
                </a:solidFill>
                <a:latin typeface="Georgia"/>
              </a:rPr>
              <a:t>How it works: intake to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" y="1463040"/>
            <a:ext cx="10972800" cy="4754880"/>
          </a:xfrm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B6CA3"/>
                </a:solidFill>
                <a:latin typeface="Cambria"/>
              </a:rPr>
              <a:t>At the plant, edge: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Cambria"/>
              </a:rPr>
              <a:t>Sensors: 10 field sensors across 2 plants.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Cambria"/>
              </a:rPr>
              <a:t>Fog node: 10-second windows, aggregate, alert gates.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B6CA3"/>
                </a:solidFill>
                <a:latin typeface="Cambria"/>
              </a:rPr>
              <a:t>AWS cloud: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Cambria"/>
              </a:rPr>
              <a:t>Amazon SQS: one summary per window, batched.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Cambria"/>
              </a:rPr>
              <a:t>AWS Lambda: serverless ingest of each summary.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Cambria"/>
              </a:rPr>
              <a:t>DynamoDB: time-series store of every window.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Cambria"/>
              </a:rPr>
              <a:t>Live dashboard: served via S3 and API Gateway.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32A26"/>
                </a:solidFill>
                <a:latin typeface="Cambria"/>
              </a:rPr>
              <a:t>Verified end to end locally with Docker and an AWS emulator, and the same AWS SDK code deploys to real AWS in a single scripted step.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-91440" y="6693408"/>
            <a:ext cx="12435840" cy="164592"/>
          </a:xfrm>
          <a:prstGeom prst="rect">
            <a:avLst/>
          </a:prstGeom>
          <a:solidFill>
            <a:srgbClr val="2B6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-91440" y="0"/>
            <a:ext cx="12435840" cy="164592"/>
          </a:xfrm>
          <a:prstGeom prst="rect">
            <a:avLst/>
          </a:prstGeom>
          <a:solidFill>
            <a:srgbClr val="2B6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972800" cy="868680"/>
          </a:xfrm>
        </p:spPr>
        <p:txBody>
          <a:bodyPr wrap="square" anchor="t"/>
          <a:lstStyle/>
          <a:p>
            <a:pPr algn="l"/>
            <a:r>
              <a:rPr b="1" sz="2700">
                <a:solidFill>
                  <a:srgbClr val="2B6CA3"/>
                </a:solidFill>
                <a:latin typeface="Georgia"/>
              </a:rPr>
              <a:t>Demonstration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" y="1463040"/>
            <a:ext cx="5760720" cy="4663440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Cambria"/>
              </a:rPr>
              <a:t>Dashboard during the end-to-end local run: reading-by-plant matrix, compliance strips, cross-plant trends.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Cambria"/>
              </a:rPr>
              <a:t>4 / 4 pipeline health checks green: gateway, queue, Lambda, and end-to-end pipeline.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Cambria"/>
              </a:rPr>
              <a:t>107 automated tests pass across sensors, fog, processor and dashboard.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Cambria"/>
              </a:rPr>
              <a:t>2,000 message burst absorbed by the queue and drained by the consumer.</a:t>
            </a:r>
          </a:p>
        </p:txBody>
      </p:sp>
      <p:pic>
        <p:nvPicPr>
          <p:cNvPr id="6" name="Picture 5" descr="dashboard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939671"/>
            <a:ext cx="5120640" cy="36004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-91440" y="6693408"/>
            <a:ext cx="12435840" cy="164592"/>
          </a:xfrm>
          <a:prstGeom prst="rect">
            <a:avLst/>
          </a:prstGeom>
          <a:solidFill>
            <a:srgbClr val="2B6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-91440" y="0"/>
            <a:ext cx="12435840" cy="164592"/>
          </a:xfrm>
          <a:prstGeom prst="rect">
            <a:avLst/>
          </a:prstGeom>
          <a:solidFill>
            <a:srgbClr val="2B6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972800" cy="868680"/>
          </a:xfrm>
        </p:spPr>
        <p:txBody>
          <a:bodyPr wrap="square" anchor="t"/>
          <a:lstStyle/>
          <a:p>
            <a:pPr algn="l"/>
            <a:r>
              <a:rPr b="1" sz="2700">
                <a:solidFill>
                  <a:srgbClr val="2B6CA3"/>
                </a:solidFill>
                <a:latin typeface="Georgia"/>
              </a:rPr>
              <a:t>The hardest part: burst survival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" y="1463040"/>
            <a:ext cx="10972800" cy="4754880"/>
          </a:xfrm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B6CA3"/>
                </a:solidFill>
                <a:latin typeface="Cambria"/>
              </a:rPr>
              <a:t>The problem: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Cambria"/>
              </a:rPr>
              <a:t>Normal traffic is one summary every ten seconds. To claim scalability we fired 2,000 messages at the queue from 32 parallel workers, orders of magnitude above normal load.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B6CA3"/>
                </a:solidFill>
                <a:latin typeface="Cambria"/>
              </a:rPr>
              <a:t>Why it was hard: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Cambria"/>
              </a:rPr>
              <a:t>From outside, a non-empty queue is ambiguous: a slow consumer and a dead one look identical. The emulator runs the Lambda in a single container, so drain time swings wildly, and a naive pass/fail test either flakes or lies.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B6CA3"/>
                </a:solidFill>
                <a:latin typeface="Cambria"/>
              </a:rPr>
              <a:t>The fix: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Cambria"/>
              </a:rPr>
              <a:t>A two-tier check: first assert the queue really absorbed the burst, then require either a full drain in time or a backlog strictly below the post-burst peak. Decreasing numbers prove the consumer is alive and working, not stalled.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32A26"/>
                </a:solidFill>
                <a:latin typeface="Cambria"/>
              </a:rPr>
              <a:t>Queue backlog over the test: 2,000 after send, falling mid-test, 0 drained.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32A26"/>
                </a:solidFill>
                <a:latin typeface="Cambria"/>
              </a:rPr>
              <a:t>Strictly decreasing backlog means real progress, not a stall.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-91440" y="6693408"/>
            <a:ext cx="12435840" cy="164592"/>
          </a:xfrm>
          <a:prstGeom prst="rect">
            <a:avLst/>
          </a:prstGeom>
          <a:solidFill>
            <a:srgbClr val="2B6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-91440" y="0"/>
            <a:ext cx="12435840" cy="164592"/>
          </a:xfrm>
          <a:prstGeom prst="rect">
            <a:avLst/>
          </a:prstGeom>
          <a:solidFill>
            <a:srgbClr val="2B6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972800" cy="868680"/>
          </a:xfrm>
        </p:spPr>
        <p:txBody>
          <a:bodyPr wrap="square" anchor="t"/>
          <a:lstStyle/>
          <a:p>
            <a:pPr algn="l"/>
            <a:r>
              <a:rPr b="1" sz="2700">
                <a:solidFill>
                  <a:srgbClr val="2B6CA3"/>
                </a:solidFill>
                <a:latin typeface="Georgia"/>
              </a:rPr>
              <a:t>What to take 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" y="1463040"/>
            <a:ext cx="10972800" cy="4754880"/>
          </a:xfrm>
        </p:spPr>
        <p:txBody>
          <a:bodyPr wrap="square">
            <a:norm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Cambria"/>
              </a:rPr>
              <a:t>Decide at the edge: alerts fire the moment a 10-second window closes, on site, with no round trip to the cloud before acting.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Cambria"/>
              </a:rPr>
              <a:t>Ship summaries, not noise: one aggregate per window flows through Amazon SQS, AWS Lambda and DynamoDB, which is lean, cheap and durable.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2B6CA3"/>
                </a:solidFill>
                <a:latin typeface="Cambria"/>
              </a:rPr>
              <a:t>Proven and portable: 107 tests pass, a 2,000-message burst drains, and one scripted step moves it onto real AWS.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Cambria"/>
              </a:rPr>
              <a:t>The pipeline runs end to end: intake, sensing, quality gates, cloud store, outflow.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Cambria"/>
              </a:rPr>
              <a:t>Thank you.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