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2452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011680"/>
            <a:ext cx="10332720" cy="1783080"/>
          </a:xfrm>
          <a:prstGeom prst="rect">
            <a:avLst/>
          </a:prstGeom>
          <a:noFill/>
        </p:spPr>
        <p:txBody>
          <a:bodyPr wrap="square" anchor="ctr">
            <a:spAutoFit/>
          </a:bodyPr>
          <a:lstStyle/>
          <a:p>
            <a:pPr algn="ctr"/>
            <a:r>
              <a:rPr sz="3400" b="1" i="0">
                <a:solidFill>
                  <a:srgbClr val="FFFFFF"/>
                </a:solidFill>
                <a:latin typeface="Cambria"/>
              </a:rPr>
              <a:t>Cold Chain Logistics Monitoring</a:t>
            </a:r>
          </a:p>
        </p:txBody>
      </p:sp>
      <p:sp>
        <p:nvSpPr>
          <p:cNvPr id="4" name="TextBox 3"/>
          <p:cNvSpPr txBox="1"/>
          <p:nvPr/>
        </p:nvSpPr>
        <p:spPr>
          <a:xfrm>
            <a:off x="1371600" y="3840480"/>
            <a:ext cx="9418320" cy="548640"/>
          </a:xfrm>
          <a:prstGeom prst="rect">
            <a:avLst/>
          </a:prstGeom>
          <a:noFill/>
        </p:spPr>
        <p:txBody>
          <a:bodyPr wrap="square" anchor="t">
            <a:spAutoFit/>
          </a:bodyPr>
          <a:lstStyle/>
          <a:p>
            <a:pPr algn="ctr"/>
            <a:r>
              <a:rPr sz="1800" b="0" i="1">
                <a:solidFill>
                  <a:srgbClr val="C1CEE6"/>
                </a:solidFill>
                <a:latin typeface="Calibri"/>
              </a:rPr>
              <a:t>Ten container sensors, five risk signals, one live manifest</a:t>
            </a:r>
          </a:p>
        </p:txBody>
      </p:sp>
      <p:sp>
        <p:nvSpPr>
          <p:cNvPr id="5" name="TextBox 4"/>
          <p:cNvSpPr txBox="1"/>
          <p:nvPr/>
        </p:nvSpPr>
        <p:spPr>
          <a:xfrm>
            <a:off x="1371600" y="4709160"/>
            <a:ext cx="9418320" cy="1463040"/>
          </a:xfrm>
          <a:prstGeom prst="rect">
            <a:avLst/>
          </a:prstGeom>
          <a:noFill/>
        </p:spPr>
        <p:txBody>
          <a:bodyPr wrap="square" anchor="t">
            <a:spAutoFit/>
          </a:bodyPr>
          <a:lstStyle/>
          <a:p>
            <a:pPr algn="ctr"/>
            <a:r>
              <a:rPr sz="1700" b="1" i="0">
                <a:solidFill>
                  <a:srgbClr val="FFFFFF"/>
                </a:solidFill>
                <a:latin typeface="Calibri"/>
              </a:rPr>
              <a:t>Srinidhi Vutkoori</a:t>
            </a:r>
          </a:p>
          <a:p>
            <a:pPr algn="ctr"/>
            <a:r>
              <a:rPr sz="1300" b="0" i="0">
                <a:solidFill>
                  <a:srgbClr val="ABBDDD"/>
                </a:solidFill>
                <a:latin typeface="Calibri"/>
              </a:rPr>
              <a:t>Student ID X25173243</a:t>
            </a:r>
          </a:p>
          <a:p>
            <a:pPr algn="ctr"/>
            <a:r>
              <a:rPr sz="1250" b="0" i="0">
                <a:solidFill>
                  <a:srgbClr val="ABBDDD"/>
                </a:solidFill>
                <a:latin typeface="Calibri"/>
              </a:rPr>
              <a:t>MSc in Cloud Computing   ·   Fog and Edge Computing (H9FECC)</a:t>
            </a:r>
          </a:p>
          <a:p>
            <a:pPr algn="ctr"/>
            <a:r>
              <a:rPr sz="1250" b="0" i="0">
                <a:solidFill>
                  <a:srgbClr val="ABBDDD"/>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13232" y="731520"/>
            <a:ext cx="10698480" cy="868680"/>
          </a:xfrm>
        </p:spPr>
        <p:txBody>
          <a:bodyPr wrap="square" anchor="t"/>
          <a:lstStyle/>
          <a:p>
            <a:pPr algn="l"/>
            <a:r>
              <a:rPr b="1" sz="2700">
                <a:solidFill>
                  <a:srgbClr val="2452A8"/>
                </a:solidFill>
                <a:latin typeface="Cambria"/>
              </a:rPr>
              <a:t>Why periodic checking fails a cold chain</a:t>
            </a:r>
          </a:p>
        </p:txBody>
      </p:sp>
      <p:sp>
        <p:nvSpPr>
          <p:cNvPr id="3" name="Content Placeholder 2"/>
          <p:cNvSpPr>
            <a:spLocks noGrp="1"/>
          </p:cNvSpPr>
          <p:nvPr>
            <p:ph idx="1"/>
          </p:nvPr>
        </p:nvSpPr>
        <p:spPr>
          <a:xfrm>
            <a:off x="713232" y="1737360"/>
            <a:ext cx="10698480" cy="4526280"/>
          </a:xfrm>
        </p:spPr>
        <p:txBody>
          <a:bodyPr wrap="square">
            <a:normAutofit/>
          </a:bodyPr>
          <a:lstStyle/>
          <a:p>
            <a:pPr>
              <a:spcAft>
                <a:spcPts val="900"/>
              </a:spcAft>
            </a:pPr>
            <a:r>
              <a:rPr sz="1700" b="0">
                <a:solidFill>
                  <a:srgbClr val="232A26"/>
                </a:solidFill>
                <a:latin typeface="Calibri"/>
              </a:rPr>
              <a:t>Cargo risk builds in seconds: a reefer container whose window-average temperature drifts above -15 C is already breaching the cold chain.</a:t>
            </a:r>
          </a:p>
          <a:p>
            <a:pPr>
              <a:spcAft>
                <a:spcPts val="900"/>
              </a:spcAft>
            </a:pPr>
            <a:r>
              <a:rPr sz="1700" b="0">
                <a:solidFill>
                  <a:srgbClr val="232A26"/>
                </a:solidFill>
                <a:latin typeface="Calibri"/>
              </a:rPr>
              <a:t>Every container carries five independent risk signals, storage temperature, humidity, door-open time, shock, and CO2, far more than a clipboard round can track.</a:t>
            </a:r>
          </a:p>
          <a:p>
            <a:pPr>
              <a:spcAft>
                <a:spcPts val="900"/>
              </a:spcAft>
            </a:pPr>
            <a:r>
              <a:rPr sz="1700" b="0">
                <a:solidFill>
                  <a:srgbClr val="232A26"/>
                </a:solidFill>
                <a:latin typeface="Calibri"/>
              </a:rPr>
              <a:t>A periodic or manual check discovers the breach after the damage is done, and nothing connects the door left open to the load that spoiled.</a:t>
            </a:r>
          </a:p>
          <a:p>
            <a:pPr>
              <a:spcAft>
                <a:spcPts val="900"/>
              </a:spcAft>
            </a:pPr>
            <a:r>
              <a:rPr sz="1700" b="0">
                <a:solidFill>
                  <a:srgbClr val="232A26"/>
                </a:solidFill>
                <a:latin typeface="Calibri"/>
              </a:rPr>
              <a:t>This project replaces the clipboard: sensors sample every 2-5 seconds and every container is re-scored every 10 seconds, continuously.</a:t>
            </a:r>
          </a:p>
          <a:p>
            <a:pPr>
              <a:spcAft>
                <a:spcPts val="900"/>
              </a:spcAft>
            </a:pPr>
            <a:r>
              <a:rPr sz="1700" b="0">
                <a:solidFill>
                  <a:srgbClr val="232A26"/>
                </a:solidFill>
                <a:latin typeface="Calibri"/>
              </a:rPr>
              <a:t>-15 C: window-average storage temperature that flags a cold-chain breach.</a:t>
            </a:r>
          </a:p>
          <a:p>
            <a:pPr>
              <a:spcAft>
                <a:spcPts val="900"/>
              </a:spcAft>
            </a:pPr>
            <a:r>
              <a:rPr sz="1700" b="0">
                <a:solidFill>
                  <a:srgbClr val="232A26"/>
                </a:solidFill>
                <a:latin typeface="Calibri"/>
              </a:rPr>
              <a:t>300 s: average door-open duration that raises an operational alert.</a:t>
            </a:r>
          </a:p>
          <a:p>
            <a:pPr>
              <a:spcAft>
                <a:spcPts val="900"/>
              </a:spcAft>
            </a:pPr>
            <a:r>
              <a:rPr sz="1700" b="0">
                <a:solidFill>
                  <a:srgbClr val="232A26"/>
                </a:solidFill>
                <a:latin typeface="Calibri"/>
              </a:rPr>
              <a:t>10 s: aggregation window, the longest an exception waits to surface.</a:t>
            </a:r>
          </a:p>
        </p:txBody>
      </p:sp>
      <p:sp>
        <p:nvSpPr>
          <p:cNvPr id="4" name="Rectangle 3"/>
          <p:cNvSpPr/>
          <p:nvPr/>
        </p:nvSpPr>
        <p:spPr>
          <a:xfrm>
            <a:off x="457200" y="457200"/>
            <a:ext cx="2286000" cy="50292"/>
          </a:xfrm>
          <a:prstGeom prst="rect">
            <a:avLst/>
          </a:prstGeom>
          <a:solidFill>
            <a:srgbClr val="2452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457200"/>
            <a:ext cx="50292" cy="1325880"/>
          </a:xfrm>
          <a:prstGeom prst="rect">
            <a:avLst/>
          </a:prstGeom>
          <a:solidFill>
            <a:srgbClr val="2452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445752" y="6355080"/>
            <a:ext cx="2286000" cy="50292"/>
          </a:xfrm>
          <a:prstGeom prst="rect">
            <a:avLst/>
          </a:prstGeom>
          <a:solidFill>
            <a:srgbClr val="2452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686032" y="5074920"/>
            <a:ext cx="50292" cy="1325880"/>
          </a:xfrm>
          <a:prstGeom prst="rect">
            <a:avLst/>
          </a:prstGeom>
          <a:solidFill>
            <a:srgbClr val="2452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13232" y="731520"/>
            <a:ext cx="10698480" cy="868680"/>
          </a:xfrm>
        </p:spPr>
        <p:txBody>
          <a:bodyPr wrap="square" anchor="t"/>
          <a:lstStyle/>
          <a:p>
            <a:pPr algn="l"/>
            <a:r>
              <a:rPr b="1" sz="2700">
                <a:solidFill>
                  <a:srgbClr val="2452A8"/>
                </a:solidFill>
                <a:latin typeface="Cambria"/>
              </a:rPr>
              <a:t>How it works: sensors to live manifest</a:t>
            </a:r>
          </a:p>
        </p:txBody>
      </p:sp>
      <p:sp>
        <p:nvSpPr>
          <p:cNvPr id="3" name="Content Placeholder 2"/>
          <p:cNvSpPr>
            <a:spLocks noGrp="1"/>
          </p:cNvSpPr>
          <p:nvPr>
            <p:ph idx="1"/>
          </p:nvPr>
        </p:nvSpPr>
        <p:spPr>
          <a:xfrm>
            <a:off x="713232" y="1737360"/>
            <a:ext cx="10698480" cy="4526280"/>
          </a:xfrm>
        </p:spPr>
        <p:txBody>
          <a:bodyPr wrap="square">
            <a:normAutofit/>
          </a:bodyPr>
          <a:lstStyle/>
          <a:p>
            <a:pPr>
              <a:spcAft>
                <a:spcPts val="900"/>
              </a:spcAft>
            </a:pPr>
            <a:r>
              <a:rPr sz="1700" b="0">
                <a:solidFill>
                  <a:srgbClr val="232A26"/>
                </a:solidFill>
                <a:latin typeface="Calibri"/>
              </a:rPr>
              <a:t>Container sensors: 10 simulated units, 5 reading types across 2 containers, 2-5 second sampling.</a:t>
            </a:r>
          </a:p>
          <a:p>
            <a:pPr>
              <a:spcAft>
                <a:spcPts val="900"/>
              </a:spcAft>
            </a:pPr>
            <a:r>
              <a:rPr sz="1700" b="0">
                <a:solidFill>
                  <a:srgbClr val="232A26"/>
                </a:solidFill>
                <a:latin typeface="Calibri"/>
              </a:rPr>
              <a:t>Depot relay (fog node): 10-second windows aggregate each reading type and flag exceptions.</a:t>
            </a:r>
          </a:p>
          <a:p>
            <a:pPr>
              <a:spcAft>
                <a:spcPts val="900"/>
              </a:spcAft>
            </a:pPr>
            <a:r>
              <a:rPr sz="1700" b="0">
                <a:solidFill>
                  <a:srgbClr val="232A26"/>
                </a:solidFill>
                <a:latin typeface="Calibri"/>
              </a:rPr>
              <a:t>Amazon SQS: one aggregate per window, shipped in batches of up to 10 messages.</a:t>
            </a:r>
          </a:p>
          <a:p>
            <a:pPr>
              <a:spcAft>
                <a:spcPts val="900"/>
              </a:spcAft>
            </a:pPr>
            <a:r>
              <a:rPr sz="1700" b="0">
                <a:solidFill>
                  <a:srgbClr val="232A26"/>
                </a:solidFill>
                <a:latin typeface="Calibri"/>
              </a:rPr>
              <a:t>AWS Lambda: consumes the queue and reshapes every record for storage.</a:t>
            </a:r>
          </a:p>
          <a:p>
            <a:pPr>
              <a:spcAft>
                <a:spcPts val="900"/>
              </a:spcAft>
            </a:pPr>
            <a:r>
              <a:rPr sz="1700" b="0">
                <a:solidFill>
                  <a:srgbClr val="232A26"/>
                </a:solidFill>
                <a:latin typeface="Calibri"/>
              </a:rPr>
              <a:t>Amazon DynamoDB: durable archive of every window record, keyed per reading type.</a:t>
            </a:r>
          </a:p>
          <a:p>
            <a:pPr>
              <a:spcAft>
                <a:spcPts val="900"/>
              </a:spcAft>
            </a:pPr>
            <a:r>
              <a:rPr sz="1700" b="0">
                <a:solidFill>
                  <a:srgbClr val="232A26"/>
                </a:solidFill>
                <a:latin typeface="Calibri"/>
              </a:rPr>
              <a:t>Live dashboard: manifest table and temperature trends, served by API Gateway and Amazon S3 on AWS.</a:t>
            </a:r>
          </a:p>
          <a:p>
            <a:pPr>
              <a:spcAft>
                <a:spcPts val="900"/>
              </a:spcAft>
            </a:pPr>
            <a:r>
              <a:rPr sz="1700" b="0">
                <a:solidFill>
                  <a:srgbClr val="232A26"/>
                </a:solidFill>
                <a:latin typeface="Calibri"/>
              </a:rPr>
              <a:t>Verified end-to-end on Docker with an AWS emulator standing in for SQS, Lambda and DynamoDB: a pipeline script polls until every reading type lands in the store. The same code targets real AWS as a configuration change and deploys in a single scripted step.</a:t>
            </a:r>
          </a:p>
        </p:txBody>
      </p:sp>
      <p:sp>
        <p:nvSpPr>
          <p:cNvPr id="4" name="Rectangle 3"/>
          <p:cNvSpPr/>
          <p:nvPr/>
        </p:nvSpPr>
        <p:spPr>
          <a:xfrm>
            <a:off x="457200" y="457200"/>
            <a:ext cx="2286000" cy="50292"/>
          </a:xfrm>
          <a:prstGeom prst="rect">
            <a:avLst/>
          </a:prstGeom>
          <a:solidFill>
            <a:srgbClr val="2452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457200"/>
            <a:ext cx="50292" cy="1325880"/>
          </a:xfrm>
          <a:prstGeom prst="rect">
            <a:avLst/>
          </a:prstGeom>
          <a:solidFill>
            <a:srgbClr val="2452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445752" y="6355080"/>
            <a:ext cx="2286000" cy="50292"/>
          </a:xfrm>
          <a:prstGeom prst="rect">
            <a:avLst/>
          </a:prstGeom>
          <a:solidFill>
            <a:srgbClr val="2452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686032" y="5074920"/>
            <a:ext cx="50292" cy="1325880"/>
          </a:xfrm>
          <a:prstGeom prst="rect">
            <a:avLst/>
          </a:prstGeom>
          <a:solidFill>
            <a:srgbClr val="2452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13232" y="731520"/>
            <a:ext cx="10698480" cy="868680"/>
          </a:xfrm>
        </p:spPr>
        <p:txBody>
          <a:bodyPr wrap="square" anchor="t"/>
          <a:lstStyle/>
          <a:p>
            <a:pPr algn="l"/>
            <a:r>
              <a:rPr b="1" sz="2700">
                <a:solidFill>
                  <a:srgbClr val="2452A8"/>
                </a:solidFill>
                <a:latin typeface="Cambria"/>
              </a:rPr>
              <a:t>Demonstration highlights</a:t>
            </a:r>
          </a:p>
        </p:txBody>
      </p:sp>
      <p:sp>
        <p:nvSpPr>
          <p:cNvPr id="3" name="Content Placeholder 2"/>
          <p:cNvSpPr>
            <a:spLocks noGrp="1"/>
          </p:cNvSpPr>
          <p:nvPr>
            <p:ph idx="1"/>
          </p:nvPr>
        </p:nvSpPr>
        <p:spPr>
          <a:xfrm>
            <a:off x="713232" y="1737360"/>
            <a:ext cx="5669280" cy="4434840"/>
          </a:xfrm>
        </p:spPr>
        <p:txBody>
          <a:bodyPr wrap="square">
            <a:normAutofit/>
          </a:bodyPr>
          <a:lstStyle/>
          <a:p>
            <a:pPr>
              <a:spcAft>
                <a:spcPts val="800"/>
              </a:spcAft>
            </a:pPr>
            <a:r>
              <a:rPr sz="1500" b="0">
                <a:solidFill>
                  <a:srgbClr val="232A26"/>
                </a:solidFill>
                <a:latin typeface="Calibri"/>
              </a:rPr>
              <a:t>Dashboard captured from the running stack: the per-container manifest, storage-temperature trends, and the pipeline status strip showing depot relay online, queue reachable, Lambda deployed, and records archived.</a:t>
            </a:r>
          </a:p>
          <a:p>
            <a:pPr>
              <a:spcAft>
                <a:spcPts val="800"/>
              </a:spcAft>
            </a:pPr>
            <a:r>
              <a:rPr sz="1500" b="0">
                <a:solidFill>
                  <a:srgbClr val="232A26"/>
                </a:solidFill>
                <a:latin typeface="Calibri"/>
              </a:rPr>
              <a:t>Exceptions fire live: any container whose window-average temperature rises above -15 C is flagged on the board within 10 seconds.</a:t>
            </a:r>
          </a:p>
          <a:p>
            <a:pPr>
              <a:spcAft>
                <a:spcPts val="800"/>
              </a:spcAft>
            </a:pPr>
            <a:r>
              <a:rPr sz="1500" b="0">
                <a:solidFill>
                  <a:srgbClr val="232A26"/>
                </a:solidFill>
                <a:latin typeface="Calibri"/>
              </a:rPr>
              <a:t>Health checks all green: depot relay online, queue reachable, Lambda deployed, and records archived climbing.</a:t>
            </a:r>
          </a:p>
          <a:p>
            <a:pPr>
              <a:spcAft>
                <a:spcPts val="800"/>
              </a:spcAft>
            </a:pPr>
            <a:r>
              <a:rPr sz="1500" b="0">
                <a:solidFill>
                  <a:srgbClr val="232A26"/>
                </a:solidFill>
                <a:latin typeface="Calibri"/>
              </a:rPr>
              <a:t>76 automated tests: unit and endpoint tests across 10 modules, run with pytest.</a:t>
            </a:r>
          </a:p>
          <a:p>
            <a:pPr>
              <a:spcAft>
                <a:spcPts val="800"/>
              </a:spcAft>
            </a:pPr>
            <a:r>
              <a:rPr sz="1500" b="0">
                <a:solidFill>
                  <a:srgbClr val="232A26"/>
                </a:solidFill>
                <a:latin typeface="Calibri"/>
              </a:rPr>
              <a:t>2,000-message burst absorbed: 32 parallel workers, batched 10 per SQS call, with live dashboard data untouched.</a:t>
            </a:r>
          </a:p>
        </p:txBody>
      </p:sp>
      <p:sp>
        <p:nvSpPr>
          <p:cNvPr id="4" name="Rectangle 3"/>
          <p:cNvSpPr/>
          <p:nvPr/>
        </p:nvSpPr>
        <p:spPr>
          <a:xfrm>
            <a:off x="457200" y="457200"/>
            <a:ext cx="2286000" cy="50292"/>
          </a:xfrm>
          <a:prstGeom prst="rect">
            <a:avLst/>
          </a:prstGeom>
          <a:solidFill>
            <a:srgbClr val="2452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457200"/>
            <a:ext cx="50292" cy="1325880"/>
          </a:xfrm>
          <a:prstGeom prst="rect">
            <a:avLst/>
          </a:prstGeom>
          <a:solidFill>
            <a:srgbClr val="2452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445752" y="6355080"/>
            <a:ext cx="2286000" cy="50292"/>
          </a:xfrm>
          <a:prstGeom prst="rect">
            <a:avLst/>
          </a:prstGeom>
          <a:solidFill>
            <a:srgbClr val="2452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686032" y="5074920"/>
            <a:ext cx="50292" cy="1325880"/>
          </a:xfrm>
          <a:prstGeom prst="rect">
            <a:avLst/>
          </a:prstGeom>
          <a:solidFill>
            <a:srgbClr val="2452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ashboard.png"/>
          <p:cNvPicPr>
            <a:picLocks noChangeAspect="1"/>
          </p:cNvPicPr>
          <p:nvPr/>
        </p:nvPicPr>
        <p:blipFill>
          <a:blip r:embed="rId2"/>
          <a:stretch>
            <a:fillRect/>
          </a:stretch>
        </p:blipFill>
        <p:spPr>
          <a:xfrm>
            <a:off x="6675120" y="2934970"/>
            <a:ext cx="4892040" cy="190245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13232" y="731520"/>
            <a:ext cx="10698480" cy="868680"/>
          </a:xfrm>
        </p:spPr>
        <p:txBody>
          <a:bodyPr wrap="square" anchor="t"/>
          <a:lstStyle/>
          <a:p>
            <a:pPr algn="l"/>
            <a:r>
              <a:rPr b="1" sz="2400">
                <a:solidFill>
                  <a:srgbClr val="2452A8"/>
                </a:solidFill>
                <a:latin typeface="Cambria"/>
              </a:rPr>
              <a:t>Hardest part: the runtime is not the laptop</a:t>
            </a:r>
          </a:p>
        </p:txBody>
      </p:sp>
      <p:sp>
        <p:nvSpPr>
          <p:cNvPr id="3" name="Content Placeholder 2"/>
          <p:cNvSpPr>
            <a:spLocks noGrp="1"/>
          </p:cNvSpPr>
          <p:nvPr>
            <p:ph idx="1"/>
          </p:nvPr>
        </p:nvSpPr>
        <p:spPr>
          <a:xfrm>
            <a:off x="713232" y="1737360"/>
            <a:ext cx="10698480" cy="4526280"/>
          </a:xfrm>
        </p:spPr>
        <p:txBody>
          <a:bodyPr wrap="square">
            <a:normAutofit/>
          </a:bodyPr>
          <a:lstStyle/>
          <a:p>
            <a:pPr>
              <a:spcAft>
                <a:spcPts val="600"/>
              </a:spcAft>
            </a:pPr>
            <a:r>
              <a:rPr sz="1500" b="0">
                <a:solidFill>
                  <a:srgbClr val="232A26"/>
                </a:solidFill>
                <a:latin typeface="Calibri"/>
              </a:rPr>
              <a:t>The problem</a:t>
            </a:r>
          </a:p>
          <a:p>
            <a:pPr lvl="1">
              <a:spcAft>
                <a:spcPts val="600"/>
              </a:spcAft>
            </a:pPr>
            <a:r>
              <a:rPr sz="1300" b="0">
                <a:solidFill>
                  <a:srgbClr val="232A26"/>
                </a:solidFill>
                <a:latin typeface="Calibri"/>
              </a:rPr>
              <a:t>The FastAPI dashboard would not even start on Lambda, for two reasons at once: a dependency with a compiled native part had been packaged as the copy built on the development Mac, which the Linux runtime cannot import, and a static-asset folder was mounted at import time even though that folder ships to Amazon S3, not into the function.</a:t>
            </a:r>
          </a:p>
          <a:p>
            <a:pPr>
              <a:spcAft>
                <a:spcPts val="600"/>
              </a:spcAft>
            </a:pPr>
            <a:r>
              <a:rPr sz="1500" b="0">
                <a:solidFill>
                  <a:srgbClr val="232A26"/>
                </a:solidFill>
                <a:latin typeface="Calibri"/>
              </a:rPr>
              <a:t>Why it was hard</a:t>
            </a:r>
          </a:p>
          <a:p>
            <a:pPr lvl="1">
              <a:spcAft>
                <a:spcPts val="600"/>
              </a:spcAft>
            </a:pPr>
            <a:r>
              <a:rPr sz="1300" b="0">
                <a:solidFill>
                  <a:srgbClr val="232A26"/>
                </a:solidFill>
                <a:latin typeface="Calibri"/>
              </a:rPr>
              <a:t>Both are import-time failures, and both passed all 76 local tests. A test imports the code on the same machine that built it, so a wrong-platform binary and a folder that lives elsewhere stay invisible until the function runs on the managed runtime.</a:t>
            </a:r>
          </a:p>
          <a:p>
            <a:pPr>
              <a:spcAft>
                <a:spcPts val="600"/>
              </a:spcAft>
            </a:pPr>
            <a:r>
              <a:rPr sz="1500" b="0">
                <a:solidFill>
                  <a:srgbClr val="232A26"/>
                </a:solidFill>
                <a:latin typeface="Calibri"/>
              </a:rPr>
              <a:t>How it was solved</a:t>
            </a:r>
          </a:p>
          <a:p>
            <a:pPr lvl="1">
              <a:spcAft>
                <a:spcPts val="600"/>
              </a:spcAft>
            </a:pPr>
            <a:r>
              <a:rPr sz="1300" b="0">
                <a:solidFill>
                  <a:srgbClr val="232A26"/>
                </a:solidFill>
                <a:latin typeface="Calibri"/>
              </a:rPr>
              <a:t>The deployment package is now built against the Linux runtime's own platform so the native dependency matches, and the static mount is made tolerant of an absent folder. The dashboard returned healthy on the first live poll.</a:t>
            </a:r>
          </a:p>
          <a:p>
            <a:pPr>
              <a:spcAft>
                <a:spcPts val="600"/>
              </a:spcAft>
            </a:pPr>
            <a:r>
              <a:rPr sz="1500" b="0">
                <a:solidFill>
                  <a:srgbClr val="232A26"/>
                </a:solidFill>
                <a:latin typeface="Calibri"/>
              </a:rPr>
              <a:t>Before: the function died at load, so no request was ever served.</a:t>
            </a:r>
          </a:p>
          <a:p>
            <a:pPr>
              <a:spcAft>
                <a:spcPts val="600"/>
              </a:spcAft>
            </a:pPr>
            <a:r>
              <a:rPr sz="1500" b="0">
                <a:solidFill>
                  <a:srgbClr val="232A26"/>
                </a:solidFill>
                <a:latin typeface="Calibri"/>
              </a:rPr>
              <a:t>After: the package matches the runtime and the mount is optional, so the dashboard answers on the first poll.</a:t>
            </a:r>
          </a:p>
        </p:txBody>
      </p:sp>
      <p:sp>
        <p:nvSpPr>
          <p:cNvPr id="4" name="Rectangle 3"/>
          <p:cNvSpPr/>
          <p:nvPr/>
        </p:nvSpPr>
        <p:spPr>
          <a:xfrm>
            <a:off x="457200" y="457200"/>
            <a:ext cx="2286000" cy="50292"/>
          </a:xfrm>
          <a:prstGeom prst="rect">
            <a:avLst/>
          </a:prstGeom>
          <a:solidFill>
            <a:srgbClr val="2452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457200"/>
            <a:ext cx="50292" cy="1325880"/>
          </a:xfrm>
          <a:prstGeom prst="rect">
            <a:avLst/>
          </a:prstGeom>
          <a:solidFill>
            <a:srgbClr val="2452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445752" y="6355080"/>
            <a:ext cx="2286000" cy="50292"/>
          </a:xfrm>
          <a:prstGeom prst="rect">
            <a:avLst/>
          </a:prstGeom>
          <a:solidFill>
            <a:srgbClr val="2452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686032" y="5074920"/>
            <a:ext cx="50292" cy="1325880"/>
          </a:xfrm>
          <a:prstGeom prst="rect">
            <a:avLst/>
          </a:prstGeom>
          <a:solidFill>
            <a:srgbClr val="2452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13232" y="731520"/>
            <a:ext cx="10698480" cy="868680"/>
          </a:xfrm>
        </p:spPr>
        <p:txBody>
          <a:bodyPr wrap="square" anchor="t"/>
          <a:lstStyle/>
          <a:p>
            <a:pPr algn="l"/>
            <a:r>
              <a:rPr b="1" sz="2700">
                <a:solidFill>
                  <a:srgbClr val="2452A8"/>
                </a:solidFill>
                <a:latin typeface="Cambria"/>
              </a:rPr>
              <a:t>Takeaways</a:t>
            </a:r>
          </a:p>
        </p:txBody>
      </p:sp>
      <p:sp>
        <p:nvSpPr>
          <p:cNvPr id="3" name="Content Placeholder 2"/>
          <p:cNvSpPr>
            <a:spLocks noGrp="1"/>
          </p:cNvSpPr>
          <p:nvPr>
            <p:ph idx="1"/>
          </p:nvPr>
        </p:nvSpPr>
        <p:spPr>
          <a:xfrm>
            <a:off x="713232" y="1737360"/>
            <a:ext cx="10698480" cy="4526280"/>
          </a:xfrm>
        </p:spPr>
        <p:txBody>
          <a:bodyPr wrap="square">
            <a:normAutofit/>
          </a:bodyPr>
          <a:lstStyle/>
          <a:p>
            <a:pPr>
              <a:spcAft>
                <a:spcPts val="900"/>
              </a:spcAft>
            </a:pPr>
            <a:r>
              <a:rPr sz="1700" b="0">
                <a:solidFill>
                  <a:srgbClr val="232A26"/>
                </a:solidFill>
                <a:latin typeface="Calibri"/>
              </a:rPr>
              <a:t>Decide at the edge: exceptions are flagged at the depot relay within a 10-second window, with no cloud round-trip in the alert path.</a:t>
            </a:r>
          </a:p>
          <a:p>
            <a:pPr>
              <a:spcAft>
                <a:spcPts val="900"/>
              </a:spcAft>
            </a:pPr>
            <a:r>
              <a:rPr sz="1700" b="0">
                <a:solidFill>
                  <a:srgbClr val="232A26"/>
                </a:solidFill>
                <a:latin typeface="Calibri"/>
              </a:rPr>
              <a:t>Serverless scales by configuration: the queue, function and store absorbed a 2,000-message burst unchanged, and moving to real AWS is configuration plus one scripted deploy, not a rewrite.</a:t>
            </a:r>
          </a:p>
          <a:p>
            <a:pPr>
              <a:spcAft>
                <a:spcPts val="900"/>
              </a:spcAft>
            </a:pPr>
            <a:r>
              <a:rPr sz="1700" b="0">
                <a:solidFill>
                  <a:srgbClr val="232A26"/>
                </a:solidFill>
                <a:latin typeface="Calibri"/>
              </a:rPr>
              <a:t>Green tests are not proof of a deployment: two import-time failures passed all 76 local tests and surfaced only on the managed runtime, which is exactly what verifying against the real endpoint is for.</a:t>
            </a:r>
          </a:p>
          <a:p>
            <a:pPr>
              <a:spcAft>
                <a:spcPts val="900"/>
              </a:spcAft>
            </a:pPr>
            <a:r>
              <a:rPr sz="1700" b="0">
                <a:solidFill>
                  <a:srgbClr val="232A26"/>
                </a:solidFill>
                <a:latin typeface="Calibri"/>
              </a:rPr>
              <a:t>Thank you. Questions?</a:t>
            </a:r>
          </a:p>
        </p:txBody>
      </p:sp>
      <p:sp>
        <p:nvSpPr>
          <p:cNvPr id="4" name="Rectangle 3"/>
          <p:cNvSpPr/>
          <p:nvPr/>
        </p:nvSpPr>
        <p:spPr>
          <a:xfrm>
            <a:off x="457200" y="457200"/>
            <a:ext cx="2286000" cy="50292"/>
          </a:xfrm>
          <a:prstGeom prst="rect">
            <a:avLst/>
          </a:prstGeom>
          <a:solidFill>
            <a:srgbClr val="2452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457200"/>
            <a:ext cx="50292" cy="1325880"/>
          </a:xfrm>
          <a:prstGeom prst="rect">
            <a:avLst/>
          </a:prstGeom>
          <a:solidFill>
            <a:srgbClr val="2452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445752" y="6355080"/>
            <a:ext cx="2286000" cy="50292"/>
          </a:xfrm>
          <a:prstGeom prst="rect">
            <a:avLst/>
          </a:prstGeom>
          <a:solidFill>
            <a:srgbClr val="2452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686032" y="5074920"/>
            <a:ext cx="50292" cy="1325880"/>
          </a:xfrm>
          <a:prstGeom prst="rect">
            <a:avLst/>
          </a:prstGeom>
          <a:solidFill>
            <a:srgbClr val="2452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