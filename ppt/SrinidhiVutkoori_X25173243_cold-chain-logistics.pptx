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536"/>
        </a:solidFill>
      </p:bgPr>
    </p:bg>
    <p:spTree>
      <p:nvGrpSpPr>
        <p:cNvPr id="1" name=""/>
        <p:cNvGrpSpPr/>
        <p:nvPr/>
      </p:nvGrpSpPr>
      <p:grpSpPr>
        <a:xfrm>
          <a:off x="0" y="0"/>
          <a:ext cx="0" cy="0"/>
          <a:chOff x="0" y="0"/>
          <a:chExt cx="0" cy="0"/>
        </a:xfrm>
      </p:grpSpPr>
      <p:sp>
        <p:nvSpPr>
          <p:cNvPr id="2" name="Text 0"/>
          <p:cNvSpPr/>
          <p:nvPr/>
        </p:nvSpPr>
        <p:spPr>
          <a:xfrm>
            <a:off x="658368" y="640080"/>
            <a:ext cx="10972800" cy="365760"/>
          </a:xfrm>
          <a:prstGeom prst="rect">
            <a:avLst/>
          </a:prstGeom>
          <a:noFill/>
          <a:ln/>
        </p:spPr>
        <p:txBody>
          <a:bodyPr wrap="square" rtlCol="0" anchor="ctr"/>
          <a:lstStyle/>
          <a:p>
            <a:pPr indent="0" marL="0">
              <a:buNone/>
            </a:pPr>
            <a:r>
              <a:rPr lang="en-US" sz="1400" b="1" spc="300" kern="0" dirty="0">
                <a:solidFill>
                  <a:srgbClr val="E1A93C"/>
                </a:solidFill>
                <a:latin typeface="Calibri" pitchFamily="34" charset="0"/>
                <a:ea typeface="Calibri" pitchFamily="34" charset="-122"/>
                <a:cs typeface="Calibri" pitchFamily="34" charset="-120"/>
              </a:rPr>
              <a:t>COLD CHAIN LOGISTICS MONITORING</a:t>
            </a:r>
            <a:endParaRPr lang="en-US" sz="1400" dirty="0"/>
          </a:p>
        </p:txBody>
      </p:sp>
      <p:sp>
        <p:nvSpPr>
          <p:cNvPr id="3" name="Text 1"/>
          <p:cNvSpPr/>
          <p:nvPr/>
        </p:nvSpPr>
        <p:spPr>
          <a:xfrm>
            <a:off x="640080" y="2514600"/>
            <a:ext cx="10972800" cy="118872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Cold Chain Logistics Monitoring</a:t>
            </a:r>
            <a:endParaRPr lang="en-US" sz="4000" dirty="0"/>
          </a:p>
        </p:txBody>
      </p:sp>
      <p:sp>
        <p:nvSpPr>
          <p:cNvPr id="4" name="Text 2"/>
          <p:cNvSpPr/>
          <p:nvPr/>
        </p:nvSpPr>
        <p:spPr>
          <a:xfrm>
            <a:off x="658368" y="3703320"/>
            <a:ext cx="10972800" cy="365760"/>
          </a:xfrm>
          <a:prstGeom prst="rect">
            <a:avLst/>
          </a:prstGeom>
          <a:noFill/>
          <a:ln/>
        </p:spPr>
        <p:txBody>
          <a:bodyPr wrap="square" rtlCol="0" anchor="ctr"/>
          <a:lstStyle/>
          <a:p>
            <a:pPr indent="0" marL="0">
              <a:buNone/>
            </a:pPr>
            <a:r>
              <a:rPr lang="en-US" sz="1600" dirty="0">
                <a:solidFill>
                  <a:srgbClr val="5A8FB0"/>
                </a:solidFill>
                <a:latin typeface="Calibri" pitchFamily="34" charset="0"/>
                <a:ea typeface="Calibri" pitchFamily="34" charset="-122"/>
                <a:cs typeface="Calibri" pitchFamily="34" charset="-120"/>
              </a:rPr>
              <a:t>Srinidhi Vutkoori   ·   X25173243</a:t>
            </a:r>
            <a:endParaRPr lang="en-US" sz="1600" dirty="0"/>
          </a:p>
        </p:txBody>
      </p:sp>
      <p:sp>
        <p:nvSpPr>
          <p:cNvPr id="5" name="Text 3"/>
          <p:cNvSpPr/>
          <p:nvPr/>
        </p:nvSpPr>
        <p:spPr>
          <a:xfrm>
            <a:off x="658368" y="4251960"/>
            <a:ext cx="10424160" cy="1188720"/>
          </a:xfrm>
          <a:prstGeom prst="rect">
            <a:avLst/>
          </a:prstGeom>
          <a:noFill/>
          <a:ln/>
        </p:spPr>
        <p:txBody>
          <a:bodyPr wrap="square" rtlCol="0" anchor="ctr"/>
          <a:lstStyle/>
          <a:p>
            <a:pPr indent="0" marL="0">
              <a:lnSpc>
                <a:spcPct val="108000"/>
              </a:lnSpc>
              <a:buNone/>
            </a:pPr>
            <a:r>
              <a:rPr lang="en-US" sz="1800" dirty="0">
                <a:solidFill>
                  <a:srgbClr val="CFE0EC"/>
                </a:solidFill>
                <a:latin typeface="Calibri" pitchFamily="34" charset="0"/>
                <a:ea typeface="Calibri" pitchFamily="34" charset="-122"/>
                <a:cs typeface="Calibri" pitchFamily="34" charset="-120"/>
              </a:rPr>
              <a:t>A reefer whose window-average temperature drifts above minus fifteen is already breaching the cold chain — and a clipboard round discovers it only after the load has spoiled.</a:t>
            </a:r>
            <a:endParaRPr lang="en-US" sz="1800" dirty="0"/>
          </a:p>
        </p:txBody>
      </p:sp>
      <p:sp>
        <p:nvSpPr>
          <p:cNvPr id="6" name="Shape 4"/>
          <p:cNvSpPr/>
          <p:nvPr/>
        </p:nvSpPr>
        <p:spPr>
          <a:xfrm>
            <a:off x="658368" y="5623560"/>
            <a:ext cx="2651760" cy="566928"/>
          </a:xfrm>
          <a:prstGeom prst="roundRect">
            <a:avLst>
              <a:gd name="adj" fmla="val 50000"/>
            </a:avLst>
          </a:prstGeom>
          <a:solidFill>
            <a:srgbClr val="183246"/>
          </a:solidFill>
          <a:ln w="12700">
            <a:solidFill>
              <a:srgbClr val="E1A93C"/>
            </a:solidFill>
            <a:prstDash val="solid"/>
          </a:ln>
        </p:spPr>
      </p:sp>
      <p:sp>
        <p:nvSpPr>
          <p:cNvPr id="7" name="Text 5"/>
          <p:cNvSpPr/>
          <p:nvPr/>
        </p:nvSpPr>
        <p:spPr>
          <a:xfrm>
            <a:off x="658368" y="5623560"/>
            <a:ext cx="2651760" cy="566928"/>
          </a:xfrm>
          <a:prstGeom prst="rect">
            <a:avLst/>
          </a:prstGeom>
          <a:noFill/>
          <a:ln/>
        </p:spPr>
        <p:txBody>
          <a:bodyPr wrap="square" lIns="0" tIns="0" rIns="0" bIns="0" rtlCol="0" anchor="ctr"/>
          <a:lstStyle/>
          <a:p>
            <a:pPr algn="ctr" indent="0" marL="0">
              <a:buNone/>
            </a:pPr>
            <a:r>
              <a:rPr lang="en-US" sz="1350" b="1" dirty="0">
                <a:solidFill>
                  <a:srgbClr val="E1A93C"/>
                </a:solidFill>
                <a:latin typeface="Calibri" pitchFamily="34" charset="0"/>
                <a:ea typeface="Calibri" pitchFamily="34" charset="-122"/>
                <a:cs typeface="Calibri" pitchFamily="34" charset="-120"/>
              </a:rPr>
              <a:t>Storage temp &gt; −15 °C</a:t>
            </a:r>
            <a:endParaRPr lang="en-US" sz="1350" dirty="0"/>
          </a:p>
        </p:txBody>
      </p:sp>
      <p:sp>
        <p:nvSpPr>
          <p:cNvPr id="8" name="Shape 6"/>
          <p:cNvSpPr/>
          <p:nvPr/>
        </p:nvSpPr>
        <p:spPr>
          <a:xfrm>
            <a:off x="3538728" y="5623560"/>
            <a:ext cx="2651760" cy="566928"/>
          </a:xfrm>
          <a:prstGeom prst="roundRect">
            <a:avLst>
              <a:gd name="adj" fmla="val 50000"/>
            </a:avLst>
          </a:prstGeom>
          <a:solidFill>
            <a:srgbClr val="183246"/>
          </a:solidFill>
          <a:ln w="12700">
            <a:solidFill>
              <a:srgbClr val="E1A93C"/>
            </a:solidFill>
            <a:prstDash val="solid"/>
          </a:ln>
        </p:spPr>
      </p:sp>
      <p:sp>
        <p:nvSpPr>
          <p:cNvPr id="9" name="Text 7"/>
          <p:cNvSpPr/>
          <p:nvPr/>
        </p:nvSpPr>
        <p:spPr>
          <a:xfrm>
            <a:off x="3538728" y="5623560"/>
            <a:ext cx="2651760" cy="566928"/>
          </a:xfrm>
          <a:prstGeom prst="rect">
            <a:avLst/>
          </a:prstGeom>
          <a:noFill/>
          <a:ln/>
        </p:spPr>
        <p:txBody>
          <a:bodyPr wrap="square" lIns="0" tIns="0" rIns="0" bIns="0" rtlCol="0" anchor="ctr"/>
          <a:lstStyle/>
          <a:p>
            <a:pPr algn="ctr" indent="0" marL="0">
              <a:buNone/>
            </a:pPr>
            <a:r>
              <a:rPr lang="en-US" sz="1350" b="1" dirty="0">
                <a:solidFill>
                  <a:srgbClr val="E1A93C"/>
                </a:solidFill>
                <a:latin typeface="Calibri" pitchFamily="34" charset="0"/>
                <a:ea typeface="Calibri" pitchFamily="34" charset="-122"/>
                <a:cs typeface="Calibri" pitchFamily="34" charset="-120"/>
              </a:rPr>
              <a:t>Door open &gt; 300 s</a:t>
            </a:r>
            <a:endParaRPr lang="en-US" sz="1350" dirty="0"/>
          </a:p>
        </p:txBody>
      </p:sp>
      <p:sp>
        <p:nvSpPr>
          <p:cNvPr id="10" name="Shape 8"/>
          <p:cNvSpPr/>
          <p:nvPr/>
        </p:nvSpPr>
        <p:spPr>
          <a:xfrm>
            <a:off x="6419088" y="5623560"/>
            <a:ext cx="2651760" cy="566928"/>
          </a:xfrm>
          <a:prstGeom prst="roundRect">
            <a:avLst>
              <a:gd name="adj" fmla="val 50000"/>
            </a:avLst>
          </a:prstGeom>
          <a:solidFill>
            <a:srgbClr val="183246"/>
          </a:solidFill>
          <a:ln w="12700">
            <a:solidFill>
              <a:srgbClr val="E1A93C"/>
            </a:solidFill>
            <a:prstDash val="solid"/>
          </a:ln>
        </p:spPr>
      </p:sp>
      <p:sp>
        <p:nvSpPr>
          <p:cNvPr id="11" name="Text 9"/>
          <p:cNvSpPr/>
          <p:nvPr/>
        </p:nvSpPr>
        <p:spPr>
          <a:xfrm>
            <a:off x="6419088" y="5623560"/>
            <a:ext cx="2651760" cy="566928"/>
          </a:xfrm>
          <a:prstGeom prst="rect">
            <a:avLst/>
          </a:prstGeom>
          <a:noFill/>
          <a:ln/>
        </p:spPr>
        <p:txBody>
          <a:bodyPr wrap="square" lIns="0" tIns="0" rIns="0" bIns="0" rtlCol="0" anchor="ctr"/>
          <a:lstStyle/>
          <a:p>
            <a:pPr algn="ctr" indent="0" marL="0">
              <a:buNone/>
            </a:pPr>
            <a:r>
              <a:rPr lang="en-US" sz="1350" b="1" dirty="0">
                <a:solidFill>
                  <a:srgbClr val="E1A93C"/>
                </a:solidFill>
                <a:latin typeface="Calibri" pitchFamily="34" charset="0"/>
                <a:ea typeface="Calibri" pitchFamily="34" charset="-122"/>
                <a:cs typeface="Calibri" pitchFamily="34" charset="-120"/>
              </a:rPr>
              <a:t>10 s re-score</a:t>
            </a:r>
            <a:endParaRPr lang="en-US" sz="1350" dirty="0"/>
          </a:p>
        </p:txBody>
      </p:sp>
      <p:sp>
        <p:nvSpPr>
          <p:cNvPr id="12" name="Text 10"/>
          <p:cNvSpPr/>
          <p:nvPr/>
        </p:nvSpPr>
        <p:spPr>
          <a:xfrm>
            <a:off x="658368" y="6400800"/>
            <a:ext cx="10972800" cy="320040"/>
          </a:xfrm>
          <a:prstGeom prst="rect">
            <a:avLst/>
          </a:prstGeom>
          <a:noFill/>
          <a:ln/>
        </p:spPr>
        <p:txBody>
          <a:bodyPr wrap="square" rtlCol="0" anchor="ctr"/>
          <a:lstStyle/>
          <a:p>
            <a:pPr indent="0" marL="0">
              <a:buNone/>
            </a:pPr>
            <a:r>
              <a:rPr lang="en-US" sz="1250" dirty="0">
                <a:solidFill>
                  <a:srgbClr val="5A6E7C"/>
                </a:solidFill>
                <a:latin typeface="Calibri" pitchFamily="34" charset="0"/>
                <a:ea typeface="Calibri" pitchFamily="34" charset="-122"/>
                <a:cs typeface="Calibri" pitchFamily="34" charset="-120"/>
              </a:rPr>
              <a:t>Fog &amp; Edge Computing (H9FECC)   ·   deployed live on AWS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3000" b="1" dirty="0">
                <a:solidFill>
                  <a:srgbClr val="14293A"/>
                </a:solidFill>
                <a:latin typeface="Cambria" pitchFamily="34" charset="0"/>
                <a:ea typeface="Cambria" pitchFamily="34" charset="-122"/>
                <a:cs typeface="Cambria" pitchFamily="34" charset="-120"/>
              </a:rPr>
              <a:t>What I Built — Sensors to Live Manifest</a:t>
            </a:r>
            <a:endParaRPr lang="en-US" sz="3000" dirty="0"/>
          </a:p>
        </p:txBody>
      </p:sp>
      <p:sp>
        <p:nvSpPr>
          <p:cNvPr id="3" name="Shape 1"/>
          <p:cNvSpPr/>
          <p:nvPr/>
        </p:nvSpPr>
        <p:spPr>
          <a:xfrm>
            <a:off x="640080" y="2468880"/>
            <a:ext cx="1572768" cy="1371600"/>
          </a:xfrm>
          <a:prstGeom prst="roundRect">
            <a:avLst>
              <a:gd name="adj" fmla="val 6667"/>
            </a:avLst>
          </a:prstGeom>
          <a:solidFill>
            <a:srgbClr val="EEF4F8"/>
          </a:solidFill>
          <a:ln w="19050">
            <a:solidFill>
              <a:srgbClr val="5A8FB0"/>
            </a:solidFill>
            <a:prstDash val="solid"/>
          </a:ln>
        </p:spPr>
      </p:sp>
      <p:sp>
        <p:nvSpPr>
          <p:cNvPr id="4" name="Shape 2"/>
          <p:cNvSpPr/>
          <p:nvPr/>
        </p:nvSpPr>
        <p:spPr>
          <a:xfrm>
            <a:off x="1335024" y="2633472"/>
            <a:ext cx="182880" cy="182880"/>
          </a:xfrm>
          <a:prstGeom prst="ellipse">
            <a:avLst/>
          </a:prstGeom>
          <a:solidFill>
            <a:srgbClr val="5A8FB0"/>
          </a:solidFill>
          <a:ln/>
        </p:spPr>
      </p:sp>
      <p:sp>
        <p:nvSpPr>
          <p:cNvPr id="5" name="Text 3"/>
          <p:cNvSpPr/>
          <p:nvPr/>
        </p:nvSpPr>
        <p:spPr>
          <a:xfrm>
            <a:off x="612648" y="2852928"/>
            <a:ext cx="1627632" cy="365760"/>
          </a:xfrm>
          <a:prstGeom prst="rect">
            <a:avLst/>
          </a:prstGeom>
          <a:noFill/>
          <a:ln/>
        </p:spPr>
        <p:txBody>
          <a:bodyPr wrap="square" lIns="0" tIns="0" rIns="0" bIns="0" rtlCol="0" anchor="ctr"/>
          <a:lstStyle/>
          <a:p>
            <a:pPr algn="ctr" indent="0" marL="0">
              <a:buNone/>
            </a:pPr>
            <a:r>
              <a:rPr lang="en-US" sz="1450" b="1" dirty="0">
                <a:solidFill>
                  <a:srgbClr val="14293A"/>
                </a:solidFill>
                <a:latin typeface="Calibri" pitchFamily="34" charset="0"/>
                <a:ea typeface="Calibri" pitchFamily="34" charset="-122"/>
                <a:cs typeface="Calibri" pitchFamily="34" charset="-120"/>
              </a:rPr>
              <a:t>Container sensors</a:t>
            </a:r>
            <a:endParaRPr lang="en-US" sz="1450" dirty="0"/>
          </a:p>
        </p:txBody>
      </p:sp>
      <p:sp>
        <p:nvSpPr>
          <p:cNvPr id="6" name="Text 4"/>
          <p:cNvSpPr/>
          <p:nvPr/>
        </p:nvSpPr>
        <p:spPr>
          <a:xfrm>
            <a:off x="640080" y="3200400"/>
            <a:ext cx="1572768" cy="411480"/>
          </a:xfrm>
          <a:prstGeom prst="rect">
            <a:avLst/>
          </a:prstGeom>
          <a:noFill/>
          <a:ln/>
        </p:spPr>
        <p:txBody>
          <a:bodyPr wrap="square" lIns="0" tIns="0" rIns="0" bIns="0" rtlCol="0" anchor="t"/>
          <a:lstStyle/>
          <a:p>
            <a:pPr algn="ctr" indent="0" marL="0">
              <a:buNone/>
            </a:pPr>
            <a:r>
              <a:rPr lang="en-US" sz="1050" dirty="0">
                <a:solidFill>
                  <a:srgbClr val="5A6E7C"/>
                </a:solidFill>
                <a:latin typeface="Calibri" pitchFamily="34" charset="0"/>
                <a:ea typeface="Calibri" pitchFamily="34" charset="-122"/>
                <a:cs typeface="Calibri" pitchFamily="34" charset="-120"/>
              </a:rPr>
              <a:t>10 units · 2 containers</a:t>
            </a:r>
            <a:endParaRPr lang="en-US" sz="1050" dirty="0"/>
          </a:p>
        </p:txBody>
      </p:sp>
      <p:sp>
        <p:nvSpPr>
          <p:cNvPr id="7" name="Shape 5"/>
          <p:cNvSpPr/>
          <p:nvPr/>
        </p:nvSpPr>
        <p:spPr>
          <a:xfrm>
            <a:off x="2231136" y="3154680"/>
            <a:ext cx="258409" cy="0"/>
          </a:xfrm>
          <a:prstGeom prst="line">
            <a:avLst/>
          </a:prstGeom>
          <a:noFill/>
          <a:ln w="25400">
            <a:solidFill>
              <a:srgbClr val="5A8FB0"/>
            </a:solidFill>
            <a:prstDash val="solid"/>
            <a:tailEnd type="triangle"/>
          </a:ln>
        </p:spPr>
      </p:sp>
      <p:sp>
        <p:nvSpPr>
          <p:cNvPr id="8" name="Shape 6"/>
          <p:cNvSpPr/>
          <p:nvPr/>
        </p:nvSpPr>
        <p:spPr>
          <a:xfrm>
            <a:off x="2507833" y="2468880"/>
            <a:ext cx="1572768" cy="1371600"/>
          </a:xfrm>
          <a:prstGeom prst="roundRect">
            <a:avLst>
              <a:gd name="adj" fmla="val 6667"/>
            </a:avLst>
          </a:prstGeom>
          <a:solidFill>
            <a:srgbClr val="EEF4F8"/>
          </a:solidFill>
          <a:ln w="19050">
            <a:solidFill>
              <a:srgbClr val="5A8FB0"/>
            </a:solidFill>
            <a:prstDash val="solid"/>
          </a:ln>
        </p:spPr>
      </p:sp>
      <p:sp>
        <p:nvSpPr>
          <p:cNvPr id="9" name="Shape 7"/>
          <p:cNvSpPr/>
          <p:nvPr/>
        </p:nvSpPr>
        <p:spPr>
          <a:xfrm>
            <a:off x="3202777" y="2633472"/>
            <a:ext cx="182880" cy="182880"/>
          </a:xfrm>
          <a:prstGeom prst="ellipse">
            <a:avLst/>
          </a:prstGeom>
          <a:solidFill>
            <a:srgbClr val="5A8FB0"/>
          </a:solidFill>
          <a:ln/>
        </p:spPr>
      </p:sp>
      <p:sp>
        <p:nvSpPr>
          <p:cNvPr id="10" name="Text 8"/>
          <p:cNvSpPr/>
          <p:nvPr/>
        </p:nvSpPr>
        <p:spPr>
          <a:xfrm>
            <a:off x="2480401" y="2852928"/>
            <a:ext cx="1627632" cy="365760"/>
          </a:xfrm>
          <a:prstGeom prst="rect">
            <a:avLst/>
          </a:prstGeom>
          <a:noFill/>
          <a:ln/>
        </p:spPr>
        <p:txBody>
          <a:bodyPr wrap="square" lIns="0" tIns="0" rIns="0" bIns="0" rtlCol="0" anchor="ctr"/>
          <a:lstStyle/>
          <a:p>
            <a:pPr algn="ctr" indent="0" marL="0">
              <a:buNone/>
            </a:pPr>
            <a:r>
              <a:rPr lang="en-US" sz="1450" b="1" dirty="0">
                <a:solidFill>
                  <a:srgbClr val="14293A"/>
                </a:solidFill>
                <a:latin typeface="Calibri" pitchFamily="34" charset="0"/>
                <a:ea typeface="Calibri" pitchFamily="34" charset="-122"/>
                <a:cs typeface="Calibri" pitchFamily="34" charset="-120"/>
              </a:rPr>
              <a:t>Depot relay</a:t>
            </a:r>
            <a:endParaRPr lang="en-US" sz="1450" dirty="0"/>
          </a:p>
        </p:txBody>
      </p:sp>
      <p:sp>
        <p:nvSpPr>
          <p:cNvPr id="11" name="Text 9"/>
          <p:cNvSpPr/>
          <p:nvPr/>
        </p:nvSpPr>
        <p:spPr>
          <a:xfrm>
            <a:off x="2507833" y="3200400"/>
            <a:ext cx="1572768" cy="411480"/>
          </a:xfrm>
          <a:prstGeom prst="rect">
            <a:avLst/>
          </a:prstGeom>
          <a:noFill/>
          <a:ln/>
        </p:spPr>
        <p:txBody>
          <a:bodyPr wrap="square" lIns="0" tIns="0" rIns="0" bIns="0" rtlCol="0" anchor="t"/>
          <a:lstStyle/>
          <a:p>
            <a:pPr algn="ctr" indent="0" marL="0">
              <a:buNone/>
            </a:pPr>
            <a:r>
              <a:rPr lang="en-US" sz="1050" dirty="0">
                <a:solidFill>
                  <a:srgbClr val="5A6E7C"/>
                </a:solidFill>
                <a:latin typeface="Calibri" pitchFamily="34" charset="0"/>
                <a:ea typeface="Calibri" pitchFamily="34" charset="-122"/>
                <a:cs typeface="Calibri" pitchFamily="34" charset="-120"/>
              </a:rPr>
              <a:t>10 s windows · exceptions</a:t>
            </a:r>
            <a:endParaRPr lang="en-US" sz="1050" dirty="0"/>
          </a:p>
        </p:txBody>
      </p:sp>
      <p:sp>
        <p:nvSpPr>
          <p:cNvPr id="12" name="Shape 10"/>
          <p:cNvSpPr/>
          <p:nvPr/>
        </p:nvSpPr>
        <p:spPr>
          <a:xfrm>
            <a:off x="4098889" y="3154680"/>
            <a:ext cx="258409" cy="0"/>
          </a:xfrm>
          <a:prstGeom prst="line">
            <a:avLst/>
          </a:prstGeom>
          <a:noFill/>
          <a:ln w="25400">
            <a:solidFill>
              <a:srgbClr val="5A8FB0"/>
            </a:solidFill>
            <a:prstDash val="solid"/>
            <a:tailEnd type="triangle"/>
          </a:ln>
        </p:spPr>
      </p:sp>
      <p:sp>
        <p:nvSpPr>
          <p:cNvPr id="13" name="Shape 11"/>
          <p:cNvSpPr/>
          <p:nvPr/>
        </p:nvSpPr>
        <p:spPr>
          <a:xfrm>
            <a:off x="4375587" y="2468880"/>
            <a:ext cx="1572768" cy="1371600"/>
          </a:xfrm>
          <a:prstGeom prst="roundRect">
            <a:avLst>
              <a:gd name="adj" fmla="val 6667"/>
            </a:avLst>
          </a:prstGeom>
          <a:solidFill>
            <a:srgbClr val="EEF4F8"/>
          </a:solidFill>
          <a:ln w="19050">
            <a:solidFill>
              <a:srgbClr val="1C4A6E"/>
            </a:solidFill>
            <a:prstDash val="solid"/>
          </a:ln>
        </p:spPr>
      </p:sp>
      <p:sp>
        <p:nvSpPr>
          <p:cNvPr id="14" name="Shape 12"/>
          <p:cNvSpPr/>
          <p:nvPr/>
        </p:nvSpPr>
        <p:spPr>
          <a:xfrm>
            <a:off x="5070531" y="2633472"/>
            <a:ext cx="182880" cy="182880"/>
          </a:xfrm>
          <a:prstGeom prst="ellipse">
            <a:avLst/>
          </a:prstGeom>
          <a:solidFill>
            <a:srgbClr val="1C4A6E"/>
          </a:solidFill>
          <a:ln/>
        </p:spPr>
      </p:sp>
      <p:sp>
        <p:nvSpPr>
          <p:cNvPr id="15" name="Text 13"/>
          <p:cNvSpPr/>
          <p:nvPr/>
        </p:nvSpPr>
        <p:spPr>
          <a:xfrm>
            <a:off x="4348155" y="2852928"/>
            <a:ext cx="1627632" cy="365760"/>
          </a:xfrm>
          <a:prstGeom prst="rect">
            <a:avLst/>
          </a:prstGeom>
          <a:noFill/>
          <a:ln/>
        </p:spPr>
        <p:txBody>
          <a:bodyPr wrap="square" lIns="0" tIns="0" rIns="0" bIns="0" rtlCol="0" anchor="ctr"/>
          <a:lstStyle/>
          <a:p>
            <a:pPr algn="ctr" indent="0" marL="0">
              <a:buNone/>
            </a:pPr>
            <a:r>
              <a:rPr lang="en-US" sz="1450" b="1" dirty="0">
                <a:solidFill>
                  <a:srgbClr val="14293A"/>
                </a:solidFill>
                <a:latin typeface="Calibri" pitchFamily="34" charset="0"/>
                <a:ea typeface="Calibri" pitchFamily="34" charset="-122"/>
                <a:cs typeface="Calibri" pitchFamily="34" charset="-120"/>
              </a:rPr>
              <a:t>Amazon SQS</a:t>
            </a:r>
            <a:endParaRPr lang="en-US" sz="1450" dirty="0"/>
          </a:p>
        </p:txBody>
      </p:sp>
      <p:sp>
        <p:nvSpPr>
          <p:cNvPr id="16" name="Text 14"/>
          <p:cNvSpPr/>
          <p:nvPr/>
        </p:nvSpPr>
        <p:spPr>
          <a:xfrm>
            <a:off x="4375587" y="3200400"/>
            <a:ext cx="1572768" cy="411480"/>
          </a:xfrm>
          <a:prstGeom prst="rect">
            <a:avLst/>
          </a:prstGeom>
          <a:noFill/>
          <a:ln/>
        </p:spPr>
        <p:txBody>
          <a:bodyPr wrap="square" lIns="0" tIns="0" rIns="0" bIns="0" rtlCol="0" anchor="t"/>
          <a:lstStyle/>
          <a:p>
            <a:pPr algn="ctr" indent="0" marL="0">
              <a:buNone/>
            </a:pPr>
            <a:r>
              <a:rPr lang="en-US" sz="1050" dirty="0">
                <a:solidFill>
                  <a:srgbClr val="5A6E7C"/>
                </a:solidFill>
                <a:latin typeface="Calibri" pitchFamily="34" charset="0"/>
                <a:ea typeface="Calibri" pitchFamily="34" charset="-122"/>
                <a:cs typeface="Calibri" pitchFamily="34" charset="-120"/>
              </a:rPr>
              <a:t>batched ≤10 / call</a:t>
            </a:r>
            <a:endParaRPr lang="en-US" sz="1050" dirty="0"/>
          </a:p>
        </p:txBody>
      </p:sp>
      <p:sp>
        <p:nvSpPr>
          <p:cNvPr id="17" name="Shape 15"/>
          <p:cNvSpPr/>
          <p:nvPr/>
        </p:nvSpPr>
        <p:spPr>
          <a:xfrm>
            <a:off x="5966643" y="3154680"/>
            <a:ext cx="258409" cy="0"/>
          </a:xfrm>
          <a:prstGeom prst="line">
            <a:avLst/>
          </a:prstGeom>
          <a:noFill/>
          <a:ln w="25400">
            <a:solidFill>
              <a:srgbClr val="5A8FB0"/>
            </a:solidFill>
            <a:prstDash val="solid"/>
            <a:tailEnd type="triangle"/>
          </a:ln>
        </p:spPr>
      </p:sp>
      <p:sp>
        <p:nvSpPr>
          <p:cNvPr id="18" name="Shape 16"/>
          <p:cNvSpPr/>
          <p:nvPr/>
        </p:nvSpPr>
        <p:spPr>
          <a:xfrm>
            <a:off x="6243340" y="2468880"/>
            <a:ext cx="1572768" cy="1371600"/>
          </a:xfrm>
          <a:prstGeom prst="roundRect">
            <a:avLst>
              <a:gd name="adj" fmla="val 6667"/>
            </a:avLst>
          </a:prstGeom>
          <a:solidFill>
            <a:srgbClr val="EEF4F8"/>
          </a:solidFill>
          <a:ln w="19050">
            <a:solidFill>
              <a:srgbClr val="1C4A6E"/>
            </a:solidFill>
            <a:prstDash val="solid"/>
          </a:ln>
        </p:spPr>
      </p:sp>
      <p:sp>
        <p:nvSpPr>
          <p:cNvPr id="19" name="Shape 17"/>
          <p:cNvSpPr/>
          <p:nvPr/>
        </p:nvSpPr>
        <p:spPr>
          <a:xfrm>
            <a:off x="6938284" y="2633472"/>
            <a:ext cx="182880" cy="182880"/>
          </a:xfrm>
          <a:prstGeom prst="ellipse">
            <a:avLst/>
          </a:prstGeom>
          <a:solidFill>
            <a:srgbClr val="1C4A6E"/>
          </a:solidFill>
          <a:ln/>
        </p:spPr>
      </p:sp>
      <p:sp>
        <p:nvSpPr>
          <p:cNvPr id="20" name="Text 18"/>
          <p:cNvSpPr/>
          <p:nvPr/>
        </p:nvSpPr>
        <p:spPr>
          <a:xfrm>
            <a:off x="6215908" y="2852928"/>
            <a:ext cx="1627632" cy="365760"/>
          </a:xfrm>
          <a:prstGeom prst="rect">
            <a:avLst/>
          </a:prstGeom>
          <a:noFill/>
          <a:ln/>
        </p:spPr>
        <p:txBody>
          <a:bodyPr wrap="square" lIns="0" tIns="0" rIns="0" bIns="0" rtlCol="0" anchor="ctr"/>
          <a:lstStyle/>
          <a:p>
            <a:pPr algn="ctr" indent="0" marL="0">
              <a:buNone/>
            </a:pPr>
            <a:r>
              <a:rPr lang="en-US" sz="1450" b="1" dirty="0">
                <a:solidFill>
                  <a:srgbClr val="14293A"/>
                </a:solidFill>
                <a:latin typeface="Calibri" pitchFamily="34" charset="0"/>
                <a:ea typeface="Calibri" pitchFamily="34" charset="-122"/>
                <a:cs typeface="Calibri" pitchFamily="34" charset="-120"/>
              </a:rPr>
              <a:t>AWS Lambda</a:t>
            </a:r>
            <a:endParaRPr lang="en-US" sz="1450" dirty="0"/>
          </a:p>
        </p:txBody>
      </p:sp>
      <p:sp>
        <p:nvSpPr>
          <p:cNvPr id="21" name="Text 19"/>
          <p:cNvSpPr/>
          <p:nvPr/>
        </p:nvSpPr>
        <p:spPr>
          <a:xfrm>
            <a:off x="6243340" y="3200400"/>
            <a:ext cx="1572768" cy="411480"/>
          </a:xfrm>
          <a:prstGeom prst="rect">
            <a:avLst/>
          </a:prstGeom>
          <a:noFill/>
          <a:ln/>
        </p:spPr>
        <p:txBody>
          <a:bodyPr wrap="square" lIns="0" tIns="0" rIns="0" bIns="0" rtlCol="0" anchor="t"/>
          <a:lstStyle/>
          <a:p>
            <a:pPr algn="ctr" indent="0" marL="0">
              <a:buNone/>
            </a:pPr>
            <a:r>
              <a:rPr lang="en-US" sz="1050" dirty="0">
                <a:solidFill>
                  <a:srgbClr val="5A6E7C"/>
                </a:solidFill>
                <a:latin typeface="Calibri" pitchFamily="34" charset="0"/>
                <a:ea typeface="Calibri" pitchFamily="34" charset="-122"/>
                <a:cs typeface="Calibri" pitchFamily="34" charset="-120"/>
              </a:rPr>
              <a:t>python3.12 ingest</a:t>
            </a:r>
            <a:endParaRPr lang="en-US" sz="1050" dirty="0"/>
          </a:p>
        </p:txBody>
      </p:sp>
      <p:sp>
        <p:nvSpPr>
          <p:cNvPr id="22" name="Shape 20"/>
          <p:cNvSpPr/>
          <p:nvPr/>
        </p:nvSpPr>
        <p:spPr>
          <a:xfrm>
            <a:off x="7834396" y="3154680"/>
            <a:ext cx="258409" cy="0"/>
          </a:xfrm>
          <a:prstGeom prst="line">
            <a:avLst/>
          </a:prstGeom>
          <a:noFill/>
          <a:ln w="25400">
            <a:solidFill>
              <a:srgbClr val="5A8FB0"/>
            </a:solidFill>
            <a:prstDash val="solid"/>
            <a:tailEnd type="triangle"/>
          </a:ln>
        </p:spPr>
      </p:sp>
      <p:sp>
        <p:nvSpPr>
          <p:cNvPr id="23" name="Shape 21"/>
          <p:cNvSpPr/>
          <p:nvPr/>
        </p:nvSpPr>
        <p:spPr>
          <a:xfrm>
            <a:off x="8111094" y="2468880"/>
            <a:ext cx="1572768" cy="1371600"/>
          </a:xfrm>
          <a:prstGeom prst="roundRect">
            <a:avLst>
              <a:gd name="adj" fmla="val 6667"/>
            </a:avLst>
          </a:prstGeom>
          <a:solidFill>
            <a:srgbClr val="EEF4F8"/>
          </a:solidFill>
          <a:ln w="19050">
            <a:solidFill>
              <a:srgbClr val="1C4A6E"/>
            </a:solidFill>
            <a:prstDash val="solid"/>
          </a:ln>
        </p:spPr>
      </p:sp>
      <p:sp>
        <p:nvSpPr>
          <p:cNvPr id="24" name="Shape 22"/>
          <p:cNvSpPr/>
          <p:nvPr/>
        </p:nvSpPr>
        <p:spPr>
          <a:xfrm>
            <a:off x="8806038" y="2633472"/>
            <a:ext cx="182880" cy="182880"/>
          </a:xfrm>
          <a:prstGeom prst="ellipse">
            <a:avLst/>
          </a:prstGeom>
          <a:solidFill>
            <a:srgbClr val="1C4A6E"/>
          </a:solidFill>
          <a:ln/>
        </p:spPr>
      </p:sp>
      <p:sp>
        <p:nvSpPr>
          <p:cNvPr id="25" name="Text 23"/>
          <p:cNvSpPr/>
          <p:nvPr/>
        </p:nvSpPr>
        <p:spPr>
          <a:xfrm>
            <a:off x="8083662" y="2852928"/>
            <a:ext cx="1627632" cy="365760"/>
          </a:xfrm>
          <a:prstGeom prst="rect">
            <a:avLst/>
          </a:prstGeom>
          <a:noFill/>
          <a:ln/>
        </p:spPr>
        <p:txBody>
          <a:bodyPr wrap="square" lIns="0" tIns="0" rIns="0" bIns="0" rtlCol="0" anchor="ctr"/>
          <a:lstStyle/>
          <a:p>
            <a:pPr algn="ctr" indent="0" marL="0">
              <a:buNone/>
            </a:pPr>
            <a:r>
              <a:rPr lang="en-US" sz="1450" b="1" dirty="0">
                <a:solidFill>
                  <a:srgbClr val="14293A"/>
                </a:solidFill>
                <a:latin typeface="Calibri" pitchFamily="34" charset="0"/>
                <a:ea typeface="Calibri" pitchFamily="34" charset="-122"/>
                <a:cs typeface="Calibri" pitchFamily="34" charset="-120"/>
              </a:rPr>
              <a:t>DynamoDB</a:t>
            </a:r>
            <a:endParaRPr lang="en-US" sz="1450" dirty="0"/>
          </a:p>
        </p:txBody>
      </p:sp>
      <p:sp>
        <p:nvSpPr>
          <p:cNvPr id="26" name="Text 24"/>
          <p:cNvSpPr/>
          <p:nvPr/>
        </p:nvSpPr>
        <p:spPr>
          <a:xfrm>
            <a:off x="8111094" y="3200400"/>
            <a:ext cx="1572768" cy="411480"/>
          </a:xfrm>
          <a:prstGeom prst="rect">
            <a:avLst/>
          </a:prstGeom>
          <a:noFill/>
          <a:ln/>
        </p:spPr>
        <p:txBody>
          <a:bodyPr wrap="square" lIns="0" tIns="0" rIns="0" bIns="0" rtlCol="0" anchor="t"/>
          <a:lstStyle/>
          <a:p>
            <a:pPr algn="ctr" indent="0" marL="0">
              <a:buNone/>
            </a:pPr>
            <a:r>
              <a:rPr lang="en-US" sz="1050" dirty="0">
                <a:solidFill>
                  <a:srgbClr val="5A6E7C"/>
                </a:solidFill>
                <a:latin typeface="Calibri" pitchFamily="34" charset="0"/>
                <a:ea typeface="Calibri" pitchFamily="34" charset="-122"/>
                <a:cs typeface="Calibri" pitchFamily="34" charset="-120"/>
              </a:rPr>
              <a:t>window archive</a:t>
            </a:r>
            <a:endParaRPr lang="en-US" sz="1050" dirty="0"/>
          </a:p>
        </p:txBody>
      </p:sp>
      <p:sp>
        <p:nvSpPr>
          <p:cNvPr id="27" name="Shape 25"/>
          <p:cNvSpPr/>
          <p:nvPr/>
        </p:nvSpPr>
        <p:spPr>
          <a:xfrm>
            <a:off x="9702150" y="3154680"/>
            <a:ext cx="258409" cy="0"/>
          </a:xfrm>
          <a:prstGeom prst="line">
            <a:avLst/>
          </a:prstGeom>
          <a:noFill/>
          <a:ln w="25400">
            <a:solidFill>
              <a:srgbClr val="5A8FB0"/>
            </a:solidFill>
            <a:prstDash val="solid"/>
            <a:tailEnd type="triangle"/>
          </a:ln>
        </p:spPr>
      </p:sp>
      <p:sp>
        <p:nvSpPr>
          <p:cNvPr id="28" name="Shape 26"/>
          <p:cNvSpPr/>
          <p:nvPr/>
        </p:nvSpPr>
        <p:spPr>
          <a:xfrm>
            <a:off x="9978847" y="2468880"/>
            <a:ext cx="1572768" cy="1371600"/>
          </a:xfrm>
          <a:prstGeom prst="roundRect">
            <a:avLst>
              <a:gd name="adj" fmla="val 6667"/>
            </a:avLst>
          </a:prstGeom>
          <a:solidFill>
            <a:srgbClr val="EEF4F8"/>
          </a:solidFill>
          <a:ln w="19050">
            <a:solidFill>
              <a:srgbClr val="2E6C93"/>
            </a:solidFill>
            <a:prstDash val="solid"/>
          </a:ln>
        </p:spPr>
      </p:sp>
      <p:sp>
        <p:nvSpPr>
          <p:cNvPr id="29" name="Shape 27"/>
          <p:cNvSpPr/>
          <p:nvPr/>
        </p:nvSpPr>
        <p:spPr>
          <a:xfrm>
            <a:off x="10673791" y="2633472"/>
            <a:ext cx="182880" cy="182880"/>
          </a:xfrm>
          <a:prstGeom prst="ellipse">
            <a:avLst/>
          </a:prstGeom>
          <a:solidFill>
            <a:srgbClr val="2E6C93"/>
          </a:solidFill>
          <a:ln/>
        </p:spPr>
      </p:sp>
      <p:sp>
        <p:nvSpPr>
          <p:cNvPr id="30" name="Text 28"/>
          <p:cNvSpPr/>
          <p:nvPr/>
        </p:nvSpPr>
        <p:spPr>
          <a:xfrm>
            <a:off x="9951415" y="2852928"/>
            <a:ext cx="1627632" cy="365760"/>
          </a:xfrm>
          <a:prstGeom prst="rect">
            <a:avLst/>
          </a:prstGeom>
          <a:noFill/>
          <a:ln/>
        </p:spPr>
        <p:txBody>
          <a:bodyPr wrap="square" lIns="0" tIns="0" rIns="0" bIns="0" rtlCol="0" anchor="ctr"/>
          <a:lstStyle/>
          <a:p>
            <a:pPr algn="ctr" indent="0" marL="0">
              <a:buNone/>
            </a:pPr>
            <a:r>
              <a:rPr lang="en-US" sz="1450" b="1" dirty="0">
                <a:solidFill>
                  <a:srgbClr val="14293A"/>
                </a:solidFill>
                <a:latin typeface="Calibri" pitchFamily="34" charset="0"/>
                <a:ea typeface="Calibri" pitchFamily="34" charset="-122"/>
                <a:cs typeface="Calibri" pitchFamily="34" charset="-120"/>
              </a:rPr>
              <a:t>API GW + S3</a:t>
            </a:r>
            <a:endParaRPr lang="en-US" sz="1450" dirty="0"/>
          </a:p>
        </p:txBody>
      </p:sp>
      <p:sp>
        <p:nvSpPr>
          <p:cNvPr id="31" name="Text 29"/>
          <p:cNvSpPr/>
          <p:nvPr/>
        </p:nvSpPr>
        <p:spPr>
          <a:xfrm>
            <a:off x="9978847" y="3200400"/>
            <a:ext cx="1572768" cy="411480"/>
          </a:xfrm>
          <a:prstGeom prst="rect">
            <a:avLst/>
          </a:prstGeom>
          <a:noFill/>
          <a:ln/>
        </p:spPr>
        <p:txBody>
          <a:bodyPr wrap="square" lIns="0" tIns="0" rIns="0" bIns="0" rtlCol="0" anchor="t"/>
          <a:lstStyle/>
          <a:p>
            <a:pPr algn="ctr" indent="0" marL="0">
              <a:buNone/>
            </a:pPr>
            <a:r>
              <a:rPr lang="en-US" sz="1050" dirty="0">
                <a:solidFill>
                  <a:srgbClr val="5A6E7C"/>
                </a:solidFill>
                <a:latin typeface="Calibri" pitchFamily="34" charset="0"/>
                <a:ea typeface="Calibri" pitchFamily="34" charset="-122"/>
                <a:cs typeface="Calibri" pitchFamily="34" charset="-120"/>
              </a:rPr>
              <a:t>live manifest</a:t>
            </a:r>
            <a:endParaRPr lang="en-US" sz="1050" dirty="0"/>
          </a:p>
        </p:txBody>
      </p:sp>
      <p:sp>
        <p:nvSpPr>
          <p:cNvPr id="32" name="Text 30"/>
          <p:cNvSpPr/>
          <p:nvPr/>
        </p:nvSpPr>
        <p:spPr>
          <a:xfrm>
            <a:off x="640080" y="3977640"/>
            <a:ext cx="3440521" cy="274320"/>
          </a:xfrm>
          <a:prstGeom prst="rect">
            <a:avLst/>
          </a:prstGeom>
          <a:noFill/>
          <a:ln/>
        </p:spPr>
        <p:txBody>
          <a:bodyPr wrap="square" rtlCol="0" anchor="ctr"/>
          <a:lstStyle/>
          <a:p>
            <a:pPr algn="ctr" indent="0" marL="0">
              <a:buNone/>
            </a:pPr>
            <a:r>
              <a:rPr lang="en-US" sz="1100" b="1" spc="200" kern="0" dirty="0">
                <a:solidFill>
                  <a:srgbClr val="5A8FB0"/>
                </a:solidFill>
                <a:latin typeface="Calibri" pitchFamily="34" charset="0"/>
                <a:ea typeface="Calibri" pitchFamily="34" charset="-122"/>
                <a:cs typeface="Calibri" pitchFamily="34" charset="-120"/>
              </a:rPr>
              <a:t>EDGE</a:t>
            </a:r>
            <a:endParaRPr lang="en-US" sz="1100" dirty="0"/>
          </a:p>
        </p:txBody>
      </p:sp>
      <p:sp>
        <p:nvSpPr>
          <p:cNvPr id="33" name="Text 31"/>
          <p:cNvSpPr/>
          <p:nvPr/>
        </p:nvSpPr>
        <p:spPr>
          <a:xfrm>
            <a:off x="4375587" y="3977640"/>
            <a:ext cx="7176028" cy="274320"/>
          </a:xfrm>
          <a:prstGeom prst="rect">
            <a:avLst/>
          </a:prstGeom>
          <a:noFill/>
          <a:ln/>
        </p:spPr>
        <p:txBody>
          <a:bodyPr wrap="square" rtlCol="0" anchor="ctr"/>
          <a:lstStyle/>
          <a:p>
            <a:pPr algn="ctr" indent="0" marL="0">
              <a:buNone/>
            </a:pPr>
            <a:r>
              <a:rPr lang="en-US" sz="1100" b="1" spc="200" kern="0" dirty="0">
                <a:solidFill>
                  <a:srgbClr val="1C4A6E"/>
                </a:solidFill>
                <a:latin typeface="Calibri" pitchFamily="34" charset="0"/>
                <a:ea typeface="Calibri" pitchFamily="34" charset="-122"/>
                <a:cs typeface="Calibri" pitchFamily="34" charset="-120"/>
              </a:rPr>
              <a:t>CLOUD</a:t>
            </a:r>
            <a:endParaRPr lang="en-US" sz="1100" dirty="0"/>
          </a:p>
        </p:txBody>
      </p:sp>
      <p:sp>
        <p:nvSpPr>
          <p:cNvPr id="34" name="Text 32"/>
          <p:cNvSpPr/>
          <p:nvPr/>
        </p:nvSpPr>
        <p:spPr>
          <a:xfrm>
            <a:off x="640080" y="5257800"/>
            <a:ext cx="10972800" cy="731520"/>
          </a:xfrm>
          <a:prstGeom prst="rect">
            <a:avLst/>
          </a:prstGeom>
          <a:noFill/>
          <a:ln/>
        </p:spPr>
        <p:txBody>
          <a:bodyPr wrap="square" rtlCol="0" anchor="ctr"/>
          <a:lstStyle/>
          <a:p>
            <a:pPr algn="ctr" indent="0" marL="0">
              <a:buNone/>
            </a:pPr>
            <a:r>
              <a:rPr lang="en-US" sz="1500" i="1" dirty="0">
                <a:solidFill>
                  <a:srgbClr val="1C4A6E"/>
                </a:solidFill>
                <a:latin typeface="Calibri" pitchFamily="34" charset="0"/>
                <a:ea typeface="Calibri" pitchFamily="34" charset="-122"/>
                <a:cs typeface="Calibri" pitchFamily="34" charset="-120"/>
              </a:rPr>
              <a:t>Every container is re-scored every ten seconds at the depot relay; only compact window summaries cross into the cloud, raw readings stay at the edge.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rtlCol="0" anchor="ctr"/>
          <a:lstStyle/>
          <a:p>
            <a:pPr indent="0" marL="0">
              <a:buNone/>
            </a:pPr>
            <a:r>
              <a:rPr lang="en-US" sz="3000" b="1" dirty="0">
                <a:solidFill>
                  <a:srgbClr val="14293A"/>
                </a:solidFill>
                <a:latin typeface="Cambria" pitchFamily="34" charset="0"/>
                <a:ea typeface="Cambria" pitchFamily="34" charset="-122"/>
                <a:cs typeface="Cambria" pitchFamily="34" charset="-120"/>
              </a:rPr>
              <a:t>Live Demo</a:t>
            </a:r>
            <a:endParaRPr lang="en-US" sz="3000" dirty="0"/>
          </a:p>
        </p:txBody>
      </p:sp>
      <p:sp>
        <p:nvSpPr>
          <p:cNvPr id="3" name="Text 1"/>
          <p:cNvSpPr/>
          <p:nvPr/>
        </p:nvSpPr>
        <p:spPr>
          <a:xfrm>
            <a:off x="658368" y="1143000"/>
            <a:ext cx="10972800" cy="365760"/>
          </a:xfrm>
          <a:prstGeom prst="rect">
            <a:avLst/>
          </a:prstGeom>
          <a:noFill/>
          <a:ln/>
        </p:spPr>
        <p:txBody>
          <a:bodyPr wrap="square" rtlCol="0" anchor="ctr"/>
          <a:lstStyle/>
          <a:p>
            <a:pPr indent="0" marL="0">
              <a:buNone/>
            </a:pPr>
            <a:r>
              <a:rPr lang="en-US" sz="1400" dirty="0">
                <a:solidFill>
                  <a:srgbClr val="2E6C93"/>
                </a:solidFill>
                <a:latin typeface="Consolas" pitchFamily="34" charset="0"/>
                <a:ea typeface="Consolas" pitchFamily="34" charset="-122"/>
                <a:cs typeface="Consolas" pitchFamily="34" charset="-120"/>
              </a:rPr>
              <a:t>fcl-frontend-911500555248.s3.us-east-1.amazonaws.com</a:t>
            </a:r>
            <a:endParaRPr lang="en-US" sz="1400" dirty="0"/>
          </a:p>
        </p:txBody>
      </p:sp>
      <p:sp>
        <p:nvSpPr>
          <p:cNvPr id="4" name="Shape 2"/>
          <p:cNvSpPr/>
          <p:nvPr/>
        </p:nvSpPr>
        <p:spPr>
          <a:xfrm>
            <a:off x="640080" y="1874520"/>
            <a:ext cx="3502152" cy="3657600"/>
          </a:xfrm>
          <a:prstGeom prst="roundRect">
            <a:avLst>
              <a:gd name="adj" fmla="val 2611"/>
            </a:avLst>
          </a:prstGeom>
          <a:solidFill>
            <a:srgbClr val="EEF4F8"/>
          </a:solidFill>
          <a:ln w="15240">
            <a:solidFill>
              <a:srgbClr val="2E6C93"/>
            </a:solidFill>
            <a:prstDash val="solid"/>
          </a:ln>
        </p:spPr>
      </p:sp>
      <p:sp>
        <p:nvSpPr>
          <p:cNvPr id="5" name="Shape 3"/>
          <p:cNvSpPr/>
          <p:nvPr/>
        </p:nvSpPr>
        <p:spPr>
          <a:xfrm>
            <a:off x="914400" y="2194560"/>
            <a:ext cx="640080" cy="640080"/>
          </a:xfrm>
          <a:prstGeom prst="ellipse">
            <a:avLst/>
          </a:prstGeom>
          <a:solidFill>
            <a:srgbClr val="1C4A6E"/>
          </a:solidFill>
          <a:ln/>
        </p:spPr>
      </p:sp>
      <p:sp>
        <p:nvSpPr>
          <p:cNvPr id="6" name="Text 4"/>
          <p:cNvSpPr/>
          <p:nvPr/>
        </p:nvSpPr>
        <p:spPr>
          <a:xfrm>
            <a:off x="914400" y="21945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914400" y="3017520"/>
            <a:ext cx="2953512" cy="822960"/>
          </a:xfrm>
          <a:prstGeom prst="rect">
            <a:avLst/>
          </a:prstGeom>
          <a:noFill/>
          <a:ln/>
        </p:spPr>
        <p:txBody>
          <a:bodyPr wrap="square" lIns="0" tIns="0" rIns="0" bIns="0" rtlCol="0" anchor="ctr"/>
          <a:lstStyle/>
          <a:p>
            <a:pPr indent="0" marL="0">
              <a:buNone/>
            </a:pPr>
            <a:r>
              <a:rPr lang="en-US" sz="1700" b="1" dirty="0">
                <a:solidFill>
                  <a:srgbClr val="14293A"/>
                </a:solidFill>
                <a:latin typeface="Calibri" pitchFamily="34" charset="0"/>
                <a:ea typeface="Calibri" pitchFamily="34" charset="-122"/>
                <a:cs typeface="Calibri" pitchFamily="34" charset="-120"/>
              </a:rPr>
              <a:t>A live manifest per container</a:t>
            </a:r>
            <a:endParaRPr lang="en-US" sz="1700" dirty="0"/>
          </a:p>
        </p:txBody>
      </p:sp>
      <p:sp>
        <p:nvSpPr>
          <p:cNvPr id="8" name="Text 6"/>
          <p:cNvSpPr/>
          <p:nvPr/>
        </p:nvSpPr>
        <p:spPr>
          <a:xfrm>
            <a:off x="914400" y="3794760"/>
            <a:ext cx="2953512" cy="1554480"/>
          </a:xfrm>
          <a:prstGeom prst="rect">
            <a:avLst/>
          </a:prstGeom>
          <a:noFill/>
          <a:ln/>
        </p:spPr>
        <p:txBody>
          <a:bodyPr wrap="square" lIns="0" tIns="0" rIns="0" bIns="0" rtlCol="0" anchor="ctr"/>
          <a:lstStyle/>
          <a:p>
            <a:pPr indent="0" marL="0">
              <a:lnSpc>
                <a:spcPct val="105000"/>
              </a:lnSpc>
              <a:buNone/>
            </a:pPr>
            <a:r>
              <a:rPr lang="en-US" sz="1300" dirty="0">
                <a:solidFill>
                  <a:srgbClr val="5A6E7C"/>
                </a:solidFill>
                <a:latin typeface="Calibri" pitchFamily="34" charset="0"/>
                <a:ea typeface="Calibri" pitchFamily="34" charset="-122"/>
                <a:cs typeface="Calibri" pitchFamily="34" charset="-120"/>
              </a:rPr>
              <a:t>Storage temperature, humidity, door-open time, shock and CO2 for both reefers, re-scored every ten seconds.</a:t>
            </a:r>
            <a:endParaRPr lang="en-US" sz="1300" dirty="0"/>
          </a:p>
        </p:txBody>
      </p:sp>
      <p:sp>
        <p:nvSpPr>
          <p:cNvPr id="9" name="Shape 7"/>
          <p:cNvSpPr/>
          <p:nvPr/>
        </p:nvSpPr>
        <p:spPr>
          <a:xfrm>
            <a:off x="4416552" y="1874520"/>
            <a:ext cx="3502152" cy="3657600"/>
          </a:xfrm>
          <a:prstGeom prst="roundRect">
            <a:avLst>
              <a:gd name="adj" fmla="val 2611"/>
            </a:avLst>
          </a:prstGeom>
          <a:solidFill>
            <a:srgbClr val="EEF4F8"/>
          </a:solidFill>
          <a:ln w="15240">
            <a:solidFill>
              <a:srgbClr val="2E6C93"/>
            </a:solidFill>
            <a:prstDash val="solid"/>
          </a:ln>
        </p:spPr>
      </p:sp>
      <p:sp>
        <p:nvSpPr>
          <p:cNvPr id="10" name="Shape 8"/>
          <p:cNvSpPr/>
          <p:nvPr/>
        </p:nvSpPr>
        <p:spPr>
          <a:xfrm>
            <a:off x="4690872" y="2194560"/>
            <a:ext cx="640080" cy="640080"/>
          </a:xfrm>
          <a:prstGeom prst="ellipse">
            <a:avLst/>
          </a:prstGeom>
          <a:solidFill>
            <a:srgbClr val="1C4A6E"/>
          </a:solidFill>
          <a:ln/>
        </p:spPr>
      </p:sp>
      <p:sp>
        <p:nvSpPr>
          <p:cNvPr id="11" name="Text 9"/>
          <p:cNvSpPr/>
          <p:nvPr/>
        </p:nvSpPr>
        <p:spPr>
          <a:xfrm>
            <a:off x="4690872" y="21945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4690872" y="3017520"/>
            <a:ext cx="2953512" cy="822960"/>
          </a:xfrm>
          <a:prstGeom prst="rect">
            <a:avLst/>
          </a:prstGeom>
          <a:noFill/>
          <a:ln/>
        </p:spPr>
        <p:txBody>
          <a:bodyPr wrap="square" lIns="0" tIns="0" rIns="0" bIns="0" rtlCol="0" anchor="ctr"/>
          <a:lstStyle/>
          <a:p>
            <a:pPr indent="0" marL="0">
              <a:buNone/>
            </a:pPr>
            <a:r>
              <a:rPr lang="en-US" sz="1700" b="1" dirty="0">
                <a:solidFill>
                  <a:srgbClr val="14293A"/>
                </a:solidFill>
                <a:latin typeface="Calibri" pitchFamily="34" charset="0"/>
                <a:ea typeface="Calibri" pitchFamily="34" charset="-122"/>
                <a:cs typeface="Calibri" pitchFamily="34" charset="-120"/>
              </a:rPr>
              <a:t>An excursion flagged on the board</a:t>
            </a:r>
            <a:endParaRPr lang="en-US" sz="1700" dirty="0"/>
          </a:p>
        </p:txBody>
      </p:sp>
      <p:sp>
        <p:nvSpPr>
          <p:cNvPr id="13" name="Text 11"/>
          <p:cNvSpPr/>
          <p:nvPr/>
        </p:nvSpPr>
        <p:spPr>
          <a:xfrm>
            <a:off x="4690872" y="3794760"/>
            <a:ext cx="2953512" cy="1554480"/>
          </a:xfrm>
          <a:prstGeom prst="rect">
            <a:avLst/>
          </a:prstGeom>
          <a:noFill/>
          <a:ln/>
        </p:spPr>
        <p:txBody>
          <a:bodyPr wrap="square" lIns="0" tIns="0" rIns="0" bIns="0" rtlCol="0" anchor="ctr"/>
          <a:lstStyle/>
          <a:p>
            <a:pPr indent="0" marL="0">
              <a:lnSpc>
                <a:spcPct val="105000"/>
              </a:lnSpc>
              <a:buNone/>
            </a:pPr>
            <a:r>
              <a:rPr lang="en-US" sz="1300" dirty="0">
                <a:solidFill>
                  <a:srgbClr val="5A6E7C"/>
                </a:solidFill>
                <a:latin typeface="Calibri" pitchFamily="34" charset="0"/>
                <a:ea typeface="Calibri" pitchFamily="34" charset="-122"/>
                <a:cs typeface="Calibri" pitchFamily="34" charset="-120"/>
              </a:rPr>
              <a:t>A container whose window-average temperature rises above -15 C is flagged as a cold-chain breach within one window, shown against the storage-temperature trend.</a:t>
            </a:r>
            <a:endParaRPr lang="en-US" sz="1300" dirty="0"/>
          </a:p>
        </p:txBody>
      </p:sp>
      <p:sp>
        <p:nvSpPr>
          <p:cNvPr id="14" name="Shape 12"/>
          <p:cNvSpPr/>
          <p:nvPr/>
        </p:nvSpPr>
        <p:spPr>
          <a:xfrm>
            <a:off x="8193024" y="1874520"/>
            <a:ext cx="3502152" cy="3657600"/>
          </a:xfrm>
          <a:prstGeom prst="roundRect">
            <a:avLst>
              <a:gd name="adj" fmla="val 2611"/>
            </a:avLst>
          </a:prstGeom>
          <a:solidFill>
            <a:srgbClr val="EEF4F8"/>
          </a:solidFill>
          <a:ln w="15240">
            <a:solidFill>
              <a:srgbClr val="2E6C93"/>
            </a:solidFill>
            <a:prstDash val="solid"/>
          </a:ln>
        </p:spPr>
      </p:sp>
      <p:sp>
        <p:nvSpPr>
          <p:cNvPr id="15" name="Shape 13"/>
          <p:cNvSpPr/>
          <p:nvPr/>
        </p:nvSpPr>
        <p:spPr>
          <a:xfrm>
            <a:off x="8467344" y="2194560"/>
            <a:ext cx="640080" cy="640080"/>
          </a:xfrm>
          <a:prstGeom prst="ellipse">
            <a:avLst/>
          </a:prstGeom>
          <a:solidFill>
            <a:srgbClr val="1C4A6E"/>
          </a:solidFill>
          <a:ln/>
        </p:spPr>
      </p:sp>
      <p:sp>
        <p:nvSpPr>
          <p:cNvPr id="16" name="Text 14"/>
          <p:cNvSpPr/>
          <p:nvPr/>
        </p:nvSpPr>
        <p:spPr>
          <a:xfrm>
            <a:off x="8467344" y="21945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7" name="Text 15"/>
          <p:cNvSpPr/>
          <p:nvPr/>
        </p:nvSpPr>
        <p:spPr>
          <a:xfrm>
            <a:off x="8467344" y="3017520"/>
            <a:ext cx="2953512" cy="822960"/>
          </a:xfrm>
          <a:prstGeom prst="rect">
            <a:avLst/>
          </a:prstGeom>
          <a:noFill/>
          <a:ln/>
        </p:spPr>
        <p:txBody>
          <a:bodyPr wrap="square" lIns="0" tIns="0" rIns="0" bIns="0" rtlCol="0" anchor="ctr"/>
          <a:lstStyle/>
          <a:p>
            <a:pPr indent="0" marL="0">
              <a:buNone/>
            </a:pPr>
            <a:r>
              <a:rPr lang="en-US" sz="1700" b="1" dirty="0">
                <a:solidFill>
                  <a:srgbClr val="14293A"/>
                </a:solidFill>
                <a:latin typeface="Calibri" pitchFamily="34" charset="0"/>
                <a:ea typeface="Calibri" pitchFamily="34" charset="-122"/>
                <a:cs typeface="Calibri" pitchFamily="34" charset="-120"/>
              </a:rPr>
              <a:t>Temperature trends per container</a:t>
            </a:r>
            <a:endParaRPr lang="en-US" sz="1700" dirty="0"/>
          </a:p>
        </p:txBody>
      </p:sp>
      <p:sp>
        <p:nvSpPr>
          <p:cNvPr id="18" name="Text 16"/>
          <p:cNvSpPr/>
          <p:nvPr/>
        </p:nvSpPr>
        <p:spPr>
          <a:xfrm>
            <a:off x="8467344" y="3794760"/>
            <a:ext cx="2953512" cy="1554480"/>
          </a:xfrm>
          <a:prstGeom prst="rect">
            <a:avLst/>
          </a:prstGeom>
          <a:noFill/>
          <a:ln/>
        </p:spPr>
        <p:txBody>
          <a:bodyPr wrap="square" lIns="0" tIns="0" rIns="0" bIns="0" rtlCol="0" anchor="ctr"/>
          <a:lstStyle/>
          <a:p>
            <a:pPr indent="0" marL="0">
              <a:lnSpc>
                <a:spcPct val="105000"/>
              </a:lnSpc>
              <a:buNone/>
            </a:pPr>
            <a:r>
              <a:rPr lang="en-US" sz="1300" dirty="0">
                <a:solidFill>
                  <a:srgbClr val="5A6E7C"/>
                </a:solidFill>
                <a:latin typeface="Calibri" pitchFamily="34" charset="0"/>
                <a:ea typeface="Calibri" pitchFamily="34" charset="-122"/>
                <a:cs typeface="Calibri" pitchFamily="34" charset="-120"/>
              </a:rPr>
              <a:t>The storage-temperature charts show each container's live series, so a container drifting warm is visible before it breaches.</a:t>
            </a:r>
            <a:endParaRPr lang="en-US" sz="1300" dirty="0"/>
          </a:p>
        </p:txBody>
      </p:sp>
      <p:sp>
        <p:nvSpPr>
          <p:cNvPr id="19" name="Text 17"/>
          <p:cNvSpPr/>
          <p:nvPr/>
        </p:nvSpPr>
        <p:spPr>
          <a:xfrm>
            <a:off x="640080" y="6263640"/>
            <a:ext cx="10972800" cy="365760"/>
          </a:xfrm>
          <a:prstGeom prst="rect">
            <a:avLst/>
          </a:prstGeom>
          <a:noFill/>
          <a:ln/>
        </p:spPr>
        <p:txBody>
          <a:bodyPr wrap="square" rtlCol="0" anchor="ctr"/>
          <a:lstStyle/>
          <a:p>
            <a:pPr indent="0" marL="0">
              <a:buNone/>
            </a:pPr>
            <a:r>
              <a:rPr lang="en-US" sz="1300" i="1" dirty="0">
                <a:solidFill>
                  <a:srgbClr val="5A8FB0"/>
                </a:solidFill>
                <a:latin typeface="Calibri" pitchFamily="34" charset="0"/>
                <a:ea typeface="Calibri" pitchFamily="34" charset="-122"/>
                <a:cs typeface="Calibri" pitchFamily="34" charset="-120"/>
              </a:rPr>
              <a:t>Switch to the live dashboard here — backup video ready.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972800" cy="822960"/>
          </a:xfrm>
          <a:prstGeom prst="rect">
            <a:avLst/>
          </a:prstGeom>
          <a:noFill/>
          <a:ln/>
        </p:spPr>
        <p:txBody>
          <a:bodyPr wrap="square" rtlCol="0" anchor="t"/>
          <a:lstStyle/>
          <a:p>
            <a:pPr indent="0" marL="0">
              <a:buNone/>
            </a:pPr>
            <a:r>
              <a:rPr lang="en-US" sz="2800" b="1" dirty="0">
                <a:solidFill>
                  <a:srgbClr val="14293A"/>
                </a:solidFill>
                <a:latin typeface="Cambria" pitchFamily="34" charset="0"/>
                <a:ea typeface="Cambria" pitchFamily="34" charset="-122"/>
                <a:cs typeface="Cambria" pitchFamily="34" charset="-120"/>
              </a:rPr>
              <a:t>Hardest Part — the runtime is not the laptop</a:t>
            </a:r>
            <a:endParaRPr lang="en-US" sz="2800" dirty="0"/>
          </a:p>
        </p:txBody>
      </p:sp>
      <p:sp>
        <p:nvSpPr>
          <p:cNvPr id="3" name="Shape 1"/>
          <p:cNvSpPr/>
          <p:nvPr/>
        </p:nvSpPr>
        <p:spPr>
          <a:xfrm>
            <a:off x="731520" y="1920240"/>
            <a:ext cx="10698480" cy="1965960"/>
          </a:xfrm>
          <a:prstGeom prst="roundRect">
            <a:avLst>
              <a:gd name="adj" fmla="val 4651"/>
            </a:avLst>
          </a:prstGeom>
          <a:solidFill>
            <a:srgbClr val="EEF4F8"/>
          </a:solidFill>
          <a:ln w="19050">
            <a:solidFill>
              <a:srgbClr val="E1A93C"/>
            </a:solidFill>
            <a:prstDash val="solid"/>
          </a:ln>
        </p:spPr>
      </p:sp>
      <p:sp>
        <p:nvSpPr>
          <p:cNvPr id="4" name="Text 2"/>
          <p:cNvSpPr/>
          <p:nvPr/>
        </p:nvSpPr>
        <p:spPr>
          <a:xfrm>
            <a:off x="1005840" y="2103120"/>
            <a:ext cx="3657600" cy="457200"/>
          </a:xfrm>
          <a:prstGeom prst="rect">
            <a:avLst/>
          </a:prstGeom>
          <a:noFill/>
          <a:ln/>
        </p:spPr>
        <p:txBody>
          <a:bodyPr wrap="square" lIns="0" tIns="0" rIns="0" bIns="0" rtlCol="0" anchor="ctr"/>
          <a:lstStyle/>
          <a:p>
            <a:pPr indent="0" marL="0">
              <a:buNone/>
            </a:pPr>
            <a:r>
              <a:rPr lang="en-US" sz="1900" b="1" dirty="0">
                <a:solidFill>
                  <a:srgbClr val="E1A93C"/>
                </a:solidFill>
                <a:latin typeface="Cambria" pitchFamily="34" charset="0"/>
                <a:ea typeface="Cambria" pitchFamily="34" charset="-122"/>
                <a:cs typeface="Cambria" pitchFamily="34" charset="-120"/>
              </a:rPr>
              <a:t>Problem</a:t>
            </a:r>
            <a:endParaRPr lang="en-US" sz="1900" dirty="0"/>
          </a:p>
        </p:txBody>
      </p:sp>
      <p:sp>
        <p:nvSpPr>
          <p:cNvPr id="5" name="Text 3"/>
          <p:cNvSpPr/>
          <p:nvPr/>
        </p:nvSpPr>
        <p:spPr>
          <a:xfrm>
            <a:off x="1005840" y="2578608"/>
            <a:ext cx="9966960" cy="1188720"/>
          </a:xfrm>
          <a:prstGeom prst="rect">
            <a:avLst/>
          </a:prstGeom>
          <a:noFill/>
          <a:ln/>
        </p:spPr>
        <p:txBody>
          <a:bodyPr wrap="square" lIns="0" tIns="0" rIns="0" bIns="0" rtlCol="0" anchor="ctr"/>
          <a:lstStyle/>
          <a:p>
            <a:pPr indent="0" marL="0">
              <a:lnSpc>
                <a:spcPct val="105000"/>
              </a:lnSpc>
              <a:buNone/>
            </a:pPr>
            <a:r>
              <a:rPr lang="en-US" sz="1300" dirty="0">
                <a:solidFill>
                  <a:srgbClr val="14293A"/>
                </a:solidFill>
                <a:latin typeface="Calibri" pitchFamily="34" charset="0"/>
                <a:ea typeface="Calibri" pitchFamily="34" charset="-122"/>
                <a:cs typeface="Calibri" pitchFamily="34" charset="-120"/>
              </a:rPr>
              <a:t>The FastAPI dashboard would not even start on Lambda, for two reasons at once: a dependency with a compiled native part had been packaged as the copy built on my Mac, which the Linux runtime cannot import; and a static-asset folder was mounted at import time even though that folder ships to S3, not into the function. Both are import-time failures that passed all 76 local tests.</a:t>
            </a:r>
            <a:endParaRPr lang="en-US" sz="1300" dirty="0"/>
          </a:p>
        </p:txBody>
      </p:sp>
      <p:sp>
        <p:nvSpPr>
          <p:cNvPr id="6" name="Shape 4"/>
          <p:cNvSpPr/>
          <p:nvPr/>
        </p:nvSpPr>
        <p:spPr>
          <a:xfrm>
            <a:off x="731520" y="4041648"/>
            <a:ext cx="10698480" cy="1965960"/>
          </a:xfrm>
          <a:prstGeom prst="roundRect">
            <a:avLst>
              <a:gd name="adj" fmla="val 4651"/>
            </a:avLst>
          </a:prstGeom>
          <a:solidFill>
            <a:srgbClr val="EEF4F8"/>
          </a:solidFill>
          <a:ln w="19050">
            <a:solidFill>
              <a:srgbClr val="2E6C93"/>
            </a:solidFill>
            <a:prstDash val="solid"/>
          </a:ln>
        </p:spPr>
      </p:sp>
      <p:sp>
        <p:nvSpPr>
          <p:cNvPr id="7" name="Text 5"/>
          <p:cNvSpPr/>
          <p:nvPr/>
        </p:nvSpPr>
        <p:spPr>
          <a:xfrm>
            <a:off x="1005840" y="4224528"/>
            <a:ext cx="3657600" cy="457200"/>
          </a:xfrm>
          <a:prstGeom prst="rect">
            <a:avLst/>
          </a:prstGeom>
          <a:noFill/>
          <a:ln/>
        </p:spPr>
        <p:txBody>
          <a:bodyPr wrap="square" lIns="0" tIns="0" rIns="0" bIns="0" rtlCol="0" anchor="ctr"/>
          <a:lstStyle/>
          <a:p>
            <a:pPr indent="0" marL="0">
              <a:buNone/>
            </a:pPr>
            <a:r>
              <a:rPr lang="en-US" sz="1900" b="1" dirty="0">
                <a:solidFill>
                  <a:srgbClr val="2E6C93"/>
                </a:solidFill>
                <a:latin typeface="Cambria" pitchFamily="34" charset="0"/>
                <a:ea typeface="Cambria" pitchFamily="34" charset="-122"/>
                <a:cs typeface="Cambria" pitchFamily="34" charset="-120"/>
              </a:rPr>
              <a:t>Solution</a:t>
            </a:r>
            <a:endParaRPr lang="en-US" sz="1900" dirty="0"/>
          </a:p>
        </p:txBody>
      </p:sp>
      <p:sp>
        <p:nvSpPr>
          <p:cNvPr id="8" name="Text 6"/>
          <p:cNvSpPr/>
          <p:nvPr/>
        </p:nvSpPr>
        <p:spPr>
          <a:xfrm>
            <a:off x="1005840" y="4700016"/>
            <a:ext cx="9966960" cy="1188720"/>
          </a:xfrm>
          <a:prstGeom prst="rect">
            <a:avLst/>
          </a:prstGeom>
          <a:noFill/>
          <a:ln/>
        </p:spPr>
        <p:txBody>
          <a:bodyPr wrap="square" lIns="0" tIns="0" rIns="0" bIns="0" rtlCol="0" anchor="ctr"/>
          <a:lstStyle/>
          <a:p>
            <a:pPr indent="0" marL="0">
              <a:lnSpc>
                <a:spcPct val="105000"/>
              </a:lnSpc>
              <a:buNone/>
            </a:pPr>
            <a:r>
              <a:rPr lang="en-US" sz="1300" dirty="0">
                <a:solidFill>
                  <a:srgbClr val="14293A"/>
                </a:solidFill>
                <a:latin typeface="Calibri" pitchFamily="34" charset="0"/>
                <a:ea typeface="Calibri" pitchFamily="34" charset="-122"/>
                <a:cs typeface="Calibri" pitchFamily="34" charset="-120"/>
              </a:rPr>
              <a:t>The deployment package is now built against the Linux runtime's own platform so the native dependency matches, and the static mount is made tolerant of an absent folder. The dashboard returned healthy on the very first live poll.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2026-07-24T07:12:01Z</dcterms:created>
  <dcterms:modified xsi:type="dcterms:W3CDTF">2026-07-24T07:12:01Z</dcterms:modified>
</cp:coreProperties>
</file>