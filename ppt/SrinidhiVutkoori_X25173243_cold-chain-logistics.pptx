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536"/>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2E6C93"/>
                </a:solidFill>
                <a:latin typeface="Calibri" pitchFamily="34" charset="0"/>
                <a:ea typeface="Calibri" pitchFamily="34" charset="-122"/>
                <a:cs typeface="Calibri" pitchFamily="34" charset="-120"/>
              </a:rPr>
              <a:t>COLD CHAIN LOGISTICS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Cold Chain Logistics Monitoring</a:t>
            </a:r>
            <a:endParaRPr lang="en-US" sz="40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5A8FB0"/>
                </a:solidFill>
                <a:latin typeface="Calibri" pitchFamily="34" charset="0"/>
                <a:ea typeface="Calibri" pitchFamily="34" charset="-122"/>
                <a:cs typeface="Calibri" pitchFamily="34" charset="-120"/>
              </a:rPr>
              <a:t>Srinidhi Vutkoori   ·   X25173243</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CFE0EC"/>
                </a:solidFill>
                <a:latin typeface="Calibri" pitchFamily="34" charset="0"/>
                <a:ea typeface="Calibri" pitchFamily="34" charset="-122"/>
                <a:cs typeface="Calibri" pitchFamily="34" charset="-120"/>
              </a:rPr>
              <a:t>A reefer whose window-average temperature drifts above minus fifteen is already breaching the cold chain — and a clipboard round discovers it only after the load has spoiled.</a:t>
            </a:r>
            <a:endParaRPr lang="en-US" sz="1800" dirty="0"/>
          </a:p>
        </p:txBody>
      </p:sp>
      <p:sp>
        <p:nvSpPr>
          <p:cNvPr id="6" name="Shape 4"/>
          <p:cNvSpPr/>
          <p:nvPr/>
        </p:nvSpPr>
        <p:spPr>
          <a:xfrm>
            <a:off x="658368" y="5769864"/>
            <a:ext cx="146304" cy="146304"/>
          </a:xfrm>
          <a:prstGeom prst="rect">
            <a:avLst/>
          </a:prstGeom>
          <a:solidFill>
            <a:srgbClr val="2E6C93"/>
          </a:solidFill>
          <a:ln/>
        </p:spPr>
      </p:sp>
      <p:sp>
        <p:nvSpPr>
          <p:cNvPr id="7" name="Text 5"/>
          <p:cNvSpPr/>
          <p:nvPr/>
        </p:nvSpPr>
        <p:spPr>
          <a:xfrm>
            <a:off x="932688" y="5623560"/>
            <a:ext cx="2560320" cy="457200"/>
          </a:xfrm>
          <a:prstGeom prst="rect">
            <a:avLst/>
          </a:prstGeom>
          <a:noFill/>
          <a:ln/>
        </p:spPr>
        <p:txBody>
          <a:bodyPr wrap="square" lIns="0" tIns="0" rIns="0" bIns="0" rtlCol="0" anchor="ctr"/>
          <a:lstStyle/>
          <a:p>
            <a:pPr indent="0" marL="0">
              <a:buNone/>
            </a:pPr>
            <a:r>
              <a:rPr lang="en-US" sz="1400" b="1" dirty="0">
                <a:solidFill>
                  <a:srgbClr val="CFE0EC"/>
                </a:solidFill>
                <a:latin typeface="Calibri" pitchFamily="34" charset="0"/>
                <a:ea typeface="Calibri" pitchFamily="34" charset="-122"/>
                <a:cs typeface="Calibri" pitchFamily="34" charset="-120"/>
              </a:rPr>
              <a:t>Storage temp &gt; −15 °C</a:t>
            </a:r>
            <a:endParaRPr lang="en-US" sz="1400" dirty="0"/>
          </a:p>
        </p:txBody>
      </p:sp>
      <p:sp>
        <p:nvSpPr>
          <p:cNvPr id="8" name="Shape 6"/>
          <p:cNvSpPr/>
          <p:nvPr/>
        </p:nvSpPr>
        <p:spPr>
          <a:xfrm>
            <a:off x="3538728" y="5769864"/>
            <a:ext cx="146304" cy="146304"/>
          </a:xfrm>
          <a:prstGeom prst="rect">
            <a:avLst/>
          </a:prstGeom>
          <a:solidFill>
            <a:srgbClr val="2E6C93"/>
          </a:solidFill>
          <a:ln/>
        </p:spPr>
      </p:sp>
      <p:sp>
        <p:nvSpPr>
          <p:cNvPr id="9" name="Text 7"/>
          <p:cNvSpPr/>
          <p:nvPr/>
        </p:nvSpPr>
        <p:spPr>
          <a:xfrm>
            <a:off x="3813048" y="5623560"/>
            <a:ext cx="2560320" cy="457200"/>
          </a:xfrm>
          <a:prstGeom prst="rect">
            <a:avLst/>
          </a:prstGeom>
          <a:noFill/>
          <a:ln/>
        </p:spPr>
        <p:txBody>
          <a:bodyPr wrap="square" lIns="0" tIns="0" rIns="0" bIns="0" rtlCol="0" anchor="ctr"/>
          <a:lstStyle/>
          <a:p>
            <a:pPr indent="0" marL="0">
              <a:buNone/>
            </a:pPr>
            <a:r>
              <a:rPr lang="en-US" sz="1400" b="1" dirty="0">
                <a:solidFill>
                  <a:srgbClr val="CFE0EC"/>
                </a:solidFill>
                <a:latin typeface="Calibri" pitchFamily="34" charset="0"/>
                <a:ea typeface="Calibri" pitchFamily="34" charset="-122"/>
                <a:cs typeface="Calibri" pitchFamily="34" charset="-120"/>
              </a:rPr>
              <a:t>Door open &gt; 300 s</a:t>
            </a:r>
            <a:endParaRPr lang="en-US" sz="1400" dirty="0"/>
          </a:p>
        </p:txBody>
      </p:sp>
      <p:sp>
        <p:nvSpPr>
          <p:cNvPr id="10" name="Shape 8"/>
          <p:cNvSpPr/>
          <p:nvPr/>
        </p:nvSpPr>
        <p:spPr>
          <a:xfrm>
            <a:off x="6419088" y="5769864"/>
            <a:ext cx="146304" cy="146304"/>
          </a:xfrm>
          <a:prstGeom prst="rect">
            <a:avLst/>
          </a:prstGeom>
          <a:solidFill>
            <a:srgbClr val="2E6C93"/>
          </a:solidFill>
          <a:ln/>
        </p:spPr>
      </p:sp>
      <p:sp>
        <p:nvSpPr>
          <p:cNvPr id="11" name="Text 9"/>
          <p:cNvSpPr/>
          <p:nvPr/>
        </p:nvSpPr>
        <p:spPr>
          <a:xfrm>
            <a:off x="6693408" y="5623560"/>
            <a:ext cx="2560320" cy="457200"/>
          </a:xfrm>
          <a:prstGeom prst="rect">
            <a:avLst/>
          </a:prstGeom>
          <a:noFill/>
          <a:ln/>
        </p:spPr>
        <p:txBody>
          <a:bodyPr wrap="square" lIns="0" tIns="0" rIns="0" bIns="0" rtlCol="0" anchor="ctr"/>
          <a:lstStyle/>
          <a:p>
            <a:pPr indent="0" marL="0">
              <a:buNone/>
            </a:pPr>
            <a:r>
              <a:rPr lang="en-US" sz="1400" b="1" dirty="0">
                <a:solidFill>
                  <a:srgbClr val="CFE0EC"/>
                </a:solidFill>
                <a:latin typeface="Calibri" pitchFamily="34" charset="0"/>
                <a:ea typeface="Calibri" pitchFamily="34" charset="-122"/>
                <a:cs typeface="Calibri" pitchFamily="34" charset="-120"/>
              </a:rPr>
              <a:t>10 s re-score</a:t>
            </a:r>
            <a:endParaRPr lang="en-US" sz="140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What I Built — Sensors to Live Manifest</a:t>
            </a:r>
            <a:endParaRPr lang="en-US" sz="3000" dirty="0"/>
          </a:p>
        </p:txBody>
      </p:sp>
      <p:sp>
        <p:nvSpPr>
          <p:cNvPr id="3" name="Shape 1"/>
          <p:cNvSpPr/>
          <p:nvPr/>
        </p:nvSpPr>
        <p:spPr>
          <a:xfrm>
            <a:off x="640080" y="2468880"/>
            <a:ext cx="1572768" cy="1371600"/>
          </a:xfrm>
          <a:prstGeom prst="roundRect">
            <a:avLst>
              <a:gd name="adj" fmla="val 6667"/>
            </a:avLst>
          </a:prstGeom>
          <a:solidFill>
            <a:srgbClr val="EEF4F8"/>
          </a:solidFill>
          <a:ln w="19050">
            <a:solidFill>
              <a:srgbClr val="5A8FB0"/>
            </a:solidFill>
            <a:prstDash val="solid"/>
          </a:ln>
        </p:spPr>
      </p:sp>
      <p:sp>
        <p:nvSpPr>
          <p:cNvPr id="4" name="Shape 2"/>
          <p:cNvSpPr/>
          <p:nvPr/>
        </p:nvSpPr>
        <p:spPr>
          <a:xfrm>
            <a:off x="1335024" y="2633472"/>
            <a:ext cx="182880" cy="182880"/>
          </a:xfrm>
          <a:prstGeom prst="ellipse">
            <a:avLst/>
          </a:prstGeom>
          <a:solidFill>
            <a:srgbClr val="5A8FB0"/>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Container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units · 2 containers</a:t>
            </a:r>
            <a:endParaRPr lang="en-US" sz="1050" dirty="0"/>
          </a:p>
        </p:txBody>
      </p:sp>
      <p:sp>
        <p:nvSpPr>
          <p:cNvPr id="7" name="Shape 5"/>
          <p:cNvSpPr/>
          <p:nvPr/>
        </p:nvSpPr>
        <p:spPr>
          <a:xfrm>
            <a:off x="2231136" y="3154680"/>
            <a:ext cx="258409" cy="0"/>
          </a:xfrm>
          <a:prstGeom prst="line">
            <a:avLst/>
          </a:prstGeom>
          <a:noFill/>
          <a:ln w="25400">
            <a:solidFill>
              <a:srgbClr val="5A8FB0"/>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EF4F8"/>
          </a:solidFill>
          <a:ln w="19050">
            <a:solidFill>
              <a:srgbClr val="5A8FB0"/>
            </a:solidFill>
            <a:prstDash val="solid"/>
          </a:ln>
        </p:spPr>
      </p:sp>
      <p:sp>
        <p:nvSpPr>
          <p:cNvPr id="9" name="Shape 7"/>
          <p:cNvSpPr/>
          <p:nvPr/>
        </p:nvSpPr>
        <p:spPr>
          <a:xfrm>
            <a:off x="3202777" y="2633472"/>
            <a:ext cx="182880" cy="182880"/>
          </a:xfrm>
          <a:prstGeom prst="ellipse">
            <a:avLst/>
          </a:prstGeom>
          <a:solidFill>
            <a:srgbClr val="5A8FB0"/>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Depot relay</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s windows · exceptions</a:t>
            </a:r>
            <a:endParaRPr lang="en-US" sz="1050" dirty="0"/>
          </a:p>
        </p:txBody>
      </p:sp>
      <p:sp>
        <p:nvSpPr>
          <p:cNvPr id="12" name="Shape 10"/>
          <p:cNvSpPr/>
          <p:nvPr/>
        </p:nvSpPr>
        <p:spPr>
          <a:xfrm>
            <a:off x="4098889" y="3154680"/>
            <a:ext cx="258409" cy="0"/>
          </a:xfrm>
          <a:prstGeom prst="line">
            <a:avLst/>
          </a:prstGeom>
          <a:noFill/>
          <a:ln w="25400">
            <a:solidFill>
              <a:srgbClr val="5A8FB0"/>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EF4F8"/>
          </a:solidFill>
          <a:ln w="19050">
            <a:solidFill>
              <a:srgbClr val="1C4A6E"/>
            </a:solidFill>
            <a:prstDash val="solid"/>
          </a:ln>
        </p:spPr>
      </p:sp>
      <p:sp>
        <p:nvSpPr>
          <p:cNvPr id="14" name="Shape 12"/>
          <p:cNvSpPr/>
          <p:nvPr/>
        </p:nvSpPr>
        <p:spPr>
          <a:xfrm>
            <a:off x="5070531" y="2633472"/>
            <a:ext cx="182880" cy="182880"/>
          </a:xfrm>
          <a:prstGeom prst="ellipse">
            <a:avLst/>
          </a:prstGeom>
          <a:solidFill>
            <a:srgbClr val="1C4A6E"/>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batched ≤10 / call</a:t>
            </a:r>
            <a:endParaRPr lang="en-US" sz="1050" dirty="0"/>
          </a:p>
        </p:txBody>
      </p:sp>
      <p:sp>
        <p:nvSpPr>
          <p:cNvPr id="17" name="Shape 15"/>
          <p:cNvSpPr/>
          <p:nvPr/>
        </p:nvSpPr>
        <p:spPr>
          <a:xfrm>
            <a:off x="5966643" y="3154680"/>
            <a:ext cx="258409" cy="0"/>
          </a:xfrm>
          <a:prstGeom prst="line">
            <a:avLst/>
          </a:prstGeom>
          <a:noFill/>
          <a:ln w="25400">
            <a:solidFill>
              <a:srgbClr val="5A8FB0"/>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EF4F8"/>
          </a:solidFill>
          <a:ln w="19050">
            <a:solidFill>
              <a:srgbClr val="1C4A6E"/>
            </a:solidFill>
            <a:prstDash val="solid"/>
          </a:ln>
        </p:spPr>
      </p:sp>
      <p:sp>
        <p:nvSpPr>
          <p:cNvPr id="19" name="Shape 17"/>
          <p:cNvSpPr/>
          <p:nvPr/>
        </p:nvSpPr>
        <p:spPr>
          <a:xfrm>
            <a:off x="6938284" y="2633472"/>
            <a:ext cx="182880" cy="182880"/>
          </a:xfrm>
          <a:prstGeom prst="ellipse">
            <a:avLst/>
          </a:prstGeom>
          <a:solidFill>
            <a:srgbClr val="1C4A6E"/>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python3.12 ingest</a:t>
            </a:r>
            <a:endParaRPr lang="en-US" sz="1050" dirty="0"/>
          </a:p>
        </p:txBody>
      </p:sp>
      <p:sp>
        <p:nvSpPr>
          <p:cNvPr id="22" name="Shape 20"/>
          <p:cNvSpPr/>
          <p:nvPr/>
        </p:nvSpPr>
        <p:spPr>
          <a:xfrm>
            <a:off x="7834396" y="3154680"/>
            <a:ext cx="258409" cy="0"/>
          </a:xfrm>
          <a:prstGeom prst="line">
            <a:avLst/>
          </a:prstGeom>
          <a:noFill/>
          <a:ln w="25400">
            <a:solidFill>
              <a:srgbClr val="5A8FB0"/>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EF4F8"/>
          </a:solidFill>
          <a:ln w="19050">
            <a:solidFill>
              <a:srgbClr val="1C4A6E"/>
            </a:solidFill>
            <a:prstDash val="solid"/>
          </a:ln>
        </p:spPr>
      </p:sp>
      <p:sp>
        <p:nvSpPr>
          <p:cNvPr id="24" name="Shape 22"/>
          <p:cNvSpPr/>
          <p:nvPr/>
        </p:nvSpPr>
        <p:spPr>
          <a:xfrm>
            <a:off x="8806038" y="2633472"/>
            <a:ext cx="182880" cy="182880"/>
          </a:xfrm>
          <a:prstGeom prst="ellipse">
            <a:avLst/>
          </a:prstGeom>
          <a:solidFill>
            <a:srgbClr val="1C4A6E"/>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window archive</a:t>
            </a:r>
            <a:endParaRPr lang="en-US" sz="1050" dirty="0"/>
          </a:p>
        </p:txBody>
      </p:sp>
      <p:sp>
        <p:nvSpPr>
          <p:cNvPr id="27" name="Shape 25"/>
          <p:cNvSpPr/>
          <p:nvPr/>
        </p:nvSpPr>
        <p:spPr>
          <a:xfrm>
            <a:off x="9702150" y="3154680"/>
            <a:ext cx="258409" cy="0"/>
          </a:xfrm>
          <a:prstGeom prst="line">
            <a:avLst/>
          </a:prstGeom>
          <a:noFill/>
          <a:ln w="25400">
            <a:solidFill>
              <a:srgbClr val="5A8FB0"/>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EF4F8"/>
          </a:solidFill>
          <a:ln w="19050">
            <a:solidFill>
              <a:srgbClr val="2E6C93"/>
            </a:solidFill>
            <a:prstDash val="solid"/>
          </a:ln>
        </p:spPr>
      </p:sp>
      <p:sp>
        <p:nvSpPr>
          <p:cNvPr id="29" name="Shape 27"/>
          <p:cNvSpPr/>
          <p:nvPr/>
        </p:nvSpPr>
        <p:spPr>
          <a:xfrm>
            <a:off x="10673791" y="2633472"/>
            <a:ext cx="182880" cy="182880"/>
          </a:xfrm>
          <a:prstGeom prst="ellipse">
            <a:avLst/>
          </a:prstGeom>
          <a:solidFill>
            <a:srgbClr val="2E6C93"/>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live manifest</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5A8FB0"/>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1C4A6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C4A6E"/>
                </a:solidFill>
                <a:latin typeface="Calibri" pitchFamily="34" charset="0"/>
                <a:ea typeface="Calibri" pitchFamily="34" charset="-122"/>
                <a:cs typeface="Calibri" pitchFamily="34" charset="-120"/>
              </a:rPr>
              <a:t>Every container is re-scored every ten seconds at the depot relay; only compact window summaries cross into the cloud, raw readings stay at the edge.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6C93"/>
                </a:solidFill>
                <a:latin typeface="Consolas" pitchFamily="34" charset="0"/>
                <a:ea typeface="Consolas" pitchFamily="34" charset="-122"/>
                <a:cs typeface="Consolas" pitchFamily="34" charset="-120"/>
              </a:rPr>
              <a:t>fcl-frontend-911500555248.s3.us-east-1.amazonaws.com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EEF4F8"/>
          </a:solidFill>
          <a:ln w="15240">
            <a:solidFill>
              <a:srgbClr val="2E6C93"/>
            </a:solidFill>
            <a:prstDash val="solid"/>
          </a:ln>
        </p:spPr>
      </p:sp>
      <p:sp>
        <p:nvSpPr>
          <p:cNvPr id="5" name="Shape 3"/>
          <p:cNvSpPr/>
          <p:nvPr/>
        </p:nvSpPr>
        <p:spPr>
          <a:xfrm>
            <a:off x="960120" y="2203704"/>
            <a:ext cx="621792" cy="621792"/>
          </a:xfrm>
          <a:prstGeom prst="ellipse">
            <a:avLst/>
          </a:prstGeom>
          <a:solidFill>
            <a:srgbClr val="1C4A6E"/>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A live manifest per container</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Storage temperature, humidity, door-open time, shock and CO2 for both reefers, re-scored every ten seconds.</a:t>
            </a:r>
            <a:endParaRPr lang="en-US" sz="1300" dirty="0"/>
          </a:p>
        </p:txBody>
      </p:sp>
      <p:sp>
        <p:nvSpPr>
          <p:cNvPr id="9" name="Shape 7"/>
          <p:cNvSpPr/>
          <p:nvPr/>
        </p:nvSpPr>
        <p:spPr>
          <a:xfrm>
            <a:off x="640080" y="3346704"/>
            <a:ext cx="10881360" cy="1371600"/>
          </a:xfrm>
          <a:prstGeom prst="roundRect">
            <a:avLst>
              <a:gd name="adj" fmla="val 6667"/>
            </a:avLst>
          </a:prstGeom>
          <a:solidFill>
            <a:srgbClr val="EEF4F8"/>
          </a:solidFill>
          <a:ln w="15240">
            <a:solidFill>
              <a:srgbClr val="2E6C93"/>
            </a:solidFill>
            <a:prstDash val="solid"/>
          </a:ln>
        </p:spPr>
      </p:sp>
      <p:sp>
        <p:nvSpPr>
          <p:cNvPr id="10" name="Shape 8"/>
          <p:cNvSpPr/>
          <p:nvPr/>
        </p:nvSpPr>
        <p:spPr>
          <a:xfrm>
            <a:off x="960120" y="3721608"/>
            <a:ext cx="621792" cy="621792"/>
          </a:xfrm>
          <a:prstGeom prst="ellipse">
            <a:avLst/>
          </a:prstGeom>
          <a:solidFill>
            <a:srgbClr val="1C4A6E"/>
          </a:solidFill>
          <a:ln/>
        </p:spPr>
      </p:sp>
      <p:sp>
        <p:nvSpPr>
          <p:cNvPr id="11" name="Text 9"/>
          <p:cNvSpPr/>
          <p:nvPr/>
        </p:nvSpPr>
        <p:spPr>
          <a:xfrm>
            <a:off x="960120" y="3721608"/>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1828800" y="3547872"/>
            <a:ext cx="9418320" cy="41148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An excursion flagged on the board</a:t>
            </a:r>
            <a:endParaRPr lang="en-US" sz="1700" dirty="0"/>
          </a:p>
        </p:txBody>
      </p:sp>
      <p:sp>
        <p:nvSpPr>
          <p:cNvPr id="13" name="Text 11"/>
          <p:cNvSpPr/>
          <p:nvPr/>
        </p:nvSpPr>
        <p:spPr>
          <a:xfrm>
            <a:off x="1828800" y="3968496"/>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A container whose window-average temperature rises above -15 C is flagged as a cold-chain breach within one window, shown against the storage-temperature trend.</a:t>
            </a:r>
            <a:endParaRPr lang="en-US" sz="1300" dirty="0"/>
          </a:p>
        </p:txBody>
      </p:sp>
      <p:sp>
        <p:nvSpPr>
          <p:cNvPr id="14" name="Shape 12"/>
          <p:cNvSpPr/>
          <p:nvPr/>
        </p:nvSpPr>
        <p:spPr>
          <a:xfrm>
            <a:off x="640080" y="4864608"/>
            <a:ext cx="10881360" cy="1371600"/>
          </a:xfrm>
          <a:prstGeom prst="roundRect">
            <a:avLst>
              <a:gd name="adj" fmla="val 6667"/>
            </a:avLst>
          </a:prstGeom>
          <a:solidFill>
            <a:srgbClr val="EEF4F8"/>
          </a:solidFill>
          <a:ln w="15240">
            <a:solidFill>
              <a:srgbClr val="2E6C93"/>
            </a:solidFill>
            <a:prstDash val="solid"/>
          </a:ln>
        </p:spPr>
      </p:sp>
      <p:sp>
        <p:nvSpPr>
          <p:cNvPr id="15" name="Shape 13"/>
          <p:cNvSpPr/>
          <p:nvPr/>
        </p:nvSpPr>
        <p:spPr>
          <a:xfrm>
            <a:off x="960120" y="5239512"/>
            <a:ext cx="621792" cy="621792"/>
          </a:xfrm>
          <a:prstGeom prst="ellipse">
            <a:avLst/>
          </a:prstGeom>
          <a:solidFill>
            <a:srgbClr val="1C4A6E"/>
          </a:solidFill>
          <a:ln/>
        </p:spPr>
      </p:sp>
      <p:sp>
        <p:nvSpPr>
          <p:cNvPr id="16" name="Text 14"/>
          <p:cNvSpPr/>
          <p:nvPr/>
        </p:nvSpPr>
        <p:spPr>
          <a:xfrm>
            <a:off x="960120" y="5239512"/>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828800" y="5065776"/>
            <a:ext cx="9418320" cy="41148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Temperature trends per container</a:t>
            </a:r>
            <a:endParaRPr lang="en-US" sz="1700" dirty="0"/>
          </a:p>
        </p:txBody>
      </p:sp>
      <p:sp>
        <p:nvSpPr>
          <p:cNvPr id="18" name="Text 16"/>
          <p:cNvSpPr/>
          <p:nvPr/>
        </p:nvSpPr>
        <p:spPr>
          <a:xfrm>
            <a:off x="1828800" y="5486400"/>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The storage-temperature charts show each container's live series, so a container drifting warm is visible before it breaches.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4293A"/>
                </a:solidFill>
                <a:latin typeface="Cambria" pitchFamily="34" charset="0"/>
                <a:ea typeface="Cambria" pitchFamily="34" charset="-122"/>
                <a:cs typeface="Cambria" pitchFamily="34" charset="-120"/>
              </a:rPr>
              <a:t>Hardest Part — the runtime is not the laptop</a:t>
            </a:r>
            <a:endParaRPr lang="en-US" sz="2800" dirty="0"/>
          </a:p>
        </p:txBody>
      </p:sp>
      <p:sp>
        <p:nvSpPr>
          <p:cNvPr id="3" name="Shape 1"/>
          <p:cNvSpPr/>
          <p:nvPr/>
        </p:nvSpPr>
        <p:spPr>
          <a:xfrm>
            <a:off x="640080" y="1874520"/>
            <a:ext cx="4937760" cy="4160520"/>
          </a:xfrm>
          <a:prstGeom prst="roundRect">
            <a:avLst>
              <a:gd name="adj" fmla="val 2198"/>
            </a:avLst>
          </a:prstGeom>
          <a:solidFill>
            <a:srgbClr val="EEF4F8"/>
          </a:solidFill>
          <a:ln w="19050">
            <a:solidFill>
              <a:srgbClr val="E1A93C"/>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1A93C"/>
                </a:solidFill>
                <a:latin typeface="Cambria" pitchFamily="34" charset="0"/>
                <a:ea typeface="Cambria" pitchFamily="34" charset="-122"/>
                <a:cs typeface="Cambria"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4293A"/>
                </a:solidFill>
                <a:latin typeface="Calibri" pitchFamily="34" charset="0"/>
                <a:ea typeface="Calibri" pitchFamily="34" charset="-122"/>
                <a:cs typeface="Calibri" pitchFamily="34" charset="-120"/>
              </a:rPr>
              <a:t>The FastAPI dashboard would not even start on Lambda, for two reasons at once: a dependency with a compiled native part had been packaged as the copy built on my Mac, which the Linux runtime cannot import; and a static-asset folder was mounted at import time even though that folder ships to S3, not into the function. Both are import-time failures that passed all 76 local tests.</a:t>
            </a:r>
            <a:endParaRPr lang="en-US" sz="1350" dirty="0"/>
          </a:p>
        </p:txBody>
      </p:sp>
      <p:sp>
        <p:nvSpPr>
          <p:cNvPr id="6" name="Shape 4"/>
          <p:cNvSpPr/>
          <p:nvPr/>
        </p:nvSpPr>
        <p:spPr>
          <a:xfrm>
            <a:off x="6611112" y="1874520"/>
            <a:ext cx="4937760" cy="4160520"/>
          </a:xfrm>
          <a:prstGeom prst="roundRect">
            <a:avLst>
              <a:gd name="adj" fmla="val 2198"/>
            </a:avLst>
          </a:prstGeom>
          <a:solidFill>
            <a:srgbClr val="EEF4F8"/>
          </a:solidFill>
          <a:ln w="19050">
            <a:solidFill>
              <a:srgbClr val="2E6C93"/>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2E6C93"/>
                </a:solidFill>
                <a:latin typeface="Cambria" pitchFamily="34" charset="0"/>
                <a:ea typeface="Cambria" pitchFamily="34" charset="-122"/>
                <a:cs typeface="Cambria"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4293A"/>
                </a:solidFill>
                <a:latin typeface="Calibri" pitchFamily="34" charset="0"/>
                <a:ea typeface="Calibri" pitchFamily="34" charset="-122"/>
                <a:cs typeface="Calibri" pitchFamily="34" charset="-120"/>
              </a:rPr>
              <a:t>The deployment package is now built against the Linux runtime's own platform so the native dependency matches, and the static mount is made tolerant of an absent folder. The dashboard returned healthy on the very first live poll.</a:t>
            </a:r>
            <a:endParaRPr lang="en-US" sz="1350" dirty="0"/>
          </a:p>
        </p:txBody>
      </p:sp>
      <p:sp>
        <p:nvSpPr>
          <p:cNvPr id="9" name="Shape 7"/>
          <p:cNvSpPr/>
          <p:nvPr/>
        </p:nvSpPr>
        <p:spPr>
          <a:xfrm>
            <a:off x="5669280" y="3703320"/>
            <a:ext cx="841248" cy="512064"/>
          </a:xfrm>
          <a:prstGeom prst="rightArrow">
            <a:avLst/>
          </a:prstGeom>
          <a:solidFill>
            <a:srgbClr val="1C4A6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2026-07-24T07:37:25Z</dcterms:created>
  <dcterms:modified xsi:type="dcterms:W3CDTF">2026-07-24T07:37:25Z</dcterms:modified>
</cp:coreProperties>
</file>