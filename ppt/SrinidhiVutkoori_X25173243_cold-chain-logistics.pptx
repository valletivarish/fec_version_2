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1A93C"/>
                </a:solidFill>
                <a:latin typeface="Calibri" pitchFamily="34" charset="0"/>
                <a:ea typeface="Calibri" pitchFamily="34" charset="-122"/>
                <a:cs typeface="Calibri" pitchFamily="34" charset="-120"/>
              </a:rPr>
              <a:t>COLD CHAIN LOGISTICS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Cold Chain Logistics Monitoring</a:t>
            </a:r>
            <a:endParaRPr lang="en-US" sz="40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5A8FB0"/>
                </a:solidFill>
                <a:latin typeface="Calibri" pitchFamily="34" charset="0"/>
                <a:ea typeface="Calibri" pitchFamily="34" charset="-122"/>
                <a:cs typeface="Calibri" pitchFamily="34" charset="-120"/>
              </a:rPr>
              <a:t>Srinidhi Vutkoori   ·   X25173243</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CFE0EC"/>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1800" dirty="0"/>
          </a:p>
        </p:txBody>
      </p:sp>
      <p:sp>
        <p:nvSpPr>
          <p:cNvPr id="6" name="Shape 4"/>
          <p:cNvSpPr/>
          <p:nvPr/>
        </p:nvSpPr>
        <p:spPr>
          <a:xfrm>
            <a:off x="658368" y="5623560"/>
            <a:ext cx="2651760" cy="566928"/>
          </a:xfrm>
          <a:prstGeom prst="roundRect">
            <a:avLst>
              <a:gd name="adj" fmla="val 50000"/>
            </a:avLst>
          </a:prstGeom>
          <a:solidFill>
            <a:srgbClr val="183246"/>
          </a:solidFill>
          <a:ln w="12700">
            <a:solidFill>
              <a:srgbClr val="E1A93C"/>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Storage temp &gt; −15 °C</a:t>
            </a:r>
            <a:endParaRPr lang="en-US" sz="1350" dirty="0"/>
          </a:p>
        </p:txBody>
      </p:sp>
      <p:sp>
        <p:nvSpPr>
          <p:cNvPr id="8" name="Shape 6"/>
          <p:cNvSpPr/>
          <p:nvPr/>
        </p:nvSpPr>
        <p:spPr>
          <a:xfrm>
            <a:off x="3538728" y="5623560"/>
            <a:ext cx="2651760" cy="566928"/>
          </a:xfrm>
          <a:prstGeom prst="roundRect">
            <a:avLst>
              <a:gd name="adj" fmla="val 50000"/>
            </a:avLst>
          </a:prstGeom>
          <a:solidFill>
            <a:srgbClr val="183246"/>
          </a:solidFill>
          <a:ln w="12700">
            <a:solidFill>
              <a:srgbClr val="E1A93C"/>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Door open &gt; 300 s</a:t>
            </a:r>
            <a:endParaRPr lang="en-US" sz="1350" dirty="0"/>
          </a:p>
        </p:txBody>
      </p:sp>
      <p:sp>
        <p:nvSpPr>
          <p:cNvPr id="10" name="Shape 8"/>
          <p:cNvSpPr/>
          <p:nvPr/>
        </p:nvSpPr>
        <p:spPr>
          <a:xfrm>
            <a:off x="6419088" y="5623560"/>
            <a:ext cx="2651760" cy="566928"/>
          </a:xfrm>
          <a:prstGeom prst="roundRect">
            <a:avLst>
              <a:gd name="adj" fmla="val 50000"/>
            </a:avLst>
          </a:prstGeom>
          <a:solidFill>
            <a:srgbClr val="183246"/>
          </a:solidFill>
          <a:ln w="12700">
            <a:solidFill>
              <a:srgbClr val="E1A93C"/>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10 s re-score</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5A6E7C"/>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What I Built — Sensors to Live Manifest</a:t>
            </a:r>
            <a:endParaRPr lang="en-US" sz="3000" dirty="0"/>
          </a:p>
        </p:txBody>
      </p:sp>
      <p:sp>
        <p:nvSpPr>
          <p:cNvPr id="3" name="Shape 1"/>
          <p:cNvSpPr/>
          <p:nvPr/>
        </p:nvSpPr>
        <p:spPr>
          <a:xfrm>
            <a:off x="640080" y="1874520"/>
            <a:ext cx="2286000" cy="1280160"/>
          </a:xfrm>
          <a:prstGeom prst="roundRect">
            <a:avLst>
              <a:gd name="adj" fmla="val 7143"/>
            </a:avLst>
          </a:prstGeom>
          <a:solidFill>
            <a:srgbClr val="EEF4F8"/>
          </a:solidFill>
          <a:ln w="19050">
            <a:solidFill>
              <a:srgbClr val="5A8FB0"/>
            </a:solidFill>
            <a:prstDash val="solid"/>
          </a:ln>
        </p:spPr>
      </p:sp>
      <p:sp>
        <p:nvSpPr>
          <p:cNvPr id="4" name="Shape 2"/>
          <p:cNvSpPr/>
          <p:nvPr/>
        </p:nvSpPr>
        <p:spPr>
          <a:xfrm>
            <a:off x="1691640" y="2039112"/>
            <a:ext cx="182880" cy="182880"/>
          </a:xfrm>
          <a:prstGeom prst="ellipse">
            <a:avLst/>
          </a:prstGeom>
          <a:solidFill>
            <a:srgbClr val="5A8FB0"/>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Container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units · 2 containers</a:t>
            </a:r>
            <a:endParaRPr lang="en-US" sz="1050" dirty="0"/>
          </a:p>
        </p:txBody>
      </p:sp>
      <p:sp>
        <p:nvSpPr>
          <p:cNvPr id="7" name="Shape 5"/>
          <p:cNvSpPr/>
          <p:nvPr/>
        </p:nvSpPr>
        <p:spPr>
          <a:xfrm>
            <a:off x="2944368" y="2514600"/>
            <a:ext cx="1975104" cy="0"/>
          </a:xfrm>
          <a:prstGeom prst="line">
            <a:avLst/>
          </a:prstGeom>
          <a:noFill/>
          <a:ln w="25400">
            <a:solidFill>
              <a:srgbClr val="5A8FB0"/>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4F8"/>
          </a:solidFill>
          <a:ln w="19050">
            <a:solidFill>
              <a:srgbClr val="5A8FB0"/>
            </a:solidFill>
            <a:prstDash val="solid"/>
          </a:ln>
        </p:spPr>
      </p:sp>
      <p:sp>
        <p:nvSpPr>
          <p:cNvPr id="9" name="Shape 7"/>
          <p:cNvSpPr/>
          <p:nvPr/>
        </p:nvSpPr>
        <p:spPr>
          <a:xfrm>
            <a:off x="5989320" y="2039112"/>
            <a:ext cx="182880" cy="182880"/>
          </a:xfrm>
          <a:prstGeom prst="ellipse">
            <a:avLst/>
          </a:prstGeom>
          <a:solidFill>
            <a:srgbClr val="5A8FB0"/>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Depot relay</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s windows · exceptions</a:t>
            </a:r>
            <a:endParaRPr lang="en-US" sz="1050" dirty="0"/>
          </a:p>
        </p:txBody>
      </p:sp>
      <p:sp>
        <p:nvSpPr>
          <p:cNvPr id="12" name="Shape 10"/>
          <p:cNvSpPr/>
          <p:nvPr/>
        </p:nvSpPr>
        <p:spPr>
          <a:xfrm>
            <a:off x="7242048" y="2514600"/>
            <a:ext cx="1975104" cy="0"/>
          </a:xfrm>
          <a:prstGeom prst="line">
            <a:avLst/>
          </a:prstGeom>
          <a:noFill/>
          <a:ln w="25400">
            <a:solidFill>
              <a:srgbClr val="5A8FB0"/>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4F8"/>
          </a:solidFill>
          <a:ln w="19050">
            <a:solidFill>
              <a:srgbClr val="1C4A6E"/>
            </a:solidFill>
            <a:prstDash val="solid"/>
          </a:ln>
        </p:spPr>
      </p:sp>
      <p:sp>
        <p:nvSpPr>
          <p:cNvPr id="14" name="Shape 12"/>
          <p:cNvSpPr/>
          <p:nvPr/>
        </p:nvSpPr>
        <p:spPr>
          <a:xfrm>
            <a:off x="10287000" y="2039112"/>
            <a:ext cx="182880" cy="182880"/>
          </a:xfrm>
          <a:prstGeom prst="ellipse">
            <a:avLst/>
          </a:prstGeom>
          <a:solidFill>
            <a:srgbClr val="1C4A6E"/>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batched ≤10 / call</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4F8"/>
          </a:solidFill>
          <a:ln w="19050">
            <a:solidFill>
              <a:srgbClr val="1C4A6E"/>
            </a:solidFill>
            <a:prstDash val="solid"/>
          </a:ln>
        </p:spPr>
      </p:sp>
      <p:sp>
        <p:nvSpPr>
          <p:cNvPr id="18" name="Shape 16"/>
          <p:cNvSpPr/>
          <p:nvPr/>
        </p:nvSpPr>
        <p:spPr>
          <a:xfrm>
            <a:off x="10287000" y="3685032"/>
            <a:ext cx="182880" cy="182880"/>
          </a:xfrm>
          <a:prstGeom prst="ellipse">
            <a:avLst/>
          </a:prstGeom>
          <a:solidFill>
            <a:srgbClr val="1C4A6E"/>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python3.12 ingest</a:t>
            </a:r>
            <a:endParaRPr lang="en-US" sz="1050" dirty="0"/>
          </a:p>
        </p:txBody>
      </p:sp>
      <p:sp>
        <p:nvSpPr>
          <p:cNvPr id="21" name="Shape 19"/>
          <p:cNvSpPr/>
          <p:nvPr/>
        </p:nvSpPr>
        <p:spPr>
          <a:xfrm>
            <a:off x="7242048" y="4160520"/>
            <a:ext cx="1975104" cy="0"/>
          </a:xfrm>
          <a:prstGeom prst="line">
            <a:avLst/>
          </a:prstGeom>
          <a:noFill/>
          <a:ln w="25400">
            <a:solidFill>
              <a:srgbClr val="5A8FB0"/>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4F8"/>
          </a:solidFill>
          <a:ln w="19050">
            <a:solidFill>
              <a:srgbClr val="1C4A6E"/>
            </a:solidFill>
            <a:prstDash val="solid"/>
          </a:ln>
        </p:spPr>
      </p:sp>
      <p:sp>
        <p:nvSpPr>
          <p:cNvPr id="23" name="Shape 21"/>
          <p:cNvSpPr/>
          <p:nvPr/>
        </p:nvSpPr>
        <p:spPr>
          <a:xfrm>
            <a:off x="5989320" y="3685032"/>
            <a:ext cx="182880" cy="182880"/>
          </a:xfrm>
          <a:prstGeom prst="ellipse">
            <a:avLst/>
          </a:prstGeom>
          <a:solidFill>
            <a:srgbClr val="1C4A6E"/>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window archive</a:t>
            </a:r>
            <a:endParaRPr lang="en-US" sz="1050" dirty="0"/>
          </a:p>
        </p:txBody>
      </p:sp>
      <p:sp>
        <p:nvSpPr>
          <p:cNvPr id="26" name="Shape 24"/>
          <p:cNvSpPr/>
          <p:nvPr/>
        </p:nvSpPr>
        <p:spPr>
          <a:xfrm>
            <a:off x="2944368" y="4160520"/>
            <a:ext cx="1975104" cy="0"/>
          </a:xfrm>
          <a:prstGeom prst="line">
            <a:avLst/>
          </a:prstGeom>
          <a:noFill/>
          <a:ln w="25400">
            <a:solidFill>
              <a:srgbClr val="5A8FB0"/>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4F8"/>
          </a:solidFill>
          <a:ln w="19050">
            <a:solidFill>
              <a:srgbClr val="2E6C93"/>
            </a:solidFill>
            <a:prstDash val="solid"/>
          </a:ln>
        </p:spPr>
      </p:sp>
      <p:sp>
        <p:nvSpPr>
          <p:cNvPr id="28" name="Shape 26"/>
          <p:cNvSpPr/>
          <p:nvPr/>
        </p:nvSpPr>
        <p:spPr>
          <a:xfrm>
            <a:off x="1691640" y="3685032"/>
            <a:ext cx="182880" cy="182880"/>
          </a:xfrm>
          <a:prstGeom prst="ellipse">
            <a:avLst/>
          </a:prstGeom>
          <a:solidFill>
            <a:srgbClr val="2E6C93"/>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live manifest</a:t>
            </a:r>
            <a:endParaRPr lang="en-US" sz="1050" dirty="0"/>
          </a:p>
        </p:txBody>
      </p:sp>
      <p:sp>
        <p:nvSpPr>
          <p:cNvPr id="31" name="Shape 29"/>
          <p:cNvSpPr/>
          <p:nvPr/>
        </p:nvSpPr>
        <p:spPr>
          <a:xfrm>
            <a:off x="10378440" y="3154680"/>
            <a:ext cx="0" cy="365760"/>
          </a:xfrm>
          <a:prstGeom prst="line">
            <a:avLst/>
          </a:prstGeom>
          <a:noFill/>
          <a:ln w="25400">
            <a:solidFill>
              <a:srgbClr val="5A8FB0"/>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C4A6E"/>
                </a:solidFill>
                <a:latin typeface="Calibri" pitchFamily="34" charset="0"/>
                <a:ea typeface="Calibri" pitchFamily="34" charset="-122"/>
                <a:cs typeface="Calibri" pitchFamily="34" charset="-120"/>
              </a:rPr>
              <a:t>Every container is re-scored every ten seconds at the depot relay; only compact window summaries cross into the cloud, raw readings stay at the edge.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6C93"/>
                </a:solidFill>
                <a:latin typeface="Consolas" pitchFamily="34" charset="0"/>
                <a:ea typeface="Consolas" pitchFamily="34" charset="-122"/>
                <a:cs typeface="Consolas" pitchFamily="34" charset="-120"/>
              </a:rPr>
              <a:t>fcl-frontend-911500555248.s3.us-east-1.amazonaws.com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EEF4F8"/>
          </a:solidFill>
          <a:ln w="15240">
            <a:solidFill>
              <a:srgbClr val="2E6C93"/>
            </a:solidFill>
            <a:prstDash val="solid"/>
          </a:ln>
        </p:spPr>
      </p:sp>
      <p:sp>
        <p:nvSpPr>
          <p:cNvPr id="5" name="Shape 3"/>
          <p:cNvSpPr/>
          <p:nvPr/>
        </p:nvSpPr>
        <p:spPr>
          <a:xfrm>
            <a:off x="914400" y="2194560"/>
            <a:ext cx="640080" cy="640080"/>
          </a:xfrm>
          <a:prstGeom prst="ellipse">
            <a:avLst/>
          </a:prstGeom>
          <a:solidFill>
            <a:srgbClr val="1C4A6E"/>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 live manifest per container</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Storage temperature, humidity, door-open time, shock and CO2 for both reefers, re-scored every ten seconds.</a:t>
            </a:r>
            <a:endParaRPr lang="en-US" sz="1300" dirty="0"/>
          </a:p>
        </p:txBody>
      </p:sp>
      <p:sp>
        <p:nvSpPr>
          <p:cNvPr id="9" name="Shape 7"/>
          <p:cNvSpPr/>
          <p:nvPr/>
        </p:nvSpPr>
        <p:spPr>
          <a:xfrm>
            <a:off x="4416552" y="1874520"/>
            <a:ext cx="3502152" cy="3657600"/>
          </a:xfrm>
          <a:prstGeom prst="roundRect">
            <a:avLst>
              <a:gd name="adj" fmla="val 2611"/>
            </a:avLst>
          </a:prstGeom>
          <a:solidFill>
            <a:srgbClr val="EEF4F8"/>
          </a:solidFill>
          <a:ln w="15240">
            <a:solidFill>
              <a:srgbClr val="2E6C93"/>
            </a:solidFill>
            <a:prstDash val="solid"/>
          </a:ln>
        </p:spPr>
      </p:sp>
      <p:sp>
        <p:nvSpPr>
          <p:cNvPr id="10" name="Shape 8"/>
          <p:cNvSpPr/>
          <p:nvPr/>
        </p:nvSpPr>
        <p:spPr>
          <a:xfrm>
            <a:off x="4690872" y="2194560"/>
            <a:ext cx="640080" cy="640080"/>
          </a:xfrm>
          <a:prstGeom prst="ellipse">
            <a:avLst/>
          </a:prstGeom>
          <a:solidFill>
            <a:srgbClr val="1C4A6E"/>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An excursion flagged on the board</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A container whose window-average temperature rises above -15 C is flagged as a cold-chain breach within one window, shown against the storage-temperature trend.</a:t>
            </a:r>
            <a:endParaRPr lang="en-US" sz="1300" dirty="0"/>
          </a:p>
        </p:txBody>
      </p:sp>
      <p:sp>
        <p:nvSpPr>
          <p:cNvPr id="14" name="Shape 12"/>
          <p:cNvSpPr/>
          <p:nvPr/>
        </p:nvSpPr>
        <p:spPr>
          <a:xfrm>
            <a:off x="8193024" y="1874520"/>
            <a:ext cx="3502152" cy="3657600"/>
          </a:xfrm>
          <a:prstGeom prst="roundRect">
            <a:avLst>
              <a:gd name="adj" fmla="val 2611"/>
            </a:avLst>
          </a:prstGeom>
          <a:solidFill>
            <a:srgbClr val="EEF4F8"/>
          </a:solidFill>
          <a:ln w="15240">
            <a:solidFill>
              <a:srgbClr val="2E6C93"/>
            </a:solidFill>
            <a:prstDash val="solid"/>
          </a:ln>
        </p:spPr>
      </p:sp>
      <p:sp>
        <p:nvSpPr>
          <p:cNvPr id="15" name="Shape 13"/>
          <p:cNvSpPr/>
          <p:nvPr/>
        </p:nvSpPr>
        <p:spPr>
          <a:xfrm>
            <a:off x="8467344" y="2194560"/>
            <a:ext cx="640080" cy="640080"/>
          </a:xfrm>
          <a:prstGeom prst="ellipse">
            <a:avLst/>
          </a:prstGeom>
          <a:solidFill>
            <a:srgbClr val="1C4A6E"/>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Temperature trends per container</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The storage-temperature charts show each container's live series, so a container drifting warm is visible before it breaches.</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A8FB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Hardest Part — the runtime is not the laptop</a:t>
            </a:r>
            <a:endParaRPr lang="en-US" sz="2800" dirty="0"/>
          </a:p>
        </p:txBody>
      </p:sp>
      <p:sp>
        <p:nvSpPr>
          <p:cNvPr id="3" name="Shape 1"/>
          <p:cNvSpPr/>
          <p:nvPr/>
        </p:nvSpPr>
        <p:spPr>
          <a:xfrm>
            <a:off x="731520" y="1874520"/>
            <a:ext cx="5212080" cy="4160520"/>
          </a:xfrm>
          <a:prstGeom prst="roundRect">
            <a:avLst>
              <a:gd name="adj" fmla="val 2198"/>
            </a:avLst>
          </a:prstGeom>
          <a:solidFill>
            <a:srgbClr val="1B3A50"/>
          </a:solidFill>
          <a:ln w="15875">
            <a:solidFill>
              <a:srgbClr val="E1A93C"/>
            </a:solidFill>
            <a:prstDash val="solid"/>
          </a:ln>
        </p:spPr>
      </p:sp>
      <p:sp>
        <p:nvSpPr>
          <p:cNvPr id="4" name="Text 2"/>
          <p:cNvSpPr/>
          <p:nvPr/>
        </p:nvSpPr>
        <p:spPr>
          <a:xfrm>
            <a:off x="1051560" y="2103120"/>
            <a:ext cx="3657600" cy="457200"/>
          </a:xfrm>
          <a:prstGeom prst="rect">
            <a:avLst/>
          </a:prstGeom>
          <a:noFill/>
          <a:ln/>
        </p:spPr>
        <p:txBody>
          <a:bodyPr wrap="square" lIns="0" tIns="0" rIns="0" bIns="0" rtlCol="0" anchor="ctr"/>
          <a:lstStyle/>
          <a:p>
            <a:pPr indent="0" marL="0">
              <a:buNone/>
            </a:pPr>
            <a:r>
              <a:rPr lang="en-US" sz="1900" b="1" dirty="0">
                <a:solidFill>
                  <a:srgbClr val="E1A9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105156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CFE0EC"/>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50" dirty="0"/>
          </a:p>
        </p:txBody>
      </p:sp>
      <p:sp>
        <p:nvSpPr>
          <p:cNvPr id="6" name="Shape 4"/>
          <p:cNvSpPr/>
          <p:nvPr/>
        </p:nvSpPr>
        <p:spPr>
          <a:xfrm>
            <a:off x="6263640" y="1874520"/>
            <a:ext cx="5212080" cy="4160520"/>
          </a:xfrm>
          <a:prstGeom prst="roundRect">
            <a:avLst>
              <a:gd name="adj" fmla="val 2198"/>
            </a:avLst>
          </a:prstGeom>
          <a:solidFill>
            <a:srgbClr val="1B3A50"/>
          </a:solidFill>
          <a:ln w="15875">
            <a:solidFill>
              <a:srgbClr val="5A8FB0"/>
            </a:solidFill>
            <a:prstDash val="solid"/>
          </a:ln>
        </p:spPr>
      </p:sp>
      <p:sp>
        <p:nvSpPr>
          <p:cNvPr id="7" name="Text 5"/>
          <p:cNvSpPr/>
          <p:nvPr/>
        </p:nvSpPr>
        <p:spPr>
          <a:xfrm>
            <a:off x="6583680" y="2103120"/>
            <a:ext cx="3657600" cy="457200"/>
          </a:xfrm>
          <a:prstGeom prst="rect">
            <a:avLst/>
          </a:prstGeom>
          <a:noFill/>
          <a:ln/>
        </p:spPr>
        <p:txBody>
          <a:bodyPr wrap="square" lIns="0" tIns="0" rIns="0" bIns="0" rtlCol="0" anchor="ctr"/>
          <a:lstStyle/>
          <a:p>
            <a:pPr indent="0" marL="0">
              <a:buNone/>
            </a:pPr>
            <a:r>
              <a:rPr lang="en-US" sz="1900" b="1" dirty="0">
                <a:solidFill>
                  <a:srgbClr val="5A8FB0"/>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583680" y="2651760"/>
            <a:ext cx="4572000" cy="3200400"/>
          </a:xfrm>
          <a:prstGeom prst="rect">
            <a:avLst/>
          </a:prstGeom>
          <a:noFill/>
          <a:ln/>
        </p:spPr>
        <p:txBody>
          <a:bodyPr wrap="square" lIns="0" tIns="0" rIns="0" bIns="0" rtlCol="0" anchor="ctr"/>
          <a:lstStyle/>
          <a:p>
            <a:pPr indent="0" marL="0">
              <a:lnSpc>
                <a:spcPct val="110000"/>
              </a:lnSpc>
              <a:buNone/>
            </a:pPr>
            <a:r>
              <a:rPr lang="en-US" sz="1350" dirty="0">
                <a:solidFill>
                  <a:srgbClr val="CFE0EC"/>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2026-07-24T07:00:27Z</dcterms:created>
  <dcterms:modified xsi:type="dcterms:W3CDTF">2026-07-24T07:00:27Z</dcterms:modified>
</cp:coreProperties>
</file>