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8"/>
        </a:solidFill>
      </p:bgPr>
    </p:bg>
    <p:spTree>
      <p:nvGrpSpPr>
        <p:cNvPr id="1" name=""/>
        <p:cNvGrpSpPr/>
        <p:nvPr/>
      </p:nvGrpSpPr>
      <p:grpSpPr>
        <a:xfrm>
          <a:off x="0" y="0"/>
          <a:ext cx="0" cy="0"/>
          <a:chOff x="0" y="0"/>
          <a:chExt cx="0" cy="0"/>
        </a:xfrm>
      </p:grpSpPr>
      <p:sp>
        <p:nvSpPr>
          <p:cNvPr id="2" name="Shape 0"/>
          <p:cNvSpPr/>
          <p:nvPr/>
        </p:nvSpPr>
        <p:spPr>
          <a:xfrm>
            <a:off x="8534095" y="5486400"/>
            <a:ext cx="3657600" cy="1371600"/>
          </a:xfrm>
          <a:prstGeom prst="rtTriangle">
            <a:avLst/>
          </a:prstGeom>
          <a:solidFill>
            <a:srgbClr val="FF6A00"/>
          </a:solidFill>
          <a:ln/>
        </p:spPr>
      </p:sp>
      <p:sp>
        <p:nvSpPr>
          <p:cNvPr id="3" name="Shape 1"/>
          <p:cNvSpPr/>
          <p:nvPr/>
        </p:nvSpPr>
        <p:spPr>
          <a:xfrm>
            <a:off x="9997135" y="5486400"/>
            <a:ext cx="2194560" cy="1371600"/>
          </a:xfrm>
          <a:prstGeom prst="rtTriangle">
            <a:avLst/>
          </a:prstGeom>
          <a:solidFill>
            <a:srgbClr val="D74200"/>
          </a:solidFill>
          <a:ln/>
        </p:spPr>
      </p:sp>
      <p:sp>
        <p:nvSpPr>
          <p:cNvPr id="4" name="Text 2"/>
          <p:cNvSpPr/>
          <p:nvPr/>
        </p:nvSpPr>
        <p:spPr>
          <a:xfrm>
            <a:off x="758952" y="1645920"/>
            <a:ext cx="10637215" cy="1645920"/>
          </a:xfrm>
          <a:prstGeom prst="rect">
            <a:avLst/>
          </a:prstGeom>
          <a:noFill/>
          <a:ln/>
        </p:spPr>
        <p:txBody>
          <a:bodyPr wrap="square" rtlCol="0" anchor="t"/>
          <a:lstStyle/>
          <a:p>
            <a:pPr indent="0" marL="0">
              <a:lnSpc>
                <a:spcPct val="98000"/>
              </a:lnSpc>
              <a:buNone/>
            </a:pPr>
            <a:r>
              <a:rPr lang="en-US" sz="3800" b="1" dirty="0">
                <a:solidFill>
                  <a:srgbClr val="EEF2F6"/>
                </a:solidFill>
                <a:latin typeface="Century Gothic" pitchFamily="34" charset="0"/>
                <a:ea typeface="Century Gothic" pitchFamily="34" charset="-122"/>
                <a:cs typeface="Century Gothic" pitchFamily="34" charset="-120"/>
              </a:rPr>
              <a:t>Cold Chain Logistics Monitoring</a:t>
            </a:r>
            <a:endParaRPr lang="en-US" sz="3800" dirty="0"/>
          </a:p>
        </p:txBody>
      </p:sp>
      <p:sp>
        <p:nvSpPr>
          <p:cNvPr id="5" name="Text 3"/>
          <p:cNvSpPr/>
          <p:nvPr/>
        </p:nvSpPr>
        <p:spPr>
          <a:xfrm>
            <a:off x="777240" y="3337560"/>
            <a:ext cx="10637215" cy="365760"/>
          </a:xfrm>
          <a:prstGeom prst="rect">
            <a:avLst/>
          </a:prstGeom>
          <a:noFill/>
          <a:ln/>
        </p:spPr>
        <p:txBody>
          <a:bodyPr wrap="square" rtlCol="0" anchor="ctr"/>
          <a:lstStyle/>
          <a:p>
            <a:pPr indent="0" marL="0">
              <a:buNone/>
            </a:pPr>
            <a:r>
              <a:rPr lang="en-US" sz="1450" dirty="0">
                <a:solidFill>
                  <a:srgbClr val="8B98A6"/>
                </a:solidFill>
                <a:latin typeface="Calibri" pitchFamily="34" charset="0"/>
                <a:ea typeface="Calibri" pitchFamily="34" charset="-122"/>
                <a:cs typeface="Calibri" pitchFamily="34" charset="-120"/>
              </a:rPr>
              <a:t>Srinidhi Vutkoori   ·   X25173243</a:t>
            </a:r>
            <a:endParaRPr lang="en-US" sz="1450" dirty="0"/>
          </a:p>
        </p:txBody>
      </p:sp>
      <p:sp>
        <p:nvSpPr>
          <p:cNvPr id="6" name="Text 4"/>
          <p:cNvSpPr/>
          <p:nvPr/>
        </p:nvSpPr>
        <p:spPr>
          <a:xfrm>
            <a:off x="777240" y="3931920"/>
            <a:ext cx="8138160" cy="1325880"/>
          </a:xfrm>
          <a:prstGeom prst="rect">
            <a:avLst/>
          </a:prstGeom>
          <a:noFill/>
          <a:ln/>
        </p:spPr>
        <p:txBody>
          <a:bodyPr wrap="square" rtlCol="0" anchor="t"/>
          <a:lstStyle/>
          <a:p>
            <a:pPr indent="0" marL="0">
              <a:lnSpc>
                <a:spcPct val="130000"/>
              </a:lnSpc>
              <a:buNone/>
            </a:pPr>
            <a:r>
              <a:rPr lang="en-US" sz="1400" dirty="0">
                <a:solidFill>
                  <a:srgbClr val="EEF2F6"/>
                </a:solidFill>
                <a:latin typeface="Calibri" pitchFamily="34" charset="0"/>
                <a:ea typeface="Calibri" pitchFamily="34" charset="-122"/>
                <a:cs typeface="Calibri" pitchFamily="34" charset="-120"/>
              </a:rPr>
              <a:t>A reefer whose window-average temperature drifts above minus fifteen is already breaching the cold chain — and a clipboard round discovers it only after the load has spoiled.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B2B28"/>
        </a:solidFill>
      </p:bgPr>
    </p:bg>
    <p:spTree>
      <p:nvGrpSpPr>
        <p:cNvPr id="1" name=""/>
        <p:cNvGrpSpPr/>
        <p:nvPr/>
      </p:nvGrpSpPr>
      <p:grpSpPr>
        <a:xfrm>
          <a:off x="0" y="0"/>
          <a:ext cx="0" cy="0"/>
          <a:chOff x="0" y="0"/>
          <a:chExt cx="0" cy="0"/>
        </a:xfrm>
      </p:grpSpPr>
      <p:sp>
        <p:nvSpPr>
          <p:cNvPr id="2" name="Shape 0"/>
          <p:cNvSpPr/>
          <p:nvPr/>
        </p:nvSpPr>
        <p:spPr>
          <a:xfrm>
            <a:off x="8534095" y="5486400"/>
            <a:ext cx="3657600" cy="1371600"/>
          </a:xfrm>
          <a:prstGeom prst="rtTriangle">
            <a:avLst/>
          </a:prstGeom>
          <a:solidFill>
            <a:srgbClr val="FF6A00"/>
          </a:solidFill>
          <a:ln/>
        </p:spPr>
      </p:sp>
      <p:sp>
        <p:nvSpPr>
          <p:cNvPr id="3" name="Shape 1"/>
          <p:cNvSpPr/>
          <p:nvPr/>
        </p:nvSpPr>
        <p:spPr>
          <a:xfrm>
            <a:off x="9997135" y="5486400"/>
            <a:ext cx="2194560" cy="1371600"/>
          </a:xfrm>
          <a:prstGeom prst="rtTriangle">
            <a:avLst/>
          </a:prstGeom>
          <a:solidFill>
            <a:srgbClr val="D74200"/>
          </a:solidFill>
          <a:ln/>
        </p:spPr>
      </p:sp>
      <p:sp>
        <p:nvSpPr>
          <p:cNvPr id="4" name="Text 2"/>
          <p:cNvSpPr/>
          <p:nvPr/>
        </p:nvSpPr>
        <p:spPr>
          <a:xfrm>
            <a:off x="777240" y="731520"/>
            <a:ext cx="914400" cy="640080"/>
          </a:xfrm>
          <a:prstGeom prst="rect">
            <a:avLst/>
          </a:prstGeom>
          <a:noFill/>
          <a:ln/>
        </p:spPr>
        <p:txBody>
          <a:bodyPr wrap="square" lIns="0" tIns="0" rIns="0" bIns="0" rtlCol="0" anchor="ctr"/>
          <a:lstStyle/>
          <a:p>
            <a:pPr indent="0" marL="0">
              <a:buNone/>
            </a:pPr>
            <a:r>
              <a:rPr lang="en-US" sz="3000" b="1" dirty="0">
                <a:solidFill>
                  <a:srgbClr val="FF6A00"/>
                </a:solidFill>
                <a:latin typeface="Century Gothic" pitchFamily="34" charset="0"/>
                <a:ea typeface="Century Gothic" pitchFamily="34" charset="-122"/>
                <a:cs typeface="Century Gothic" pitchFamily="34" charset="-120"/>
              </a:rPr>
              <a:t>01</a:t>
            </a:r>
            <a:endParaRPr lang="en-US" sz="3000" dirty="0"/>
          </a:p>
        </p:txBody>
      </p:sp>
      <p:sp>
        <p:nvSpPr>
          <p:cNvPr id="5" name="Text 3"/>
          <p:cNvSpPr/>
          <p:nvPr/>
        </p:nvSpPr>
        <p:spPr>
          <a:xfrm>
            <a:off x="1645920" y="905256"/>
            <a:ext cx="9768535" cy="274320"/>
          </a:xfrm>
          <a:prstGeom prst="rect">
            <a:avLst/>
          </a:prstGeom>
          <a:noFill/>
          <a:ln/>
        </p:spPr>
        <p:txBody>
          <a:bodyPr wrap="square" lIns="0" tIns="0" rIns="0" bIns="0" rtlCol="0" anchor="ctr"/>
          <a:lstStyle/>
          <a:p>
            <a:pPr indent="0" marL="0">
              <a:buNone/>
            </a:pPr>
            <a:r>
              <a:rPr lang="en-US" sz="1100" b="1" spc="200" kern="0" dirty="0">
                <a:solidFill>
                  <a:srgbClr val="8B98A6"/>
                </a:solidFill>
                <a:latin typeface="Calibri" pitchFamily="34" charset="0"/>
                <a:ea typeface="Calibri" pitchFamily="34" charset="-122"/>
                <a:cs typeface="Calibri" pitchFamily="34" charset="-120"/>
              </a:rPr>
              <a:t>ARCHITECTURE</a:t>
            </a:r>
            <a:endParaRPr lang="en-US" sz="1100" dirty="0"/>
          </a:p>
        </p:txBody>
      </p:sp>
      <p:sp>
        <p:nvSpPr>
          <p:cNvPr id="6" name="Text 4"/>
          <p:cNvSpPr/>
          <p:nvPr/>
        </p:nvSpPr>
        <p:spPr>
          <a:xfrm>
            <a:off x="777240" y="1380744"/>
            <a:ext cx="10637215" cy="640080"/>
          </a:xfrm>
          <a:prstGeom prst="rect">
            <a:avLst/>
          </a:prstGeom>
          <a:noFill/>
          <a:ln/>
        </p:spPr>
        <p:txBody>
          <a:bodyPr wrap="square" lIns="0" tIns="0" rIns="0" bIns="0" rtlCol="0" anchor="ctr"/>
          <a:lstStyle/>
          <a:p>
            <a:pPr indent="0" marL="0">
              <a:buNone/>
            </a:pPr>
            <a:r>
              <a:rPr lang="en-US" sz="2300" b="1" dirty="0">
                <a:solidFill>
                  <a:srgbClr val="EEF2F6"/>
                </a:solidFill>
                <a:latin typeface="Century Gothic" pitchFamily="34" charset="0"/>
                <a:ea typeface="Century Gothic" pitchFamily="34" charset="-122"/>
                <a:cs typeface="Century Gothic" pitchFamily="34" charset="-120"/>
              </a:rPr>
              <a:t>What I Built — Sensors to Live Manifest</a:t>
            </a:r>
            <a:endParaRPr lang="en-US" sz="2300" dirty="0"/>
          </a:p>
        </p:txBody>
      </p:sp>
      <p:sp>
        <p:nvSpPr>
          <p:cNvPr id="7" name="Shape 5"/>
          <p:cNvSpPr/>
          <p:nvPr/>
        </p:nvSpPr>
        <p:spPr>
          <a:xfrm>
            <a:off x="777240" y="2971800"/>
            <a:ext cx="1391869" cy="1965960"/>
          </a:xfrm>
          <a:prstGeom prst="roundRect">
            <a:avLst/>
          </a:prstGeom>
          <a:solidFill>
            <a:srgbClr val="FF6A00"/>
          </a:solidFill>
          <a:ln w="12700">
            <a:solidFill>
              <a:srgbClr val="FF6A00"/>
            </a:solidFill>
            <a:prstDash val="solid"/>
          </a:ln>
        </p:spPr>
      </p:sp>
      <p:sp>
        <p:nvSpPr>
          <p:cNvPr id="8" name="Text 6"/>
          <p:cNvSpPr/>
          <p:nvPr/>
        </p:nvSpPr>
        <p:spPr>
          <a:xfrm>
            <a:off x="923544" y="3154680"/>
            <a:ext cx="1099261" cy="320040"/>
          </a:xfrm>
          <a:prstGeom prst="rect">
            <a:avLst/>
          </a:prstGeom>
          <a:noFill/>
          <a:ln/>
        </p:spPr>
        <p:txBody>
          <a:bodyPr wrap="square" lIns="0" tIns="0" rIns="0" bIns="0" rtlCol="0" anchor="ctr"/>
          <a:lstStyle/>
          <a:p>
            <a:pPr indent="0" marL="0">
              <a:buNone/>
            </a:pPr>
            <a:r>
              <a:rPr lang="en-US" sz="1100" dirty="0">
                <a:solidFill>
                  <a:srgbClr val="FFFFFF"/>
                </a:solidFill>
                <a:latin typeface="Consolas" pitchFamily="34" charset="0"/>
                <a:ea typeface="Consolas" pitchFamily="34" charset="-122"/>
                <a:cs typeface="Consolas" pitchFamily="34" charset="-120"/>
              </a:rPr>
              <a:t>01</a:t>
            </a:r>
            <a:endParaRPr lang="en-US" sz="1100" dirty="0"/>
          </a:p>
        </p:txBody>
      </p:sp>
      <p:sp>
        <p:nvSpPr>
          <p:cNvPr id="9" name="Text 7"/>
          <p:cNvSpPr/>
          <p:nvPr/>
        </p:nvSpPr>
        <p:spPr>
          <a:xfrm>
            <a:off x="923544" y="3593592"/>
            <a:ext cx="1099261" cy="868680"/>
          </a:xfrm>
          <a:prstGeom prst="rect">
            <a:avLst/>
          </a:prstGeom>
          <a:noFill/>
          <a:ln/>
        </p:spPr>
        <p:txBody>
          <a:bodyPr wrap="square" lIns="0" tIns="0" rIns="0" bIns="0" rtlCol="0" anchor="t"/>
          <a:lstStyle/>
          <a:p>
            <a:pPr indent="0" marL="0">
              <a:lnSpc>
                <a:spcPct val="96000"/>
              </a:lnSpc>
              <a:buNone/>
            </a:pPr>
            <a:r>
              <a:rPr lang="en-US" sz="1300" b="1" dirty="0">
                <a:solidFill>
                  <a:srgbClr val="FFFFFF"/>
                </a:solidFill>
                <a:latin typeface="Century Gothic" pitchFamily="34" charset="0"/>
                <a:ea typeface="Century Gothic" pitchFamily="34" charset="-122"/>
                <a:cs typeface="Century Gothic" pitchFamily="34" charset="-120"/>
              </a:rPr>
              <a:t>Container sensors</a:t>
            </a:r>
            <a:endParaRPr lang="en-US" sz="1300" dirty="0"/>
          </a:p>
        </p:txBody>
      </p:sp>
      <p:sp>
        <p:nvSpPr>
          <p:cNvPr id="10" name="Text 8"/>
          <p:cNvSpPr/>
          <p:nvPr/>
        </p:nvSpPr>
        <p:spPr>
          <a:xfrm>
            <a:off x="923544" y="4453128"/>
            <a:ext cx="1099261" cy="365760"/>
          </a:xfrm>
          <a:prstGeom prst="rect">
            <a:avLst/>
          </a:prstGeom>
          <a:noFill/>
          <a:ln/>
        </p:spPr>
        <p:txBody>
          <a:bodyPr wrap="square" lIns="0" tIns="0" rIns="0" bIns="0" rtlCol="0" anchor="ctr"/>
          <a:lstStyle/>
          <a:p>
            <a:pPr indent="0" marL="0">
              <a:buNone/>
            </a:pPr>
            <a:r>
              <a:rPr lang="en-US" sz="900" dirty="0">
                <a:solidFill>
                  <a:srgbClr val="FFFFFF"/>
                </a:solidFill>
                <a:latin typeface="Calibri" pitchFamily="34" charset="0"/>
                <a:ea typeface="Calibri" pitchFamily="34" charset="-122"/>
                <a:cs typeface="Calibri" pitchFamily="34" charset="-120"/>
              </a:rPr>
              <a:t>10 units · 2 containers</a:t>
            </a:r>
            <a:endParaRPr lang="en-US" sz="900" dirty="0"/>
          </a:p>
        </p:txBody>
      </p:sp>
      <p:sp>
        <p:nvSpPr>
          <p:cNvPr id="11" name="Shape 9"/>
          <p:cNvSpPr/>
          <p:nvPr/>
        </p:nvSpPr>
        <p:spPr>
          <a:xfrm>
            <a:off x="2242261" y="3845052"/>
            <a:ext cx="310896" cy="219456"/>
          </a:xfrm>
          <a:prstGeom prst="rightArrow">
            <a:avLst/>
          </a:prstGeom>
          <a:solidFill>
            <a:srgbClr val="8B98A6"/>
          </a:solidFill>
          <a:ln/>
        </p:spPr>
      </p:sp>
      <p:sp>
        <p:nvSpPr>
          <p:cNvPr id="12" name="Shape 10"/>
          <p:cNvSpPr/>
          <p:nvPr/>
        </p:nvSpPr>
        <p:spPr>
          <a:xfrm>
            <a:off x="2626309" y="2971800"/>
            <a:ext cx="1391869" cy="1965960"/>
          </a:xfrm>
          <a:prstGeom prst="roundRect">
            <a:avLst/>
          </a:prstGeom>
          <a:solidFill>
            <a:srgbClr val="FF6A00"/>
          </a:solidFill>
          <a:ln w="12700">
            <a:solidFill>
              <a:srgbClr val="FF6A00"/>
            </a:solidFill>
            <a:prstDash val="solid"/>
          </a:ln>
        </p:spPr>
      </p:sp>
      <p:sp>
        <p:nvSpPr>
          <p:cNvPr id="13" name="Text 11"/>
          <p:cNvSpPr/>
          <p:nvPr/>
        </p:nvSpPr>
        <p:spPr>
          <a:xfrm>
            <a:off x="2772613" y="3154680"/>
            <a:ext cx="1099261" cy="320040"/>
          </a:xfrm>
          <a:prstGeom prst="rect">
            <a:avLst/>
          </a:prstGeom>
          <a:noFill/>
          <a:ln/>
        </p:spPr>
        <p:txBody>
          <a:bodyPr wrap="square" lIns="0" tIns="0" rIns="0" bIns="0" rtlCol="0" anchor="ctr"/>
          <a:lstStyle/>
          <a:p>
            <a:pPr indent="0" marL="0">
              <a:buNone/>
            </a:pPr>
            <a:r>
              <a:rPr lang="en-US" sz="1100" dirty="0">
                <a:solidFill>
                  <a:srgbClr val="FFFFFF"/>
                </a:solidFill>
                <a:latin typeface="Consolas" pitchFamily="34" charset="0"/>
                <a:ea typeface="Consolas" pitchFamily="34" charset="-122"/>
                <a:cs typeface="Consolas" pitchFamily="34" charset="-120"/>
              </a:rPr>
              <a:t>02</a:t>
            </a:r>
            <a:endParaRPr lang="en-US" sz="1100" dirty="0"/>
          </a:p>
        </p:txBody>
      </p:sp>
      <p:sp>
        <p:nvSpPr>
          <p:cNvPr id="14" name="Text 12"/>
          <p:cNvSpPr/>
          <p:nvPr/>
        </p:nvSpPr>
        <p:spPr>
          <a:xfrm>
            <a:off x="2772613" y="3593592"/>
            <a:ext cx="1099261" cy="868680"/>
          </a:xfrm>
          <a:prstGeom prst="rect">
            <a:avLst/>
          </a:prstGeom>
          <a:noFill/>
          <a:ln/>
        </p:spPr>
        <p:txBody>
          <a:bodyPr wrap="square" lIns="0" tIns="0" rIns="0" bIns="0" rtlCol="0" anchor="t"/>
          <a:lstStyle/>
          <a:p>
            <a:pPr indent="0" marL="0">
              <a:lnSpc>
                <a:spcPct val="96000"/>
              </a:lnSpc>
              <a:buNone/>
            </a:pPr>
            <a:r>
              <a:rPr lang="en-US" sz="1300" b="1" dirty="0">
                <a:solidFill>
                  <a:srgbClr val="FFFFFF"/>
                </a:solidFill>
                <a:latin typeface="Century Gothic" pitchFamily="34" charset="0"/>
                <a:ea typeface="Century Gothic" pitchFamily="34" charset="-122"/>
                <a:cs typeface="Century Gothic" pitchFamily="34" charset="-120"/>
              </a:rPr>
              <a:t>Depot relay</a:t>
            </a:r>
            <a:endParaRPr lang="en-US" sz="1300" dirty="0"/>
          </a:p>
        </p:txBody>
      </p:sp>
      <p:sp>
        <p:nvSpPr>
          <p:cNvPr id="15" name="Text 13"/>
          <p:cNvSpPr/>
          <p:nvPr/>
        </p:nvSpPr>
        <p:spPr>
          <a:xfrm>
            <a:off x="2772613" y="4453128"/>
            <a:ext cx="1099261" cy="365760"/>
          </a:xfrm>
          <a:prstGeom prst="rect">
            <a:avLst/>
          </a:prstGeom>
          <a:noFill/>
          <a:ln/>
        </p:spPr>
        <p:txBody>
          <a:bodyPr wrap="square" lIns="0" tIns="0" rIns="0" bIns="0" rtlCol="0" anchor="ctr"/>
          <a:lstStyle/>
          <a:p>
            <a:pPr indent="0" marL="0">
              <a:buNone/>
            </a:pPr>
            <a:r>
              <a:rPr lang="en-US" sz="900" dirty="0">
                <a:solidFill>
                  <a:srgbClr val="FFFFFF"/>
                </a:solidFill>
                <a:latin typeface="Calibri" pitchFamily="34" charset="0"/>
                <a:ea typeface="Calibri" pitchFamily="34" charset="-122"/>
                <a:cs typeface="Calibri" pitchFamily="34" charset="-120"/>
              </a:rPr>
              <a:t>10 s windows · exceptions</a:t>
            </a:r>
            <a:endParaRPr lang="en-US" sz="900" dirty="0"/>
          </a:p>
        </p:txBody>
      </p:sp>
      <p:sp>
        <p:nvSpPr>
          <p:cNvPr id="16" name="Shape 14"/>
          <p:cNvSpPr/>
          <p:nvPr/>
        </p:nvSpPr>
        <p:spPr>
          <a:xfrm>
            <a:off x="4091330" y="3845052"/>
            <a:ext cx="310896" cy="219456"/>
          </a:xfrm>
          <a:prstGeom prst="rightArrow">
            <a:avLst/>
          </a:prstGeom>
          <a:solidFill>
            <a:srgbClr val="8B98A6"/>
          </a:solidFill>
          <a:ln/>
        </p:spPr>
      </p:sp>
      <p:sp>
        <p:nvSpPr>
          <p:cNvPr id="17" name="Shape 15"/>
          <p:cNvSpPr/>
          <p:nvPr/>
        </p:nvSpPr>
        <p:spPr>
          <a:xfrm>
            <a:off x="4475378" y="2971800"/>
            <a:ext cx="1391869" cy="1965960"/>
          </a:xfrm>
          <a:prstGeom prst="roundRect">
            <a:avLst/>
          </a:prstGeom>
          <a:solidFill>
            <a:srgbClr val="38372D"/>
          </a:solidFill>
          <a:ln w="12700">
            <a:solidFill>
              <a:srgbClr val="4C4B41"/>
            </a:solidFill>
            <a:prstDash val="solid"/>
          </a:ln>
        </p:spPr>
      </p:sp>
      <p:sp>
        <p:nvSpPr>
          <p:cNvPr id="18" name="Text 16"/>
          <p:cNvSpPr/>
          <p:nvPr/>
        </p:nvSpPr>
        <p:spPr>
          <a:xfrm>
            <a:off x="4621682" y="3154680"/>
            <a:ext cx="1099261" cy="320040"/>
          </a:xfrm>
          <a:prstGeom prst="rect">
            <a:avLst/>
          </a:prstGeom>
          <a:noFill/>
          <a:ln/>
        </p:spPr>
        <p:txBody>
          <a:bodyPr wrap="square" lIns="0" tIns="0" rIns="0" bIns="0" rtlCol="0" anchor="ctr"/>
          <a:lstStyle/>
          <a:p>
            <a:pPr indent="0" marL="0">
              <a:buNone/>
            </a:pPr>
            <a:r>
              <a:rPr lang="en-US" sz="1100" dirty="0">
                <a:solidFill>
                  <a:srgbClr val="FF6A00"/>
                </a:solidFill>
                <a:latin typeface="Consolas" pitchFamily="34" charset="0"/>
                <a:ea typeface="Consolas" pitchFamily="34" charset="-122"/>
                <a:cs typeface="Consolas" pitchFamily="34" charset="-120"/>
              </a:rPr>
              <a:t>03</a:t>
            </a:r>
            <a:endParaRPr lang="en-US" sz="1100" dirty="0"/>
          </a:p>
        </p:txBody>
      </p:sp>
      <p:sp>
        <p:nvSpPr>
          <p:cNvPr id="19" name="Text 17"/>
          <p:cNvSpPr/>
          <p:nvPr/>
        </p:nvSpPr>
        <p:spPr>
          <a:xfrm>
            <a:off x="4621682" y="3593592"/>
            <a:ext cx="1099261" cy="868680"/>
          </a:xfrm>
          <a:prstGeom prst="rect">
            <a:avLst/>
          </a:prstGeom>
          <a:noFill/>
          <a:ln/>
        </p:spPr>
        <p:txBody>
          <a:bodyPr wrap="square" lIns="0" tIns="0" rIns="0" bIns="0" rtlCol="0" anchor="t"/>
          <a:lstStyle/>
          <a:p>
            <a:pPr indent="0" marL="0">
              <a:lnSpc>
                <a:spcPct val="96000"/>
              </a:lnSpc>
              <a:buNone/>
            </a:pPr>
            <a:r>
              <a:rPr lang="en-US" sz="1300" b="1" dirty="0">
                <a:solidFill>
                  <a:srgbClr val="EEF2F6"/>
                </a:solidFill>
                <a:latin typeface="Century Gothic" pitchFamily="34" charset="0"/>
                <a:ea typeface="Century Gothic" pitchFamily="34" charset="-122"/>
                <a:cs typeface="Century Gothic" pitchFamily="34" charset="-120"/>
              </a:rPr>
              <a:t>Amazon SQS</a:t>
            </a:r>
            <a:endParaRPr lang="en-US" sz="1300" dirty="0"/>
          </a:p>
        </p:txBody>
      </p:sp>
      <p:sp>
        <p:nvSpPr>
          <p:cNvPr id="20" name="Text 18"/>
          <p:cNvSpPr/>
          <p:nvPr/>
        </p:nvSpPr>
        <p:spPr>
          <a:xfrm>
            <a:off x="4621682" y="4453128"/>
            <a:ext cx="1099261" cy="365760"/>
          </a:xfrm>
          <a:prstGeom prst="rect">
            <a:avLst/>
          </a:prstGeom>
          <a:noFill/>
          <a:ln/>
        </p:spPr>
        <p:txBody>
          <a:bodyPr wrap="square" lIns="0" tIns="0" rIns="0" bIns="0" rtlCol="0" anchor="ctr"/>
          <a:lstStyle/>
          <a:p>
            <a:pPr indent="0" marL="0">
              <a:buNone/>
            </a:pPr>
            <a:r>
              <a:rPr lang="en-US" sz="900" dirty="0">
                <a:solidFill>
                  <a:srgbClr val="8B98A6"/>
                </a:solidFill>
                <a:latin typeface="Calibri" pitchFamily="34" charset="0"/>
                <a:ea typeface="Calibri" pitchFamily="34" charset="-122"/>
                <a:cs typeface="Calibri" pitchFamily="34" charset="-120"/>
              </a:rPr>
              <a:t>batched ≤10 / call</a:t>
            </a:r>
            <a:endParaRPr lang="en-US" sz="900" dirty="0"/>
          </a:p>
        </p:txBody>
      </p:sp>
      <p:sp>
        <p:nvSpPr>
          <p:cNvPr id="21" name="Shape 19"/>
          <p:cNvSpPr/>
          <p:nvPr/>
        </p:nvSpPr>
        <p:spPr>
          <a:xfrm>
            <a:off x="5940400" y="3845052"/>
            <a:ext cx="310896" cy="219456"/>
          </a:xfrm>
          <a:prstGeom prst="rightArrow">
            <a:avLst/>
          </a:prstGeom>
          <a:solidFill>
            <a:srgbClr val="8B98A6"/>
          </a:solidFill>
          <a:ln/>
        </p:spPr>
      </p:sp>
      <p:sp>
        <p:nvSpPr>
          <p:cNvPr id="22" name="Shape 20"/>
          <p:cNvSpPr/>
          <p:nvPr/>
        </p:nvSpPr>
        <p:spPr>
          <a:xfrm>
            <a:off x="6324448" y="2971800"/>
            <a:ext cx="1391869" cy="1965960"/>
          </a:xfrm>
          <a:prstGeom prst="roundRect">
            <a:avLst/>
          </a:prstGeom>
          <a:solidFill>
            <a:srgbClr val="38372D"/>
          </a:solidFill>
          <a:ln w="12700">
            <a:solidFill>
              <a:srgbClr val="4C4B41"/>
            </a:solidFill>
            <a:prstDash val="solid"/>
          </a:ln>
        </p:spPr>
      </p:sp>
      <p:sp>
        <p:nvSpPr>
          <p:cNvPr id="23" name="Text 21"/>
          <p:cNvSpPr/>
          <p:nvPr/>
        </p:nvSpPr>
        <p:spPr>
          <a:xfrm>
            <a:off x="6470752" y="3154680"/>
            <a:ext cx="1099261" cy="320040"/>
          </a:xfrm>
          <a:prstGeom prst="rect">
            <a:avLst/>
          </a:prstGeom>
          <a:noFill/>
          <a:ln/>
        </p:spPr>
        <p:txBody>
          <a:bodyPr wrap="square" lIns="0" tIns="0" rIns="0" bIns="0" rtlCol="0" anchor="ctr"/>
          <a:lstStyle/>
          <a:p>
            <a:pPr indent="0" marL="0">
              <a:buNone/>
            </a:pPr>
            <a:r>
              <a:rPr lang="en-US" sz="1100" dirty="0">
                <a:solidFill>
                  <a:srgbClr val="FF6A00"/>
                </a:solidFill>
                <a:latin typeface="Consolas" pitchFamily="34" charset="0"/>
                <a:ea typeface="Consolas" pitchFamily="34" charset="-122"/>
                <a:cs typeface="Consolas" pitchFamily="34" charset="-120"/>
              </a:rPr>
              <a:t>04</a:t>
            </a:r>
            <a:endParaRPr lang="en-US" sz="1100" dirty="0"/>
          </a:p>
        </p:txBody>
      </p:sp>
      <p:sp>
        <p:nvSpPr>
          <p:cNvPr id="24" name="Text 22"/>
          <p:cNvSpPr/>
          <p:nvPr/>
        </p:nvSpPr>
        <p:spPr>
          <a:xfrm>
            <a:off x="6470752" y="3593592"/>
            <a:ext cx="1099261" cy="868680"/>
          </a:xfrm>
          <a:prstGeom prst="rect">
            <a:avLst/>
          </a:prstGeom>
          <a:noFill/>
          <a:ln/>
        </p:spPr>
        <p:txBody>
          <a:bodyPr wrap="square" lIns="0" tIns="0" rIns="0" bIns="0" rtlCol="0" anchor="t"/>
          <a:lstStyle/>
          <a:p>
            <a:pPr indent="0" marL="0">
              <a:lnSpc>
                <a:spcPct val="96000"/>
              </a:lnSpc>
              <a:buNone/>
            </a:pPr>
            <a:r>
              <a:rPr lang="en-US" sz="1300" b="1" dirty="0">
                <a:solidFill>
                  <a:srgbClr val="EEF2F6"/>
                </a:solidFill>
                <a:latin typeface="Century Gothic" pitchFamily="34" charset="0"/>
                <a:ea typeface="Century Gothic" pitchFamily="34" charset="-122"/>
                <a:cs typeface="Century Gothic" pitchFamily="34" charset="-120"/>
              </a:rPr>
              <a:t>AWS Lambda</a:t>
            </a:r>
            <a:endParaRPr lang="en-US" sz="1300" dirty="0"/>
          </a:p>
        </p:txBody>
      </p:sp>
      <p:sp>
        <p:nvSpPr>
          <p:cNvPr id="25" name="Text 23"/>
          <p:cNvSpPr/>
          <p:nvPr/>
        </p:nvSpPr>
        <p:spPr>
          <a:xfrm>
            <a:off x="6470752" y="4453128"/>
            <a:ext cx="1099261" cy="365760"/>
          </a:xfrm>
          <a:prstGeom prst="rect">
            <a:avLst/>
          </a:prstGeom>
          <a:noFill/>
          <a:ln/>
        </p:spPr>
        <p:txBody>
          <a:bodyPr wrap="square" lIns="0" tIns="0" rIns="0" bIns="0" rtlCol="0" anchor="ctr"/>
          <a:lstStyle/>
          <a:p>
            <a:pPr indent="0" marL="0">
              <a:buNone/>
            </a:pPr>
            <a:r>
              <a:rPr lang="en-US" sz="900" dirty="0">
                <a:solidFill>
                  <a:srgbClr val="8B98A6"/>
                </a:solidFill>
                <a:latin typeface="Calibri" pitchFamily="34" charset="0"/>
                <a:ea typeface="Calibri" pitchFamily="34" charset="-122"/>
                <a:cs typeface="Calibri" pitchFamily="34" charset="-120"/>
              </a:rPr>
              <a:t>python3.12 ingest</a:t>
            </a:r>
            <a:endParaRPr lang="en-US" sz="900" dirty="0"/>
          </a:p>
        </p:txBody>
      </p:sp>
      <p:sp>
        <p:nvSpPr>
          <p:cNvPr id="26" name="Shape 24"/>
          <p:cNvSpPr/>
          <p:nvPr/>
        </p:nvSpPr>
        <p:spPr>
          <a:xfrm>
            <a:off x="7789469" y="3845052"/>
            <a:ext cx="310896" cy="219456"/>
          </a:xfrm>
          <a:prstGeom prst="rightArrow">
            <a:avLst/>
          </a:prstGeom>
          <a:solidFill>
            <a:srgbClr val="8B98A6"/>
          </a:solidFill>
          <a:ln/>
        </p:spPr>
      </p:sp>
      <p:sp>
        <p:nvSpPr>
          <p:cNvPr id="27" name="Shape 25"/>
          <p:cNvSpPr/>
          <p:nvPr/>
        </p:nvSpPr>
        <p:spPr>
          <a:xfrm>
            <a:off x="8173517" y="2971800"/>
            <a:ext cx="1391869" cy="1965960"/>
          </a:xfrm>
          <a:prstGeom prst="roundRect">
            <a:avLst/>
          </a:prstGeom>
          <a:solidFill>
            <a:srgbClr val="38372D"/>
          </a:solidFill>
          <a:ln w="12700">
            <a:solidFill>
              <a:srgbClr val="4C4B41"/>
            </a:solidFill>
            <a:prstDash val="solid"/>
          </a:ln>
        </p:spPr>
      </p:sp>
      <p:sp>
        <p:nvSpPr>
          <p:cNvPr id="28" name="Text 26"/>
          <p:cNvSpPr/>
          <p:nvPr/>
        </p:nvSpPr>
        <p:spPr>
          <a:xfrm>
            <a:off x="8319821" y="3154680"/>
            <a:ext cx="1099261" cy="320040"/>
          </a:xfrm>
          <a:prstGeom prst="rect">
            <a:avLst/>
          </a:prstGeom>
          <a:noFill/>
          <a:ln/>
        </p:spPr>
        <p:txBody>
          <a:bodyPr wrap="square" lIns="0" tIns="0" rIns="0" bIns="0" rtlCol="0" anchor="ctr"/>
          <a:lstStyle/>
          <a:p>
            <a:pPr indent="0" marL="0">
              <a:buNone/>
            </a:pPr>
            <a:r>
              <a:rPr lang="en-US" sz="1100" dirty="0">
                <a:solidFill>
                  <a:srgbClr val="FF6A00"/>
                </a:solidFill>
                <a:latin typeface="Consolas" pitchFamily="34" charset="0"/>
                <a:ea typeface="Consolas" pitchFamily="34" charset="-122"/>
                <a:cs typeface="Consolas" pitchFamily="34" charset="-120"/>
              </a:rPr>
              <a:t>05</a:t>
            </a:r>
            <a:endParaRPr lang="en-US" sz="1100" dirty="0"/>
          </a:p>
        </p:txBody>
      </p:sp>
      <p:sp>
        <p:nvSpPr>
          <p:cNvPr id="29" name="Text 27"/>
          <p:cNvSpPr/>
          <p:nvPr/>
        </p:nvSpPr>
        <p:spPr>
          <a:xfrm>
            <a:off x="8319821" y="3593592"/>
            <a:ext cx="1099261" cy="868680"/>
          </a:xfrm>
          <a:prstGeom prst="rect">
            <a:avLst/>
          </a:prstGeom>
          <a:noFill/>
          <a:ln/>
        </p:spPr>
        <p:txBody>
          <a:bodyPr wrap="square" lIns="0" tIns="0" rIns="0" bIns="0" rtlCol="0" anchor="t"/>
          <a:lstStyle/>
          <a:p>
            <a:pPr indent="0" marL="0">
              <a:lnSpc>
                <a:spcPct val="96000"/>
              </a:lnSpc>
              <a:buNone/>
            </a:pPr>
            <a:r>
              <a:rPr lang="en-US" sz="1300" b="1" dirty="0">
                <a:solidFill>
                  <a:srgbClr val="EEF2F6"/>
                </a:solidFill>
                <a:latin typeface="Century Gothic" pitchFamily="34" charset="0"/>
                <a:ea typeface="Century Gothic" pitchFamily="34" charset="-122"/>
                <a:cs typeface="Century Gothic" pitchFamily="34" charset="-120"/>
              </a:rPr>
              <a:t>DynamoDB</a:t>
            </a:r>
            <a:endParaRPr lang="en-US" sz="1300" dirty="0"/>
          </a:p>
        </p:txBody>
      </p:sp>
      <p:sp>
        <p:nvSpPr>
          <p:cNvPr id="30" name="Text 28"/>
          <p:cNvSpPr/>
          <p:nvPr/>
        </p:nvSpPr>
        <p:spPr>
          <a:xfrm>
            <a:off x="8319821" y="4453128"/>
            <a:ext cx="1099261" cy="365760"/>
          </a:xfrm>
          <a:prstGeom prst="rect">
            <a:avLst/>
          </a:prstGeom>
          <a:noFill/>
          <a:ln/>
        </p:spPr>
        <p:txBody>
          <a:bodyPr wrap="square" lIns="0" tIns="0" rIns="0" bIns="0" rtlCol="0" anchor="ctr"/>
          <a:lstStyle/>
          <a:p>
            <a:pPr indent="0" marL="0">
              <a:buNone/>
            </a:pPr>
            <a:r>
              <a:rPr lang="en-US" sz="900" dirty="0">
                <a:solidFill>
                  <a:srgbClr val="8B98A6"/>
                </a:solidFill>
                <a:latin typeface="Calibri" pitchFamily="34" charset="0"/>
                <a:ea typeface="Calibri" pitchFamily="34" charset="-122"/>
                <a:cs typeface="Calibri" pitchFamily="34" charset="-120"/>
              </a:rPr>
              <a:t>window archive</a:t>
            </a:r>
            <a:endParaRPr lang="en-US" sz="900" dirty="0"/>
          </a:p>
        </p:txBody>
      </p:sp>
      <p:sp>
        <p:nvSpPr>
          <p:cNvPr id="31" name="Shape 29"/>
          <p:cNvSpPr/>
          <p:nvPr/>
        </p:nvSpPr>
        <p:spPr>
          <a:xfrm>
            <a:off x="9638538" y="3845052"/>
            <a:ext cx="310896" cy="219456"/>
          </a:xfrm>
          <a:prstGeom prst="rightArrow">
            <a:avLst/>
          </a:prstGeom>
          <a:solidFill>
            <a:srgbClr val="8B98A6"/>
          </a:solidFill>
          <a:ln/>
        </p:spPr>
      </p:sp>
      <p:sp>
        <p:nvSpPr>
          <p:cNvPr id="32" name="Shape 30"/>
          <p:cNvSpPr/>
          <p:nvPr/>
        </p:nvSpPr>
        <p:spPr>
          <a:xfrm>
            <a:off x="10022586" y="2971800"/>
            <a:ext cx="1391869" cy="1965960"/>
          </a:xfrm>
          <a:prstGeom prst="roundRect">
            <a:avLst/>
          </a:prstGeom>
          <a:solidFill>
            <a:srgbClr val="38372D"/>
          </a:solidFill>
          <a:ln w="12700">
            <a:solidFill>
              <a:srgbClr val="4C4B41"/>
            </a:solidFill>
            <a:prstDash val="solid"/>
          </a:ln>
        </p:spPr>
      </p:sp>
      <p:sp>
        <p:nvSpPr>
          <p:cNvPr id="33" name="Text 31"/>
          <p:cNvSpPr/>
          <p:nvPr/>
        </p:nvSpPr>
        <p:spPr>
          <a:xfrm>
            <a:off x="10168890" y="3154680"/>
            <a:ext cx="1099261" cy="320040"/>
          </a:xfrm>
          <a:prstGeom prst="rect">
            <a:avLst/>
          </a:prstGeom>
          <a:noFill/>
          <a:ln/>
        </p:spPr>
        <p:txBody>
          <a:bodyPr wrap="square" lIns="0" tIns="0" rIns="0" bIns="0" rtlCol="0" anchor="ctr"/>
          <a:lstStyle/>
          <a:p>
            <a:pPr indent="0" marL="0">
              <a:buNone/>
            </a:pPr>
            <a:r>
              <a:rPr lang="en-US" sz="1100" dirty="0">
                <a:solidFill>
                  <a:srgbClr val="FF6A00"/>
                </a:solidFill>
                <a:latin typeface="Consolas" pitchFamily="34" charset="0"/>
                <a:ea typeface="Consolas" pitchFamily="34" charset="-122"/>
                <a:cs typeface="Consolas" pitchFamily="34" charset="-120"/>
              </a:rPr>
              <a:t>06</a:t>
            </a:r>
            <a:endParaRPr lang="en-US" sz="1100" dirty="0"/>
          </a:p>
        </p:txBody>
      </p:sp>
      <p:sp>
        <p:nvSpPr>
          <p:cNvPr id="34" name="Text 32"/>
          <p:cNvSpPr/>
          <p:nvPr/>
        </p:nvSpPr>
        <p:spPr>
          <a:xfrm>
            <a:off x="10168890" y="3593592"/>
            <a:ext cx="1099261" cy="868680"/>
          </a:xfrm>
          <a:prstGeom prst="rect">
            <a:avLst/>
          </a:prstGeom>
          <a:noFill/>
          <a:ln/>
        </p:spPr>
        <p:txBody>
          <a:bodyPr wrap="square" lIns="0" tIns="0" rIns="0" bIns="0" rtlCol="0" anchor="t"/>
          <a:lstStyle/>
          <a:p>
            <a:pPr indent="0" marL="0">
              <a:lnSpc>
                <a:spcPct val="96000"/>
              </a:lnSpc>
              <a:buNone/>
            </a:pPr>
            <a:r>
              <a:rPr lang="en-US" sz="1300" b="1" dirty="0">
                <a:solidFill>
                  <a:srgbClr val="EEF2F6"/>
                </a:solidFill>
                <a:latin typeface="Century Gothic" pitchFamily="34" charset="0"/>
                <a:ea typeface="Century Gothic" pitchFamily="34" charset="-122"/>
                <a:cs typeface="Century Gothic" pitchFamily="34" charset="-120"/>
              </a:rPr>
              <a:t>API GW + S3</a:t>
            </a:r>
            <a:endParaRPr lang="en-US" sz="1300" dirty="0"/>
          </a:p>
        </p:txBody>
      </p:sp>
      <p:sp>
        <p:nvSpPr>
          <p:cNvPr id="35" name="Text 33"/>
          <p:cNvSpPr/>
          <p:nvPr/>
        </p:nvSpPr>
        <p:spPr>
          <a:xfrm>
            <a:off x="10168890" y="4453128"/>
            <a:ext cx="1099261" cy="365760"/>
          </a:xfrm>
          <a:prstGeom prst="rect">
            <a:avLst/>
          </a:prstGeom>
          <a:noFill/>
          <a:ln/>
        </p:spPr>
        <p:txBody>
          <a:bodyPr wrap="square" lIns="0" tIns="0" rIns="0" bIns="0" rtlCol="0" anchor="ctr"/>
          <a:lstStyle/>
          <a:p>
            <a:pPr indent="0" marL="0">
              <a:buNone/>
            </a:pPr>
            <a:r>
              <a:rPr lang="en-US" sz="900" dirty="0">
                <a:solidFill>
                  <a:srgbClr val="8B98A6"/>
                </a:solidFill>
                <a:latin typeface="Calibri" pitchFamily="34" charset="0"/>
                <a:ea typeface="Calibri" pitchFamily="34" charset="-122"/>
                <a:cs typeface="Calibri" pitchFamily="34" charset="-120"/>
              </a:rPr>
              <a:t>live manifest</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B2B28"/>
        </a:solidFill>
      </p:bgPr>
    </p:bg>
    <p:spTree>
      <p:nvGrpSpPr>
        <p:cNvPr id="1" name=""/>
        <p:cNvGrpSpPr/>
        <p:nvPr/>
      </p:nvGrpSpPr>
      <p:grpSpPr>
        <a:xfrm>
          <a:off x="0" y="0"/>
          <a:ext cx="0" cy="0"/>
          <a:chOff x="0" y="0"/>
          <a:chExt cx="0" cy="0"/>
        </a:xfrm>
      </p:grpSpPr>
      <p:sp>
        <p:nvSpPr>
          <p:cNvPr id="2" name="Shape 0"/>
          <p:cNvSpPr/>
          <p:nvPr/>
        </p:nvSpPr>
        <p:spPr>
          <a:xfrm>
            <a:off x="8534095" y="5486400"/>
            <a:ext cx="3657600" cy="1371600"/>
          </a:xfrm>
          <a:prstGeom prst="rtTriangle">
            <a:avLst/>
          </a:prstGeom>
          <a:solidFill>
            <a:srgbClr val="FF6A00"/>
          </a:solidFill>
          <a:ln/>
        </p:spPr>
      </p:sp>
      <p:sp>
        <p:nvSpPr>
          <p:cNvPr id="3" name="Shape 1"/>
          <p:cNvSpPr/>
          <p:nvPr/>
        </p:nvSpPr>
        <p:spPr>
          <a:xfrm>
            <a:off x="9997135" y="5486400"/>
            <a:ext cx="2194560" cy="1371600"/>
          </a:xfrm>
          <a:prstGeom prst="rtTriangle">
            <a:avLst/>
          </a:prstGeom>
          <a:solidFill>
            <a:srgbClr val="D74200"/>
          </a:solidFill>
          <a:ln/>
        </p:spPr>
      </p:sp>
      <p:sp>
        <p:nvSpPr>
          <p:cNvPr id="4" name="Text 2"/>
          <p:cNvSpPr/>
          <p:nvPr/>
        </p:nvSpPr>
        <p:spPr>
          <a:xfrm>
            <a:off x="777240" y="731520"/>
            <a:ext cx="914400" cy="640080"/>
          </a:xfrm>
          <a:prstGeom prst="rect">
            <a:avLst/>
          </a:prstGeom>
          <a:noFill/>
          <a:ln/>
        </p:spPr>
        <p:txBody>
          <a:bodyPr wrap="square" lIns="0" tIns="0" rIns="0" bIns="0" rtlCol="0" anchor="ctr"/>
          <a:lstStyle/>
          <a:p>
            <a:pPr indent="0" marL="0">
              <a:buNone/>
            </a:pPr>
            <a:r>
              <a:rPr lang="en-US" sz="3000" b="1" dirty="0">
                <a:solidFill>
                  <a:srgbClr val="FF6A00"/>
                </a:solidFill>
                <a:latin typeface="Century Gothic" pitchFamily="34" charset="0"/>
                <a:ea typeface="Century Gothic" pitchFamily="34" charset="-122"/>
                <a:cs typeface="Century Gothic" pitchFamily="34" charset="-120"/>
              </a:rPr>
              <a:t>02</a:t>
            </a:r>
            <a:endParaRPr lang="en-US" sz="3000" dirty="0"/>
          </a:p>
        </p:txBody>
      </p:sp>
      <p:sp>
        <p:nvSpPr>
          <p:cNvPr id="5" name="Text 3"/>
          <p:cNvSpPr/>
          <p:nvPr/>
        </p:nvSpPr>
        <p:spPr>
          <a:xfrm>
            <a:off x="1645920" y="905256"/>
            <a:ext cx="9768535" cy="274320"/>
          </a:xfrm>
          <a:prstGeom prst="rect">
            <a:avLst/>
          </a:prstGeom>
          <a:noFill/>
          <a:ln/>
        </p:spPr>
        <p:txBody>
          <a:bodyPr wrap="square" lIns="0" tIns="0" rIns="0" bIns="0" rtlCol="0" anchor="ctr"/>
          <a:lstStyle/>
          <a:p>
            <a:pPr indent="0" marL="0">
              <a:buNone/>
            </a:pPr>
            <a:r>
              <a:rPr lang="en-US" sz="1100" b="1" spc="200" kern="0" dirty="0">
                <a:solidFill>
                  <a:srgbClr val="8B98A6"/>
                </a:solidFill>
                <a:latin typeface="Calibri" pitchFamily="34" charset="0"/>
                <a:ea typeface="Calibri" pitchFamily="34" charset="-122"/>
                <a:cs typeface="Calibri" pitchFamily="34" charset="-120"/>
              </a:rPr>
              <a:t>LIVE DEMO</a:t>
            </a:r>
            <a:endParaRPr lang="en-US" sz="1100" dirty="0"/>
          </a:p>
        </p:txBody>
      </p:sp>
      <p:sp>
        <p:nvSpPr>
          <p:cNvPr id="6" name="Text 4"/>
          <p:cNvSpPr/>
          <p:nvPr/>
        </p:nvSpPr>
        <p:spPr>
          <a:xfrm>
            <a:off x="777240" y="1380744"/>
            <a:ext cx="10637215" cy="640080"/>
          </a:xfrm>
          <a:prstGeom prst="rect">
            <a:avLst/>
          </a:prstGeom>
          <a:noFill/>
          <a:ln/>
        </p:spPr>
        <p:txBody>
          <a:bodyPr wrap="square" lIns="0" tIns="0" rIns="0" bIns="0" rtlCol="0" anchor="ctr"/>
          <a:lstStyle/>
          <a:p>
            <a:pPr indent="0" marL="0">
              <a:buNone/>
            </a:pPr>
            <a:r>
              <a:rPr lang="en-US" sz="2300" b="1" dirty="0">
                <a:solidFill>
                  <a:srgbClr val="EEF2F6"/>
                </a:solidFill>
                <a:latin typeface="Century Gothic" pitchFamily="34" charset="0"/>
                <a:ea typeface="Century Gothic" pitchFamily="34" charset="-122"/>
                <a:cs typeface="Century Gothic" pitchFamily="34" charset="-120"/>
              </a:rPr>
              <a:t>See it running on AWS</a:t>
            </a:r>
            <a:endParaRPr lang="en-US" sz="2300" dirty="0"/>
          </a:p>
        </p:txBody>
      </p:sp>
      <p:sp>
        <p:nvSpPr>
          <p:cNvPr id="7" name="Text 5"/>
          <p:cNvSpPr/>
          <p:nvPr/>
        </p:nvSpPr>
        <p:spPr>
          <a:xfrm>
            <a:off x="777240" y="1901952"/>
            <a:ext cx="10637215" cy="274320"/>
          </a:xfrm>
          <a:prstGeom prst="rect">
            <a:avLst/>
          </a:prstGeom>
          <a:noFill/>
          <a:ln/>
        </p:spPr>
        <p:txBody>
          <a:bodyPr wrap="square" rtlCol="0" anchor="ctr"/>
          <a:lstStyle/>
          <a:p>
            <a:pPr indent="0" marL="0">
              <a:buNone/>
            </a:pPr>
            <a:r>
              <a:rPr lang="en-US" sz="1100" dirty="0">
                <a:solidFill>
                  <a:srgbClr val="FF6A00"/>
                </a:solidFill>
                <a:latin typeface="Consolas" pitchFamily="34" charset="0"/>
                <a:ea typeface="Consolas" pitchFamily="34" charset="-122"/>
                <a:cs typeface="Consolas" pitchFamily="34" charset="-120"/>
              </a:rPr>
              <a:t>fcl-frontend-911500555248.s3.us-east-1.amazonaws.com</a:t>
            </a:r>
            <a:endParaRPr lang="en-US" sz="1100" dirty="0"/>
          </a:p>
        </p:txBody>
      </p:sp>
      <p:sp>
        <p:nvSpPr>
          <p:cNvPr id="8" name="Shape 6"/>
          <p:cNvSpPr/>
          <p:nvPr/>
        </p:nvSpPr>
        <p:spPr>
          <a:xfrm>
            <a:off x="777240" y="2514600"/>
            <a:ext cx="3301898" cy="3566160"/>
          </a:xfrm>
          <a:prstGeom prst="roundRect">
            <a:avLst/>
          </a:prstGeom>
          <a:solidFill>
            <a:srgbClr val="38372D"/>
          </a:solidFill>
          <a:ln w="12700">
            <a:solidFill>
              <a:srgbClr val="4C4B41"/>
            </a:solidFill>
            <a:prstDash val="solid"/>
          </a:ln>
        </p:spPr>
      </p:sp>
      <p:sp>
        <p:nvSpPr>
          <p:cNvPr id="9" name="Text 7"/>
          <p:cNvSpPr/>
          <p:nvPr/>
        </p:nvSpPr>
        <p:spPr>
          <a:xfrm>
            <a:off x="1051560" y="2752344"/>
            <a:ext cx="1828800" cy="777240"/>
          </a:xfrm>
          <a:prstGeom prst="rect">
            <a:avLst/>
          </a:prstGeom>
          <a:noFill/>
          <a:ln/>
        </p:spPr>
        <p:txBody>
          <a:bodyPr wrap="square" lIns="0" tIns="0" rIns="0" bIns="0" rtlCol="0" anchor="ctr"/>
          <a:lstStyle/>
          <a:p>
            <a:pPr indent="0" marL="0">
              <a:buNone/>
            </a:pPr>
            <a:r>
              <a:rPr lang="en-US" sz="3800" b="1" dirty="0">
                <a:solidFill>
                  <a:srgbClr val="FF6A00"/>
                </a:solidFill>
                <a:latin typeface="Century Gothic" pitchFamily="34" charset="0"/>
                <a:ea typeface="Century Gothic" pitchFamily="34" charset="-122"/>
                <a:cs typeface="Century Gothic" pitchFamily="34" charset="-120"/>
              </a:rPr>
              <a:t>01</a:t>
            </a:r>
            <a:endParaRPr lang="en-US" sz="3800" dirty="0"/>
          </a:p>
        </p:txBody>
      </p:sp>
      <p:sp>
        <p:nvSpPr>
          <p:cNvPr id="10" name="Text 8"/>
          <p:cNvSpPr/>
          <p:nvPr/>
        </p:nvSpPr>
        <p:spPr>
          <a:xfrm>
            <a:off x="1069848" y="3566160"/>
            <a:ext cx="2753258" cy="868680"/>
          </a:xfrm>
          <a:prstGeom prst="rect">
            <a:avLst/>
          </a:prstGeom>
          <a:noFill/>
          <a:ln/>
        </p:spPr>
        <p:txBody>
          <a:bodyPr wrap="square" lIns="0" tIns="0" rIns="0" bIns="0" rtlCol="0" anchor="t"/>
          <a:lstStyle/>
          <a:p>
            <a:pPr indent="0" marL="0">
              <a:lnSpc>
                <a:spcPct val="100000"/>
              </a:lnSpc>
              <a:buNone/>
            </a:pPr>
            <a:r>
              <a:rPr lang="en-US" sz="1550" b="1" dirty="0">
                <a:solidFill>
                  <a:srgbClr val="EEF2F6"/>
                </a:solidFill>
                <a:latin typeface="Century Gothic" pitchFamily="34" charset="0"/>
                <a:ea typeface="Century Gothic" pitchFamily="34" charset="-122"/>
                <a:cs typeface="Century Gothic" pitchFamily="34" charset="-120"/>
              </a:rPr>
              <a:t>A live manifest per container</a:t>
            </a:r>
            <a:endParaRPr lang="en-US" sz="1550" dirty="0"/>
          </a:p>
        </p:txBody>
      </p:sp>
      <p:sp>
        <p:nvSpPr>
          <p:cNvPr id="11" name="Text 9"/>
          <p:cNvSpPr/>
          <p:nvPr/>
        </p:nvSpPr>
        <p:spPr>
          <a:xfrm>
            <a:off x="1069848" y="4434840"/>
            <a:ext cx="2753258" cy="1463040"/>
          </a:xfrm>
          <a:prstGeom prst="rect">
            <a:avLst/>
          </a:prstGeom>
          <a:noFill/>
          <a:ln/>
        </p:spPr>
        <p:txBody>
          <a:bodyPr wrap="square" lIns="0" tIns="0" rIns="0" bIns="0" rtlCol="0" anchor="ctr"/>
          <a:lstStyle/>
          <a:p>
            <a:pPr indent="0" marL="0">
              <a:lnSpc>
                <a:spcPct val="120000"/>
              </a:lnSpc>
              <a:buNone/>
            </a:pPr>
            <a:r>
              <a:rPr lang="en-US" sz="1200" dirty="0">
                <a:solidFill>
                  <a:srgbClr val="8B98A6"/>
                </a:solidFill>
                <a:latin typeface="Calibri" pitchFamily="34" charset="0"/>
                <a:ea typeface="Calibri" pitchFamily="34" charset="-122"/>
                <a:cs typeface="Calibri" pitchFamily="34" charset="-120"/>
              </a:rPr>
              <a:t>Storage temperature, humidity, door-open time, shock and CO2 for both reefers, re-scored every ten seconds.</a:t>
            </a:r>
            <a:endParaRPr lang="en-US" sz="1200" dirty="0"/>
          </a:p>
        </p:txBody>
      </p:sp>
      <p:sp>
        <p:nvSpPr>
          <p:cNvPr id="12" name="Shape 10"/>
          <p:cNvSpPr/>
          <p:nvPr/>
        </p:nvSpPr>
        <p:spPr>
          <a:xfrm>
            <a:off x="4444898" y="2514600"/>
            <a:ext cx="3301898" cy="3566160"/>
          </a:xfrm>
          <a:prstGeom prst="roundRect">
            <a:avLst/>
          </a:prstGeom>
          <a:solidFill>
            <a:srgbClr val="38372D"/>
          </a:solidFill>
          <a:ln w="12700">
            <a:solidFill>
              <a:srgbClr val="4C4B41"/>
            </a:solidFill>
            <a:prstDash val="solid"/>
          </a:ln>
        </p:spPr>
      </p:sp>
      <p:sp>
        <p:nvSpPr>
          <p:cNvPr id="13" name="Text 11"/>
          <p:cNvSpPr/>
          <p:nvPr/>
        </p:nvSpPr>
        <p:spPr>
          <a:xfrm>
            <a:off x="4719218" y="2752344"/>
            <a:ext cx="1828800" cy="777240"/>
          </a:xfrm>
          <a:prstGeom prst="rect">
            <a:avLst/>
          </a:prstGeom>
          <a:noFill/>
          <a:ln/>
        </p:spPr>
        <p:txBody>
          <a:bodyPr wrap="square" lIns="0" tIns="0" rIns="0" bIns="0" rtlCol="0" anchor="ctr"/>
          <a:lstStyle/>
          <a:p>
            <a:pPr indent="0" marL="0">
              <a:buNone/>
            </a:pPr>
            <a:r>
              <a:rPr lang="en-US" sz="3800" b="1" dirty="0">
                <a:solidFill>
                  <a:srgbClr val="FF6A00"/>
                </a:solidFill>
                <a:latin typeface="Century Gothic" pitchFamily="34" charset="0"/>
                <a:ea typeface="Century Gothic" pitchFamily="34" charset="-122"/>
                <a:cs typeface="Century Gothic" pitchFamily="34" charset="-120"/>
              </a:rPr>
              <a:t>02</a:t>
            </a:r>
            <a:endParaRPr lang="en-US" sz="3800" dirty="0"/>
          </a:p>
        </p:txBody>
      </p:sp>
      <p:sp>
        <p:nvSpPr>
          <p:cNvPr id="14" name="Text 12"/>
          <p:cNvSpPr/>
          <p:nvPr/>
        </p:nvSpPr>
        <p:spPr>
          <a:xfrm>
            <a:off x="4737506" y="3566160"/>
            <a:ext cx="2753258" cy="868680"/>
          </a:xfrm>
          <a:prstGeom prst="rect">
            <a:avLst/>
          </a:prstGeom>
          <a:noFill/>
          <a:ln/>
        </p:spPr>
        <p:txBody>
          <a:bodyPr wrap="square" lIns="0" tIns="0" rIns="0" bIns="0" rtlCol="0" anchor="t"/>
          <a:lstStyle/>
          <a:p>
            <a:pPr indent="0" marL="0">
              <a:lnSpc>
                <a:spcPct val="100000"/>
              </a:lnSpc>
              <a:buNone/>
            </a:pPr>
            <a:r>
              <a:rPr lang="en-US" sz="1550" b="1" dirty="0">
                <a:solidFill>
                  <a:srgbClr val="EEF2F6"/>
                </a:solidFill>
                <a:latin typeface="Century Gothic" pitchFamily="34" charset="0"/>
                <a:ea typeface="Century Gothic" pitchFamily="34" charset="-122"/>
                <a:cs typeface="Century Gothic" pitchFamily="34" charset="-120"/>
              </a:rPr>
              <a:t>An excursion flagged on the board</a:t>
            </a:r>
            <a:endParaRPr lang="en-US" sz="1550" dirty="0"/>
          </a:p>
        </p:txBody>
      </p:sp>
      <p:sp>
        <p:nvSpPr>
          <p:cNvPr id="15" name="Text 13"/>
          <p:cNvSpPr/>
          <p:nvPr/>
        </p:nvSpPr>
        <p:spPr>
          <a:xfrm>
            <a:off x="4737506" y="4434840"/>
            <a:ext cx="2753258" cy="1463040"/>
          </a:xfrm>
          <a:prstGeom prst="rect">
            <a:avLst/>
          </a:prstGeom>
          <a:noFill/>
          <a:ln/>
        </p:spPr>
        <p:txBody>
          <a:bodyPr wrap="square" lIns="0" tIns="0" rIns="0" bIns="0" rtlCol="0" anchor="ctr"/>
          <a:lstStyle/>
          <a:p>
            <a:pPr indent="0" marL="0">
              <a:lnSpc>
                <a:spcPct val="120000"/>
              </a:lnSpc>
              <a:buNone/>
            </a:pPr>
            <a:r>
              <a:rPr lang="en-US" sz="1200" dirty="0">
                <a:solidFill>
                  <a:srgbClr val="8B98A6"/>
                </a:solidFill>
                <a:latin typeface="Calibri" pitchFamily="34" charset="0"/>
                <a:ea typeface="Calibri" pitchFamily="34" charset="-122"/>
                <a:cs typeface="Calibri" pitchFamily="34" charset="-120"/>
              </a:rPr>
              <a:t>A container whose window-average temperature rises above -15 C is flagged as a cold-chain breach within one window, shown against the storage-temperature trend.</a:t>
            </a:r>
            <a:endParaRPr lang="en-US" sz="1200" dirty="0"/>
          </a:p>
        </p:txBody>
      </p:sp>
      <p:sp>
        <p:nvSpPr>
          <p:cNvPr id="16" name="Shape 14"/>
          <p:cNvSpPr/>
          <p:nvPr/>
        </p:nvSpPr>
        <p:spPr>
          <a:xfrm>
            <a:off x="8112557" y="2514600"/>
            <a:ext cx="3301898" cy="3566160"/>
          </a:xfrm>
          <a:prstGeom prst="roundRect">
            <a:avLst/>
          </a:prstGeom>
          <a:solidFill>
            <a:srgbClr val="38372D"/>
          </a:solidFill>
          <a:ln w="12700">
            <a:solidFill>
              <a:srgbClr val="4C4B41"/>
            </a:solidFill>
            <a:prstDash val="solid"/>
          </a:ln>
        </p:spPr>
      </p:sp>
      <p:sp>
        <p:nvSpPr>
          <p:cNvPr id="17" name="Text 15"/>
          <p:cNvSpPr/>
          <p:nvPr/>
        </p:nvSpPr>
        <p:spPr>
          <a:xfrm>
            <a:off x="8386877" y="2752344"/>
            <a:ext cx="1828800" cy="777240"/>
          </a:xfrm>
          <a:prstGeom prst="rect">
            <a:avLst/>
          </a:prstGeom>
          <a:noFill/>
          <a:ln/>
        </p:spPr>
        <p:txBody>
          <a:bodyPr wrap="square" lIns="0" tIns="0" rIns="0" bIns="0" rtlCol="0" anchor="ctr"/>
          <a:lstStyle/>
          <a:p>
            <a:pPr indent="0" marL="0">
              <a:buNone/>
            </a:pPr>
            <a:r>
              <a:rPr lang="en-US" sz="3800" b="1" dirty="0">
                <a:solidFill>
                  <a:srgbClr val="FF6A00"/>
                </a:solidFill>
                <a:latin typeface="Century Gothic" pitchFamily="34" charset="0"/>
                <a:ea typeface="Century Gothic" pitchFamily="34" charset="-122"/>
                <a:cs typeface="Century Gothic" pitchFamily="34" charset="-120"/>
              </a:rPr>
              <a:t>03</a:t>
            </a:r>
            <a:endParaRPr lang="en-US" sz="3800" dirty="0"/>
          </a:p>
        </p:txBody>
      </p:sp>
      <p:sp>
        <p:nvSpPr>
          <p:cNvPr id="18" name="Text 16"/>
          <p:cNvSpPr/>
          <p:nvPr/>
        </p:nvSpPr>
        <p:spPr>
          <a:xfrm>
            <a:off x="8405165" y="3566160"/>
            <a:ext cx="2753258" cy="868680"/>
          </a:xfrm>
          <a:prstGeom prst="rect">
            <a:avLst/>
          </a:prstGeom>
          <a:noFill/>
          <a:ln/>
        </p:spPr>
        <p:txBody>
          <a:bodyPr wrap="square" lIns="0" tIns="0" rIns="0" bIns="0" rtlCol="0" anchor="t"/>
          <a:lstStyle/>
          <a:p>
            <a:pPr indent="0" marL="0">
              <a:lnSpc>
                <a:spcPct val="100000"/>
              </a:lnSpc>
              <a:buNone/>
            </a:pPr>
            <a:r>
              <a:rPr lang="en-US" sz="1550" b="1" dirty="0">
                <a:solidFill>
                  <a:srgbClr val="EEF2F6"/>
                </a:solidFill>
                <a:latin typeface="Century Gothic" pitchFamily="34" charset="0"/>
                <a:ea typeface="Century Gothic" pitchFamily="34" charset="-122"/>
                <a:cs typeface="Century Gothic" pitchFamily="34" charset="-120"/>
              </a:rPr>
              <a:t>Temperature trends per container</a:t>
            </a:r>
            <a:endParaRPr lang="en-US" sz="1550" dirty="0"/>
          </a:p>
        </p:txBody>
      </p:sp>
      <p:sp>
        <p:nvSpPr>
          <p:cNvPr id="19" name="Text 17"/>
          <p:cNvSpPr/>
          <p:nvPr/>
        </p:nvSpPr>
        <p:spPr>
          <a:xfrm>
            <a:off x="8405165" y="4434840"/>
            <a:ext cx="2753258" cy="1463040"/>
          </a:xfrm>
          <a:prstGeom prst="rect">
            <a:avLst/>
          </a:prstGeom>
          <a:noFill/>
          <a:ln/>
        </p:spPr>
        <p:txBody>
          <a:bodyPr wrap="square" lIns="0" tIns="0" rIns="0" bIns="0" rtlCol="0" anchor="ctr"/>
          <a:lstStyle/>
          <a:p>
            <a:pPr indent="0" marL="0">
              <a:lnSpc>
                <a:spcPct val="120000"/>
              </a:lnSpc>
              <a:buNone/>
            </a:pPr>
            <a:r>
              <a:rPr lang="en-US" sz="1200" dirty="0">
                <a:solidFill>
                  <a:srgbClr val="8B98A6"/>
                </a:solidFill>
                <a:latin typeface="Calibri" pitchFamily="34" charset="0"/>
                <a:ea typeface="Calibri" pitchFamily="34" charset="-122"/>
                <a:cs typeface="Calibri" pitchFamily="34" charset="-120"/>
              </a:rPr>
              <a:t>The storage-temperature charts show each container's live series, so a container drifting warm is visible before it breaches.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B2B28"/>
        </a:solidFill>
      </p:bgPr>
    </p:bg>
    <p:spTree>
      <p:nvGrpSpPr>
        <p:cNvPr id="1" name=""/>
        <p:cNvGrpSpPr/>
        <p:nvPr/>
      </p:nvGrpSpPr>
      <p:grpSpPr>
        <a:xfrm>
          <a:off x="0" y="0"/>
          <a:ext cx="0" cy="0"/>
          <a:chOff x="0" y="0"/>
          <a:chExt cx="0" cy="0"/>
        </a:xfrm>
      </p:grpSpPr>
      <p:sp>
        <p:nvSpPr>
          <p:cNvPr id="2" name="Shape 0"/>
          <p:cNvSpPr/>
          <p:nvPr/>
        </p:nvSpPr>
        <p:spPr>
          <a:xfrm>
            <a:off x="8534095" y="5486400"/>
            <a:ext cx="3657600" cy="1371600"/>
          </a:xfrm>
          <a:prstGeom prst="rtTriangle">
            <a:avLst/>
          </a:prstGeom>
          <a:solidFill>
            <a:srgbClr val="FF6A00"/>
          </a:solidFill>
          <a:ln/>
        </p:spPr>
      </p:sp>
      <p:sp>
        <p:nvSpPr>
          <p:cNvPr id="3" name="Shape 1"/>
          <p:cNvSpPr/>
          <p:nvPr/>
        </p:nvSpPr>
        <p:spPr>
          <a:xfrm>
            <a:off x="9997135" y="5486400"/>
            <a:ext cx="2194560" cy="1371600"/>
          </a:xfrm>
          <a:prstGeom prst="rtTriangle">
            <a:avLst/>
          </a:prstGeom>
          <a:solidFill>
            <a:srgbClr val="D74200"/>
          </a:solidFill>
          <a:ln/>
        </p:spPr>
      </p:sp>
      <p:sp>
        <p:nvSpPr>
          <p:cNvPr id="4" name="Text 2"/>
          <p:cNvSpPr/>
          <p:nvPr/>
        </p:nvSpPr>
        <p:spPr>
          <a:xfrm>
            <a:off x="777240" y="731520"/>
            <a:ext cx="914400" cy="640080"/>
          </a:xfrm>
          <a:prstGeom prst="rect">
            <a:avLst/>
          </a:prstGeom>
          <a:noFill/>
          <a:ln/>
        </p:spPr>
        <p:txBody>
          <a:bodyPr wrap="square" lIns="0" tIns="0" rIns="0" bIns="0" rtlCol="0" anchor="ctr"/>
          <a:lstStyle/>
          <a:p>
            <a:pPr indent="0" marL="0">
              <a:buNone/>
            </a:pPr>
            <a:r>
              <a:rPr lang="en-US" sz="3000" b="1" dirty="0">
                <a:solidFill>
                  <a:srgbClr val="FF6A00"/>
                </a:solidFill>
                <a:latin typeface="Century Gothic" pitchFamily="34" charset="0"/>
                <a:ea typeface="Century Gothic" pitchFamily="34" charset="-122"/>
                <a:cs typeface="Century Gothic" pitchFamily="34" charset="-120"/>
              </a:rPr>
              <a:t>03</a:t>
            </a:r>
            <a:endParaRPr lang="en-US" sz="3000" dirty="0"/>
          </a:p>
        </p:txBody>
      </p:sp>
      <p:sp>
        <p:nvSpPr>
          <p:cNvPr id="5" name="Text 3"/>
          <p:cNvSpPr/>
          <p:nvPr/>
        </p:nvSpPr>
        <p:spPr>
          <a:xfrm>
            <a:off x="1645920" y="905256"/>
            <a:ext cx="9768535" cy="274320"/>
          </a:xfrm>
          <a:prstGeom prst="rect">
            <a:avLst/>
          </a:prstGeom>
          <a:noFill/>
          <a:ln/>
        </p:spPr>
        <p:txBody>
          <a:bodyPr wrap="square" lIns="0" tIns="0" rIns="0" bIns="0" rtlCol="0" anchor="ctr"/>
          <a:lstStyle/>
          <a:p>
            <a:pPr indent="0" marL="0">
              <a:buNone/>
            </a:pPr>
            <a:r>
              <a:rPr lang="en-US" sz="1100" b="1" spc="200" kern="0" dirty="0">
                <a:solidFill>
                  <a:srgbClr val="8B98A6"/>
                </a:solidFill>
                <a:latin typeface="Calibri" pitchFamily="34" charset="0"/>
                <a:ea typeface="Calibri" pitchFamily="34" charset="-122"/>
                <a:cs typeface="Calibri" pitchFamily="34" charset="-120"/>
              </a:rPr>
              <a:t>CHALLENGE</a:t>
            </a:r>
            <a:endParaRPr lang="en-US" sz="1100" dirty="0"/>
          </a:p>
        </p:txBody>
      </p:sp>
      <p:sp>
        <p:nvSpPr>
          <p:cNvPr id="6" name="Text 4"/>
          <p:cNvSpPr/>
          <p:nvPr/>
        </p:nvSpPr>
        <p:spPr>
          <a:xfrm>
            <a:off x="777240" y="1380744"/>
            <a:ext cx="10637215" cy="640080"/>
          </a:xfrm>
          <a:prstGeom prst="rect">
            <a:avLst/>
          </a:prstGeom>
          <a:noFill/>
          <a:ln/>
        </p:spPr>
        <p:txBody>
          <a:bodyPr wrap="square" lIns="0" tIns="0" rIns="0" bIns="0" rtlCol="0" anchor="ctr"/>
          <a:lstStyle/>
          <a:p>
            <a:pPr indent="0" marL="0">
              <a:buNone/>
            </a:pPr>
            <a:r>
              <a:rPr lang="en-US" sz="2300" b="1" dirty="0">
                <a:solidFill>
                  <a:srgbClr val="EEF2F6"/>
                </a:solidFill>
                <a:latin typeface="Century Gothic" pitchFamily="34" charset="0"/>
                <a:ea typeface="Century Gothic" pitchFamily="34" charset="-122"/>
                <a:cs typeface="Century Gothic" pitchFamily="34" charset="-120"/>
              </a:rPr>
              <a:t>the runtime is not the laptop</a:t>
            </a:r>
            <a:endParaRPr lang="en-US" sz="2300" dirty="0"/>
          </a:p>
        </p:txBody>
      </p:sp>
      <p:sp>
        <p:nvSpPr>
          <p:cNvPr id="7" name="Shape 5"/>
          <p:cNvSpPr/>
          <p:nvPr/>
        </p:nvSpPr>
        <p:spPr>
          <a:xfrm>
            <a:off x="777240" y="2423160"/>
            <a:ext cx="5090008" cy="3657600"/>
          </a:xfrm>
          <a:prstGeom prst="roundRect">
            <a:avLst/>
          </a:prstGeom>
          <a:solidFill>
            <a:srgbClr val="38372D"/>
          </a:solidFill>
          <a:ln w="12700">
            <a:solidFill>
              <a:srgbClr val="4C4B41"/>
            </a:solidFill>
            <a:prstDash val="solid"/>
          </a:ln>
        </p:spPr>
      </p:sp>
      <p:sp>
        <p:nvSpPr>
          <p:cNvPr id="8" name="Text 6"/>
          <p:cNvSpPr/>
          <p:nvPr/>
        </p:nvSpPr>
        <p:spPr>
          <a:xfrm>
            <a:off x="1097280" y="2697480"/>
            <a:ext cx="4449928" cy="320040"/>
          </a:xfrm>
          <a:prstGeom prst="rect">
            <a:avLst/>
          </a:prstGeom>
          <a:noFill/>
          <a:ln/>
        </p:spPr>
        <p:txBody>
          <a:bodyPr wrap="square" lIns="0" tIns="0" rIns="0" bIns="0" rtlCol="0" anchor="ctr"/>
          <a:lstStyle/>
          <a:p>
            <a:pPr indent="0" marL="0">
              <a:buNone/>
            </a:pPr>
            <a:r>
              <a:rPr lang="en-US" sz="1200" b="1" spc="200" kern="0" dirty="0">
                <a:solidFill>
                  <a:srgbClr val="D1584E"/>
                </a:solidFill>
                <a:latin typeface="Calibri" pitchFamily="34" charset="0"/>
                <a:ea typeface="Calibri" pitchFamily="34" charset="-122"/>
                <a:cs typeface="Calibri" pitchFamily="34" charset="-120"/>
              </a:rPr>
              <a:t>PROBLEM</a:t>
            </a:r>
            <a:endParaRPr lang="en-US" sz="1200" dirty="0"/>
          </a:p>
        </p:txBody>
      </p:sp>
      <p:sp>
        <p:nvSpPr>
          <p:cNvPr id="9" name="Shape 7"/>
          <p:cNvSpPr/>
          <p:nvPr/>
        </p:nvSpPr>
        <p:spPr>
          <a:xfrm>
            <a:off x="1097280" y="3081528"/>
            <a:ext cx="4449928" cy="0"/>
          </a:xfrm>
          <a:prstGeom prst="line">
            <a:avLst/>
          </a:prstGeom>
          <a:noFill/>
          <a:ln w="19050">
            <a:solidFill>
              <a:srgbClr val="D1584E"/>
            </a:solidFill>
            <a:prstDash val="solid"/>
          </a:ln>
        </p:spPr>
      </p:sp>
      <p:sp>
        <p:nvSpPr>
          <p:cNvPr id="10" name="Text 8"/>
          <p:cNvSpPr/>
          <p:nvPr/>
        </p:nvSpPr>
        <p:spPr>
          <a:xfrm>
            <a:off x="1097280" y="3246120"/>
            <a:ext cx="4449928" cy="2651760"/>
          </a:xfrm>
          <a:prstGeom prst="rect">
            <a:avLst/>
          </a:prstGeom>
          <a:noFill/>
          <a:ln/>
        </p:spPr>
        <p:txBody>
          <a:bodyPr wrap="square" lIns="0" tIns="0" rIns="0" bIns="0" rtlCol="0" anchor="t"/>
          <a:lstStyle/>
          <a:p>
            <a:pPr indent="0" marL="0">
              <a:lnSpc>
                <a:spcPct val="128000"/>
              </a:lnSpc>
              <a:buNone/>
            </a:pPr>
            <a:r>
              <a:rPr lang="en-US" sz="1350" dirty="0">
                <a:solidFill>
                  <a:srgbClr val="EEF2F6"/>
                </a:solidFill>
                <a:latin typeface="Calibri" pitchFamily="34" charset="0"/>
                <a:ea typeface="Calibri" pitchFamily="34" charset="-122"/>
                <a:cs typeface="Calibri" pitchFamily="34" charset="-120"/>
              </a:rPr>
              <a:t>The FastAPI dashboard would not even start on Lambda, for two reasons at once: a dependency with a compiled native part had been packaged as the copy built on my Mac, which the Linux runtime cannot import; and a static-asset folder was mounted at import time even though that folder ships to S3, not into the function. Both are import-time failures that passed all 76 local tests.</a:t>
            </a:r>
            <a:endParaRPr lang="en-US" sz="1350" dirty="0"/>
          </a:p>
        </p:txBody>
      </p:sp>
      <p:sp>
        <p:nvSpPr>
          <p:cNvPr id="11" name="Shape 9"/>
          <p:cNvSpPr/>
          <p:nvPr/>
        </p:nvSpPr>
        <p:spPr>
          <a:xfrm>
            <a:off x="6324448" y="2423160"/>
            <a:ext cx="5090008" cy="3657600"/>
          </a:xfrm>
          <a:prstGeom prst="roundRect">
            <a:avLst/>
          </a:prstGeom>
          <a:solidFill>
            <a:srgbClr val="38372D"/>
          </a:solidFill>
          <a:ln w="12700">
            <a:solidFill>
              <a:srgbClr val="4C4B41"/>
            </a:solidFill>
            <a:prstDash val="solid"/>
          </a:ln>
        </p:spPr>
      </p:sp>
      <p:sp>
        <p:nvSpPr>
          <p:cNvPr id="12" name="Text 10"/>
          <p:cNvSpPr/>
          <p:nvPr/>
        </p:nvSpPr>
        <p:spPr>
          <a:xfrm>
            <a:off x="6644488" y="2697480"/>
            <a:ext cx="4449928" cy="320040"/>
          </a:xfrm>
          <a:prstGeom prst="rect">
            <a:avLst/>
          </a:prstGeom>
          <a:noFill/>
          <a:ln/>
        </p:spPr>
        <p:txBody>
          <a:bodyPr wrap="square" lIns="0" tIns="0" rIns="0" bIns="0" rtlCol="0" anchor="ctr"/>
          <a:lstStyle/>
          <a:p>
            <a:pPr indent="0" marL="0">
              <a:buNone/>
            </a:pPr>
            <a:r>
              <a:rPr lang="en-US" sz="1200" b="1" spc="200" kern="0" dirty="0">
                <a:solidFill>
                  <a:srgbClr val="3FAE82"/>
                </a:solidFill>
                <a:latin typeface="Calibri" pitchFamily="34" charset="0"/>
                <a:ea typeface="Calibri" pitchFamily="34" charset="-122"/>
                <a:cs typeface="Calibri" pitchFamily="34" charset="-120"/>
              </a:rPr>
              <a:t>SOLUTION</a:t>
            </a:r>
            <a:endParaRPr lang="en-US" sz="1200" dirty="0"/>
          </a:p>
        </p:txBody>
      </p:sp>
      <p:sp>
        <p:nvSpPr>
          <p:cNvPr id="13" name="Shape 11"/>
          <p:cNvSpPr/>
          <p:nvPr/>
        </p:nvSpPr>
        <p:spPr>
          <a:xfrm>
            <a:off x="6644488" y="3081528"/>
            <a:ext cx="4449928" cy="0"/>
          </a:xfrm>
          <a:prstGeom prst="line">
            <a:avLst/>
          </a:prstGeom>
          <a:noFill/>
          <a:ln w="19050">
            <a:solidFill>
              <a:srgbClr val="3FAE82"/>
            </a:solidFill>
            <a:prstDash val="solid"/>
          </a:ln>
        </p:spPr>
      </p:sp>
      <p:sp>
        <p:nvSpPr>
          <p:cNvPr id="14" name="Text 12"/>
          <p:cNvSpPr/>
          <p:nvPr/>
        </p:nvSpPr>
        <p:spPr>
          <a:xfrm>
            <a:off x="6644488" y="3246120"/>
            <a:ext cx="4449928" cy="2651760"/>
          </a:xfrm>
          <a:prstGeom prst="rect">
            <a:avLst/>
          </a:prstGeom>
          <a:noFill/>
          <a:ln/>
        </p:spPr>
        <p:txBody>
          <a:bodyPr wrap="square" lIns="0" tIns="0" rIns="0" bIns="0" rtlCol="0" anchor="t"/>
          <a:lstStyle/>
          <a:p>
            <a:pPr indent="0" marL="0">
              <a:lnSpc>
                <a:spcPct val="128000"/>
              </a:lnSpc>
              <a:buNone/>
            </a:pPr>
            <a:r>
              <a:rPr lang="en-US" sz="1350" dirty="0">
                <a:solidFill>
                  <a:srgbClr val="EEF2F6"/>
                </a:solidFill>
                <a:latin typeface="Calibri" pitchFamily="34" charset="0"/>
                <a:ea typeface="Calibri" pitchFamily="34" charset="-122"/>
                <a:cs typeface="Calibri" pitchFamily="34" charset="-120"/>
              </a:rPr>
              <a:t>The deployment package is now built against the Linux runtime's own platform so the native dependency matches, and the static mount is made tolerant of an absent folder. The dashboard returned healthy on the very first live poll.</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2026-07-24T09:15:28Z</dcterms:created>
  <dcterms:modified xsi:type="dcterms:W3CDTF">2026-07-24T09:15:28Z</dcterms:modified>
</cp:coreProperties>
</file>