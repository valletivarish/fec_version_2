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536"/>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Cold Chain Logistics Monitoring</a:t>
            </a:r>
            <a:endParaRPr lang="en-US" sz="40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5A8FB0"/>
                </a:solidFill>
                <a:latin typeface="Calibri" pitchFamily="34" charset="0"/>
                <a:ea typeface="Calibri" pitchFamily="34" charset="-122"/>
                <a:cs typeface="Calibri" pitchFamily="34" charset="-120"/>
              </a:rPr>
              <a:t>Srinidhi Vutkoori   ·   X25173243</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CFE0EC"/>
                </a:solidFill>
                <a:latin typeface="Calibri" pitchFamily="34" charset="0"/>
                <a:ea typeface="Calibri" pitchFamily="34" charset="-122"/>
                <a:cs typeface="Calibri" pitchFamily="34" charset="-120"/>
              </a:rPr>
              <a:t>A reefer whose window-average temperature drifts above minus fifteen is already breaching the cold chain — and a clipboard round discovers it only after the load has spoiled.</a:t>
            </a:r>
            <a:endParaRPr lang="en-US" sz="2000" dirty="0"/>
          </a:p>
        </p:txBody>
      </p:sp>
      <p:sp>
        <p:nvSpPr>
          <p:cNvPr id="5" name="Shape 3"/>
          <p:cNvSpPr/>
          <p:nvPr/>
        </p:nvSpPr>
        <p:spPr>
          <a:xfrm>
            <a:off x="658368" y="4206240"/>
            <a:ext cx="2651760" cy="566928"/>
          </a:xfrm>
          <a:prstGeom prst="roundRect">
            <a:avLst>
              <a:gd name="adj" fmla="val 50000"/>
            </a:avLst>
          </a:prstGeom>
          <a:solidFill>
            <a:srgbClr val="183246"/>
          </a:solidFill>
          <a:ln w="12700">
            <a:solidFill>
              <a:srgbClr val="E1A93C"/>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400" b="1" dirty="0">
                <a:solidFill>
                  <a:srgbClr val="E1A93C"/>
                </a:solidFill>
                <a:latin typeface="Calibri" pitchFamily="34" charset="0"/>
                <a:ea typeface="Calibri" pitchFamily="34" charset="-122"/>
                <a:cs typeface="Calibri" pitchFamily="34" charset="-120"/>
              </a:rPr>
              <a:t>Storage temp &gt; −15 °C</a:t>
            </a:r>
            <a:endParaRPr lang="en-US" sz="1400" dirty="0"/>
          </a:p>
        </p:txBody>
      </p:sp>
      <p:sp>
        <p:nvSpPr>
          <p:cNvPr id="7" name="Shape 5"/>
          <p:cNvSpPr/>
          <p:nvPr/>
        </p:nvSpPr>
        <p:spPr>
          <a:xfrm>
            <a:off x="3538728" y="4206240"/>
            <a:ext cx="2651760" cy="566928"/>
          </a:xfrm>
          <a:prstGeom prst="roundRect">
            <a:avLst>
              <a:gd name="adj" fmla="val 50000"/>
            </a:avLst>
          </a:prstGeom>
          <a:solidFill>
            <a:srgbClr val="183246"/>
          </a:solidFill>
          <a:ln w="12700">
            <a:solidFill>
              <a:srgbClr val="E1A93C"/>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400" b="1" dirty="0">
                <a:solidFill>
                  <a:srgbClr val="E1A93C"/>
                </a:solidFill>
                <a:latin typeface="Calibri" pitchFamily="34" charset="0"/>
                <a:ea typeface="Calibri" pitchFamily="34" charset="-122"/>
                <a:cs typeface="Calibri" pitchFamily="34" charset="-120"/>
              </a:rPr>
              <a:t>Door open &gt; 300 s</a:t>
            </a:r>
            <a:endParaRPr lang="en-US" sz="1400" dirty="0"/>
          </a:p>
        </p:txBody>
      </p:sp>
      <p:sp>
        <p:nvSpPr>
          <p:cNvPr id="9" name="Shape 7"/>
          <p:cNvSpPr/>
          <p:nvPr/>
        </p:nvSpPr>
        <p:spPr>
          <a:xfrm>
            <a:off x="6419088" y="4206240"/>
            <a:ext cx="2651760" cy="566928"/>
          </a:xfrm>
          <a:prstGeom prst="roundRect">
            <a:avLst>
              <a:gd name="adj" fmla="val 50000"/>
            </a:avLst>
          </a:prstGeom>
          <a:solidFill>
            <a:srgbClr val="183246"/>
          </a:solidFill>
          <a:ln w="12700">
            <a:solidFill>
              <a:srgbClr val="E1A93C"/>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400" b="1" dirty="0">
                <a:solidFill>
                  <a:srgbClr val="E1A93C"/>
                </a:solidFill>
                <a:latin typeface="Calibri" pitchFamily="34" charset="0"/>
                <a:ea typeface="Calibri" pitchFamily="34" charset="-122"/>
                <a:cs typeface="Calibri" pitchFamily="34" charset="-120"/>
              </a:rPr>
              <a:t>10 s re-score</a:t>
            </a:r>
            <a:endParaRPr lang="en-US" sz="140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5A6E7C"/>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4293A"/>
                </a:solidFill>
                <a:latin typeface="Cambria" pitchFamily="34" charset="0"/>
                <a:ea typeface="Cambria" pitchFamily="34" charset="-122"/>
                <a:cs typeface="Cambria" pitchFamily="34" charset="-120"/>
              </a:rPr>
              <a:t>What I Built — Sensors to Live Manifest</a:t>
            </a:r>
            <a:endParaRPr lang="en-US" sz="3000" dirty="0"/>
          </a:p>
        </p:txBody>
      </p:sp>
      <p:sp>
        <p:nvSpPr>
          <p:cNvPr id="3" name="Shape 1"/>
          <p:cNvSpPr/>
          <p:nvPr/>
        </p:nvSpPr>
        <p:spPr>
          <a:xfrm>
            <a:off x="640080" y="2468880"/>
            <a:ext cx="1572768" cy="1371600"/>
          </a:xfrm>
          <a:prstGeom prst="roundRect">
            <a:avLst>
              <a:gd name="adj" fmla="val 6667"/>
            </a:avLst>
          </a:prstGeom>
          <a:solidFill>
            <a:srgbClr val="EEF4F8"/>
          </a:solidFill>
          <a:ln w="19050">
            <a:solidFill>
              <a:srgbClr val="5A8FB0"/>
            </a:solidFill>
            <a:prstDash val="solid"/>
          </a:ln>
        </p:spPr>
      </p:sp>
      <p:sp>
        <p:nvSpPr>
          <p:cNvPr id="4" name="Shape 2"/>
          <p:cNvSpPr/>
          <p:nvPr/>
        </p:nvSpPr>
        <p:spPr>
          <a:xfrm>
            <a:off x="1325880" y="2670048"/>
            <a:ext cx="201168" cy="201168"/>
          </a:xfrm>
          <a:prstGeom prst="ellipse">
            <a:avLst/>
          </a:prstGeom>
          <a:solidFill>
            <a:srgbClr val="5A8FB0"/>
          </a:solidFill>
          <a:ln/>
        </p:spPr>
      </p:sp>
      <p:sp>
        <p:nvSpPr>
          <p:cNvPr id="5" name="Text 3"/>
          <p:cNvSpPr/>
          <p:nvPr/>
        </p:nvSpPr>
        <p:spPr>
          <a:xfrm>
            <a:off x="594360" y="2926080"/>
            <a:ext cx="1664208" cy="41148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Container sensors</a:t>
            </a:r>
            <a:endParaRPr lang="en-US" sz="1450" dirty="0"/>
          </a:p>
        </p:txBody>
      </p:sp>
      <p:sp>
        <p:nvSpPr>
          <p:cNvPr id="6" name="Text 4"/>
          <p:cNvSpPr/>
          <p:nvPr/>
        </p:nvSpPr>
        <p:spPr>
          <a:xfrm>
            <a:off x="621792" y="3310128"/>
            <a:ext cx="1609344" cy="45720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10 units · 2 containers</a:t>
            </a:r>
            <a:endParaRPr lang="en-US" sz="1050" dirty="0"/>
          </a:p>
        </p:txBody>
      </p:sp>
      <p:sp>
        <p:nvSpPr>
          <p:cNvPr id="7" name="Shape 5"/>
          <p:cNvSpPr/>
          <p:nvPr/>
        </p:nvSpPr>
        <p:spPr>
          <a:xfrm>
            <a:off x="2231136" y="3154680"/>
            <a:ext cx="258409" cy="0"/>
          </a:xfrm>
          <a:prstGeom prst="line">
            <a:avLst/>
          </a:prstGeom>
          <a:noFill/>
          <a:ln w="25400">
            <a:solidFill>
              <a:srgbClr val="5A8FB0"/>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EEF4F8"/>
          </a:solidFill>
          <a:ln w="19050">
            <a:solidFill>
              <a:srgbClr val="5A8FB0"/>
            </a:solidFill>
            <a:prstDash val="solid"/>
          </a:ln>
        </p:spPr>
      </p:sp>
      <p:sp>
        <p:nvSpPr>
          <p:cNvPr id="9" name="Shape 7"/>
          <p:cNvSpPr/>
          <p:nvPr/>
        </p:nvSpPr>
        <p:spPr>
          <a:xfrm>
            <a:off x="3193633" y="2670048"/>
            <a:ext cx="201168" cy="201168"/>
          </a:xfrm>
          <a:prstGeom prst="ellipse">
            <a:avLst/>
          </a:prstGeom>
          <a:solidFill>
            <a:srgbClr val="5A8FB0"/>
          </a:solidFill>
          <a:ln/>
        </p:spPr>
      </p:sp>
      <p:sp>
        <p:nvSpPr>
          <p:cNvPr id="10" name="Text 8"/>
          <p:cNvSpPr/>
          <p:nvPr/>
        </p:nvSpPr>
        <p:spPr>
          <a:xfrm>
            <a:off x="2462113" y="2926080"/>
            <a:ext cx="1664208" cy="41148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Depot relay</a:t>
            </a:r>
            <a:endParaRPr lang="en-US" sz="1450" dirty="0"/>
          </a:p>
        </p:txBody>
      </p:sp>
      <p:sp>
        <p:nvSpPr>
          <p:cNvPr id="11" name="Text 9"/>
          <p:cNvSpPr/>
          <p:nvPr/>
        </p:nvSpPr>
        <p:spPr>
          <a:xfrm>
            <a:off x="2489545" y="3310128"/>
            <a:ext cx="1609344" cy="45720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10 s windows · exceptions</a:t>
            </a:r>
            <a:endParaRPr lang="en-US" sz="1050" dirty="0"/>
          </a:p>
        </p:txBody>
      </p:sp>
      <p:sp>
        <p:nvSpPr>
          <p:cNvPr id="12" name="Shape 10"/>
          <p:cNvSpPr/>
          <p:nvPr/>
        </p:nvSpPr>
        <p:spPr>
          <a:xfrm>
            <a:off x="4098889" y="3154680"/>
            <a:ext cx="258409" cy="0"/>
          </a:xfrm>
          <a:prstGeom prst="line">
            <a:avLst/>
          </a:prstGeom>
          <a:noFill/>
          <a:ln w="25400">
            <a:solidFill>
              <a:srgbClr val="5A8FB0"/>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EEF4F8"/>
          </a:solidFill>
          <a:ln w="19050">
            <a:solidFill>
              <a:srgbClr val="1C4A6E"/>
            </a:solidFill>
            <a:prstDash val="solid"/>
          </a:ln>
        </p:spPr>
      </p:sp>
      <p:sp>
        <p:nvSpPr>
          <p:cNvPr id="14" name="Shape 12"/>
          <p:cNvSpPr/>
          <p:nvPr/>
        </p:nvSpPr>
        <p:spPr>
          <a:xfrm>
            <a:off x="5061387" y="2670048"/>
            <a:ext cx="201168" cy="201168"/>
          </a:xfrm>
          <a:prstGeom prst="ellipse">
            <a:avLst/>
          </a:prstGeom>
          <a:solidFill>
            <a:srgbClr val="1C4A6E"/>
          </a:solidFill>
          <a:ln/>
        </p:spPr>
      </p:sp>
      <p:sp>
        <p:nvSpPr>
          <p:cNvPr id="15" name="Text 13"/>
          <p:cNvSpPr/>
          <p:nvPr/>
        </p:nvSpPr>
        <p:spPr>
          <a:xfrm>
            <a:off x="4329867" y="2926080"/>
            <a:ext cx="1664208" cy="41148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57299" y="3310128"/>
            <a:ext cx="1609344" cy="45720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batched ≤10 / call</a:t>
            </a:r>
            <a:endParaRPr lang="en-US" sz="1050" dirty="0"/>
          </a:p>
        </p:txBody>
      </p:sp>
      <p:sp>
        <p:nvSpPr>
          <p:cNvPr id="17" name="Shape 15"/>
          <p:cNvSpPr/>
          <p:nvPr/>
        </p:nvSpPr>
        <p:spPr>
          <a:xfrm>
            <a:off x="5966643" y="3154680"/>
            <a:ext cx="258409" cy="0"/>
          </a:xfrm>
          <a:prstGeom prst="line">
            <a:avLst/>
          </a:prstGeom>
          <a:noFill/>
          <a:ln w="25400">
            <a:solidFill>
              <a:srgbClr val="5A8FB0"/>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EEF4F8"/>
          </a:solidFill>
          <a:ln w="19050">
            <a:solidFill>
              <a:srgbClr val="1C4A6E"/>
            </a:solidFill>
            <a:prstDash val="solid"/>
          </a:ln>
        </p:spPr>
      </p:sp>
      <p:sp>
        <p:nvSpPr>
          <p:cNvPr id="19" name="Shape 17"/>
          <p:cNvSpPr/>
          <p:nvPr/>
        </p:nvSpPr>
        <p:spPr>
          <a:xfrm>
            <a:off x="6929140" y="2670048"/>
            <a:ext cx="201168" cy="201168"/>
          </a:xfrm>
          <a:prstGeom prst="ellipse">
            <a:avLst/>
          </a:prstGeom>
          <a:solidFill>
            <a:srgbClr val="1C4A6E"/>
          </a:solidFill>
          <a:ln/>
        </p:spPr>
      </p:sp>
      <p:sp>
        <p:nvSpPr>
          <p:cNvPr id="20" name="Text 18"/>
          <p:cNvSpPr/>
          <p:nvPr/>
        </p:nvSpPr>
        <p:spPr>
          <a:xfrm>
            <a:off x="6197620" y="2926080"/>
            <a:ext cx="1664208" cy="41148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25052" y="3310128"/>
            <a:ext cx="1609344" cy="45720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python3.12 ingest</a:t>
            </a:r>
            <a:endParaRPr lang="en-US" sz="1050" dirty="0"/>
          </a:p>
        </p:txBody>
      </p:sp>
      <p:sp>
        <p:nvSpPr>
          <p:cNvPr id="22" name="Shape 20"/>
          <p:cNvSpPr/>
          <p:nvPr/>
        </p:nvSpPr>
        <p:spPr>
          <a:xfrm>
            <a:off x="7834396" y="3154680"/>
            <a:ext cx="258409" cy="0"/>
          </a:xfrm>
          <a:prstGeom prst="line">
            <a:avLst/>
          </a:prstGeom>
          <a:noFill/>
          <a:ln w="25400">
            <a:solidFill>
              <a:srgbClr val="5A8FB0"/>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EEF4F8"/>
          </a:solidFill>
          <a:ln w="19050">
            <a:solidFill>
              <a:srgbClr val="1C4A6E"/>
            </a:solidFill>
            <a:prstDash val="solid"/>
          </a:ln>
        </p:spPr>
      </p:sp>
      <p:sp>
        <p:nvSpPr>
          <p:cNvPr id="24" name="Shape 22"/>
          <p:cNvSpPr/>
          <p:nvPr/>
        </p:nvSpPr>
        <p:spPr>
          <a:xfrm>
            <a:off x="8796894" y="2670048"/>
            <a:ext cx="201168" cy="201168"/>
          </a:xfrm>
          <a:prstGeom prst="ellipse">
            <a:avLst/>
          </a:prstGeom>
          <a:solidFill>
            <a:srgbClr val="1C4A6E"/>
          </a:solidFill>
          <a:ln/>
        </p:spPr>
      </p:sp>
      <p:sp>
        <p:nvSpPr>
          <p:cNvPr id="25" name="Text 23"/>
          <p:cNvSpPr/>
          <p:nvPr/>
        </p:nvSpPr>
        <p:spPr>
          <a:xfrm>
            <a:off x="8065374" y="2926080"/>
            <a:ext cx="1664208" cy="41148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092806" y="3310128"/>
            <a:ext cx="1609344" cy="45720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window archive</a:t>
            </a:r>
            <a:endParaRPr lang="en-US" sz="1050" dirty="0"/>
          </a:p>
        </p:txBody>
      </p:sp>
      <p:sp>
        <p:nvSpPr>
          <p:cNvPr id="27" name="Shape 25"/>
          <p:cNvSpPr/>
          <p:nvPr/>
        </p:nvSpPr>
        <p:spPr>
          <a:xfrm>
            <a:off x="9702150" y="3154680"/>
            <a:ext cx="258409" cy="0"/>
          </a:xfrm>
          <a:prstGeom prst="line">
            <a:avLst/>
          </a:prstGeom>
          <a:noFill/>
          <a:ln w="25400">
            <a:solidFill>
              <a:srgbClr val="5A8FB0"/>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EEF4F8"/>
          </a:solidFill>
          <a:ln w="19050">
            <a:solidFill>
              <a:srgbClr val="2E6C93"/>
            </a:solidFill>
            <a:prstDash val="solid"/>
          </a:ln>
        </p:spPr>
      </p:sp>
      <p:sp>
        <p:nvSpPr>
          <p:cNvPr id="29" name="Shape 27"/>
          <p:cNvSpPr/>
          <p:nvPr/>
        </p:nvSpPr>
        <p:spPr>
          <a:xfrm>
            <a:off x="10664647" y="2670048"/>
            <a:ext cx="201168" cy="201168"/>
          </a:xfrm>
          <a:prstGeom prst="ellipse">
            <a:avLst/>
          </a:prstGeom>
          <a:solidFill>
            <a:srgbClr val="2E6C93"/>
          </a:solidFill>
          <a:ln/>
        </p:spPr>
      </p:sp>
      <p:sp>
        <p:nvSpPr>
          <p:cNvPr id="30" name="Text 28"/>
          <p:cNvSpPr/>
          <p:nvPr/>
        </p:nvSpPr>
        <p:spPr>
          <a:xfrm>
            <a:off x="9933127" y="2926080"/>
            <a:ext cx="1664208" cy="41148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60559" y="3310128"/>
            <a:ext cx="1609344" cy="45720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live manifest</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5A8FB0"/>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1C4A6E"/>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12080"/>
            <a:ext cx="10972800" cy="640080"/>
          </a:xfrm>
          <a:prstGeom prst="rect">
            <a:avLst/>
          </a:prstGeom>
          <a:noFill/>
          <a:ln/>
        </p:spPr>
        <p:txBody>
          <a:bodyPr wrap="square" rtlCol="0" anchor="ctr"/>
          <a:lstStyle/>
          <a:p>
            <a:pPr algn="ctr" indent="0" marL="0">
              <a:buNone/>
            </a:pPr>
            <a:r>
              <a:rPr lang="en-US" sz="1500" i="1" dirty="0">
                <a:solidFill>
                  <a:srgbClr val="1C4A6E"/>
                </a:solidFill>
                <a:latin typeface="Calibri" pitchFamily="34" charset="0"/>
                <a:ea typeface="Calibri" pitchFamily="34" charset="-122"/>
                <a:cs typeface="Calibri" pitchFamily="34" charset="-120"/>
              </a:rPr>
              <a:t>Every container is re-scored every ten seconds at the depot relay; only compact window summaries cross into the cloud, raw readings stay at the edge.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4293A"/>
                </a:solidFill>
                <a:latin typeface="Cambria" pitchFamily="34" charset="0"/>
                <a:ea typeface="Cambria" pitchFamily="34" charset="-122"/>
                <a:cs typeface="Cambria"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2E6C93"/>
                </a:solidFill>
                <a:latin typeface="Consolas" pitchFamily="34" charset="0"/>
                <a:ea typeface="Consolas" pitchFamily="34" charset="-122"/>
                <a:cs typeface="Consolas" pitchFamily="34" charset="-120"/>
              </a:rPr>
              <a:t>fcl-frontend-911500555248.s3.us-east-1.amazonaws.com</a:t>
            </a:r>
            <a:endParaRPr lang="en-US" sz="1400" dirty="0"/>
          </a:p>
        </p:txBody>
      </p:sp>
      <p:sp>
        <p:nvSpPr>
          <p:cNvPr id="4" name="Shape 2"/>
          <p:cNvSpPr/>
          <p:nvPr/>
        </p:nvSpPr>
        <p:spPr>
          <a:xfrm>
            <a:off x="731520" y="1965960"/>
            <a:ext cx="685800" cy="685800"/>
          </a:xfrm>
          <a:prstGeom prst="ellipse">
            <a:avLst/>
          </a:prstGeom>
          <a:solidFill>
            <a:srgbClr val="1C4A6E"/>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14293A"/>
                </a:solidFill>
                <a:latin typeface="Calibri" pitchFamily="34" charset="0"/>
                <a:ea typeface="Calibri" pitchFamily="34" charset="-122"/>
                <a:cs typeface="Calibri" pitchFamily="34" charset="-120"/>
              </a:rPr>
              <a:t>Pipeline health, all green</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5A6E7C"/>
                </a:solidFill>
                <a:latin typeface="Calibri" pitchFamily="34" charset="0"/>
                <a:ea typeface="Calibri" pitchFamily="34" charset="-122"/>
                <a:cs typeface="Calibri" pitchFamily="34" charset="-120"/>
              </a:rPr>
              <a:t>Depot relay online, queue reachable, Lambda deployed and records archiving and climbing.</a:t>
            </a:r>
            <a:endParaRPr lang="en-US" sz="1350" dirty="0"/>
          </a:p>
        </p:txBody>
      </p:sp>
      <p:sp>
        <p:nvSpPr>
          <p:cNvPr id="8" name="Shape 6"/>
          <p:cNvSpPr/>
          <p:nvPr/>
        </p:nvSpPr>
        <p:spPr>
          <a:xfrm>
            <a:off x="731520" y="3383280"/>
            <a:ext cx="685800" cy="685800"/>
          </a:xfrm>
          <a:prstGeom prst="ellipse">
            <a:avLst/>
          </a:prstGeom>
          <a:solidFill>
            <a:srgbClr val="1C4A6E"/>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14293A"/>
                </a:solidFill>
                <a:latin typeface="Calibri" pitchFamily="34" charset="0"/>
                <a:ea typeface="Calibri" pitchFamily="34" charset="-122"/>
                <a:cs typeface="Calibri" pitchFamily="34" charset="-120"/>
              </a:rPr>
              <a:t>Live manifest, exceptions firing</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5A6E7C"/>
                </a:solidFill>
                <a:latin typeface="Calibri" pitchFamily="34" charset="0"/>
                <a:ea typeface="Calibri" pitchFamily="34" charset="-122"/>
                <a:cs typeface="Calibri" pitchFamily="34" charset="-120"/>
              </a:rPr>
              <a:t>Per-container manifest and storage-temperature trends, with any container above −15 °C flagged on the board within ten seconds.</a:t>
            </a:r>
            <a:endParaRPr lang="en-US" sz="1350" dirty="0"/>
          </a:p>
        </p:txBody>
      </p:sp>
      <p:sp>
        <p:nvSpPr>
          <p:cNvPr id="12" name="Shape 10"/>
          <p:cNvSpPr/>
          <p:nvPr/>
        </p:nvSpPr>
        <p:spPr>
          <a:xfrm>
            <a:off x="731520" y="4800600"/>
            <a:ext cx="685800" cy="685800"/>
          </a:xfrm>
          <a:prstGeom prst="ellipse">
            <a:avLst/>
          </a:prstGeom>
          <a:solidFill>
            <a:srgbClr val="1C4A6E"/>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14293A"/>
                </a:solidFill>
                <a:latin typeface="Calibri" pitchFamily="34" charset="0"/>
                <a:ea typeface="Calibri" pitchFamily="34" charset="-122"/>
                <a:cs typeface="Calibri" pitchFamily="34" charset="-120"/>
              </a:rPr>
              <a:t>Tested and scales</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5A6E7C"/>
                </a:solidFill>
                <a:latin typeface="Calibri" pitchFamily="34" charset="0"/>
                <a:ea typeface="Calibri" pitchFamily="34" charset="-122"/>
                <a:cs typeface="Calibri" pitchFamily="34" charset="-120"/>
              </a:rPr>
              <a:t>76 automated tests run with pytest across ten modules; a 2,000-message burst absorbed, batched ten per SQS call.</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5A8FB0"/>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536"/>
        </a:solidFill>
      </p:bgPr>
    </p:bg>
    <p:spTree>
      <p:nvGrpSpPr>
        <p:cNvPr id="1" name=""/>
        <p:cNvGrpSpPr/>
        <p:nvPr/>
      </p:nvGrpSpPr>
      <p:grpSpPr>
        <a:xfrm>
          <a:off x="0" y="0"/>
          <a:ext cx="0" cy="0"/>
          <a:chOff x="0" y="0"/>
          <a:chExt cx="0" cy="0"/>
        </a:xfrm>
      </p:grpSpPr>
      <p:sp>
        <p:nvSpPr>
          <p:cNvPr id="2" name="Text 0"/>
          <p:cNvSpPr/>
          <p:nvPr/>
        </p:nvSpPr>
        <p:spPr>
          <a:xfrm>
            <a:off x="640080" y="640080"/>
            <a:ext cx="10972800" cy="64008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Hardest Part — the runtime is not the laptop</a:t>
            </a:r>
            <a:endParaRPr lang="en-US" sz="3000" dirty="0"/>
          </a:p>
        </p:txBody>
      </p:sp>
      <p:sp>
        <p:nvSpPr>
          <p:cNvPr id="3" name="Shape 1"/>
          <p:cNvSpPr/>
          <p:nvPr/>
        </p:nvSpPr>
        <p:spPr>
          <a:xfrm>
            <a:off x="731520" y="1920240"/>
            <a:ext cx="10698480" cy="1965960"/>
          </a:xfrm>
          <a:prstGeom prst="roundRect">
            <a:avLst>
              <a:gd name="adj" fmla="val 4651"/>
            </a:avLst>
          </a:prstGeom>
          <a:solidFill>
            <a:srgbClr val="1B3A50"/>
          </a:solidFill>
          <a:ln w="15875">
            <a:solidFill>
              <a:srgbClr val="E1A93C"/>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E1A93C"/>
                </a:solidFill>
                <a:latin typeface="Cambria" pitchFamily="34" charset="0"/>
                <a:ea typeface="Cambria" pitchFamily="34" charset="-122"/>
                <a:cs typeface="Cambria"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CFE0EC"/>
                </a:solidFill>
                <a:latin typeface="Calibri" pitchFamily="34" charset="0"/>
                <a:ea typeface="Calibri" pitchFamily="34" charset="-122"/>
                <a:cs typeface="Calibri" pitchFamily="34" charset="-120"/>
              </a:rPr>
              <a:t>The FastAPI dashboard would not even start on Lambda, for two reasons at once: a dependency with a compiled native part had been packaged as the copy built on my Mac, which the Linux runtime cannot import; and a static-asset folder was mounted at import time even though that folder ships to S3, not into the function. Both are import-time failures that passed all 76 local tests.</a:t>
            </a:r>
            <a:endParaRPr lang="en-US" sz="1300" dirty="0"/>
          </a:p>
        </p:txBody>
      </p:sp>
      <p:sp>
        <p:nvSpPr>
          <p:cNvPr id="6" name="Shape 4"/>
          <p:cNvSpPr/>
          <p:nvPr/>
        </p:nvSpPr>
        <p:spPr>
          <a:xfrm>
            <a:off x="731520" y="4041648"/>
            <a:ext cx="10698480" cy="1965960"/>
          </a:xfrm>
          <a:prstGeom prst="roundRect">
            <a:avLst>
              <a:gd name="adj" fmla="val 4651"/>
            </a:avLst>
          </a:prstGeom>
          <a:solidFill>
            <a:srgbClr val="1B3A50"/>
          </a:solidFill>
          <a:ln w="15875">
            <a:solidFill>
              <a:srgbClr val="5A8FB0"/>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5A8FB0"/>
                </a:solidFill>
                <a:latin typeface="Cambria" pitchFamily="34" charset="0"/>
                <a:ea typeface="Cambria" pitchFamily="34" charset="-122"/>
                <a:cs typeface="Cambria"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CFE0EC"/>
                </a:solidFill>
                <a:latin typeface="Calibri" pitchFamily="34" charset="0"/>
                <a:ea typeface="Calibri" pitchFamily="34" charset="-122"/>
                <a:cs typeface="Calibri" pitchFamily="34" charset="-120"/>
              </a:rPr>
              <a:t>The deployment package is now built against the Linux runtime's own platform so the native dependency matches, and the static mount is made tolerant of an absent folder. The dashboard returned healthy on the very first live poll.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2026-07-24T06:34:25Z</dcterms:created>
  <dcterms:modified xsi:type="dcterms:W3CDTF">2026-07-24T06:34:25Z</dcterms:modified>
</cp:coreProperties>
</file>