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2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28255" y="0"/>
            <a:ext cx="4663440" cy="6858000"/>
          </a:xfrm>
          <a:prstGeom prst="rect">
            <a:avLst/>
          </a:prstGeom>
          <a:solidFill>
            <a:srgbClr val="33414F"/>
          </a:solidFill>
          <a:ln/>
        </p:spPr>
      </p:sp>
      <p:sp>
        <p:nvSpPr>
          <p:cNvPr id="3" name="Text 1"/>
          <p:cNvSpPr/>
          <p:nvPr/>
        </p:nvSpPr>
        <p:spPr>
          <a:xfrm>
            <a:off x="7939735" y="1280160"/>
            <a:ext cx="37490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Warehouse Robotics Fleet Monitoring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958023" y="5394960"/>
            <a:ext cx="3840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2D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Goutham Uppu   ·   X25167936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64922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000" dirty="0">
                <a:solidFill>
                  <a:srgbClr val="D2DB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robots ferry totes across two zones, and their condition changes faster than any inspection round — battery degradation shows in continuous telemetry long before outright failure.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548640" y="40233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262C34"/>
          </a:solidFill>
          <a:ln w="12700">
            <a:solidFill>
              <a:srgbClr val="EC7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40233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C7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live signals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47091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262C34"/>
          </a:solidFill>
          <a:ln w="12700">
            <a:solidFill>
              <a:srgbClr val="EC7A2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47091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C7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robots · 2 zones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48640" y="5394960"/>
            <a:ext cx="2926080" cy="566928"/>
          </a:xfrm>
          <a:prstGeom prst="roundRect">
            <a:avLst>
              <a:gd name="adj" fmla="val 50000"/>
            </a:avLst>
          </a:prstGeom>
          <a:solidFill>
            <a:srgbClr val="262C34"/>
          </a:solidFill>
          <a:ln w="12700">
            <a:solidFill>
              <a:srgbClr val="EC7A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8640" y="539496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C7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thresholds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48640" y="6172200"/>
            <a:ext cx="6217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62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 Built — Robot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992728" y="1234440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EF1F4"/>
          </a:solidFill>
          <a:ln w="17780">
            <a:solidFill>
              <a:srgbClr val="74889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193896" y="1481328"/>
            <a:ext cx="164592" cy="164592"/>
          </a:xfrm>
          <a:prstGeom prst="ellipse">
            <a:avLst/>
          </a:prstGeom>
          <a:solidFill>
            <a:srgbClr val="74889A"/>
          </a:solidFill>
          <a:ln/>
        </p:spPr>
      </p:sp>
      <p:sp>
        <p:nvSpPr>
          <p:cNvPr id="5" name="Text 3"/>
          <p:cNvSpPr/>
          <p:nvPr/>
        </p:nvSpPr>
        <p:spPr>
          <a:xfrm>
            <a:off x="4495648" y="123444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Robot sensors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644488" y="123444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on EC2 · 5 metrics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095848" y="1892808"/>
            <a:ext cx="0" cy="219456"/>
          </a:xfrm>
          <a:prstGeom prst="line">
            <a:avLst/>
          </a:prstGeom>
          <a:noFill/>
          <a:ln w="25400">
            <a:solidFill>
              <a:srgbClr val="74889A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992728" y="2112264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EF1F4"/>
          </a:solidFill>
          <a:ln w="17780">
            <a:solidFill>
              <a:srgbClr val="74889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93896" y="2359152"/>
            <a:ext cx="164592" cy="164592"/>
          </a:xfrm>
          <a:prstGeom prst="ellipse">
            <a:avLst/>
          </a:prstGeom>
          <a:solidFill>
            <a:srgbClr val="74889A"/>
          </a:solidFill>
          <a:ln/>
        </p:spPr>
      </p:sp>
      <p:sp>
        <p:nvSpPr>
          <p:cNvPr id="10" name="Text 8"/>
          <p:cNvSpPr/>
          <p:nvPr/>
        </p:nvSpPr>
        <p:spPr>
          <a:xfrm>
            <a:off x="4495648" y="2112264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gateway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644488" y="2112264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· thresholds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95848" y="2770632"/>
            <a:ext cx="0" cy="219456"/>
          </a:xfrm>
          <a:prstGeom prst="line">
            <a:avLst/>
          </a:prstGeom>
          <a:noFill/>
          <a:ln w="25400">
            <a:solidFill>
              <a:srgbClr val="74889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992728" y="2990088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EF1F4"/>
          </a:solidFill>
          <a:ln w="17780">
            <a:solidFill>
              <a:srgbClr val="33414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93896" y="3236976"/>
            <a:ext cx="164592" cy="164592"/>
          </a:xfrm>
          <a:prstGeom prst="ellipse">
            <a:avLst/>
          </a:prstGeom>
          <a:solidFill>
            <a:srgbClr val="33414F"/>
          </a:solidFill>
          <a:ln/>
        </p:spPr>
      </p:sp>
      <p:sp>
        <p:nvSpPr>
          <p:cNvPr id="15" name="Text 13"/>
          <p:cNvSpPr/>
          <p:nvPr/>
        </p:nvSpPr>
        <p:spPr>
          <a:xfrm>
            <a:off x="4495648" y="2990088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644488" y="2990088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batches ≤10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095848" y="3648456"/>
            <a:ext cx="0" cy="219456"/>
          </a:xfrm>
          <a:prstGeom prst="line">
            <a:avLst/>
          </a:prstGeom>
          <a:noFill/>
          <a:ln w="25400">
            <a:solidFill>
              <a:srgbClr val="74889A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992728" y="3867912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EF1F4"/>
          </a:solidFill>
          <a:ln w="17780">
            <a:solidFill>
              <a:srgbClr val="33414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93896" y="4114800"/>
            <a:ext cx="164592" cy="164592"/>
          </a:xfrm>
          <a:prstGeom prst="ellipse">
            <a:avLst/>
          </a:prstGeom>
          <a:solidFill>
            <a:srgbClr val="33414F"/>
          </a:solidFill>
          <a:ln/>
        </p:spPr>
      </p:sp>
      <p:sp>
        <p:nvSpPr>
          <p:cNvPr id="20" name="Text 18"/>
          <p:cNvSpPr/>
          <p:nvPr/>
        </p:nvSpPr>
        <p:spPr>
          <a:xfrm>
            <a:off x="4495648" y="386791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644488" y="3867912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ingest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095848" y="4526280"/>
            <a:ext cx="0" cy="219456"/>
          </a:xfrm>
          <a:prstGeom prst="line">
            <a:avLst/>
          </a:prstGeom>
          <a:noFill/>
          <a:ln w="25400">
            <a:solidFill>
              <a:srgbClr val="74889A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3992728" y="4745736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EF1F4"/>
          </a:solidFill>
          <a:ln w="17780">
            <a:solidFill>
              <a:srgbClr val="33414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193896" y="4992624"/>
            <a:ext cx="164592" cy="164592"/>
          </a:xfrm>
          <a:prstGeom prst="ellipse">
            <a:avLst/>
          </a:prstGeom>
          <a:solidFill>
            <a:srgbClr val="33414F"/>
          </a:solidFill>
          <a:ln/>
        </p:spPr>
      </p:sp>
      <p:sp>
        <p:nvSpPr>
          <p:cNvPr id="25" name="Text 23"/>
          <p:cNvSpPr/>
          <p:nvPr/>
        </p:nvSpPr>
        <p:spPr>
          <a:xfrm>
            <a:off x="4495648" y="4745736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6644488" y="4745736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aggregates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095848" y="5404104"/>
            <a:ext cx="0" cy="219456"/>
          </a:xfrm>
          <a:prstGeom prst="line">
            <a:avLst/>
          </a:prstGeom>
          <a:noFill/>
          <a:ln w="25400">
            <a:solidFill>
              <a:srgbClr val="74889A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992728" y="5623560"/>
            <a:ext cx="4206240" cy="658368"/>
          </a:xfrm>
          <a:prstGeom prst="roundRect">
            <a:avLst>
              <a:gd name="adj" fmla="val 11111"/>
            </a:avLst>
          </a:prstGeom>
          <a:solidFill>
            <a:srgbClr val="EEF1F4"/>
          </a:solidFill>
          <a:ln w="17780">
            <a:solidFill>
              <a:srgbClr val="4C657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193896" y="5870448"/>
            <a:ext cx="164592" cy="164592"/>
          </a:xfrm>
          <a:prstGeom prst="ellipse">
            <a:avLst/>
          </a:prstGeom>
          <a:solidFill>
            <a:srgbClr val="4C6579"/>
          </a:solidFill>
          <a:ln/>
        </p:spPr>
      </p:sp>
      <p:sp>
        <p:nvSpPr>
          <p:cNvPr id="30" name="Text 28"/>
          <p:cNvSpPr/>
          <p:nvPr/>
        </p:nvSpPr>
        <p:spPr>
          <a:xfrm>
            <a:off x="4495648" y="562356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6644488" y="562356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dashboard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438248" y="12344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748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2438248" y="2990088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spc="200" kern="0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656168" y="2743200"/>
            <a:ext cx="329184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341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compact window aggregates cross to the cloud; raw samples never leave the edge, and alerts fire beside the robots.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262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C657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wrf-frontend-789399341650.s3.us-east-1.amazonaws.com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EF1F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5400" dirty="0"/>
          </a:p>
        </p:txBody>
      </p:sp>
      <p:sp>
        <p:nvSpPr>
          <p:cNvPr id="5" name="Shape 3"/>
          <p:cNvSpPr/>
          <p:nvPr/>
        </p:nvSpPr>
        <p:spPr>
          <a:xfrm>
            <a:off x="1828800" y="1920240"/>
            <a:ext cx="0" cy="1051560"/>
          </a:xfrm>
          <a:prstGeom prst="line">
            <a:avLst/>
          </a:prstGeom>
          <a:noFill/>
          <a:ln w="25400">
            <a:solidFill>
              <a:srgbClr val="4C657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057400" y="187452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robots across two zones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2057400" y="2313432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Battery, position, task load, motor and temperature for every robot, fifty live signals updating on the fleet board.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32004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EF1F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5400" dirty="0"/>
          </a:p>
        </p:txBody>
      </p:sp>
      <p:sp>
        <p:nvSpPr>
          <p:cNvPr id="9" name="Shape 7"/>
          <p:cNvSpPr/>
          <p:nvPr/>
        </p:nvSpPr>
        <p:spPr>
          <a:xfrm>
            <a:off x="1828800" y="3383280"/>
            <a:ext cx="0" cy="1051560"/>
          </a:xfrm>
          <a:prstGeom prst="line">
            <a:avLst/>
          </a:prstGeom>
          <a:noFill/>
          <a:ln w="25400">
            <a:solidFill>
              <a:srgbClr val="4C657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057400" y="333756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degradation, visible early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057400" y="3776472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battery telemetry shows the slow decline a periodic check misses, and an alert raises when a robot crosses its threshold.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40080" y="466344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EEF1F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5400" dirty="0"/>
          </a:p>
        </p:txBody>
      </p:sp>
      <p:sp>
        <p:nvSpPr>
          <p:cNvPr id="13" name="Shape 11"/>
          <p:cNvSpPr/>
          <p:nvPr/>
        </p:nvSpPr>
        <p:spPr>
          <a:xfrm>
            <a:off x="1828800" y="4846320"/>
            <a:ext cx="0" cy="1051560"/>
          </a:xfrm>
          <a:prstGeom prst="line">
            <a:avLst/>
          </a:prstGeom>
          <a:noFill/>
          <a:ln w="25400">
            <a:solidFill>
              <a:srgbClr val="4C657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057400" y="4800600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Provisioned by one command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2057400" y="5239512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626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resource behind this board came from a single Terraform apply — twenty-four resources, nothing clicked by hand.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3093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748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0262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Hardest Part — the bug only real AWS could expose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EEF1F4"/>
          </a:solidFill>
          <a:ln w="19050">
            <a:solidFill>
              <a:srgbClr val="EC7A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C7A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960120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AWS-facing components always built static test credentials for the local emulator, and the fog publisher always applied its endpoint override — even on real AWS. Every one of the 116 tests passed and the full stack ran cleanly on the emulator, but on real AWS the Lambdas would override their execution-role credentials and be rejected, and the fog node would crash at startup on a missing endpoint.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611112" y="1874520"/>
            <a:ext cx="4937760" cy="4160520"/>
          </a:xfrm>
          <a:prstGeom prst="roundRect">
            <a:avLst>
              <a:gd name="adj" fmla="val 2198"/>
            </a:avLst>
          </a:prstGeom>
          <a:solidFill>
            <a:srgbClr val="EEF1F4"/>
          </a:solidFill>
          <a:ln w="19050">
            <a:solidFill>
              <a:srgbClr val="4C657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31152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4C65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6931152" y="2651760"/>
            <a:ext cx="4343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2026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on the endpoint setting itself: present means emulator credentials, absent means the real AWS role — exactly as one class already did correctly. Deployed with this fix, every health check came up green on the first attempt. One of four defects a pre-deployment audit caught, none visible to a green 116-test suite.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0" y="3703320"/>
            <a:ext cx="841248" cy="512064"/>
          </a:xfrm>
          <a:prstGeom prst="rightArrow">
            <a:avLst/>
          </a:prstGeom>
          <a:solidFill>
            <a:srgbClr val="33414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2026-07-24T07:12:01Z</dcterms:created>
  <dcterms:modified xsi:type="dcterms:W3CDTF">2026-07-24T07:12:01Z</dcterms:modified>
</cp:coreProperties>
</file>