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2012"/>
        </a:solidFill>
      </p:bgPr>
    </p:bg>
    <p:spTree>
      <p:nvGrpSpPr>
        <p:cNvPr id="1" name=""/>
        <p:cNvGrpSpPr/>
        <p:nvPr/>
      </p:nvGrpSpPr>
      <p:grpSpPr>
        <a:xfrm>
          <a:off x="0" y="0"/>
          <a:ext cx="0" cy="0"/>
          <a:chOff x="0" y="0"/>
          <a:chExt cx="0" cy="0"/>
        </a:xfrm>
      </p:grpSpPr>
      <p:sp>
        <p:nvSpPr>
          <p:cNvPr id="2" name="Text 0"/>
          <p:cNvSpPr/>
          <p:nvPr/>
        </p:nvSpPr>
        <p:spPr>
          <a:xfrm>
            <a:off x="640080" y="914400"/>
            <a:ext cx="10972800" cy="1280160"/>
          </a:xfrm>
          <a:prstGeom prst="rect">
            <a:avLst/>
          </a:prstGeom>
          <a:noFill/>
          <a:ln/>
        </p:spPr>
        <p:txBody>
          <a:bodyPr wrap="square" rtlCol="0" anchor="t"/>
          <a:lstStyle/>
          <a:p>
            <a:pPr algn="l" indent="0" marL="0">
              <a:buNone/>
            </a:pPr>
            <a:r>
              <a:rPr lang="en-US" sz="3800" b="1" dirty="0">
                <a:solidFill>
                  <a:srgbClr val="FFFFFF"/>
                </a:solidFill>
                <a:latin typeface="Bookman Old Style" pitchFamily="34" charset="0"/>
                <a:ea typeface="Bookman Old Style" pitchFamily="34" charset="-122"/>
                <a:cs typeface="Bookman Old Style" pitchFamily="34" charset="-120"/>
              </a:rPr>
              <a:t>Solar Farm Performance Monitoring</a:t>
            </a:r>
            <a:endParaRPr lang="en-US" sz="3800" dirty="0"/>
          </a:p>
        </p:txBody>
      </p:sp>
      <p:sp>
        <p:nvSpPr>
          <p:cNvPr id="3" name="Text 1"/>
          <p:cNvSpPr/>
          <p:nvPr/>
        </p:nvSpPr>
        <p:spPr>
          <a:xfrm>
            <a:off x="658368" y="2148840"/>
            <a:ext cx="10972800" cy="365760"/>
          </a:xfrm>
          <a:prstGeom prst="rect">
            <a:avLst/>
          </a:prstGeom>
          <a:noFill/>
          <a:ln/>
        </p:spPr>
        <p:txBody>
          <a:bodyPr wrap="square" rtlCol="0" anchor="ctr"/>
          <a:lstStyle/>
          <a:p>
            <a:pPr indent="0" marL="0">
              <a:buNone/>
            </a:pPr>
            <a:r>
              <a:rPr lang="en-US" sz="1600" dirty="0">
                <a:solidFill>
                  <a:srgbClr val="D8A94E"/>
                </a:solidFill>
                <a:latin typeface="Calibri" pitchFamily="34" charset="0"/>
                <a:ea typeface="Calibri" pitchFamily="34" charset="-122"/>
                <a:cs typeface="Calibri" pitchFamily="34" charset="-120"/>
              </a:rPr>
              <a:t>Mahek Naaz   ·   X24217808</a:t>
            </a:r>
            <a:endParaRPr lang="en-US" sz="1600" dirty="0"/>
          </a:p>
        </p:txBody>
      </p:sp>
      <p:sp>
        <p:nvSpPr>
          <p:cNvPr id="4" name="Text 2"/>
          <p:cNvSpPr/>
          <p:nvPr/>
        </p:nvSpPr>
        <p:spPr>
          <a:xfrm>
            <a:off x="658368" y="2697480"/>
            <a:ext cx="10424160" cy="1371600"/>
          </a:xfrm>
          <a:prstGeom prst="rect">
            <a:avLst/>
          </a:prstGeom>
          <a:noFill/>
          <a:ln/>
        </p:spPr>
        <p:txBody>
          <a:bodyPr wrap="square" rtlCol="0" anchor="ctr"/>
          <a:lstStyle/>
          <a:p>
            <a:pPr indent="0" marL="0">
              <a:lnSpc>
                <a:spcPct val="110000"/>
              </a:lnSpc>
              <a:buNone/>
            </a:pPr>
            <a:r>
              <a:rPr lang="en-US" sz="2000" dirty="0">
                <a:solidFill>
                  <a:srgbClr val="EAD9B8"/>
                </a:solidFill>
                <a:latin typeface="Calibri" pitchFamily="34" charset="0"/>
                <a:ea typeface="Calibri" pitchFamily="34" charset="-122"/>
                <a:cs typeface="Calibri" pitchFamily="34" charset="-120"/>
              </a:rPr>
              <a:t>Panels lose efficiency as they run hotter and dust builds up gradually — a fault that appears between manual inspections keeps costing energy, silently, until someone happens to look.</a:t>
            </a:r>
            <a:endParaRPr lang="en-US" sz="2000" dirty="0"/>
          </a:p>
        </p:txBody>
      </p:sp>
      <p:sp>
        <p:nvSpPr>
          <p:cNvPr id="5" name="Shape 3"/>
          <p:cNvSpPr/>
          <p:nvPr/>
        </p:nvSpPr>
        <p:spPr>
          <a:xfrm>
            <a:off x="658368" y="4206240"/>
            <a:ext cx="2651760" cy="566928"/>
          </a:xfrm>
          <a:prstGeom prst="roundRect">
            <a:avLst>
              <a:gd name="adj" fmla="val 50000"/>
            </a:avLst>
          </a:prstGeom>
          <a:solidFill>
            <a:srgbClr val="342815"/>
          </a:solidFill>
          <a:ln w="12700">
            <a:solidFill>
              <a:srgbClr val="E7C24A"/>
            </a:solidFill>
            <a:prstDash val="solid"/>
          </a:ln>
        </p:spPr>
      </p:sp>
      <p:sp>
        <p:nvSpPr>
          <p:cNvPr id="6" name="Text 4"/>
          <p:cNvSpPr/>
          <p:nvPr/>
        </p:nvSpPr>
        <p:spPr>
          <a:xfrm>
            <a:off x="658368" y="4206240"/>
            <a:ext cx="2651760" cy="566928"/>
          </a:xfrm>
          <a:prstGeom prst="rect">
            <a:avLst/>
          </a:prstGeom>
          <a:noFill/>
          <a:ln/>
        </p:spPr>
        <p:txBody>
          <a:bodyPr wrap="square" lIns="0" tIns="0" rIns="0" bIns="0" rtlCol="0" anchor="ctr"/>
          <a:lstStyle/>
          <a:p>
            <a:pPr algn="ctr" indent="0" marL="0">
              <a:buNone/>
            </a:pPr>
            <a:r>
              <a:rPr lang="en-US" sz="1400" b="1" dirty="0">
                <a:solidFill>
                  <a:srgbClr val="E7C24A"/>
                </a:solidFill>
                <a:latin typeface="Calibri" pitchFamily="34" charset="0"/>
                <a:ea typeface="Calibri" pitchFamily="34" charset="-122"/>
                <a:cs typeface="Calibri" pitchFamily="34" charset="-120"/>
              </a:rPr>
              <a:t>Health 100→0 · 45–72 °C</a:t>
            </a:r>
            <a:endParaRPr lang="en-US" sz="1400" dirty="0"/>
          </a:p>
        </p:txBody>
      </p:sp>
      <p:sp>
        <p:nvSpPr>
          <p:cNvPr id="7" name="Shape 5"/>
          <p:cNvSpPr/>
          <p:nvPr/>
        </p:nvSpPr>
        <p:spPr>
          <a:xfrm>
            <a:off x="3538728" y="4206240"/>
            <a:ext cx="2651760" cy="566928"/>
          </a:xfrm>
          <a:prstGeom prst="roundRect">
            <a:avLst>
              <a:gd name="adj" fmla="val 50000"/>
            </a:avLst>
          </a:prstGeom>
          <a:solidFill>
            <a:srgbClr val="342815"/>
          </a:solidFill>
          <a:ln w="12700">
            <a:solidFill>
              <a:srgbClr val="E7C24A"/>
            </a:solidFill>
            <a:prstDash val="solid"/>
          </a:ln>
        </p:spPr>
      </p:sp>
      <p:sp>
        <p:nvSpPr>
          <p:cNvPr id="8" name="Text 6"/>
          <p:cNvSpPr/>
          <p:nvPr/>
        </p:nvSpPr>
        <p:spPr>
          <a:xfrm>
            <a:off x="3538728" y="4206240"/>
            <a:ext cx="2651760" cy="566928"/>
          </a:xfrm>
          <a:prstGeom prst="rect">
            <a:avLst/>
          </a:prstGeom>
          <a:noFill/>
          <a:ln/>
        </p:spPr>
        <p:txBody>
          <a:bodyPr wrap="square" lIns="0" tIns="0" rIns="0" bIns="0" rtlCol="0" anchor="ctr"/>
          <a:lstStyle/>
          <a:p>
            <a:pPr algn="ctr" indent="0" marL="0">
              <a:buNone/>
            </a:pPr>
            <a:r>
              <a:rPr lang="en-US" sz="1400" b="1" dirty="0">
                <a:solidFill>
                  <a:srgbClr val="E7C24A"/>
                </a:solidFill>
                <a:latin typeface="Calibri" pitchFamily="34" charset="0"/>
                <a:ea typeface="Calibri" pitchFamily="34" charset="-122"/>
                <a:cs typeface="Calibri" pitchFamily="34" charset="-120"/>
              </a:rPr>
              <a:t>Cleaning &gt; 25% soiling</a:t>
            </a:r>
            <a:endParaRPr lang="en-US" sz="1400" dirty="0"/>
          </a:p>
        </p:txBody>
      </p:sp>
      <p:sp>
        <p:nvSpPr>
          <p:cNvPr id="9" name="Shape 7"/>
          <p:cNvSpPr/>
          <p:nvPr/>
        </p:nvSpPr>
        <p:spPr>
          <a:xfrm>
            <a:off x="6419088" y="4206240"/>
            <a:ext cx="2651760" cy="566928"/>
          </a:xfrm>
          <a:prstGeom prst="roundRect">
            <a:avLst>
              <a:gd name="adj" fmla="val 50000"/>
            </a:avLst>
          </a:prstGeom>
          <a:solidFill>
            <a:srgbClr val="342815"/>
          </a:solidFill>
          <a:ln w="12700">
            <a:solidFill>
              <a:srgbClr val="E7C24A"/>
            </a:solidFill>
            <a:prstDash val="solid"/>
          </a:ln>
        </p:spPr>
      </p:sp>
      <p:sp>
        <p:nvSpPr>
          <p:cNvPr id="10" name="Text 8"/>
          <p:cNvSpPr/>
          <p:nvPr/>
        </p:nvSpPr>
        <p:spPr>
          <a:xfrm>
            <a:off x="6419088" y="4206240"/>
            <a:ext cx="2651760" cy="566928"/>
          </a:xfrm>
          <a:prstGeom prst="rect">
            <a:avLst/>
          </a:prstGeom>
          <a:noFill/>
          <a:ln/>
        </p:spPr>
        <p:txBody>
          <a:bodyPr wrap="square" lIns="0" tIns="0" rIns="0" bIns="0" rtlCol="0" anchor="ctr"/>
          <a:lstStyle/>
          <a:p>
            <a:pPr algn="ctr" indent="0" marL="0">
              <a:buNone/>
            </a:pPr>
            <a:r>
              <a:rPr lang="en-US" sz="1400" b="1" dirty="0">
                <a:solidFill>
                  <a:srgbClr val="E7C24A"/>
                </a:solidFill>
                <a:latin typeface="Calibri" pitchFamily="34" charset="0"/>
                <a:ea typeface="Calibri" pitchFamily="34" charset="-122"/>
                <a:cs typeface="Calibri" pitchFamily="34" charset="-120"/>
              </a:rPr>
              <a:t>2–5 s sampling</a:t>
            </a:r>
            <a:endParaRPr lang="en-US" sz="1400" dirty="0"/>
          </a:p>
        </p:txBody>
      </p:sp>
      <p:sp>
        <p:nvSpPr>
          <p:cNvPr id="11" name="Text 9"/>
          <p:cNvSpPr/>
          <p:nvPr/>
        </p:nvSpPr>
        <p:spPr>
          <a:xfrm>
            <a:off x="658368" y="6126480"/>
            <a:ext cx="10972800" cy="365760"/>
          </a:xfrm>
          <a:prstGeom prst="rect">
            <a:avLst/>
          </a:prstGeom>
          <a:noFill/>
          <a:ln/>
        </p:spPr>
        <p:txBody>
          <a:bodyPr wrap="square" rtlCol="0" anchor="ctr"/>
          <a:lstStyle/>
          <a:p>
            <a:pPr indent="0" marL="0">
              <a:buNone/>
            </a:pPr>
            <a:r>
              <a:rPr lang="en-US" sz="1300" dirty="0">
                <a:solidFill>
                  <a:srgbClr val="6E6146"/>
                </a:solidFill>
                <a:latin typeface="Calibri" pitchFamily="34" charset="0"/>
                <a:ea typeface="Calibri" pitchFamily="34" charset="-122"/>
                <a:cs typeface="Calibri" pitchFamily="34" charset="-120"/>
              </a:rPr>
              <a:t>Fog &amp; Edge Computing (H9FECC)   ·   deployed live on AWS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000" b="1" dirty="0">
                <a:solidFill>
                  <a:srgbClr val="281F10"/>
                </a:solidFill>
                <a:latin typeface="Bookman Old Style" pitchFamily="34" charset="0"/>
                <a:ea typeface="Bookman Old Style" pitchFamily="34" charset="-122"/>
                <a:cs typeface="Bookman Old Style" pitchFamily="34" charset="-120"/>
              </a:rPr>
              <a:t>What I Built — Edge to Cloud</a:t>
            </a:r>
            <a:endParaRPr lang="en-US" sz="3000" dirty="0"/>
          </a:p>
        </p:txBody>
      </p:sp>
      <p:sp>
        <p:nvSpPr>
          <p:cNvPr id="3" name="Shape 1"/>
          <p:cNvSpPr/>
          <p:nvPr/>
        </p:nvSpPr>
        <p:spPr>
          <a:xfrm>
            <a:off x="640080" y="2468880"/>
            <a:ext cx="1572768" cy="1371600"/>
          </a:xfrm>
          <a:prstGeom prst="roundRect">
            <a:avLst>
              <a:gd name="adj" fmla="val 6667"/>
            </a:avLst>
          </a:prstGeom>
          <a:solidFill>
            <a:srgbClr val="F7F1E4"/>
          </a:solidFill>
          <a:ln w="19050">
            <a:solidFill>
              <a:srgbClr val="D8A94E"/>
            </a:solidFill>
            <a:prstDash val="solid"/>
          </a:ln>
        </p:spPr>
      </p:sp>
      <p:sp>
        <p:nvSpPr>
          <p:cNvPr id="4" name="Shape 2"/>
          <p:cNvSpPr/>
          <p:nvPr/>
        </p:nvSpPr>
        <p:spPr>
          <a:xfrm>
            <a:off x="1325880" y="2670048"/>
            <a:ext cx="201168" cy="201168"/>
          </a:xfrm>
          <a:prstGeom prst="ellipse">
            <a:avLst/>
          </a:prstGeom>
          <a:solidFill>
            <a:srgbClr val="D8A94E"/>
          </a:solidFill>
          <a:ln/>
        </p:spPr>
      </p:sp>
      <p:sp>
        <p:nvSpPr>
          <p:cNvPr id="5" name="Text 3"/>
          <p:cNvSpPr/>
          <p:nvPr/>
        </p:nvSpPr>
        <p:spPr>
          <a:xfrm>
            <a:off x="594360" y="2926080"/>
            <a:ext cx="1664208" cy="411480"/>
          </a:xfrm>
          <a:prstGeom prst="rect">
            <a:avLst/>
          </a:prstGeom>
          <a:noFill/>
          <a:ln/>
        </p:spPr>
        <p:txBody>
          <a:bodyPr wrap="square" lIns="0" tIns="0" rIns="0" bIns="0" rtlCol="0" anchor="ctr"/>
          <a:lstStyle/>
          <a:p>
            <a:pPr algn="ctr" indent="0" marL="0">
              <a:buNone/>
            </a:pPr>
            <a:r>
              <a:rPr lang="en-US" sz="1450" b="1" dirty="0">
                <a:solidFill>
                  <a:srgbClr val="281F10"/>
                </a:solidFill>
                <a:latin typeface="Calibri" pitchFamily="34" charset="0"/>
                <a:ea typeface="Calibri" pitchFamily="34" charset="-122"/>
                <a:cs typeface="Calibri" pitchFamily="34" charset="-120"/>
              </a:rPr>
              <a:t>Array sensors</a:t>
            </a:r>
            <a:endParaRPr lang="en-US" sz="1450" dirty="0"/>
          </a:p>
        </p:txBody>
      </p:sp>
      <p:sp>
        <p:nvSpPr>
          <p:cNvPr id="6" name="Text 4"/>
          <p:cNvSpPr/>
          <p:nvPr/>
        </p:nvSpPr>
        <p:spPr>
          <a:xfrm>
            <a:off x="621792" y="3310128"/>
            <a:ext cx="1609344" cy="457200"/>
          </a:xfrm>
          <a:prstGeom prst="rect">
            <a:avLst/>
          </a:prstGeom>
          <a:noFill/>
          <a:ln/>
        </p:spPr>
        <p:txBody>
          <a:bodyPr wrap="square" lIns="0" tIns="0" rIns="0" bIns="0" rtlCol="0" anchor="t"/>
          <a:lstStyle/>
          <a:p>
            <a:pPr algn="ctr" indent="0" marL="0">
              <a:buNone/>
            </a:pPr>
            <a:r>
              <a:rPr lang="en-US" sz="1050" dirty="0">
                <a:solidFill>
                  <a:srgbClr val="6E6146"/>
                </a:solidFill>
                <a:latin typeface="Calibri" pitchFamily="34" charset="0"/>
                <a:ea typeface="Calibri" pitchFamily="34" charset="-122"/>
                <a:cs typeface="Calibri" pitchFamily="34" charset="-120"/>
              </a:rPr>
              <a:t>10 · 2 arrays · 5 metrics</a:t>
            </a:r>
            <a:endParaRPr lang="en-US" sz="1050" dirty="0"/>
          </a:p>
        </p:txBody>
      </p:sp>
      <p:sp>
        <p:nvSpPr>
          <p:cNvPr id="7" name="Shape 5"/>
          <p:cNvSpPr/>
          <p:nvPr/>
        </p:nvSpPr>
        <p:spPr>
          <a:xfrm>
            <a:off x="2231136" y="3154680"/>
            <a:ext cx="258409" cy="0"/>
          </a:xfrm>
          <a:prstGeom prst="line">
            <a:avLst/>
          </a:prstGeom>
          <a:noFill/>
          <a:ln w="25400">
            <a:solidFill>
              <a:srgbClr val="D8A94E"/>
            </a:solidFill>
            <a:prstDash val="solid"/>
            <a:tailEnd type="triangle"/>
          </a:ln>
        </p:spPr>
      </p:sp>
      <p:sp>
        <p:nvSpPr>
          <p:cNvPr id="8" name="Shape 6"/>
          <p:cNvSpPr/>
          <p:nvPr/>
        </p:nvSpPr>
        <p:spPr>
          <a:xfrm>
            <a:off x="2507833" y="2468880"/>
            <a:ext cx="1572768" cy="1371600"/>
          </a:xfrm>
          <a:prstGeom prst="roundRect">
            <a:avLst>
              <a:gd name="adj" fmla="val 6667"/>
            </a:avLst>
          </a:prstGeom>
          <a:solidFill>
            <a:srgbClr val="F7F1E4"/>
          </a:solidFill>
          <a:ln w="19050">
            <a:solidFill>
              <a:srgbClr val="D8A94E"/>
            </a:solidFill>
            <a:prstDash val="solid"/>
          </a:ln>
        </p:spPr>
      </p:sp>
      <p:sp>
        <p:nvSpPr>
          <p:cNvPr id="9" name="Shape 7"/>
          <p:cNvSpPr/>
          <p:nvPr/>
        </p:nvSpPr>
        <p:spPr>
          <a:xfrm>
            <a:off x="3193633" y="2670048"/>
            <a:ext cx="201168" cy="201168"/>
          </a:xfrm>
          <a:prstGeom prst="ellipse">
            <a:avLst/>
          </a:prstGeom>
          <a:solidFill>
            <a:srgbClr val="D8A94E"/>
          </a:solidFill>
          <a:ln/>
        </p:spPr>
      </p:sp>
      <p:sp>
        <p:nvSpPr>
          <p:cNvPr id="10" name="Text 8"/>
          <p:cNvSpPr/>
          <p:nvPr/>
        </p:nvSpPr>
        <p:spPr>
          <a:xfrm>
            <a:off x="2462113" y="2926080"/>
            <a:ext cx="1664208" cy="411480"/>
          </a:xfrm>
          <a:prstGeom prst="rect">
            <a:avLst/>
          </a:prstGeom>
          <a:noFill/>
          <a:ln/>
        </p:spPr>
        <p:txBody>
          <a:bodyPr wrap="square" lIns="0" tIns="0" rIns="0" bIns="0" rtlCol="0" anchor="ctr"/>
          <a:lstStyle/>
          <a:p>
            <a:pPr algn="ctr" indent="0" marL="0">
              <a:buNone/>
            </a:pPr>
            <a:r>
              <a:rPr lang="en-US" sz="1450" b="1" dirty="0">
                <a:solidFill>
                  <a:srgbClr val="281F10"/>
                </a:solidFill>
                <a:latin typeface="Calibri" pitchFamily="34" charset="0"/>
                <a:ea typeface="Calibri" pitchFamily="34" charset="-122"/>
                <a:cs typeface="Calibri" pitchFamily="34" charset="-120"/>
              </a:rPr>
              <a:t>Fog node</a:t>
            </a:r>
            <a:endParaRPr lang="en-US" sz="1450" dirty="0"/>
          </a:p>
        </p:txBody>
      </p:sp>
      <p:sp>
        <p:nvSpPr>
          <p:cNvPr id="11" name="Text 9"/>
          <p:cNvSpPr/>
          <p:nvPr/>
        </p:nvSpPr>
        <p:spPr>
          <a:xfrm>
            <a:off x="2489545" y="3310128"/>
            <a:ext cx="1609344" cy="457200"/>
          </a:xfrm>
          <a:prstGeom prst="rect">
            <a:avLst/>
          </a:prstGeom>
          <a:noFill/>
          <a:ln/>
        </p:spPr>
        <p:txBody>
          <a:bodyPr wrap="square" lIns="0" tIns="0" rIns="0" bIns="0" rtlCol="0" anchor="t"/>
          <a:lstStyle/>
          <a:p>
            <a:pPr algn="ctr" indent="0" marL="0">
              <a:buNone/>
            </a:pPr>
            <a:r>
              <a:rPr lang="en-US" sz="1050" dirty="0">
                <a:solidFill>
                  <a:srgbClr val="6E6146"/>
                </a:solidFill>
                <a:latin typeface="Calibri" pitchFamily="34" charset="0"/>
                <a:ea typeface="Calibri" pitchFamily="34" charset="-122"/>
                <a:cs typeface="Calibri" pitchFamily="34" charset="-120"/>
              </a:rPr>
              <a:t>windows · alerts</a:t>
            </a:r>
            <a:endParaRPr lang="en-US" sz="1050" dirty="0"/>
          </a:p>
        </p:txBody>
      </p:sp>
      <p:sp>
        <p:nvSpPr>
          <p:cNvPr id="12" name="Shape 10"/>
          <p:cNvSpPr/>
          <p:nvPr/>
        </p:nvSpPr>
        <p:spPr>
          <a:xfrm>
            <a:off x="4098889" y="3154680"/>
            <a:ext cx="258409" cy="0"/>
          </a:xfrm>
          <a:prstGeom prst="line">
            <a:avLst/>
          </a:prstGeom>
          <a:noFill/>
          <a:ln w="25400">
            <a:solidFill>
              <a:srgbClr val="D8A94E"/>
            </a:solidFill>
            <a:prstDash val="solid"/>
            <a:tailEnd type="triangle"/>
          </a:ln>
        </p:spPr>
      </p:sp>
      <p:sp>
        <p:nvSpPr>
          <p:cNvPr id="13" name="Shape 11"/>
          <p:cNvSpPr/>
          <p:nvPr/>
        </p:nvSpPr>
        <p:spPr>
          <a:xfrm>
            <a:off x="4375587" y="2468880"/>
            <a:ext cx="1572768" cy="1371600"/>
          </a:xfrm>
          <a:prstGeom prst="roundRect">
            <a:avLst>
              <a:gd name="adj" fmla="val 6667"/>
            </a:avLst>
          </a:prstGeom>
          <a:solidFill>
            <a:srgbClr val="F7F1E4"/>
          </a:solidFill>
          <a:ln w="19050">
            <a:solidFill>
              <a:srgbClr val="8A5A16"/>
            </a:solidFill>
            <a:prstDash val="solid"/>
          </a:ln>
        </p:spPr>
      </p:sp>
      <p:sp>
        <p:nvSpPr>
          <p:cNvPr id="14" name="Shape 12"/>
          <p:cNvSpPr/>
          <p:nvPr/>
        </p:nvSpPr>
        <p:spPr>
          <a:xfrm>
            <a:off x="5061387" y="2670048"/>
            <a:ext cx="201168" cy="201168"/>
          </a:xfrm>
          <a:prstGeom prst="ellipse">
            <a:avLst/>
          </a:prstGeom>
          <a:solidFill>
            <a:srgbClr val="8A5A16"/>
          </a:solidFill>
          <a:ln/>
        </p:spPr>
      </p:sp>
      <p:sp>
        <p:nvSpPr>
          <p:cNvPr id="15" name="Text 13"/>
          <p:cNvSpPr/>
          <p:nvPr/>
        </p:nvSpPr>
        <p:spPr>
          <a:xfrm>
            <a:off x="4329867" y="2926080"/>
            <a:ext cx="1664208" cy="411480"/>
          </a:xfrm>
          <a:prstGeom prst="rect">
            <a:avLst/>
          </a:prstGeom>
          <a:noFill/>
          <a:ln/>
        </p:spPr>
        <p:txBody>
          <a:bodyPr wrap="square" lIns="0" tIns="0" rIns="0" bIns="0" rtlCol="0" anchor="ctr"/>
          <a:lstStyle/>
          <a:p>
            <a:pPr algn="ctr" indent="0" marL="0">
              <a:buNone/>
            </a:pPr>
            <a:r>
              <a:rPr lang="en-US" sz="1450" b="1" dirty="0">
                <a:solidFill>
                  <a:srgbClr val="281F10"/>
                </a:solidFill>
                <a:latin typeface="Calibri" pitchFamily="34" charset="0"/>
                <a:ea typeface="Calibri" pitchFamily="34" charset="-122"/>
                <a:cs typeface="Calibri" pitchFamily="34" charset="-120"/>
              </a:rPr>
              <a:t>Amazon SQS</a:t>
            </a:r>
            <a:endParaRPr lang="en-US" sz="1450" dirty="0"/>
          </a:p>
        </p:txBody>
      </p:sp>
      <p:sp>
        <p:nvSpPr>
          <p:cNvPr id="16" name="Text 14"/>
          <p:cNvSpPr/>
          <p:nvPr/>
        </p:nvSpPr>
        <p:spPr>
          <a:xfrm>
            <a:off x="4357299" y="3310128"/>
            <a:ext cx="1609344" cy="457200"/>
          </a:xfrm>
          <a:prstGeom prst="rect">
            <a:avLst/>
          </a:prstGeom>
          <a:noFill/>
          <a:ln/>
        </p:spPr>
        <p:txBody>
          <a:bodyPr wrap="square" lIns="0" tIns="0" rIns="0" bIns="0" rtlCol="0" anchor="t"/>
          <a:lstStyle/>
          <a:p>
            <a:pPr algn="ctr" indent="0" marL="0">
              <a:buNone/>
            </a:pPr>
            <a:r>
              <a:rPr lang="en-US" sz="1050" dirty="0">
                <a:solidFill>
                  <a:srgbClr val="6E6146"/>
                </a:solidFill>
                <a:latin typeface="Calibri" pitchFamily="34" charset="0"/>
                <a:ea typeface="Calibri" pitchFamily="34" charset="-122"/>
                <a:cs typeface="Calibri" pitchFamily="34" charset="-120"/>
              </a:rPr>
              <a:t>window summaries</a:t>
            </a:r>
            <a:endParaRPr lang="en-US" sz="1050" dirty="0"/>
          </a:p>
        </p:txBody>
      </p:sp>
      <p:sp>
        <p:nvSpPr>
          <p:cNvPr id="17" name="Shape 15"/>
          <p:cNvSpPr/>
          <p:nvPr/>
        </p:nvSpPr>
        <p:spPr>
          <a:xfrm>
            <a:off x="5966643" y="3154680"/>
            <a:ext cx="258409" cy="0"/>
          </a:xfrm>
          <a:prstGeom prst="line">
            <a:avLst/>
          </a:prstGeom>
          <a:noFill/>
          <a:ln w="25400">
            <a:solidFill>
              <a:srgbClr val="D8A94E"/>
            </a:solidFill>
            <a:prstDash val="solid"/>
            <a:tailEnd type="triangle"/>
          </a:ln>
        </p:spPr>
      </p:sp>
      <p:sp>
        <p:nvSpPr>
          <p:cNvPr id="18" name="Shape 16"/>
          <p:cNvSpPr/>
          <p:nvPr/>
        </p:nvSpPr>
        <p:spPr>
          <a:xfrm>
            <a:off x="6243340" y="2468880"/>
            <a:ext cx="1572768" cy="1371600"/>
          </a:xfrm>
          <a:prstGeom prst="roundRect">
            <a:avLst>
              <a:gd name="adj" fmla="val 6667"/>
            </a:avLst>
          </a:prstGeom>
          <a:solidFill>
            <a:srgbClr val="F7F1E4"/>
          </a:solidFill>
          <a:ln w="19050">
            <a:solidFill>
              <a:srgbClr val="8A5A16"/>
            </a:solidFill>
            <a:prstDash val="solid"/>
          </a:ln>
        </p:spPr>
      </p:sp>
      <p:sp>
        <p:nvSpPr>
          <p:cNvPr id="19" name="Shape 17"/>
          <p:cNvSpPr/>
          <p:nvPr/>
        </p:nvSpPr>
        <p:spPr>
          <a:xfrm>
            <a:off x="6929140" y="2670048"/>
            <a:ext cx="201168" cy="201168"/>
          </a:xfrm>
          <a:prstGeom prst="ellipse">
            <a:avLst/>
          </a:prstGeom>
          <a:solidFill>
            <a:srgbClr val="8A5A16"/>
          </a:solidFill>
          <a:ln/>
        </p:spPr>
      </p:sp>
      <p:sp>
        <p:nvSpPr>
          <p:cNvPr id="20" name="Text 18"/>
          <p:cNvSpPr/>
          <p:nvPr/>
        </p:nvSpPr>
        <p:spPr>
          <a:xfrm>
            <a:off x="6197620" y="2926080"/>
            <a:ext cx="1664208" cy="411480"/>
          </a:xfrm>
          <a:prstGeom prst="rect">
            <a:avLst/>
          </a:prstGeom>
          <a:noFill/>
          <a:ln/>
        </p:spPr>
        <p:txBody>
          <a:bodyPr wrap="square" lIns="0" tIns="0" rIns="0" bIns="0" rtlCol="0" anchor="ctr"/>
          <a:lstStyle/>
          <a:p>
            <a:pPr algn="ctr" indent="0" marL="0">
              <a:buNone/>
            </a:pPr>
            <a:r>
              <a:rPr lang="en-US" sz="1450" b="1" dirty="0">
                <a:solidFill>
                  <a:srgbClr val="281F10"/>
                </a:solidFill>
                <a:latin typeface="Calibri" pitchFamily="34" charset="0"/>
                <a:ea typeface="Calibri" pitchFamily="34" charset="-122"/>
                <a:cs typeface="Calibri" pitchFamily="34" charset="-120"/>
              </a:rPr>
              <a:t>AWS Lambda</a:t>
            </a:r>
            <a:endParaRPr lang="en-US" sz="1450" dirty="0"/>
          </a:p>
        </p:txBody>
      </p:sp>
      <p:sp>
        <p:nvSpPr>
          <p:cNvPr id="21" name="Text 19"/>
          <p:cNvSpPr/>
          <p:nvPr/>
        </p:nvSpPr>
        <p:spPr>
          <a:xfrm>
            <a:off x="6225052" y="3310128"/>
            <a:ext cx="1609344" cy="457200"/>
          </a:xfrm>
          <a:prstGeom prst="rect">
            <a:avLst/>
          </a:prstGeom>
          <a:noFill/>
          <a:ln/>
        </p:spPr>
        <p:txBody>
          <a:bodyPr wrap="square" lIns="0" tIns="0" rIns="0" bIns="0" rtlCol="0" anchor="t"/>
          <a:lstStyle/>
          <a:p>
            <a:pPr algn="ctr" indent="0" marL="0">
              <a:buNone/>
            </a:pPr>
            <a:r>
              <a:rPr lang="en-US" sz="1050" dirty="0">
                <a:solidFill>
                  <a:srgbClr val="6E6146"/>
                </a:solidFill>
                <a:latin typeface="Calibri" pitchFamily="34" charset="0"/>
                <a:ea typeface="Calibri" pitchFamily="34" charset="-122"/>
                <a:cs typeface="Calibri" pitchFamily="34" charset="-120"/>
              </a:rPr>
              <a:t>python3.12 ingest</a:t>
            </a:r>
            <a:endParaRPr lang="en-US" sz="1050" dirty="0"/>
          </a:p>
        </p:txBody>
      </p:sp>
      <p:sp>
        <p:nvSpPr>
          <p:cNvPr id="22" name="Shape 20"/>
          <p:cNvSpPr/>
          <p:nvPr/>
        </p:nvSpPr>
        <p:spPr>
          <a:xfrm>
            <a:off x="7834396" y="3154680"/>
            <a:ext cx="258409" cy="0"/>
          </a:xfrm>
          <a:prstGeom prst="line">
            <a:avLst/>
          </a:prstGeom>
          <a:noFill/>
          <a:ln w="25400">
            <a:solidFill>
              <a:srgbClr val="D8A94E"/>
            </a:solidFill>
            <a:prstDash val="solid"/>
            <a:tailEnd type="triangle"/>
          </a:ln>
        </p:spPr>
      </p:sp>
      <p:sp>
        <p:nvSpPr>
          <p:cNvPr id="23" name="Shape 21"/>
          <p:cNvSpPr/>
          <p:nvPr/>
        </p:nvSpPr>
        <p:spPr>
          <a:xfrm>
            <a:off x="8111094" y="2468880"/>
            <a:ext cx="1572768" cy="1371600"/>
          </a:xfrm>
          <a:prstGeom prst="roundRect">
            <a:avLst>
              <a:gd name="adj" fmla="val 6667"/>
            </a:avLst>
          </a:prstGeom>
          <a:solidFill>
            <a:srgbClr val="F7F1E4"/>
          </a:solidFill>
          <a:ln w="19050">
            <a:solidFill>
              <a:srgbClr val="8A5A16"/>
            </a:solidFill>
            <a:prstDash val="solid"/>
          </a:ln>
        </p:spPr>
      </p:sp>
      <p:sp>
        <p:nvSpPr>
          <p:cNvPr id="24" name="Shape 22"/>
          <p:cNvSpPr/>
          <p:nvPr/>
        </p:nvSpPr>
        <p:spPr>
          <a:xfrm>
            <a:off x="8796894" y="2670048"/>
            <a:ext cx="201168" cy="201168"/>
          </a:xfrm>
          <a:prstGeom prst="ellipse">
            <a:avLst/>
          </a:prstGeom>
          <a:solidFill>
            <a:srgbClr val="8A5A16"/>
          </a:solidFill>
          <a:ln/>
        </p:spPr>
      </p:sp>
      <p:sp>
        <p:nvSpPr>
          <p:cNvPr id="25" name="Text 23"/>
          <p:cNvSpPr/>
          <p:nvPr/>
        </p:nvSpPr>
        <p:spPr>
          <a:xfrm>
            <a:off x="8065374" y="2926080"/>
            <a:ext cx="1664208" cy="411480"/>
          </a:xfrm>
          <a:prstGeom prst="rect">
            <a:avLst/>
          </a:prstGeom>
          <a:noFill/>
          <a:ln/>
        </p:spPr>
        <p:txBody>
          <a:bodyPr wrap="square" lIns="0" tIns="0" rIns="0" bIns="0" rtlCol="0" anchor="ctr"/>
          <a:lstStyle/>
          <a:p>
            <a:pPr algn="ctr" indent="0" marL="0">
              <a:buNone/>
            </a:pPr>
            <a:r>
              <a:rPr lang="en-US" sz="1450" b="1" dirty="0">
                <a:solidFill>
                  <a:srgbClr val="281F10"/>
                </a:solidFill>
                <a:latin typeface="Calibri" pitchFamily="34" charset="0"/>
                <a:ea typeface="Calibri" pitchFamily="34" charset="-122"/>
                <a:cs typeface="Calibri" pitchFamily="34" charset="-120"/>
              </a:rPr>
              <a:t>DynamoDB</a:t>
            </a:r>
            <a:endParaRPr lang="en-US" sz="1450" dirty="0"/>
          </a:p>
        </p:txBody>
      </p:sp>
      <p:sp>
        <p:nvSpPr>
          <p:cNvPr id="26" name="Text 24"/>
          <p:cNvSpPr/>
          <p:nvPr/>
        </p:nvSpPr>
        <p:spPr>
          <a:xfrm>
            <a:off x="8092806" y="3310128"/>
            <a:ext cx="1609344" cy="457200"/>
          </a:xfrm>
          <a:prstGeom prst="rect">
            <a:avLst/>
          </a:prstGeom>
          <a:noFill/>
          <a:ln/>
        </p:spPr>
        <p:txBody>
          <a:bodyPr wrap="square" lIns="0" tIns="0" rIns="0" bIns="0" rtlCol="0" anchor="t"/>
          <a:lstStyle/>
          <a:p>
            <a:pPr algn="ctr" indent="0" marL="0">
              <a:buNone/>
            </a:pPr>
            <a:r>
              <a:rPr lang="en-US" sz="1050" dirty="0">
                <a:solidFill>
                  <a:srgbClr val="6E6146"/>
                </a:solidFill>
                <a:latin typeface="Calibri" pitchFamily="34" charset="0"/>
                <a:ea typeface="Calibri" pitchFamily="34" charset="-122"/>
                <a:cs typeface="Calibri" pitchFamily="34" charset="-120"/>
              </a:rPr>
              <a:t>by array · sensor</a:t>
            </a:r>
            <a:endParaRPr lang="en-US" sz="1050" dirty="0"/>
          </a:p>
        </p:txBody>
      </p:sp>
      <p:sp>
        <p:nvSpPr>
          <p:cNvPr id="27" name="Shape 25"/>
          <p:cNvSpPr/>
          <p:nvPr/>
        </p:nvSpPr>
        <p:spPr>
          <a:xfrm>
            <a:off x="9702150" y="3154680"/>
            <a:ext cx="258409" cy="0"/>
          </a:xfrm>
          <a:prstGeom prst="line">
            <a:avLst/>
          </a:prstGeom>
          <a:noFill/>
          <a:ln w="25400">
            <a:solidFill>
              <a:srgbClr val="D8A94E"/>
            </a:solidFill>
            <a:prstDash val="solid"/>
            <a:tailEnd type="triangle"/>
          </a:ln>
        </p:spPr>
      </p:sp>
      <p:sp>
        <p:nvSpPr>
          <p:cNvPr id="28" name="Shape 26"/>
          <p:cNvSpPr/>
          <p:nvPr/>
        </p:nvSpPr>
        <p:spPr>
          <a:xfrm>
            <a:off x="9978847" y="2468880"/>
            <a:ext cx="1572768" cy="1371600"/>
          </a:xfrm>
          <a:prstGeom prst="roundRect">
            <a:avLst>
              <a:gd name="adj" fmla="val 6667"/>
            </a:avLst>
          </a:prstGeom>
          <a:solidFill>
            <a:srgbClr val="F7F1E4"/>
          </a:solidFill>
          <a:ln w="19050">
            <a:solidFill>
              <a:srgbClr val="B9822A"/>
            </a:solidFill>
            <a:prstDash val="solid"/>
          </a:ln>
        </p:spPr>
      </p:sp>
      <p:sp>
        <p:nvSpPr>
          <p:cNvPr id="29" name="Shape 27"/>
          <p:cNvSpPr/>
          <p:nvPr/>
        </p:nvSpPr>
        <p:spPr>
          <a:xfrm>
            <a:off x="10664647" y="2670048"/>
            <a:ext cx="201168" cy="201168"/>
          </a:xfrm>
          <a:prstGeom prst="ellipse">
            <a:avLst/>
          </a:prstGeom>
          <a:solidFill>
            <a:srgbClr val="B9822A"/>
          </a:solidFill>
          <a:ln/>
        </p:spPr>
      </p:sp>
      <p:sp>
        <p:nvSpPr>
          <p:cNvPr id="30" name="Text 28"/>
          <p:cNvSpPr/>
          <p:nvPr/>
        </p:nvSpPr>
        <p:spPr>
          <a:xfrm>
            <a:off x="9933127" y="2926080"/>
            <a:ext cx="1664208" cy="411480"/>
          </a:xfrm>
          <a:prstGeom prst="rect">
            <a:avLst/>
          </a:prstGeom>
          <a:noFill/>
          <a:ln/>
        </p:spPr>
        <p:txBody>
          <a:bodyPr wrap="square" lIns="0" tIns="0" rIns="0" bIns="0" rtlCol="0" anchor="ctr"/>
          <a:lstStyle/>
          <a:p>
            <a:pPr algn="ctr" indent="0" marL="0">
              <a:buNone/>
            </a:pPr>
            <a:r>
              <a:rPr lang="en-US" sz="1450" b="1" dirty="0">
                <a:solidFill>
                  <a:srgbClr val="281F10"/>
                </a:solidFill>
                <a:latin typeface="Calibri" pitchFamily="34" charset="0"/>
                <a:ea typeface="Calibri" pitchFamily="34" charset="-122"/>
                <a:cs typeface="Calibri" pitchFamily="34" charset="-120"/>
              </a:rPr>
              <a:t>API GW + S3</a:t>
            </a:r>
            <a:endParaRPr lang="en-US" sz="1450" dirty="0"/>
          </a:p>
        </p:txBody>
      </p:sp>
      <p:sp>
        <p:nvSpPr>
          <p:cNvPr id="31" name="Text 29"/>
          <p:cNvSpPr/>
          <p:nvPr/>
        </p:nvSpPr>
        <p:spPr>
          <a:xfrm>
            <a:off x="9960559" y="3310128"/>
            <a:ext cx="1609344" cy="457200"/>
          </a:xfrm>
          <a:prstGeom prst="rect">
            <a:avLst/>
          </a:prstGeom>
          <a:noFill/>
          <a:ln/>
        </p:spPr>
        <p:txBody>
          <a:bodyPr wrap="square" lIns="0" tIns="0" rIns="0" bIns="0" rtlCol="0" anchor="t"/>
          <a:lstStyle/>
          <a:p>
            <a:pPr algn="ctr" indent="0" marL="0">
              <a:buNone/>
            </a:pPr>
            <a:r>
              <a:rPr lang="en-US" sz="1050" dirty="0">
                <a:solidFill>
                  <a:srgbClr val="6E6146"/>
                </a:solidFill>
                <a:latin typeface="Calibri" pitchFamily="34" charset="0"/>
                <a:ea typeface="Calibri" pitchFamily="34" charset="-122"/>
                <a:cs typeface="Calibri" pitchFamily="34" charset="-120"/>
              </a:rPr>
              <a:t>efficiency heatmap</a:t>
            </a:r>
            <a:endParaRPr lang="en-US" sz="1050" dirty="0"/>
          </a:p>
        </p:txBody>
      </p:sp>
      <p:sp>
        <p:nvSpPr>
          <p:cNvPr id="32" name="Text 30"/>
          <p:cNvSpPr/>
          <p:nvPr/>
        </p:nvSpPr>
        <p:spPr>
          <a:xfrm>
            <a:off x="640080" y="3977640"/>
            <a:ext cx="3440521" cy="274320"/>
          </a:xfrm>
          <a:prstGeom prst="rect">
            <a:avLst/>
          </a:prstGeom>
          <a:noFill/>
          <a:ln/>
        </p:spPr>
        <p:txBody>
          <a:bodyPr wrap="square" rtlCol="0" anchor="ctr"/>
          <a:lstStyle/>
          <a:p>
            <a:pPr algn="ctr" indent="0" marL="0">
              <a:buNone/>
            </a:pPr>
            <a:r>
              <a:rPr lang="en-US" sz="1100" b="1" spc="200" kern="0" dirty="0">
                <a:solidFill>
                  <a:srgbClr val="D8A94E"/>
                </a:solidFill>
                <a:latin typeface="Calibri" pitchFamily="34" charset="0"/>
                <a:ea typeface="Calibri" pitchFamily="34" charset="-122"/>
                <a:cs typeface="Calibri" pitchFamily="34" charset="-120"/>
              </a:rPr>
              <a:t>EDGE</a:t>
            </a:r>
            <a:endParaRPr lang="en-US" sz="1100" dirty="0"/>
          </a:p>
        </p:txBody>
      </p:sp>
      <p:sp>
        <p:nvSpPr>
          <p:cNvPr id="33" name="Text 31"/>
          <p:cNvSpPr/>
          <p:nvPr/>
        </p:nvSpPr>
        <p:spPr>
          <a:xfrm>
            <a:off x="4375587" y="3977640"/>
            <a:ext cx="7176028" cy="274320"/>
          </a:xfrm>
          <a:prstGeom prst="rect">
            <a:avLst/>
          </a:prstGeom>
          <a:noFill/>
          <a:ln/>
        </p:spPr>
        <p:txBody>
          <a:bodyPr wrap="square" rtlCol="0" anchor="ctr"/>
          <a:lstStyle/>
          <a:p>
            <a:pPr algn="ctr" indent="0" marL="0">
              <a:buNone/>
            </a:pPr>
            <a:r>
              <a:rPr lang="en-US" sz="1100" b="1" spc="200" kern="0" dirty="0">
                <a:solidFill>
                  <a:srgbClr val="8A5A16"/>
                </a:solidFill>
                <a:latin typeface="Calibri" pitchFamily="34" charset="0"/>
                <a:ea typeface="Calibri" pitchFamily="34" charset="-122"/>
                <a:cs typeface="Calibri" pitchFamily="34" charset="-120"/>
              </a:rPr>
              <a:t>CLOUD</a:t>
            </a:r>
            <a:endParaRPr lang="en-US" sz="1100" dirty="0"/>
          </a:p>
        </p:txBody>
      </p:sp>
      <p:sp>
        <p:nvSpPr>
          <p:cNvPr id="34" name="Text 32"/>
          <p:cNvSpPr/>
          <p:nvPr/>
        </p:nvSpPr>
        <p:spPr>
          <a:xfrm>
            <a:off x="640080" y="5212080"/>
            <a:ext cx="10972800" cy="640080"/>
          </a:xfrm>
          <a:prstGeom prst="rect">
            <a:avLst/>
          </a:prstGeom>
          <a:noFill/>
          <a:ln/>
        </p:spPr>
        <p:txBody>
          <a:bodyPr wrap="square" rtlCol="0" anchor="ctr"/>
          <a:lstStyle/>
          <a:p>
            <a:pPr algn="ctr" indent="0" marL="0">
              <a:buNone/>
            </a:pPr>
            <a:r>
              <a:rPr lang="en-US" sz="1500" i="1" dirty="0">
                <a:solidFill>
                  <a:srgbClr val="8A5A16"/>
                </a:solidFill>
                <a:latin typeface="Calibri" pitchFamily="34" charset="0"/>
                <a:ea typeface="Calibri" pitchFamily="34" charset="-122"/>
                <a:cs typeface="Calibri" pitchFamily="34" charset="-120"/>
              </a:rPr>
              <a:t>The fog produces one summary per window; the dashboard fuses inverter output and panel temperature into a per-array efficiency heatmap on read.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000" b="1" dirty="0">
                <a:solidFill>
                  <a:srgbClr val="281F10"/>
                </a:solidFill>
                <a:latin typeface="Bookman Old Style" pitchFamily="34" charset="0"/>
                <a:ea typeface="Bookman Old Style" pitchFamily="34" charset="-122"/>
                <a:cs typeface="Bookman Old Style" pitchFamily="34" charset="-120"/>
              </a:rPr>
              <a:t>Live Demo</a:t>
            </a:r>
            <a:endParaRPr lang="en-US" sz="3000" dirty="0"/>
          </a:p>
        </p:txBody>
      </p:sp>
      <p:sp>
        <p:nvSpPr>
          <p:cNvPr id="3" name="Text 1"/>
          <p:cNvSpPr/>
          <p:nvPr/>
        </p:nvSpPr>
        <p:spPr>
          <a:xfrm>
            <a:off x="658368" y="1143000"/>
            <a:ext cx="10972800" cy="365760"/>
          </a:xfrm>
          <a:prstGeom prst="rect">
            <a:avLst/>
          </a:prstGeom>
          <a:noFill/>
          <a:ln/>
        </p:spPr>
        <p:txBody>
          <a:bodyPr wrap="square" rtlCol="0" anchor="ctr"/>
          <a:lstStyle/>
          <a:p>
            <a:pPr indent="0" marL="0">
              <a:buNone/>
            </a:pPr>
            <a:r>
              <a:rPr lang="en-US" sz="1400" dirty="0">
                <a:solidFill>
                  <a:srgbClr val="B9822A"/>
                </a:solidFill>
                <a:latin typeface="Consolas" pitchFamily="34" charset="0"/>
                <a:ea typeface="Consolas" pitchFamily="34" charset="-122"/>
                <a:cs typeface="Consolas" pitchFamily="34" charset="-120"/>
              </a:rPr>
              <a:t>sfm-frontend-263844967627.s3.us-east-1.amazonaws.com</a:t>
            </a:r>
            <a:endParaRPr lang="en-US" sz="1400" dirty="0"/>
          </a:p>
        </p:txBody>
      </p:sp>
      <p:sp>
        <p:nvSpPr>
          <p:cNvPr id="4" name="Shape 2"/>
          <p:cNvSpPr/>
          <p:nvPr/>
        </p:nvSpPr>
        <p:spPr>
          <a:xfrm>
            <a:off x="731520" y="1965960"/>
            <a:ext cx="685800" cy="685800"/>
          </a:xfrm>
          <a:prstGeom prst="ellipse">
            <a:avLst/>
          </a:prstGeom>
          <a:solidFill>
            <a:srgbClr val="8A5A16"/>
          </a:solidFill>
          <a:ln/>
        </p:spPr>
      </p:sp>
      <p:sp>
        <p:nvSpPr>
          <p:cNvPr id="5" name="Text 3"/>
          <p:cNvSpPr/>
          <p:nvPr/>
        </p:nvSpPr>
        <p:spPr>
          <a:xfrm>
            <a:off x="731520" y="196596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Bookman Old Style" pitchFamily="34" charset="0"/>
                <a:ea typeface="Bookman Old Style" pitchFamily="34" charset="-122"/>
                <a:cs typeface="Bookman Old Style" pitchFamily="34" charset="-120"/>
              </a:rPr>
              <a:t>1</a:t>
            </a:r>
            <a:endParaRPr lang="en-US" sz="2600" dirty="0"/>
          </a:p>
        </p:txBody>
      </p:sp>
      <p:sp>
        <p:nvSpPr>
          <p:cNvPr id="6" name="Text 4"/>
          <p:cNvSpPr/>
          <p:nvPr/>
        </p:nvSpPr>
        <p:spPr>
          <a:xfrm>
            <a:off x="1691640" y="1920240"/>
            <a:ext cx="9875520" cy="411480"/>
          </a:xfrm>
          <a:prstGeom prst="rect">
            <a:avLst/>
          </a:prstGeom>
          <a:noFill/>
          <a:ln/>
        </p:spPr>
        <p:txBody>
          <a:bodyPr wrap="square" lIns="0" tIns="0" rIns="0" bIns="0" rtlCol="0" anchor="ctr"/>
          <a:lstStyle/>
          <a:p>
            <a:pPr indent="0" marL="0">
              <a:buNone/>
            </a:pPr>
            <a:r>
              <a:rPr lang="en-US" sz="1800" b="1" dirty="0">
                <a:solidFill>
                  <a:srgbClr val="281F10"/>
                </a:solidFill>
                <a:latin typeface="Calibri" pitchFamily="34" charset="0"/>
                <a:ea typeface="Calibri" pitchFamily="34" charset="-122"/>
                <a:cs typeface="Calibri" pitchFamily="34" charset="-120"/>
              </a:rPr>
              <a:t>Pipeline health, all green</a:t>
            </a:r>
            <a:endParaRPr lang="en-US" sz="1800" dirty="0"/>
          </a:p>
        </p:txBody>
      </p:sp>
      <p:sp>
        <p:nvSpPr>
          <p:cNvPr id="7" name="Text 5"/>
          <p:cNvSpPr/>
          <p:nvPr/>
        </p:nvSpPr>
        <p:spPr>
          <a:xfrm>
            <a:off x="1691640" y="2340864"/>
            <a:ext cx="9875520" cy="640080"/>
          </a:xfrm>
          <a:prstGeom prst="rect">
            <a:avLst/>
          </a:prstGeom>
          <a:noFill/>
          <a:ln/>
        </p:spPr>
        <p:txBody>
          <a:bodyPr wrap="square" lIns="0" tIns="0" rIns="0" bIns="0" rtlCol="0" anchor="ctr"/>
          <a:lstStyle/>
          <a:p>
            <a:pPr indent="0" marL="0">
              <a:buNone/>
            </a:pPr>
            <a:r>
              <a:rPr lang="en-US" sz="1350" dirty="0">
                <a:solidFill>
                  <a:srgbClr val="6E6146"/>
                </a:solidFill>
                <a:latin typeface="Calibri" pitchFamily="34" charset="0"/>
                <a:ea typeface="Calibri" pitchFamily="34" charset="-122"/>
                <a:cs typeface="Calibri" pitchFamily="34" charset="-120"/>
              </a:rPr>
              <a:t>Gateway, queue, processor and pipeline all up on the live deployment.</a:t>
            </a:r>
            <a:endParaRPr lang="en-US" sz="1350" dirty="0"/>
          </a:p>
        </p:txBody>
      </p:sp>
      <p:sp>
        <p:nvSpPr>
          <p:cNvPr id="8" name="Shape 6"/>
          <p:cNvSpPr/>
          <p:nvPr/>
        </p:nvSpPr>
        <p:spPr>
          <a:xfrm>
            <a:off x="731520" y="3383280"/>
            <a:ext cx="685800" cy="685800"/>
          </a:xfrm>
          <a:prstGeom prst="ellipse">
            <a:avLst/>
          </a:prstGeom>
          <a:solidFill>
            <a:srgbClr val="8A5A16"/>
          </a:solidFill>
          <a:ln/>
        </p:spPr>
      </p:sp>
      <p:sp>
        <p:nvSpPr>
          <p:cNvPr id="9" name="Text 7"/>
          <p:cNvSpPr/>
          <p:nvPr/>
        </p:nvSpPr>
        <p:spPr>
          <a:xfrm>
            <a:off x="731520" y="338328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Bookman Old Style" pitchFamily="34" charset="0"/>
                <a:ea typeface="Bookman Old Style" pitchFamily="34" charset="-122"/>
                <a:cs typeface="Bookman Old Style" pitchFamily="34" charset="-120"/>
              </a:rPr>
              <a:t>2</a:t>
            </a:r>
            <a:endParaRPr lang="en-US" sz="2600" dirty="0"/>
          </a:p>
        </p:txBody>
      </p:sp>
      <p:sp>
        <p:nvSpPr>
          <p:cNvPr id="10" name="Text 8"/>
          <p:cNvSpPr/>
          <p:nvPr/>
        </p:nvSpPr>
        <p:spPr>
          <a:xfrm>
            <a:off x="1691640" y="3337560"/>
            <a:ext cx="9875520" cy="411480"/>
          </a:xfrm>
          <a:prstGeom prst="rect">
            <a:avLst/>
          </a:prstGeom>
          <a:noFill/>
          <a:ln/>
        </p:spPr>
        <p:txBody>
          <a:bodyPr wrap="square" lIns="0" tIns="0" rIns="0" bIns="0" rtlCol="0" anchor="ctr"/>
          <a:lstStyle/>
          <a:p>
            <a:pPr indent="0" marL="0">
              <a:buNone/>
            </a:pPr>
            <a:r>
              <a:rPr lang="en-US" sz="1800" b="1" dirty="0">
                <a:solidFill>
                  <a:srgbClr val="281F10"/>
                </a:solidFill>
                <a:latin typeface="Calibri" pitchFamily="34" charset="0"/>
                <a:ea typeface="Calibri" pitchFamily="34" charset="-122"/>
                <a:cs typeface="Calibri" pitchFamily="34" charset="-120"/>
              </a:rPr>
              <a:t>Live efficiency heatmap</a:t>
            </a:r>
            <a:endParaRPr lang="en-US" sz="1800" dirty="0"/>
          </a:p>
        </p:txBody>
      </p:sp>
      <p:sp>
        <p:nvSpPr>
          <p:cNvPr id="11" name="Text 9"/>
          <p:cNvSpPr/>
          <p:nvPr/>
        </p:nvSpPr>
        <p:spPr>
          <a:xfrm>
            <a:off x="1691640" y="3758184"/>
            <a:ext cx="9875520" cy="640080"/>
          </a:xfrm>
          <a:prstGeom prst="rect">
            <a:avLst/>
          </a:prstGeom>
          <a:noFill/>
          <a:ln/>
        </p:spPr>
        <p:txBody>
          <a:bodyPr wrap="square" lIns="0" tIns="0" rIns="0" bIns="0" rtlCol="0" anchor="ctr"/>
          <a:lstStyle/>
          <a:p>
            <a:pPr indent="0" marL="0">
              <a:buNone/>
            </a:pPr>
            <a:r>
              <a:rPr lang="en-US" sz="1350" dirty="0">
                <a:solidFill>
                  <a:srgbClr val="6E6146"/>
                </a:solidFill>
                <a:latin typeface="Calibri" pitchFamily="34" charset="0"/>
                <a:ea typeface="Calibri" pitchFamily="34" charset="-122"/>
                <a:cs typeface="Calibri" pitchFamily="34" charset="-120"/>
              </a:rPr>
              <a:t>Per-array readings and a per-window efficiency heatmap, with alerts for thermal derate, inverter underperformance, undervoltage and cleaning.</a:t>
            </a:r>
            <a:endParaRPr lang="en-US" sz="1350" dirty="0"/>
          </a:p>
        </p:txBody>
      </p:sp>
      <p:sp>
        <p:nvSpPr>
          <p:cNvPr id="12" name="Shape 10"/>
          <p:cNvSpPr/>
          <p:nvPr/>
        </p:nvSpPr>
        <p:spPr>
          <a:xfrm>
            <a:off x="731520" y="4800600"/>
            <a:ext cx="685800" cy="685800"/>
          </a:xfrm>
          <a:prstGeom prst="ellipse">
            <a:avLst/>
          </a:prstGeom>
          <a:solidFill>
            <a:srgbClr val="8A5A16"/>
          </a:solidFill>
          <a:ln/>
        </p:spPr>
      </p:sp>
      <p:sp>
        <p:nvSpPr>
          <p:cNvPr id="13" name="Text 11"/>
          <p:cNvSpPr/>
          <p:nvPr/>
        </p:nvSpPr>
        <p:spPr>
          <a:xfrm>
            <a:off x="731520" y="48006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Bookman Old Style" pitchFamily="34" charset="0"/>
                <a:ea typeface="Bookman Old Style" pitchFamily="34" charset="-122"/>
                <a:cs typeface="Bookman Old Style" pitchFamily="34" charset="-120"/>
              </a:rPr>
              <a:t>3</a:t>
            </a:r>
            <a:endParaRPr lang="en-US" sz="2600" dirty="0"/>
          </a:p>
        </p:txBody>
      </p:sp>
      <p:sp>
        <p:nvSpPr>
          <p:cNvPr id="14" name="Text 12"/>
          <p:cNvSpPr/>
          <p:nvPr/>
        </p:nvSpPr>
        <p:spPr>
          <a:xfrm>
            <a:off x="1691640" y="4754880"/>
            <a:ext cx="9875520" cy="411480"/>
          </a:xfrm>
          <a:prstGeom prst="rect">
            <a:avLst/>
          </a:prstGeom>
          <a:noFill/>
          <a:ln/>
        </p:spPr>
        <p:txBody>
          <a:bodyPr wrap="square" lIns="0" tIns="0" rIns="0" bIns="0" rtlCol="0" anchor="ctr"/>
          <a:lstStyle/>
          <a:p>
            <a:pPr indent="0" marL="0">
              <a:buNone/>
            </a:pPr>
            <a:r>
              <a:rPr lang="en-US" sz="1800" b="1" dirty="0">
                <a:solidFill>
                  <a:srgbClr val="281F10"/>
                </a:solidFill>
                <a:latin typeface="Calibri" pitchFamily="34" charset="0"/>
                <a:ea typeface="Calibri" pitchFamily="34" charset="-122"/>
                <a:cs typeface="Calibri" pitchFamily="34" charset="-120"/>
              </a:rPr>
              <a:t>Tested and scales</a:t>
            </a:r>
            <a:endParaRPr lang="en-US" sz="1800" dirty="0"/>
          </a:p>
        </p:txBody>
      </p:sp>
      <p:sp>
        <p:nvSpPr>
          <p:cNvPr id="15" name="Text 13"/>
          <p:cNvSpPr/>
          <p:nvPr/>
        </p:nvSpPr>
        <p:spPr>
          <a:xfrm>
            <a:off x="1691640" y="5175504"/>
            <a:ext cx="9875520" cy="640080"/>
          </a:xfrm>
          <a:prstGeom prst="rect">
            <a:avLst/>
          </a:prstGeom>
          <a:noFill/>
          <a:ln/>
        </p:spPr>
        <p:txBody>
          <a:bodyPr wrap="square" lIns="0" tIns="0" rIns="0" bIns="0" rtlCol="0" anchor="ctr"/>
          <a:lstStyle/>
          <a:p>
            <a:pPr indent="0" marL="0">
              <a:buNone/>
            </a:pPr>
            <a:r>
              <a:rPr lang="en-US" sz="1350" dirty="0">
                <a:solidFill>
                  <a:srgbClr val="6E6146"/>
                </a:solidFill>
                <a:latin typeface="Calibri" pitchFamily="34" charset="0"/>
                <a:ea typeface="Calibri" pitchFamily="34" charset="-122"/>
                <a:cs typeface="Calibri" pitchFamily="34" charset="-120"/>
              </a:rPr>
              <a:t>99 automated tests pass across sensors, fog, backend and dashboard; a 2,000-message burst pushed through by 32 parallel senders.</a:t>
            </a:r>
            <a:endParaRPr lang="en-US" sz="1350" dirty="0"/>
          </a:p>
        </p:txBody>
      </p:sp>
      <p:sp>
        <p:nvSpPr>
          <p:cNvPr id="16" name="Text 14"/>
          <p:cNvSpPr/>
          <p:nvPr/>
        </p:nvSpPr>
        <p:spPr>
          <a:xfrm>
            <a:off x="640080" y="6263640"/>
            <a:ext cx="10972800" cy="365760"/>
          </a:xfrm>
          <a:prstGeom prst="rect">
            <a:avLst/>
          </a:prstGeom>
          <a:noFill/>
          <a:ln/>
        </p:spPr>
        <p:txBody>
          <a:bodyPr wrap="square" rtlCol="0" anchor="ctr"/>
          <a:lstStyle/>
          <a:p>
            <a:pPr indent="0" marL="0">
              <a:buNone/>
            </a:pPr>
            <a:r>
              <a:rPr lang="en-US" sz="1300" i="1" dirty="0">
                <a:solidFill>
                  <a:srgbClr val="D8A94E"/>
                </a:solidFill>
                <a:latin typeface="Calibri" pitchFamily="34" charset="0"/>
                <a:ea typeface="Calibri" pitchFamily="34" charset="-122"/>
                <a:cs typeface="Calibri" pitchFamily="34" charset="-120"/>
              </a:rPr>
              <a:t>Switch to the live dashboard here — backup video ready.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A2012"/>
        </a:solidFill>
      </p:bgPr>
    </p:bg>
    <p:spTree>
      <p:nvGrpSpPr>
        <p:cNvPr id="1" name=""/>
        <p:cNvGrpSpPr/>
        <p:nvPr/>
      </p:nvGrpSpPr>
      <p:grpSpPr>
        <a:xfrm>
          <a:off x="0" y="0"/>
          <a:ext cx="0" cy="0"/>
          <a:chOff x="0" y="0"/>
          <a:chExt cx="0" cy="0"/>
        </a:xfrm>
      </p:grpSpPr>
      <p:sp>
        <p:nvSpPr>
          <p:cNvPr id="2" name="Text 0"/>
          <p:cNvSpPr/>
          <p:nvPr/>
        </p:nvSpPr>
        <p:spPr>
          <a:xfrm>
            <a:off x="640080" y="640080"/>
            <a:ext cx="10972800" cy="640080"/>
          </a:xfrm>
          <a:prstGeom prst="rect">
            <a:avLst/>
          </a:prstGeom>
          <a:noFill/>
          <a:ln/>
        </p:spPr>
        <p:txBody>
          <a:bodyPr wrap="square"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Hardest Part — a buffer that never sits still</a:t>
            </a:r>
            <a:endParaRPr lang="en-US" sz="3000" dirty="0"/>
          </a:p>
        </p:txBody>
      </p:sp>
      <p:sp>
        <p:nvSpPr>
          <p:cNvPr id="3" name="Shape 1"/>
          <p:cNvSpPr/>
          <p:nvPr/>
        </p:nvSpPr>
        <p:spPr>
          <a:xfrm>
            <a:off x="731520" y="1920240"/>
            <a:ext cx="10698480" cy="1965960"/>
          </a:xfrm>
          <a:prstGeom prst="roundRect">
            <a:avLst>
              <a:gd name="adj" fmla="val 4651"/>
            </a:avLst>
          </a:prstGeom>
          <a:solidFill>
            <a:srgbClr val="3A2D18"/>
          </a:solidFill>
          <a:ln w="15875">
            <a:solidFill>
              <a:srgbClr val="E7C24A"/>
            </a:solidFill>
            <a:prstDash val="solid"/>
          </a:ln>
        </p:spPr>
      </p:sp>
      <p:sp>
        <p:nvSpPr>
          <p:cNvPr id="4" name="Text 2"/>
          <p:cNvSpPr/>
          <p:nvPr/>
        </p:nvSpPr>
        <p:spPr>
          <a:xfrm>
            <a:off x="1005840" y="2103120"/>
            <a:ext cx="3657600" cy="457200"/>
          </a:xfrm>
          <a:prstGeom prst="rect">
            <a:avLst/>
          </a:prstGeom>
          <a:noFill/>
          <a:ln/>
        </p:spPr>
        <p:txBody>
          <a:bodyPr wrap="square" lIns="0" tIns="0" rIns="0" bIns="0" rtlCol="0" anchor="ctr"/>
          <a:lstStyle/>
          <a:p>
            <a:pPr indent="0" marL="0">
              <a:buNone/>
            </a:pPr>
            <a:r>
              <a:rPr lang="en-US" sz="1900" b="1" dirty="0">
                <a:solidFill>
                  <a:srgbClr val="E7C24A"/>
                </a:solidFill>
                <a:latin typeface="Bookman Old Style" pitchFamily="34" charset="0"/>
                <a:ea typeface="Bookman Old Style" pitchFamily="34" charset="-122"/>
                <a:cs typeface="Bookman Old Style" pitchFamily="34" charset="-120"/>
              </a:rPr>
              <a:t>Problem</a:t>
            </a:r>
            <a:endParaRPr lang="en-US" sz="1900" dirty="0"/>
          </a:p>
        </p:txBody>
      </p:sp>
      <p:sp>
        <p:nvSpPr>
          <p:cNvPr id="5" name="Text 3"/>
          <p:cNvSpPr/>
          <p:nvPr/>
        </p:nvSpPr>
        <p:spPr>
          <a:xfrm>
            <a:off x="1005840" y="2578608"/>
            <a:ext cx="9966960" cy="1188720"/>
          </a:xfrm>
          <a:prstGeom prst="rect">
            <a:avLst/>
          </a:prstGeom>
          <a:noFill/>
          <a:ln/>
        </p:spPr>
        <p:txBody>
          <a:bodyPr wrap="square" lIns="0" tIns="0" rIns="0" bIns="0" rtlCol="0" anchor="ctr"/>
          <a:lstStyle/>
          <a:p>
            <a:pPr indent="0" marL="0">
              <a:lnSpc>
                <a:spcPct val="105000"/>
              </a:lnSpc>
              <a:buNone/>
            </a:pPr>
            <a:r>
              <a:rPr lang="en-US" sz="1300" dirty="0">
                <a:solidFill>
                  <a:srgbClr val="EAD9B8"/>
                </a:solidFill>
                <a:latin typeface="Calibri" pitchFamily="34" charset="0"/>
                <a:ea typeface="Calibri" pitchFamily="34" charset="-122"/>
                <a:cs typeface="Calibri" pitchFamily="34" charset="-120"/>
              </a:rPr>
              <a:t>Every few seconds the fog node must take everything buffered so far and aggregate it into window summaries, while ten sensors keep writing new readings into that same buffer. One shared buffer and one lock means aggregation blocks ingest — copying under the lock stalls every sensor at every window, and skipping the lock loses or double-counts readings. A textbook reader-writer race.</a:t>
            </a:r>
            <a:endParaRPr lang="en-US" sz="1300" dirty="0"/>
          </a:p>
        </p:txBody>
      </p:sp>
      <p:sp>
        <p:nvSpPr>
          <p:cNvPr id="6" name="Shape 4"/>
          <p:cNvSpPr/>
          <p:nvPr/>
        </p:nvSpPr>
        <p:spPr>
          <a:xfrm>
            <a:off x="731520" y="4041648"/>
            <a:ext cx="10698480" cy="1965960"/>
          </a:xfrm>
          <a:prstGeom prst="roundRect">
            <a:avLst>
              <a:gd name="adj" fmla="val 4651"/>
            </a:avLst>
          </a:prstGeom>
          <a:solidFill>
            <a:srgbClr val="3A2D18"/>
          </a:solidFill>
          <a:ln w="15875">
            <a:solidFill>
              <a:srgbClr val="D8A94E"/>
            </a:solidFill>
            <a:prstDash val="solid"/>
          </a:ln>
        </p:spPr>
      </p:sp>
      <p:sp>
        <p:nvSpPr>
          <p:cNvPr id="7" name="Text 5"/>
          <p:cNvSpPr/>
          <p:nvPr/>
        </p:nvSpPr>
        <p:spPr>
          <a:xfrm>
            <a:off x="1005840" y="4224528"/>
            <a:ext cx="3657600" cy="457200"/>
          </a:xfrm>
          <a:prstGeom prst="rect">
            <a:avLst/>
          </a:prstGeom>
          <a:noFill/>
          <a:ln/>
        </p:spPr>
        <p:txBody>
          <a:bodyPr wrap="square" lIns="0" tIns="0" rIns="0" bIns="0" rtlCol="0" anchor="ctr"/>
          <a:lstStyle/>
          <a:p>
            <a:pPr indent="0" marL="0">
              <a:buNone/>
            </a:pPr>
            <a:r>
              <a:rPr lang="en-US" sz="1900" b="1" dirty="0">
                <a:solidFill>
                  <a:srgbClr val="D8A94E"/>
                </a:solidFill>
                <a:latin typeface="Bookman Old Style" pitchFamily="34" charset="0"/>
                <a:ea typeface="Bookman Old Style" pitchFamily="34" charset="-122"/>
                <a:cs typeface="Bookman Old Style" pitchFamily="34" charset="-120"/>
              </a:rPr>
              <a:t>Solution</a:t>
            </a:r>
            <a:endParaRPr lang="en-US" sz="1900" dirty="0"/>
          </a:p>
        </p:txBody>
      </p:sp>
      <p:sp>
        <p:nvSpPr>
          <p:cNvPr id="8" name="Text 6"/>
          <p:cNvSpPr/>
          <p:nvPr/>
        </p:nvSpPr>
        <p:spPr>
          <a:xfrm>
            <a:off x="1005840" y="4700016"/>
            <a:ext cx="9966960" cy="1188720"/>
          </a:xfrm>
          <a:prstGeom prst="rect">
            <a:avLst/>
          </a:prstGeom>
          <a:noFill/>
          <a:ln/>
        </p:spPr>
        <p:txBody>
          <a:bodyPr wrap="square" lIns="0" tIns="0" rIns="0" bIns="0" rtlCol="0" anchor="ctr"/>
          <a:lstStyle/>
          <a:p>
            <a:pPr indent="0" marL="0">
              <a:lnSpc>
                <a:spcPct val="105000"/>
              </a:lnSpc>
              <a:buNone/>
            </a:pPr>
            <a:r>
              <a:rPr lang="en-US" sz="1300" dirty="0">
                <a:solidFill>
                  <a:srgbClr val="EAD9B8"/>
                </a:solidFill>
                <a:latin typeface="Calibri" pitchFamily="34" charset="0"/>
                <a:ea typeface="Calibri" pitchFamily="34" charset="-122"/>
                <a:cs typeface="Calibri" pitchFamily="34" charset="-120"/>
              </a:rPr>
              <a:t>Double buffering: two buffers, one live and one flushing. The lock is held only for an instant pointer swap of the two, so aggregation works on the swapped-out data while new readings flow into the fresh buffer. A concurrent-writer stress test proves it — nothing lost, nothing copied.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2026-07-24T06:34:26Z</dcterms:created>
  <dcterms:modified xsi:type="dcterms:W3CDTF">2026-07-24T06:34:26Z</dcterms:modified>
</cp:coreProperties>
</file>