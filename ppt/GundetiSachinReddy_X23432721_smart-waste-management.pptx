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1A"/>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algn="l" indent="0" marL="0">
              <a:buNone/>
            </a:pPr>
            <a:r>
              <a:rPr lang="en-US" sz="4000" b="1" dirty="0">
                <a:solidFill>
                  <a:srgbClr val="FFFFFF"/>
                </a:solidFill>
                <a:latin typeface="Century Schoolbook" pitchFamily="34" charset="0"/>
                <a:ea typeface="Century Schoolbook" pitchFamily="34" charset="-122"/>
                <a:cs typeface="Century Schoolbook" pitchFamily="34" charset="-120"/>
              </a:rPr>
              <a:t>Smart Waste Management</a:t>
            </a:r>
            <a:endParaRPr lang="en-US" sz="40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5E9A62"/>
                </a:solidFill>
                <a:latin typeface="Calibri" pitchFamily="34" charset="0"/>
                <a:ea typeface="Calibri" pitchFamily="34" charset="-122"/>
                <a:cs typeface="Calibri" pitchFamily="34" charset="-120"/>
              </a:rPr>
              <a:t>Gundeti Sachin Reddy   ·   X23432721</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D2E6CE"/>
                </a:solidFill>
                <a:latin typeface="Calibri" pitchFamily="34" charset="0"/>
                <a:ea typeface="Calibri" pitchFamily="34" charset="-122"/>
                <a:cs typeface="Calibri" pitchFamily="34" charset="-120"/>
              </a:rPr>
              <a:t>Municipal collection runs on a fixed calendar, not on what is inside each bin — trucks roll to bins that are not yet full, while overflow, fire or gas build-up stays invisible until the next visit.</a:t>
            </a:r>
            <a:endParaRPr lang="en-US" sz="2000" dirty="0"/>
          </a:p>
        </p:txBody>
      </p:sp>
      <p:sp>
        <p:nvSpPr>
          <p:cNvPr id="5" name="Shape 3"/>
          <p:cNvSpPr/>
          <p:nvPr/>
        </p:nvSpPr>
        <p:spPr>
          <a:xfrm>
            <a:off x="658368" y="4206240"/>
            <a:ext cx="2651760" cy="566928"/>
          </a:xfrm>
          <a:prstGeom prst="roundRect">
            <a:avLst>
              <a:gd name="adj" fmla="val 50000"/>
            </a:avLst>
          </a:prstGeom>
          <a:solidFill>
            <a:srgbClr val="1B3322"/>
          </a:solidFill>
          <a:ln w="12700">
            <a:solidFill>
              <a:srgbClr val="D9A62E"/>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400" b="1" dirty="0">
                <a:solidFill>
                  <a:srgbClr val="D9A62E"/>
                </a:solidFill>
                <a:latin typeface="Calibri" pitchFamily="34" charset="0"/>
                <a:ea typeface="Calibri" pitchFamily="34" charset="-122"/>
                <a:cs typeface="Calibri" pitchFamily="34" charset="-120"/>
              </a:rPr>
              <a:t>Overflow fill &gt; 85%</a:t>
            </a:r>
            <a:endParaRPr lang="en-US" sz="1400" dirty="0"/>
          </a:p>
        </p:txBody>
      </p:sp>
      <p:sp>
        <p:nvSpPr>
          <p:cNvPr id="7" name="Shape 5"/>
          <p:cNvSpPr/>
          <p:nvPr/>
        </p:nvSpPr>
        <p:spPr>
          <a:xfrm>
            <a:off x="3538728" y="4206240"/>
            <a:ext cx="2651760" cy="566928"/>
          </a:xfrm>
          <a:prstGeom prst="roundRect">
            <a:avLst>
              <a:gd name="adj" fmla="val 50000"/>
            </a:avLst>
          </a:prstGeom>
          <a:solidFill>
            <a:srgbClr val="1B3322"/>
          </a:solidFill>
          <a:ln w="12700">
            <a:solidFill>
              <a:srgbClr val="D9A62E"/>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400" b="1" dirty="0">
                <a:solidFill>
                  <a:srgbClr val="D9A62E"/>
                </a:solidFill>
                <a:latin typeface="Calibri" pitchFamily="34" charset="0"/>
                <a:ea typeface="Calibri" pitchFamily="34" charset="-122"/>
                <a:cs typeface="Calibri" pitchFamily="34" charset="-120"/>
              </a:rPr>
              <a:t>Fire temp &gt; 55 °C</a:t>
            </a:r>
            <a:endParaRPr lang="en-US" sz="1400" dirty="0"/>
          </a:p>
        </p:txBody>
      </p:sp>
      <p:sp>
        <p:nvSpPr>
          <p:cNvPr id="9" name="Shape 7"/>
          <p:cNvSpPr/>
          <p:nvPr/>
        </p:nvSpPr>
        <p:spPr>
          <a:xfrm>
            <a:off x="6419088" y="4206240"/>
            <a:ext cx="2651760" cy="566928"/>
          </a:xfrm>
          <a:prstGeom prst="roundRect">
            <a:avLst>
              <a:gd name="adj" fmla="val 50000"/>
            </a:avLst>
          </a:prstGeom>
          <a:solidFill>
            <a:srgbClr val="1B3322"/>
          </a:solidFill>
          <a:ln w="12700">
            <a:solidFill>
              <a:srgbClr val="D9A62E"/>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400" b="1" dirty="0">
                <a:solidFill>
                  <a:srgbClr val="D9A62E"/>
                </a:solidFill>
                <a:latin typeface="Calibri" pitchFamily="34" charset="0"/>
                <a:ea typeface="Calibri" pitchFamily="34" charset="-122"/>
                <a:cs typeface="Calibri" pitchFamily="34" charset="-120"/>
              </a:rPr>
              <a:t>Gas &gt; 400 ppm</a:t>
            </a:r>
            <a:endParaRPr lang="en-US" sz="140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5C6E58"/>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What I Built — Edge to Cloud</a:t>
            </a:r>
            <a:endParaRPr lang="en-US" sz="3000" dirty="0"/>
          </a:p>
        </p:txBody>
      </p:sp>
      <p:sp>
        <p:nvSpPr>
          <p:cNvPr id="3" name="Shape 1"/>
          <p:cNvSpPr/>
          <p:nvPr/>
        </p:nvSpPr>
        <p:spPr>
          <a:xfrm>
            <a:off x="640080" y="2468880"/>
            <a:ext cx="1572768" cy="1371600"/>
          </a:xfrm>
          <a:prstGeom prst="roundRect">
            <a:avLst>
              <a:gd name="adj" fmla="val 6667"/>
            </a:avLst>
          </a:prstGeom>
          <a:solidFill>
            <a:srgbClr val="EEF4EC"/>
          </a:solidFill>
          <a:ln w="19050">
            <a:solidFill>
              <a:srgbClr val="5E9A62"/>
            </a:solidFill>
            <a:prstDash val="solid"/>
          </a:ln>
        </p:spPr>
      </p:sp>
      <p:sp>
        <p:nvSpPr>
          <p:cNvPr id="4" name="Shape 2"/>
          <p:cNvSpPr/>
          <p:nvPr/>
        </p:nvSpPr>
        <p:spPr>
          <a:xfrm>
            <a:off x="1325880" y="2670048"/>
            <a:ext cx="201168" cy="201168"/>
          </a:xfrm>
          <a:prstGeom prst="ellipse">
            <a:avLst/>
          </a:prstGeom>
          <a:solidFill>
            <a:srgbClr val="5E9A62"/>
          </a:solidFill>
          <a:ln/>
        </p:spPr>
      </p:sp>
      <p:sp>
        <p:nvSpPr>
          <p:cNvPr id="5" name="Text 3"/>
          <p:cNvSpPr/>
          <p:nvPr/>
        </p:nvSpPr>
        <p:spPr>
          <a:xfrm>
            <a:off x="594360" y="2926080"/>
            <a:ext cx="1664208" cy="41148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Bin sensors</a:t>
            </a:r>
            <a:endParaRPr lang="en-US" sz="1450" dirty="0"/>
          </a:p>
        </p:txBody>
      </p:sp>
      <p:sp>
        <p:nvSpPr>
          <p:cNvPr id="6" name="Text 4"/>
          <p:cNvSpPr/>
          <p:nvPr/>
        </p:nvSpPr>
        <p:spPr>
          <a:xfrm>
            <a:off x="621792" y="3310128"/>
            <a:ext cx="1609344" cy="45720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10 · 5 types · 2 districts</a:t>
            </a:r>
            <a:endParaRPr lang="en-US" sz="1050" dirty="0"/>
          </a:p>
        </p:txBody>
      </p:sp>
      <p:sp>
        <p:nvSpPr>
          <p:cNvPr id="7" name="Shape 5"/>
          <p:cNvSpPr/>
          <p:nvPr/>
        </p:nvSpPr>
        <p:spPr>
          <a:xfrm>
            <a:off x="2231136" y="3154680"/>
            <a:ext cx="258409" cy="0"/>
          </a:xfrm>
          <a:prstGeom prst="line">
            <a:avLst/>
          </a:prstGeom>
          <a:noFill/>
          <a:ln w="25400">
            <a:solidFill>
              <a:srgbClr val="5E9A62"/>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EF4EC"/>
          </a:solidFill>
          <a:ln w="19050">
            <a:solidFill>
              <a:srgbClr val="5E9A62"/>
            </a:solidFill>
            <a:prstDash val="solid"/>
          </a:ln>
        </p:spPr>
      </p:sp>
      <p:sp>
        <p:nvSpPr>
          <p:cNvPr id="9" name="Shape 7"/>
          <p:cNvSpPr/>
          <p:nvPr/>
        </p:nvSpPr>
        <p:spPr>
          <a:xfrm>
            <a:off x="3193633" y="2670048"/>
            <a:ext cx="201168" cy="201168"/>
          </a:xfrm>
          <a:prstGeom prst="ellipse">
            <a:avLst/>
          </a:prstGeom>
          <a:solidFill>
            <a:srgbClr val="5E9A62"/>
          </a:solidFill>
          <a:ln/>
        </p:spPr>
      </p:sp>
      <p:sp>
        <p:nvSpPr>
          <p:cNvPr id="10" name="Text 8"/>
          <p:cNvSpPr/>
          <p:nvPr/>
        </p:nvSpPr>
        <p:spPr>
          <a:xfrm>
            <a:off x="2462113" y="2926080"/>
            <a:ext cx="1664208" cy="41148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Fog node (EC2)</a:t>
            </a:r>
            <a:endParaRPr lang="en-US" sz="1450" dirty="0"/>
          </a:p>
        </p:txBody>
      </p:sp>
      <p:sp>
        <p:nvSpPr>
          <p:cNvPr id="11" name="Text 9"/>
          <p:cNvSpPr/>
          <p:nvPr/>
        </p:nvSpPr>
        <p:spPr>
          <a:xfrm>
            <a:off x="2489545" y="3310128"/>
            <a:ext cx="1609344" cy="45720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windows · hazard alerts</a:t>
            </a:r>
            <a:endParaRPr lang="en-US" sz="1050" dirty="0"/>
          </a:p>
        </p:txBody>
      </p:sp>
      <p:sp>
        <p:nvSpPr>
          <p:cNvPr id="12" name="Shape 10"/>
          <p:cNvSpPr/>
          <p:nvPr/>
        </p:nvSpPr>
        <p:spPr>
          <a:xfrm>
            <a:off x="4098889" y="3154680"/>
            <a:ext cx="258409" cy="0"/>
          </a:xfrm>
          <a:prstGeom prst="line">
            <a:avLst/>
          </a:prstGeom>
          <a:noFill/>
          <a:ln w="25400">
            <a:solidFill>
              <a:srgbClr val="5E9A62"/>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EF4EC"/>
          </a:solidFill>
          <a:ln w="19050">
            <a:solidFill>
              <a:srgbClr val="1E6B34"/>
            </a:solidFill>
            <a:prstDash val="solid"/>
          </a:ln>
        </p:spPr>
      </p:sp>
      <p:sp>
        <p:nvSpPr>
          <p:cNvPr id="14" name="Shape 12"/>
          <p:cNvSpPr/>
          <p:nvPr/>
        </p:nvSpPr>
        <p:spPr>
          <a:xfrm>
            <a:off x="5061387" y="2670048"/>
            <a:ext cx="201168" cy="201168"/>
          </a:xfrm>
          <a:prstGeom prst="ellipse">
            <a:avLst/>
          </a:prstGeom>
          <a:solidFill>
            <a:srgbClr val="1E6B34"/>
          </a:solidFill>
          <a:ln/>
        </p:spPr>
      </p:sp>
      <p:sp>
        <p:nvSpPr>
          <p:cNvPr id="15" name="Text 13"/>
          <p:cNvSpPr/>
          <p:nvPr/>
        </p:nvSpPr>
        <p:spPr>
          <a:xfrm>
            <a:off x="4329867" y="2926080"/>
            <a:ext cx="1664208" cy="41148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57299" y="3310128"/>
            <a:ext cx="1609344" cy="45720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 summary / window</a:t>
            </a:r>
            <a:endParaRPr lang="en-US" sz="1050" dirty="0"/>
          </a:p>
        </p:txBody>
      </p:sp>
      <p:sp>
        <p:nvSpPr>
          <p:cNvPr id="17" name="Shape 15"/>
          <p:cNvSpPr/>
          <p:nvPr/>
        </p:nvSpPr>
        <p:spPr>
          <a:xfrm>
            <a:off x="5966643" y="3154680"/>
            <a:ext cx="258409" cy="0"/>
          </a:xfrm>
          <a:prstGeom prst="line">
            <a:avLst/>
          </a:prstGeom>
          <a:noFill/>
          <a:ln w="25400">
            <a:solidFill>
              <a:srgbClr val="5E9A62"/>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EF4EC"/>
          </a:solidFill>
          <a:ln w="19050">
            <a:solidFill>
              <a:srgbClr val="1E6B34"/>
            </a:solidFill>
            <a:prstDash val="solid"/>
          </a:ln>
        </p:spPr>
      </p:sp>
      <p:sp>
        <p:nvSpPr>
          <p:cNvPr id="19" name="Shape 17"/>
          <p:cNvSpPr/>
          <p:nvPr/>
        </p:nvSpPr>
        <p:spPr>
          <a:xfrm>
            <a:off x="6929140" y="2670048"/>
            <a:ext cx="201168" cy="201168"/>
          </a:xfrm>
          <a:prstGeom prst="ellipse">
            <a:avLst/>
          </a:prstGeom>
          <a:solidFill>
            <a:srgbClr val="1E6B34"/>
          </a:solidFill>
          <a:ln/>
        </p:spPr>
      </p:sp>
      <p:sp>
        <p:nvSpPr>
          <p:cNvPr id="20" name="Text 18"/>
          <p:cNvSpPr/>
          <p:nvPr/>
        </p:nvSpPr>
        <p:spPr>
          <a:xfrm>
            <a:off x="6197620" y="2926080"/>
            <a:ext cx="1664208" cy="41148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25052" y="3310128"/>
            <a:ext cx="1609344" cy="45720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java17 ingest</a:t>
            </a:r>
            <a:endParaRPr lang="en-US" sz="1050" dirty="0"/>
          </a:p>
        </p:txBody>
      </p:sp>
      <p:sp>
        <p:nvSpPr>
          <p:cNvPr id="22" name="Shape 20"/>
          <p:cNvSpPr/>
          <p:nvPr/>
        </p:nvSpPr>
        <p:spPr>
          <a:xfrm>
            <a:off x="7834396" y="3154680"/>
            <a:ext cx="258409" cy="0"/>
          </a:xfrm>
          <a:prstGeom prst="line">
            <a:avLst/>
          </a:prstGeom>
          <a:noFill/>
          <a:ln w="25400">
            <a:solidFill>
              <a:srgbClr val="5E9A62"/>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EF4EC"/>
          </a:solidFill>
          <a:ln w="19050">
            <a:solidFill>
              <a:srgbClr val="1E6B34"/>
            </a:solidFill>
            <a:prstDash val="solid"/>
          </a:ln>
        </p:spPr>
      </p:sp>
      <p:sp>
        <p:nvSpPr>
          <p:cNvPr id="24" name="Shape 22"/>
          <p:cNvSpPr/>
          <p:nvPr/>
        </p:nvSpPr>
        <p:spPr>
          <a:xfrm>
            <a:off x="8796894" y="2670048"/>
            <a:ext cx="201168" cy="201168"/>
          </a:xfrm>
          <a:prstGeom prst="ellipse">
            <a:avLst/>
          </a:prstGeom>
          <a:solidFill>
            <a:srgbClr val="1E6B34"/>
          </a:solidFill>
          <a:ln/>
        </p:spPr>
      </p:sp>
      <p:sp>
        <p:nvSpPr>
          <p:cNvPr id="25" name="Text 23"/>
          <p:cNvSpPr/>
          <p:nvPr/>
        </p:nvSpPr>
        <p:spPr>
          <a:xfrm>
            <a:off x="8065374" y="2926080"/>
            <a:ext cx="1664208" cy="41148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092806" y="3310128"/>
            <a:ext cx="1609344" cy="45720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by type · time · district</a:t>
            </a:r>
            <a:endParaRPr lang="en-US" sz="1050" dirty="0"/>
          </a:p>
        </p:txBody>
      </p:sp>
      <p:sp>
        <p:nvSpPr>
          <p:cNvPr id="27" name="Shape 25"/>
          <p:cNvSpPr/>
          <p:nvPr/>
        </p:nvSpPr>
        <p:spPr>
          <a:xfrm>
            <a:off x="9702150" y="3154680"/>
            <a:ext cx="258409" cy="0"/>
          </a:xfrm>
          <a:prstGeom prst="line">
            <a:avLst/>
          </a:prstGeom>
          <a:noFill/>
          <a:ln w="25400">
            <a:solidFill>
              <a:srgbClr val="5E9A62"/>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EF4EC"/>
          </a:solidFill>
          <a:ln w="19050">
            <a:solidFill>
              <a:srgbClr val="2E8C46"/>
            </a:solidFill>
            <a:prstDash val="solid"/>
          </a:ln>
        </p:spPr>
      </p:sp>
      <p:sp>
        <p:nvSpPr>
          <p:cNvPr id="29" name="Shape 27"/>
          <p:cNvSpPr/>
          <p:nvPr/>
        </p:nvSpPr>
        <p:spPr>
          <a:xfrm>
            <a:off x="10664647" y="2670048"/>
            <a:ext cx="201168" cy="201168"/>
          </a:xfrm>
          <a:prstGeom prst="ellipse">
            <a:avLst/>
          </a:prstGeom>
          <a:solidFill>
            <a:srgbClr val="2E8C46"/>
          </a:solidFill>
          <a:ln/>
        </p:spPr>
      </p:sp>
      <p:sp>
        <p:nvSpPr>
          <p:cNvPr id="30" name="Text 28"/>
          <p:cNvSpPr/>
          <p:nvPr/>
        </p:nvSpPr>
        <p:spPr>
          <a:xfrm>
            <a:off x="9933127" y="2926080"/>
            <a:ext cx="1664208" cy="41148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60559" y="3310128"/>
            <a:ext cx="1609344" cy="45720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live dashboard</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5E9A62"/>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1E6B34"/>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12080"/>
            <a:ext cx="10972800" cy="640080"/>
          </a:xfrm>
          <a:prstGeom prst="rect">
            <a:avLst/>
          </a:prstGeom>
          <a:noFill/>
          <a:ln/>
        </p:spPr>
        <p:txBody>
          <a:bodyPr wrap="square" rtlCol="0" anchor="ctr"/>
          <a:lstStyle/>
          <a:p>
            <a:pPr algn="ctr" indent="0" marL="0">
              <a:buNone/>
            </a:pPr>
            <a:r>
              <a:rPr lang="en-US" sz="1500" i="1" dirty="0">
                <a:solidFill>
                  <a:srgbClr val="1E6B34"/>
                </a:solidFill>
                <a:latin typeface="Calibri" pitchFamily="34" charset="0"/>
                <a:ea typeface="Calibri" pitchFamily="34" charset="-122"/>
                <a:cs typeface="Calibri" pitchFamily="34" charset="-120"/>
              </a:rPr>
              <a:t>Only compact window summaries ever cross into the cloud; raw readings stay at the edge, and the busiest bin is always collected first.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8C46"/>
                </a:solidFill>
                <a:latin typeface="Consolas" pitchFamily="34" charset="0"/>
                <a:ea typeface="Consolas" pitchFamily="34" charset="-122"/>
                <a:cs typeface="Consolas" pitchFamily="34" charset="-120"/>
              </a:rPr>
              <a:t>swm-frontend-548539235319.s3.us-east-1.amazonaws.com</a:t>
            </a:r>
            <a:endParaRPr lang="en-US" sz="1400" dirty="0"/>
          </a:p>
        </p:txBody>
      </p:sp>
      <p:sp>
        <p:nvSpPr>
          <p:cNvPr id="4" name="Shape 2"/>
          <p:cNvSpPr/>
          <p:nvPr/>
        </p:nvSpPr>
        <p:spPr>
          <a:xfrm>
            <a:off x="731520" y="1965960"/>
            <a:ext cx="685800" cy="685800"/>
          </a:xfrm>
          <a:prstGeom prst="ellipse">
            <a:avLst/>
          </a:prstGeom>
          <a:solidFill>
            <a:srgbClr val="1E6B34"/>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Pipeline health, all green</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Four of four checks green, with the freshest reading just 0.136 s old.</a:t>
            </a:r>
            <a:endParaRPr lang="en-US" sz="1350" dirty="0"/>
          </a:p>
        </p:txBody>
      </p:sp>
      <p:sp>
        <p:nvSpPr>
          <p:cNvPr id="8" name="Shape 6"/>
          <p:cNvSpPr/>
          <p:nvPr/>
        </p:nvSpPr>
        <p:spPr>
          <a:xfrm>
            <a:off x="731520" y="3383280"/>
            <a:ext cx="685800" cy="685800"/>
          </a:xfrm>
          <a:prstGeom prst="ellipse">
            <a:avLst/>
          </a:prstGeom>
          <a:solidFill>
            <a:srgbClr val="1E6B34"/>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Genuinely live data</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Two health polls fifteen seconds apart show stored items climbing 4,083 to 4,093 — live data, not a cache.</a:t>
            </a:r>
            <a:endParaRPr lang="en-US" sz="1350" dirty="0"/>
          </a:p>
        </p:txBody>
      </p:sp>
      <p:sp>
        <p:nvSpPr>
          <p:cNvPr id="12" name="Shape 10"/>
          <p:cNvSpPr/>
          <p:nvPr/>
        </p:nvSpPr>
        <p:spPr>
          <a:xfrm>
            <a:off x="731520" y="4800600"/>
            <a:ext cx="685800" cy="685800"/>
          </a:xfrm>
          <a:prstGeom prst="ellipse">
            <a:avLst/>
          </a:prstGeom>
          <a:solidFill>
            <a:srgbClr val="1E6B34"/>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Tested and scales</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115 automated tests pass across all four modules; a 300-message burst sent at ~49 msg/s and absorbed by Lambda before the follow-up check.</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5E9A62"/>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61A"/>
        </a:solidFill>
      </p:bgPr>
    </p:bg>
    <p:spTree>
      <p:nvGrpSpPr>
        <p:cNvPr id="1" name=""/>
        <p:cNvGrpSpPr/>
        <p:nvPr/>
      </p:nvGrpSpPr>
      <p:grpSpPr>
        <a:xfrm>
          <a:off x="0" y="0"/>
          <a:ext cx="0" cy="0"/>
          <a:chOff x="0" y="0"/>
          <a:chExt cx="0" cy="0"/>
        </a:xfrm>
      </p:grpSpPr>
      <p:sp>
        <p:nvSpPr>
          <p:cNvPr id="2" name="Text 0"/>
          <p:cNvSpPr/>
          <p:nvPr/>
        </p:nvSpPr>
        <p:spPr>
          <a:xfrm>
            <a:off x="640080" y="640080"/>
            <a:ext cx="10972800" cy="640080"/>
          </a:xfrm>
          <a:prstGeom prst="rect">
            <a:avLst/>
          </a:prstGeom>
          <a:noFill/>
          <a:ln/>
        </p:spPr>
        <p:txBody>
          <a:bodyPr wrap="square" rtlCol="0" anchor="ctr"/>
          <a:lstStyle/>
          <a:p>
            <a:pPr indent="0" marL="0">
              <a:buNone/>
            </a:pPr>
            <a:r>
              <a:rPr lang="en-US" sz="3000" b="1" dirty="0">
                <a:solidFill>
                  <a:srgbClr val="FFFFFF"/>
                </a:solidFill>
                <a:latin typeface="Century Schoolbook" pitchFamily="34" charset="0"/>
                <a:ea typeface="Century Schoolbook" pitchFamily="34" charset="-122"/>
                <a:cs typeface="Century Schoolbook" pitchFamily="34" charset="-120"/>
              </a:rPr>
              <a:t>Hardest Part — what only the real cloud revealed</a:t>
            </a:r>
            <a:endParaRPr lang="en-US" sz="3000" dirty="0"/>
          </a:p>
        </p:txBody>
      </p:sp>
      <p:sp>
        <p:nvSpPr>
          <p:cNvPr id="3" name="Shape 1"/>
          <p:cNvSpPr/>
          <p:nvPr/>
        </p:nvSpPr>
        <p:spPr>
          <a:xfrm>
            <a:off x="731520" y="1920240"/>
            <a:ext cx="10698480" cy="1965960"/>
          </a:xfrm>
          <a:prstGeom prst="roundRect">
            <a:avLst>
              <a:gd name="adj" fmla="val 4651"/>
            </a:avLst>
          </a:prstGeom>
          <a:solidFill>
            <a:srgbClr val="1F3A28"/>
          </a:solidFill>
          <a:ln w="15875">
            <a:solidFill>
              <a:srgbClr val="D9A62E"/>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D2E6CE"/>
                </a:solidFill>
                <a:latin typeface="Calibri" pitchFamily="34" charset="0"/>
                <a:ea typeface="Calibri" pitchFamily="34" charset="-122"/>
                <a:cs typeface="Calibri" pitchFamily="34" charset="-120"/>
              </a:rPr>
              <a:t>On the first real deployment, every DynamoDB and SQS call failed authentication across fog, processor and dashboard, while CloudFront and public Lambda Function URLs were blocked outright in the academy account. All 115 tests and the full emulator run passed cleanly, so nothing pointed at the code — the client swapped in hardcoded emulator credentials whenever an access-key variable was present, and real AWS always sets that variable.</a:t>
            </a:r>
            <a:endParaRPr lang="en-US" sz="1300" dirty="0"/>
          </a:p>
        </p:txBody>
      </p:sp>
      <p:sp>
        <p:nvSpPr>
          <p:cNvPr id="6" name="Shape 4"/>
          <p:cNvSpPr/>
          <p:nvPr/>
        </p:nvSpPr>
        <p:spPr>
          <a:xfrm>
            <a:off x="731520" y="4041648"/>
            <a:ext cx="10698480" cy="1965960"/>
          </a:xfrm>
          <a:prstGeom prst="roundRect">
            <a:avLst>
              <a:gd name="adj" fmla="val 4651"/>
            </a:avLst>
          </a:prstGeom>
          <a:solidFill>
            <a:srgbClr val="1F3A28"/>
          </a:solidFill>
          <a:ln w="15875">
            <a:solidFill>
              <a:srgbClr val="5E9A62"/>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5E9A62"/>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D2E6CE"/>
                </a:solidFill>
                <a:latin typeface="Calibri" pitchFamily="34" charset="0"/>
                <a:ea typeface="Calibri" pitchFamily="34" charset="-122"/>
                <a:cs typeface="Calibri" pitchFamily="34" charset="-120"/>
              </a:rPr>
              <a:t>Gate emulator credentials on the one truly local signal — the explicit LocalStack endpoint override — and serve the API through API Gateway with the frontend from S3 over HTTPS, around the account blocks. Every fix was re-verified live: a real DynamoDB write and a real 200 through the gateway.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2026-07-24T06:34:26Z</dcterms:created>
  <dcterms:modified xsi:type="dcterms:W3CDTF">2026-07-24T06:34:26Z</dcterms:modified>
</cp:coreProperties>
</file>