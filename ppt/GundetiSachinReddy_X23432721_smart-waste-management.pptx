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1A"/>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E6B34"/>
          </a:solidFill>
          <a:ln/>
        </p:spPr>
      </p:sp>
      <p:sp>
        <p:nvSpPr>
          <p:cNvPr id="3" name="Text 1"/>
          <p:cNvSpPr/>
          <p:nvPr/>
        </p:nvSpPr>
        <p:spPr>
          <a:xfrm>
            <a:off x="502920" y="1280160"/>
            <a:ext cx="3749040" cy="2377440"/>
          </a:xfrm>
          <a:prstGeom prst="rect">
            <a:avLst/>
          </a:prstGeom>
          <a:noFill/>
          <a:ln/>
        </p:spPr>
        <p:txBody>
          <a:bodyPr wrap="square" rtlCol="0" anchor="t"/>
          <a:lstStyle/>
          <a:p>
            <a:pPr indent="0" marL="0">
              <a:buNone/>
            </a:pPr>
            <a:r>
              <a:rPr lang="en-US" sz="3400" b="1" dirty="0">
                <a:solidFill>
                  <a:srgbClr val="FFFFFF"/>
                </a:solidFill>
                <a:latin typeface="Century Schoolbook" pitchFamily="34" charset="0"/>
                <a:ea typeface="Century Schoolbook" pitchFamily="34" charset="-122"/>
                <a:cs typeface="Century Schoolbook" pitchFamily="34" charset="-120"/>
              </a:rPr>
              <a:t>Smart Waste Management</a:t>
            </a:r>
            <a:endParaRPr lang="en-US" sz="3400" dirty="0"/>
          </a:p>
        </p:txBody>
      </p:sp>
      <p:sp>
        <p:nvSpPr>
          <p:cNvPr id="4" name="Text 2"/>
          <p:cNvSpPr/>
          <p:nvPr/>
        </p:nvSpPr>
        <p:spPr>
          <a:xfrm>
            <a:off x="521208" y="5394960"/>
            <a:ext cx="3840480" cy="731520"/>
          </a:xfrm>
          <a:prstGeom prst="rect">
            <a:avLst/>
          </a:prstGeom>
          <a:noFill/>
          <a:ln/>
        </p:spPr>
        <p:txBody>
          <a:bodyPr wrap="square" rtlCol="0" anchor="ctr"/>
          <a:lstStyle/>
          <a:p>
            <a:pPr indent="0" marL="0">
              <a:buNone/>
            </a:pPr>
            <a:r>
              <a:rPr lang="en-US" sz="1500" dirty="0">
                <a:solidFill>
                  <a:srgbClr val="D2E6CE"/>
                </a:solidFill>
                <a:latin typeface="Calibri" pitchFamily="34" charset="0"/>
                <a:ea typeface="Calibri" pitchFamily="34" charset="-122"/>
                <a:cs typeface="Calibri" pitchFamily="34" charset="-120"/>
              </a:rPr>
              <a:t>Gundeti Sachin Reddy   ·   X23432721</a:t>
            </a:r>
            <a:endParaRPr lang="en-US" sz="1500" dirty="0"/>
          </a:p>
        </p:txBody>
      </p:sp>
      <p:sp>
        <p:nvSpPr>
          <p:cNvPr id="5" name="Text 3"/>
          <p:cNvSpPr/>
          <p:nvPr/>
        </p:nvSpPr>
        <p:spPr>
          <a:xfrm>
            <a:off x="5120640" y="1371600"/>
            <a:ext cx="6492240" cy="2011680"/>
          </a:xfrm>
          <a:prstGeom prst="rect">
            <a:avLst/>
          </a:prstGeom>
          <a:noFill/>
          <a:ln/>
        </p:spPr>
        <p:txBody>
          <a:bodyPr wrap="square" rtlCol="0" anchor="ctr"/>
          <a:lstStyle/>
          <a:p>
            <a:pPr indent="0" marL="0">
              <a:lnSpc>
                <a:spcPct val="112000"/>
              </a:lnSpc>
              <a:buNone/>
            </a:pPr>
            <a:r>
              <a:rPr lang="en-US" sz="2000" dirty="0">
                <a:solidFill>
                  <a:srgbClr val="D2E6CE"/>
                </a:solidFill>
                <a:latin typeface="Calibri" pitchFamily="34" charset="0"/>
                <a:ea typeface="Calibri" pitchFamily="34" charset="-122"/>
                <a:cs typeface="Calibri" pitchFamily="34" charset="-120"/>
              </a:rPr>
              <a:t>Municipal collection runs on a fixed calendar, not on what is inside each bin — trucks roll to bins that are not yet full, while overflow, fire or gas build-up stays invisible until the next visit.</a:t>
            </a:r>
            <a:endParaRPr lang="en-US" sz="2000" dirty="0"/>
          </a:p>
        </p:txBody>
      </p:sp>
      <p:sp>
        <p:nvSpPr>
          <p:cNvPr id="6" name="Shape 4"/>
          <p:cNvSpPr/>
          <p:nvPr/>
        </p:nvSpPr>
        <p:spPr>
          <a:xfrm>
            <a:off x="5120640" y="4023360"/>
            <a:ext cx="2926080" cy="566928"/>
          </a:xfrm>
          <a:prstGeom prst="roundRect">
            <a:avLst>
              <a:gd name="adj" fmla="val 50000"/>
            </a:avLst>
          </a:prstGeom>
          <a:solidFill>
            <a:srgbClr val="1B3322"/>
          </a:solidFill>
          <a:ln w="12700">
            <a:solidFill>
              <a:srgbClr val="D9A62E"/>
            </a:solidFill>
            <a:prstDash val="solid"/>
          </a:ln>
        </p:spPr>
      </p:sp>
      <p:sp>
        <p:nvSpPr>
          <p:cNvPr id="7" name="Text 5"/>
          <p:cNvSpPr/>
          <p:nvPr/>
        </p:nvSpPr>
        <p:spPr>
          <a:xfrm>
            <a:off x="5120640" y="4023360"/>
            <a:ext cx="2926080" cy="566928"/>
          </a:xfrm>
          <a:prstGeom prst="rect">
            <a:avLst/>
          </a:prstGeom>
          <a:noFill/>
          <a:ln/>
        </p:spPr>
        <p:txBody>
          <a:bodyPr wrap="square" lIns="0" tIns="0" rIns="0" bIns="0" rtlCol="0" anchor="ctr"/>
          <a:lstStyle/>
          <a:p>
            <a:pPr algn="ctr" indent="0" marL="0">
              <a:buNone/>
            </a:pPr>
            <a:r>
              <a:rPr lang="en-US" sz="1350" b="1" dirty="0">
                <a:solidFill>
                  <a:srgbClr val="D9A62E"/>
                </a:solidFill>
                <a:latin typeface="Calibri" pitchFamily="34" charset="0"/>
                <a:ea typeface="Calibri" pitchFamily="34" charset="-122"/>
                <a:cs typeface="Calibri" pitchFamily="34" charset="-120"/>
              </a:rPr>
              <a:t>Overflow fill &gt; 85%</a:t>
            </a:r>
            <a:endParaRPr lang="en-US" sz="1350" dirty="0"/>
          </a:p>
        </p:txBody>
      </p:sp>
      <p:sp>
        <p:nvSpPr>
          <p:cNvPr id="8" name="Shape 6"/>
          <p:cNvSpPr/>
          <p:nvPr/>
        </p:nvSpPr>
        <p:spPr>
          <a:xfrm>
            <a:off x="5120640" y="4709160"/>
            <a:ext cx="2926080" cy="566928"/>
          </a:xfrm>
          <a:prstGeom prst="roundRect">
            <a:avLst>
              <a:gd name="adj" fmla="val 50000"/>
            </a:avLst>
          </a:prstGeom>
          <a:solidFill>
            <a:srgbClr val="1B3322"/>
          </a:solidFill>
          <a:ln w="12700">
            <a:solidFill>
              <a:srgbClr val="D9A62E"/>
            </a:solidFill>
            <a:prstDash val="solid"/>
          </a:ln>
        </p:spPr>
      </p:sp>
      <p:sp>
        <p:nvSpPr>
          <p:cNvPr id="9" name="Text 7"/>
          <p:cNvSpPr/>
          <p:nvPr/>
        </p:nvSpPr>
        <p:spPr>
          <a:xfrm>
            <a:off x="5120640" y="4709160"/>
            <a:ext cx="2926080" cy="566928"/>
          </a:xfrm>
          <a:prstGeom prst="rect">
            <a:avLst/>
          </a:prstGeom>
          <a:noFill/>
          <a:ln/>
        </p:spPr>
        <p:txBody>
          <a:bodyPr wrap="square" lIns="0" tIns="0" rIns="0" bIns="0" rtlCol="0" anchor="ctr"/>
          <a:lstStyle/>
          <a:p>
            <a:pPr algn="ctr" indent="0" marL="0">
              <a:buNone/>
            </a:pPr>
            <a:r>
              <a:rPr lang="en-US" sz="1350" b="1" dirty="0">
                <a:solidFill>
                  <a:srgbClr val="D9A62E"/>
                </a:solidFill>
                <a:latin typeface="Calibri" pitchFamily="34" charset="0"/>
                <a:ea typeface="Calibri" pitchFamily="34" charset="-122"/>
                <a:cs typeface="Calibri" pitchFamily="34" charset="-120"/>
              </a:rPr>
              <a:t>Fire temp &gt; 55 °C</a:t>
            </a:r>
            <a:endParaRPr lang="en-US" sz="1350" dirty="0"/>
          </a:p>
        </p:txBody>
      </p:sp>
      <p:sp>
        <p:nvSpPr>
          <p:cNvPr id="10" name="Shape 8"/>
          <p:cNvSpPr/>
          <p:nvPr/>
        </p:nvSpPr>
        <p:spPr>
          <a:xfrm>
            <a:off x="5120640" y="5394960"/>
            <a:ext cx="2926080" cy="566928"/>
          </a:xfrm>
          <a:prstGeom prst="roundRect">
            <a:avLst>
              <a:gd name="adj" fmla="val 50000"/>
            </a:avLst>
          </a:prstGeom>
          <a:solidFill>
            <a:srgbClr val="1B3322"/>
          </a:solidFill>
          <a:ln w="12700">
            <a:solidFill>
              <a:srgbClr val="D9A62E"/>
            </a:solidFill>
            <a:prstDash val="solid"/>
          </a:ln>
        </p:spPr>
      </p:sp>
      <p:sp>
        <p:nvSpPr>
          <p:cNvPr id="11" name="Text 9"/>
          <p:cNvSpPr/>
          <p:nvPr/>
        </p:nvSpPr>
        <p:spPr>
          <a:xfrm>
            <a:off x="5120640" y="5394960"/>
            <a:ext cx="2926080" cy="566928"/>
          </a:xfrm>
          <a:prstGeom prst="rect">
            <a:avLst/>
          </a:prstGeom>
          <a:noFill/>
          <a:ln/>
        </p:spPr>
        <p:txBody>
          <a:bodyPr wrap="square" lIns="0" tIns="0" rIns="0" bIns="0" rtlCol="0" anchor="ctr"/>
          <a:lstStyle/>
          <a:p>
            <a:pPr algn="ctr" indent="0" marL="0">
              <a:buNone/>
            </a:pPr>
            <a:r>
              <a:rPr lang="en-US" sz="1350" b="1" dirty="0">
                <a:solidFill>
                  <a:srgbClr val="D9A62E"/>
                </a:solidFill>
                <a:latin typeface="Calibri" pitchFamily="34" charset="0"/>
                <a:ea typeface="Calibri" pitchFamily="34" charset="-122"/>
                <a:cs typeface="Calibri" pitchFamily="34" charset="-120"/>
              </a:rPr>
              <a:t>Gas &gt; 400 ppm</a:t>
            </a:r>
            <a:endParaRPr lang="en-US" sz="1350" dirty="0"/>
          </a:p>
        </p:txBody>
      </p:sp>
      <p:sp>
        <p:nvSpPr>
          <p:cNvPr id="12" name="Text 10"/>
          <p:cNvSpPr/>
          <p:nvPr/>
        </p:nvSpPr>
        <p:spPr>
          <a:xfrm>
            <a:off x="5120640" y="6172200"/>
            <a:ext cx="6400800" cy="365760"/>
          </a:xfrm>
          <a:prstGeom prst="rect">
            <a:avLst/>
          </a:prstGeom>
          <a:noFill/>
          <a:ln/>
        </p:spPr>
        <p:txBody>
          <a:bodyPr wrap="square" rtlCol="0" anchor="ctr"/>
          <a:lstStyle/>
          <a:p>
            <a:pPr indent="0" marL="0">
              <a:buNone/>
            </a:pPr>
            <a:r>
              <a:rPr lang="en-US" sz="1250" dirty="0">
                <a:solidFill>
                  <a:srgbClr val="5C6E58"/>
                </a:solidFill>
                <a:latin typeface="Calibri" pitchFamily="34" charset="0"/>
                <a:ea typeface="Calibri" pitchFamily="34" charset="-122"/>
                <a:cs typeface="Calibri" pitchFamily="34" charset="-120"/>
              </a:rPr>
              <a:t>Fog &amp; Edge Computing (H9FECC)   ·   deployed live on AWS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000" b="1" dirty="0">
                <a:solidFill>
                  <a:srgbClr val="152619"/>
                </a:solidFill>
                <a:latin typeface="Century Schoolbook" pitchFamily="34" charset="0"/>
                <a:ea typeface="Century Schoolbook" pitchFamily="34" charset="-122"/>
                <a:cs typeface="Century Schoolbook" pitchFamily="34" charset="-120"/>
              </a:rPr>
              <a:t>What I Built — Edge to Cloud</a:t>
            </a:r>
            <a:endParaRPr lang="en-US" sz="3000" dirty="0"/>
          </a:p>
        </p:txBody>
      </p:sp>
      <p:sp>
        <p:nvSpPr>
          <p:cNvPr id="3" name="Shape 1"/>
          <p:cNvSpPr/>
          <p:nvPr/>
        </p:nvSpPr>
        <p:spPr>
          <a:xfrm>
            <a:off x="640080" y="2468880"/>
            <a:ext cx="1572768" cy="1371600"/>
          </a:xfrm>
          <a:prstGeom prst="roundRect">
            <a:avLst>
              <a:gd name="adj" fmla="val 6667"/>
            </a:avLst>
          </a:prstGeom>
          <a:solidFill>
            <a:srgbClr val="EEF4EC"/>
          </a:solidFill>
          <a:ln w="19050">
            <a:solidFill>
              <a:srgbClr val="5E9A62"/>
            </a:solidFill>
            <a:prstDash val="solid"/>
          </a:ln>
        </p:spPr>
      </p:sp>
      <p:sp>
        <p:nvSpPr>
          <p:cNvPr id="4" name="Shape 2"/>
          <p:cNvSpPr/>
          <p:nvPr/>
        </p:nvSpPr>
        <p:spPr>
          <a:xfrm>
            <a:off x="1335024" y="2633472"/>
            <a:ext cx="182880" cy="182880"/>
          </a:xfrm>
          <a:prstGeom prst="ellipse">
            <a:avLst/>
          </a:prstGeom>
          <a:solidFill>
            <a:srgbClr val="5E9A62"/>
          </a:solidFill>
          <a:ln/>
        </p:spPr>
      </p:sp>
      <p:sp>
        <p:nvSpPr>
          <p:cNvPr id="5" name="Text 3"/>
          <p:cNvSpPr/>
          <p:nvPr/>
        </p:nvSpPr>
        <p:spPr>
          <a:xfrm>
            <a:off x="612648" y="2852928"/>
            <a:ext cx="1627632" cy="365760"/>
          </a:xfrm>
          <a:prstGeom prst="rect">
            <a:avLst/>
          </a:prstGeom>
          <a:noFill/>
          <a:ln/>
        </p:spPr>
        <p:txBody>
          <a:bodyPr wrap="square" lIns="0" tIns="0" rIns="0" bIns="0" rtlCol="0" anchor="ctr"/>
          <a:lstStyle/>
          <a:p>
            <a:pPr algn="ctr" indent="0" marL="0">
              <a:buNone/>
            </a:pPr>
            <a:r>
              <a:rPr lang="en-US" sz="1450" b="1" dirty="0">
                <a:solidFill>
                  <a:srgbClr val="152619"/>
                </a:solidFill>
                <a:latin typeface="Calibri" pitchFamily="34" charset="0"/>
                <a:ea typeface="Calibri" pitchFamily="34" charset="-122"/>
                <a:cs typeface="Calibri" pitchFamily="34" charset="-120"/>
              </a:rPr>
              <a:t>Bin sensors</a:t>
            </a:r>
            <a:endParaRPr lang="en-US" sz="1450" dirty="0"/>
          </a:p>
        </p:txBody>
      </p:sp>
      <p:sp>
        <p:nvSpPr>
          <p:cNvPr id="6" name="Text 4"/>
          <p:cNvSpPr/>
          <p:nvPr/>
        </p:nvSpPr>
        <p:spPr>
          <a:xfrm>
            <a:off x="640080" y="3200400"/>
            <a:ext cx="1572768" cy="411480"/>
          </a:xfrm>
          <a:prstGeom prst="rect">
            <a:avLst/>
          </a:prstGeom>
          <a:noFill/>
          <a:ln/>
        </p:spPr>
        <p:txBody>
          <a:bodyPr wrap="square" lIns="0" tIns="0" rIns="0" bIns="0" rtlCol="0" anchor="t"/>
          <a:lstStyle/>
          <a:p>
            <a:pPr algn="ctr" indent="0" marL="0">
              <a:buNone/>
            </a:pPr>
            <a:r>
              <a:rPr lang="en-US" sz="1050" dirty="0">
                <a:solidFill>
                  <a:srgbClr val="5C6E58"/>
                </a:solidFill>
                <a:latin typeface="Calibri" pitchFamily="34" charset="0"/>
                <a:ea typeface="Calibri" pitchFamily="34" charset="-122"/>
                <a:cs typeface="Calibri" pitchFamily="34" charset="-120"/>
              </a:rPr>
              <a:t>10 · 5 types · 2 districts</a:t>
            </a:r>
            <a:endParaRPr lang="en-US" sz="1050" dirty="0"/>
          </a:p>
        </p:txBody>
      </p:sp>
      <p:sp>
        <p:nvSpPr>
          <p:cNvPr id="7" name="Shape 5"/>
          <p:cNvSpPr/>
          <p:nvPr/>
        </p:nvSpPr>
        <p:spPr>
          <a:xfrm>
            <a:off x="2231136" y="3154680"/>
            <a:ext cx="258409" cy="0"/>
          </a:xfrm>
          <a:prstGeom prst="line">
            <a:avLst/>
          </a:prstGeom>
          <a:noFill/>
          <a:ln w="25400">
            <a:solidFill>
              <a:srgbClr val="5E9A62"/>
            </a:solidFill>
            <a:prstDash val="solid"/>
            <a:tailEnd type="triangle"/>
          </a:ln>
        </p:spPr>
      </p:sp>
      <p:sp>
        <p:nvSpPr>
          <p:cNvPr id="8" name="Shape 6"/>
          <p:cNvSpPr/>
          <p:nvPr/>
        </p:nvSpPr>
        <p:spPr>
          <a:xfrm>
            <a:off x="2507833" y="2468880"/>
            <a:ext cx="1572768" cy="1371600"/>
          </a:xfrm>
          <a:prstGeom prst="roundRect">
            <a:avLst>
              <a:gd name="adj" fmla="val 6667"/>
            </a:avLst>
          </a:prstGeom>
          <a:solidFill>
            <a:srgbClr val="EEF4EC"/>
          </a:solidFill>
          <a:ln w="19050">
            <a:solidFill>
              <a:srgbClr val="5E9A62"/>
            </a:solidFill>
            <a:prstDash val="solid"/>
          </a:ln>
        </p:spPr>
      </p:sp>
      <p:sp>
        <p:nvSpPr>
          <p:cNvPr id="9" name="Shape 7"/>
          <p:cNvSpPr/>
          <p:nvPr/>
        </p:nvSpPr>
        <p:spPr>
          <a:xfrm>
            <a:off x="3202777" y="2633472"/>
            <a:ext cx="182880" cy="182880"/>
          </a:xfrm>
          <a:prstGeom prst="ellipse">
            <a:avLst/>
          </a:prstGeom>
          <a:solidFill>
            <a:srgbClr val="5E9A62"/>
          </a:solidFill>
          <a:ln/>
        </p:spPr>
      </p:sp>
      <p:sp>
        <p:nvSpPr>
          <p:cNvPr id="10" name="Text 8"/>
          <p:cNvSpPr/>
          <p:nvPr/>
        </p:nvSpPr>
        <p:spPr>
          <a:xfrm>
            <a:off x="2480401" y="2852928"/>
            <a:ext cx="1627632" cy="365760"/>
          </a:xfrm>
          <a:prstGeom prst="rect">
            <a:avLst/>
          </a:prstGeom>
          <a:noFill/>
          <a:ln/>
        </p:spPr>
        <p:txBody>
          <a:bodyPr wrap="square" lIns="0" tIns="0" rIns="0" bIns="0" rtlCol="0" anchor="ctr"/>
          <a:lstStyle/>
          <a:p>
            <a:pPr algn="ctr" indent="0" marL="0">
              <a:buNone/>
            </a:pPr>
            <a:r>
              <a:rPr lang="en-US" sz="1450" b="1" dirty="0">
                <a:solidFill>
                  <a:srgbClr val="152619"/>
                </a:solidFill>
                <a:latin typeface="Calibri" pitchFamily="34" charset="0"/>
                <a:ea typeface="Calibri" pitchFamily="34" charset="-122"/>
                <a:cs typeface="Calibri" pitchFamily="34" charset="-120"/>
              </a:rPr>
              <a:t>Fog node (EC2)</a:t>
            </a:r>
            <a:endParaRPr lang="en-US" sz="1450" dirty="0"/>
          </a:p>
        </p:txBody>
      </p:sp>
      <p:sp>
        <p:nvSpPr>
          <p:cNvPr id="11" name="Text 9"/>
          <p:cNvSpPr/>
          <p:nvPr/>
        </p:nvSpPr>
        <p:spPr>
          <a:xfrm>
            <a:off x="2507833" y="3200400"/>
            <a:ext cx="1572768" cy="411480"/>
          </a:xfrm>
          <a:prstGeom prst="rect">
            <a:avLst/>
          </a:prstGeom>
          <a:noFill/>
          <a:ln/>
        </p:spPr>
        <p:txBody>
          <a:bodyPr wrap="square" lIns="0" tIns="0" rIns="0" bIns="0" rtlCol="0" anchor="t"/>
          <a:lstStyle/>
          <a:p>
            <a:pPr algn="ctr" indent="0" marL="0">
              <a:buNone/>
            </a:pPr>
            <a:r>
              <a:rPr lang="en-US" sz="1050" dirty="0">
                <a:solidFill>
                  <a:srgbClr val="5C6E58"/>
                </a:solidFill>
                <a:latin typeface="Calibri" pitchFamily="34" charset="0"/>
                <a:ea typeface="Calibri" pitchFamily="34" charset="-122"/>
                <a:cs typeface="Calibri" pitchFamily="34" charset="-120"/>
              </a:rPr>
              <a:t>windows · hazard alerts</a:t>
            </a:r>
            <a:endParaRPr lang="en-US" sz="1050" dirty="0"/>
          </a:p>
        </p:txBody>
      </p:sp>
      <p:sp>
        <p:nvSpPr>
          <p:cNvPr id="12" name="Shape 10"/>
          <p:cNvSpPr/>
          <p:nvPr/>
        </p:nvSpPr>
        <p:spPr>
          <a:xfrm>
            <a:off x="4098889" y="3154680"/>
            <a:ext cx="258409" cy="0"/>
          </a:xfrm>
          <a:prstGeom prst="line">
            <a:avLst/>
          </a:prstGeom>
          <a:noFill/>
          <a:ln w="25400">
            <a:solidFill>
              <a:srgbClr val="5E9A62"/>
            </a:solidFill>
            <a:prstDash val="solid"/>
            <a:tailEnd type="triangle"/>
          </a:ln>
        </p:spPr>
      </p:sp>
      <p:sp>
        <p:nvSpPr>
          <p:cNvPr id="13" name="Shape 11"/>
          <p:cNvSpPr/>
          <p:nvPr/>
        </p:nvSpPr>
        <p:spPr>
          <a:xfrm>
            <a:off x="4375587" y="2468880"/>
            <a:ext cx="1572768" cy="1371600"/>
          </a:xfrm>
          <a:prstGeom prst="roundRect">
            <a:avLst>
              <a:gd name="adj" fmla="val 6667"/>
            </a:avLst>
          </a:prstGeom>
          <a:solidFill>
            <a:srgbClr val="EEF4EC"/>
          </a:solidFill>
          <a:ln w="19050">
            <a:solidFill>
              <a:srgbClr val="1E6B34"/>
            </a:solidFill>
            <a:prstDash val="solid"/>
          </a:ln>
        </p:spPr>
      </p:sp>
      <p:sp>
        <p:nvSpPr>
          <p:cNvPr id="14" name="Shape 12"/>
          <p:cNvSpPr/>
          <p:nvPr/>
        </p:nvSpPr>
        <p:spPr>
          <a:xfrm>
            <a:off x="5070531" y="2633472"/>
            <a:ext cx="182880" cy="182880"/>
          </a:xfrm>
          <a:prstGeom prst="ellipse">
            <a:avLst/>
          </a:prstGeom>
          <a:solidFill>
            <a:srgbClr val="1E6B34"/>
          </a:solidFill>
          <a:ln/>
        </p:spPr>
      </p:sp>
      <p:sp>
        <p:nvSpPr>
          <p:cNvPr id="15" name="Text 13"/>
          <p:cNvSpPr/>
          <p:nvPr/>
        </p:nvSpPr>
        <p:spPr>
          <a:xfrm>
            <a:off x="4348155" y="2852928"/>
            <a:ext cx="1627632" cy="365760"/>
          </a:xfrm>
          <a:prstGeom prst="rect">
            <a:avLst/>
          </a:prstGeom>
          <a:noFill/>
          <a:ln/>
        </p:spPr>
        <p:txBody>
          <a:bodyPr wrap="square" lIns="0" tIns="0" rIns="0" bIns="0" rtlCol="0" anchor="ctr"/>
          <a:lstStyle/>
          <a:p>
            <a:pPr algn="ctr" indent="0" marL="0">
              <a:buNone/>
            </a:pPr>
            <a:r>
              <a:rPr lang="en-US" sz="1450" b="1" dirty="0">
                <a:solidFill>
                  <a:srgbClr val="152619"/>
                </a:solidFill>
                <a:latin typeface="Calibri" pitchFamily="34" charset="0"/>
                <a:ea typeface="Calibri" pitchFamily="34" charset="-122"/>
                <a:cs typeface="Calibri" pitchFamily="34" charset="-120"/>
              </a:rPr>
              <a:t>Amazon SQS</a:t>
            </a:r>
            <a:endParaRPr lang="en-US" sz="1450" dirty="0"/>
          </a:p>
        </p:txBody>
      </p:sp>
      <p:sp>
        <p:nvSpPr>
          <p:cNvPr id="16" name="Text 14"/>
          <p:cNvSpPr/>
          <p:nvPr/>
        </p:nvSpPr>
        <p:spPr>
          <a:xfrm>
            <a:off x="4375587" y="3200400"/>
            <a:ext cx="1572768" cy="411480"/>
          </a:xfrm>
          <a:prstGeom prst="rect">
            <a:avLst/>
          </a:prstGeom>
          <a:noFill/>
          <a:ln/>
        </p:spPr>
        <p:txBody>
          <a:bodyPr wrap="square" lIns="0" tIns="0" rIns="0" bIns="0" rtlCol="0" anchor="t"/>
          <a:lstStyle/>
          <a:p>
            <a:pPr algn="ctr" indent="0" marL="0">
              <a:buNone/>
            </a:pPr>
            <a:r>
              <a:rPr lang="en-US" sz="1050" dirty="0">
                <a:solidFill>
                  <a:srgbClr val="5C6E58"/>
                </a:solidFill>
                <a:latin typeface="Calibri" pitchFamily="34" charset="0"/>
                <a:ea typeface="Calibri" pitchFamily="34" charset="-122"/>
                <a:cs typeface="Calibri" pitchFamily="34" charset="-120"/>
              </a:rPr>
              <a:t>1 summary / window</a:t>
            </a:r>
            <a:endParaRPr lang="en-US" sz="1050" dirty="0"/>
          </a:p>
        </p:txBody>
      </p:sp>
      <p:sp>
        <p:nvSpPr>
          <p:cNvPr id="17" name="Shape 15"/>
          <p:cNvSpPr/>
          <p:nvPr/>
        </p:nvSpPr>
        <p:spPr>
          <a:xfrm>
            <a:off x="5966643" y="3154680"/>
            <a:ext cx="258409" cy="0"/>
          </a:xfrm>
          <a:prstGeom prst="line">
            <a:avLst/>
          </a:prstGeom>
          <a:noFill/>
          <a:ln w="25400">
            <a:solidFill>
              <a:srgbClr val="5E9A62"/>
            </a:solidFill>
            <a:prstDash val="solid"/>
            <a:tailEnd type="triangle"/>
          </a:ln>
        </p:spPr>
      </p:sp>
      <p:sp>
        <p:nvSpPr>
          <p:cNvPr id="18" name="Shape 16"/>
          <p:cNvSpPr/>
          <p:nvPr/>
        </p:nvSpPr>
        <p:spPr>
          <a:xfrm>
            <a:off x="6243340" y="2468880"/>
            <a:ext cx="1572768" cy="1371600"/>
          </a:xfrm>
          <a:prstGeom prst="roundRect">
            <a:avLst>
              <a:gd name="adj" fmla="val 6667"/>
            </a:avLst>
          </a:prstGeom>
          <a:solidFill>
            <a:srgbClr val="EEF4EC"/>
          </a:solidFill>
          <a:ln w="19050">
            <a:solidFill>
              <a:srgbClr val="1E6B34"/>
            </a:solidFill>
            <a:prstDash val="solid"/>
          </a:ln>
        </p:spPr>
      </p:sp>
      <p:sp>
        <p:nvSpPr>
          <p:cNvPr id="19" name="Shape 17"/>
          <p:cNvSpPr/>
          <p:nvPr/>
        </p:nvSpPr>
        <p:spPr>
          <a:xfrm>
            <a:off x="6938284" y="2633472"/>
            <a:ext cx="182880" cy="182880"/>
          </a:xfrm>
          <a:prstGeom prst="ellipse">
            <a:avLst/>
          </a:prstGeom>
          <a:solidFill>
            <a:srgbClr val="1E6B34"/>
          </a:solidFill>
          <a:ln/>
        </p:spPr>
      </p:sp>
      <p:sp>
        <p:nvSpPr>
          <p:cNvPr id="20" name="Text 18"/>
          <p:cNvSpPr/>
          <p:nvPr/>
        </p:nvSpPr>
        <p:spPr>
          <a:xfrm>
            <a:off x="6215908" y="2852928"/>
            <a:ext cx="1627632" cy="365760"/>
          </a:xfrm>
          <a:prstGeom prst="rect">
            <a:avLst/>
          </a:prstGeom>
          <a:noFill/>
          <a:ln/>
        </p:spPr>
        <p:txBody>
          <a:bodyPr wrap="square" lIns="0" tIns="0" rIns="0" bIns="0" rtlCol="0" anchor="ctr"/>
          <a:lstStyle/>
          <a:p>
            <a:pPr algn="ctr" indent="0" marL="0">
              <a:buNone/>
            </a:pPr>
            <a:r>
              <a:rPr lang="en-US" sz="1450" b="1" dirty="0">
                <a:solidFill>
                  <a:srgbClr val="152619"/>
                </a:solidFill>
                <a:latin typeface="Calibri" pitchFamily="34" charset="0"/>
                <a:ea typeface="Calibri" pitchFamily="34" charset="-122"/>
                <a:cs typeface="Calibri" pitchFamily="34" charset="-120"/>
              </a:rPr>
              <a:t>AWS Lambda</a:t>
            </a:r>
            <a:endParaRPr lang="en-US" sz="1450" dirty="0"/>
          </a:p>
        </p:txBody>
      </p:sp>
      <p:sp>
        <p:nvSpPr>
          <p:cNvPr id="21" name="Text 19"/>
          <p:cNvSpPr/>
          <p:nvPr/>
        </p:nvSpPr>
        <p:spPr>
          <a:xfrm>
            <a:off x="6243340" y="3200400"/>
            <a:ext cx="1572768" cy="411480"/>
          </a:xfrm>
          <a:prstGeom prst="rect">
            <a:avLst/>
          </a:prstGeom>
          <a:noFill/>
          <a:ln/>
        </p:spPr>
        <p:txBody>
          <a:bodyPr wrap="square" lIns="0" tIns="0" rIns="0" bIns="0" rtlCol="0" anchor="t"/>
          <a:lstStyle/>
          <a:p>
            <a:pPr algn="ctr" indent="0" marL="0">
              <a:buNone/>
            </a:pPr>
            <a:r>
              <a:rPr lang="en-US" sz="1050" dirty="0">
                <a:solidFill>
                  <a:srgbClr val="5C6E58"/>
                </a:solidFill>
                <a:latin typeface="Calibri" pitchFamily="34" charset="0"/>
                <a:ea typeface="Calibri" pitchFamily="34" charset="-122"/>
                <a:cs typeface="Calibri" pitchFamily="34" charset="-120"/>
              </a:rPr>
              <a:t>java17 ingest</a:t>
            </a:r>
            <a:endParaRPr lang="en-US" sz="1050" dirty="0"/>
          </a:p>
        </p:txBody>
      </p:sp>
      <p:sp>
        <p:nvSpPr>
          <p:cNvPr id="22" name="Shape 20"/>
          <p:cNvSpPr/>
          <p:nvPr/>
        </p:nvSpPr>
        <p:spPr>
          <a:xfrm>
            <a:off x="7834396" y="3154680"/>
            <a:ext cx="258409" cy="0"/>
          </a:xfrm>
          <a:prstGeom prst="line">
            <a:avLst/>
          </a:prstGeom>
          <a:noFill/>
          <a:ln w="25400">
            <a:solidFill>
              <a:srgbClr val="5E9A62"/>
            </a:solidFill>
            <a:prstDash val="solid"/>
            <a:tailEnd type="triangle"/>
          </a:ln>
        </p:spPr>
      </p:sp>
      <p:sp>
        <p:nvSpPr>
          <p:cNvPr id="23" name="Shape 21"/>
          <p:cNvSpPr/>
          <p:nvPr/>
        </p:nvSpPr>
        <p:spPr>
          <a:xfrm>
            <a:off x="8111094" y="2468880"/>
            <a:ext cx="1572768" cy="1371600"/>
          </a:xfrm>
          <a:prstGeom prst="roundRect">
            <a:avLst>
              <a:gd name="adj" fmla="val 6667"/>
            </a:avLst>
          </a:prstGeom>
          <a:solidFill>
            <a:srgbClr val="EEF4EC"/>
          </a:solidFill>
          <a:ln w="19050">
            <a:solidFill>
              <a:srgbClr val="1E6B34"/>
            </a:solidFill>
            <a:prstDash val="solid"/>
          </a:ln>
        </p:spPr>
      </p:sp>
      <p:sp>
        <p:nvSpPr>
          <p:cNvPr id="24" name="Shape 22"/>
          <p:cNvSpPr/>
          <p:nvPr/>
        </p:nvSpPr>
        <p:spPr>
          <a:xfrm>
            <a:off x="8806038" y="2633472"/>
            <a:ext cx="182880" cy="182880"/>
          </a:xfrm>
          <a:prstGeom prst="ellipse">
            <a:avLst/>
          </a:prstGeom>
          <a:solidFill>
            <a:srgbClr val="1E6B34"/>
          </a:solidFill>
          <a:ln/>
        </p:spPr>
      </p:sp>
      <p:sp>
        <p:nvSpPr>
          <p:cNvPr id="25" name="Text 23"/>
          <p:cNvSpPr/>
          <p:nvPr/>
        </p:nvSpPr>
        <p:spPr>
          <a:xfrm>
            <a:off x="8083662" y="2852928"/>
            <a:ext cx="1627632" cy="365760"/>
          </a:xfrm>
          <a:prstGeom prst="rect">
            <a:avLst/>
          </a:prstGeom>
          <a:noFill/>
          <a:ln/>
        </p:spPr>
        <p:txBody>
          <a:bodyPr wrap="square" lIns="0" tIns="0" rIns="0" bIns="0" rtlCol="0" anchor="ctr"/>
          <a:lstStyle/>
          <a:p>
            <a:pPr algn="ctr" indent="0" marL="0">
              <a:buNone/>
            </a:pPr>
            <a:r>
              <a:rPr lang="en-US" sz="1450" b="1" dirty="0">
                <a:solidFill>
                  <a:srgbClr val="152619"/>
                </a:solidFill>
                <a:latin typeface="Calibri" pitchFamily="34" charset="0"/>
                <a:ea typeface="Calibri" pitchFamily="34" charset="-122"/>
                <a:cs typeface="Calibri" pitchFamily="34" charset="-120"/>
              </a:rPr>
              <a:t>DynamoDB</a:t>
            </a:r>
            <a:endParaRPr lang="en-US" sz="1450" dirty="0"/>
          </a:p>
        </p:txBody>
      </p:sp>
      <p:sp>
        <p:nvSpPr>
          <p:cNvPr id="26" name="Text 24"/>
          <p:cNvSpPr/>
          <p:nvPr/>
        </p:nvSpPr>
        <p:spPr>
          <a:xfrm>
            <a:off x="8111094" y="3200400"/>
            <a:ext cx="1572768" cy="411480"/>
          </a:xfrm>
          <a:prstGeom prst="rect">
            <a:avLst/>
          </a:prstGeom>
          <a:noFill/>
          <a:ln/>
        </p:spPr>
        <p:txBody>
          <a:bodyPr wrap="square" lIns="0" tIns="0" rIns="0" bIns="0" rtlCol="0" anchor="t"/>
          <a:lstStyle/>
          <a:p>
            <a:pPr algn="ctr" indent="0" marL="0">
              <a:buNone/>
            </a:pPr>
            <a:r>
              <a:rPr lang="en-US" sz="1050" dirty="0">
                <a:solidFill>
                  <a:srgbClr val="5C6E58"/>
                </a:solidFill>
                <a:latin typeface="Calibri" pitchFamily="34" charset="0"/>
                <a:ea typeface="Calibri" pitchFamily="34" charset="-122"/>
                <a:cs typeface="Calibri" pitchFamily="34" charset="-120"/>
              </a:rPr>
              <a:t>by type · time · district</a:t>
            </a:r>
            <a:endParaRPr lang="en-US" sz="1050" dirty="0"/>
          </a:p>
        </p:txBody>
      </p:sp>
      <p:sp>
        <p:nvSpPr>
          <p:cNvPr id="27" name="Shape 25"/>
          <p:cNvSpPr/>
          <p:nvPr/>
        </p:nvSpPr>
        <p:spPr>
          <a:xfrm>
            <a:off x="9702150" y="3154680"/>
            <a:ext cx="258409" cy="0"/>
          </a:xfrm>
          <a:prstGeom prst="line">
            <a:avLst/>
          </a:prstGeom>
          <a:noFill/>
          <a:ln w="25400">
            <a:solidFill>
              <a:srgbClr val="5E9A62"/>
            </a:solidFill>
            <a:prstDash val="solid"/>
            <a:tailEnd type="triangle"/>
          </a:ln>
        </p:spPr>
      </p:sp>
      <p:sp>
        <p:nvSpPr>
          <p:cNvPr id="28" name="Shape 26"/>
          <p:cNvSpPr/>
          <p:nvPr/>
        </p:nvSpPr>
        <p:spPr>
          <a:xfrm>
            <a:off x="9978847" y="2468880"/>
            <a:ext cx="1572768" cy="1371600"/>
          </a:xfrm>
          <a:prstGeom prst="roundRect">
            <a:avLst>
              <a:gd name="adj" fmla="val 6667"/>
            </a:avLst>
          </a:prstGeom>
          <a:solidFill>
            <a:srgbClr val="EEF4EC"/>
          </a:solidFill>
          <a:ln w="19050">
            <a:solidFill>
              <a:srgbClr val="2E8C46"/>
            </a:solidFill>
            <a:prstDash val="solid"/>
          </a:ln>
        </p:spPr>
      </p:sp>
      <p:sp>
        <p:nvSpPr>
          <p:cNvPr id="29" name="Shape 27"/>
          <p:cNvSpPr/>
          <p:nvPr/>
        </p:nvSpPr>
        <p:spPr>
          <a:xfrm>
            <a:off x="10673791" y="2633472"/>
            <a:ext cx="182880" cy="182880"/>
          </a:xfrm>
          <a:prstGeom prst="ellipse">
            <a:avLst/>
          </a:prstGeom>
          <a:solidFill>
            <a:srgbClr val="2E8C46"/>
          </a:solidFill>
          <a:ln/>
        </p:spPr>
      </p:sp>
      <p:sp>
        <p:nvSpPr>
          <p:cNvPr id="30" name="Text 28"/>
          <p:cNvSpPr/>
          <p:nvPr/>
        </p:nvSpPr>
        <p:spPr>
          <a:xfrm>
            <a:off x="9951415" y="2852928"/>
            <a:ext cx="1627632" cy="365760"/>
          </a:xfrm>
          <a:prstGeom prst="rect">
            <a:avLst/>
          </a:prstGeom>
          <a:noFill/>
          <a:ln/>
        </p:spPr>
        <p:txBody>
          <a:bodyPr wrap="square" lIns="0" tIns="0" rIns="0" bIns="0" rtlCol="0" anchor="ctr"/>
          <a:lstStyle/>
          <a:p>
            <a:pPr algn="ctr" indent="0" marL="0">
              <a:buNone/>
            </a:pPr>
            <a:r>
              <a:rPr lang="en-US" sz="1450" b="1" dirty="0">
                <a:solidFill>
                  <a:srgbClr val="152619"/>
                </a:solidFill>
                <a:latin typeface="Calibri" pitchFamily="34" charset="0"/>
                <a:ea typeface="Calibri" pitchFamily="34" charset="-122"/>
                <a:cs typeface="Calibri" pitchFamily="34" charset="-120"/>
              </a:rPr>
              <a:t>API GW + S3</a:t>
            </a:r>
            <a:endParaRPr lang="en-US" sz="1450" dirty="0"/>
          </a:p>
        </p:txBody>
      </p:sp>
      <p:sp>
        <p:nvSpPr>
          <p:cNvPr id="31" name="Text 29"/>
          <p:cNvSpPr/>
          <p:nvPr/>
        </p:nvSpPr>
        <p:spPr>
          <a:xfrm>
            <a:off x="9978847" y="3200400"/>
            <a:ext cx="1572768" cy="411480"/>
          </a:xfrm>
          <a:prstGeom prst="rect">
            <a:avLst/>
          </a:prstGeom>
          <a:noFill/>
          <a:ln/>
        </p:spPr>
        <p:txBody>
          <a:bodyPr wrap="square" lIns="0" tIns="0" rIns="0" bIns="0" rtlCol="0" anchor="t"/>
          <a:lstStyle/>
          <a:p>
            <a:pPr algn="ctr" indent="0" marL="0">
              <a:buNone/>
            </a:pPr>
            <a:r>
              <a:rPr lang="en-US" sz="1050" dirty="0">
                <a:solidFill>
                  <a:srgbClr val="5C6E58"/>
                </a:solidFill>
                <a:latin typeface="Calibri" pitchFamily="34" charset="0"/>
                <a:ea typeface="Calibri" pitchFamily="34" charset="-122"/>
                <a:cs typeface="Calibri" pitchFamily="34" charset="-120"/>
              </a:rPr>
              <a:t>live dashboard</a:t>
            </a:r>
            <a:endParaRPr lang="en-US" sz="1050" dirty="0"/>
          </a:p>
        </p:txBody>
      </p:sp>
      <p:sp>
        <p:nvSpPr>
          <p:cNvPr id="32" name="Text 30"/>
          <p:cNvSpPr/>
          <p:nvPr/>
        </p:nvSpPr>
        <p:spPr>
          <a:xfrm>
            <a:off x="640080" y="3977640"/>
            <a:ext cx="3440521" cy="274320"/>
          </a:xfrm>
          <a:prstGeom prst="rect">
            <a:avLst/>
          </a:prstGeom>
          <a:noFill/>
          <a:ln/>
        </p:spPr>
        <p:txBody>
          <a:bodyPr wrap="square" rtlCol="0" anchor="ctr"/>
          <a:lstStyle/>
          <a:p>
            <a:pPr algn="ctr" indent="0" marL="0">
              <a:buNone/>
            </a:pPr>
            <a:r>
              <a:rPr lang="en-US" sz="1100" b="1" spc="200" kern="0" dirty="0">
                <a:solidFill>
                  <a:srgbClr val="5E9A62"/>
                </a:solidFill>
                <a:latin typeface="Calibri" pitchFamily="34" charset="0"/>
                <a:ea typeface="Calibri" pitchFamily="34" charset="-122"/>
                <a:cs typeface="Calibri" pitchFamily="34" charset="-120"/>
              </a:rPr>
              <a:t>EDGE</a:t>
            </a:r>
            <a:endParaRPr lang="en-US" sz="1100" dirty="0"/>
          </a:p>
        </p:txBody>
      </p:sp>
      <p:sp>
        <p:nvSpPr>
          <p:cNvPr id="33" name="Text 31"/>
          <p:cNvSpPr/>
          <p:nvPr/>
        </p:nvSpPr>
        <p:spPr>
          <a:xfrm>
            <a:off x="4375587" y="3977640"/>
            <a:ext cx="7176028" cy="274320"/>
          </a:xfrm>
          <a:prstGeom prst="rect">
            <a:avLst/>
          </a:prstGeom>
          <a:noFill/>
          <a:ln/>
        </p:spPr>
        <p:txBody>
          <a:bodyPr wrap="square" rtlCol="0" anchor="ctr"/>
          <a:lstStyle/>
          <a:p>
            <a:pPr algn="ctr" indent="0" marL="0">
              <a:buNone/>
            </a:pPr>
            <a:r>
              <a:rPr lang="en-US" sz="1100" b="1" spc="200" kern="0" dirty="0">
                <a:solidFill>
                  <a:srgbClr val="1E6B34"/>
                </a:solidFill>
                <a:latin typeface="Calibri" pitchFamily="34" charset="0"/>
                <a:ea typeface="Calibri" pitchFamily="34" charset="-122"/>
                <a:cs typeface="Calibri" pitchFamily="34" charset="-120"/>
              </a:rPr>
              <a:t>CLOUD</a:t>
            </a:r>
            <a:endParaRPr lang="en-US" sz="1100" dirty="0"/>
          </a:p>
        </p:txBody>
      </p:sp>
      <p:sp>
        <p:nvSpPr>
          <p:cNvPr id="34" name="Text 32"/>
          <p:cNvSpPr/>
          <p:nvPr/>
        </p:nvSpPr>
        <p:spPr>
          <a:xfrm>
            <a:off x="640080" y="5257800"/>
            <a:ext cx="10972800" cy="731520"/>
          </a:xfrm>
          <a:prstGeom prst="rect">
            <a:avLst/>
          </a:prstGeom>
          <a:noFill/>
          <a:ln/>
        </p:spPr>
        <p:txBody>
          <a:bodyPr wrap="square" rtlCol="0" anchor="ctr"/>
          <a:lstStyle/>
          <a:p>
            <a:pPr algn="ctr" indent="0" marL="0">
              <a:buNone/>
            </a:pPr>
            <a:r>
              <a:rPr lang="en-US" sz="1500" i="1" dirty="0">
                <a:solidFill>
                  <a:srgbClr val="1E6B34"/>
                </a:solidFill>
                <a:latin typeface="Calibri" pitchFamily="34" charset="0"/>
                <a:ea typeface="Calibri" pitchFamily="34" charset="-122"/>
                <a:cs typeface="Calibri" pitchFamily="34" charset="-120"/>
              </a:rPr>
              <a:t>Only compact window summaries ever cross into the cloud; raw readings stay at the edge, and the busiest bin is always collected first.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000" b="1" dirty="0">
                <a:solidFill>
                  <a:srgbClr val="152619"/>
                </a:solidFill>
                <a:latin typeface="Century Schoolbook" pitchFamily="34" charset="0"/>
                <a:ea typeface="Century Schoolbook" pitchFamily="34" charset="-122"/>
                <a:cs typeface="Century Schoolbook" pitchFamily="34" charset="-120"/>
              </a:rPr>
              <a:t>Live Demo</a:t>
            </a:r>
            <a:endParaRPr lang="en-US" sz="3000" dirty="0"/>
          </a:p>
        </p:txBody>
      </p:sp>
      <p:sp>
        <p:nvSpPr>
          <p:cNvPr id="3" name="Text 1"/>
          <p:cNvSpPr/>
          <p:nvPr/>
        </p:nvSpPr>
        <p:spPr>
          <a:xfrm>
            <a:off x="658368" y="1143000"/>
            <a:ext cx="10972800" cy="365760"/>
          </a:xfrm>
          <a:prstGeom prst="rect">
            <a:avLst/>
          </a:prstGeom>
          <a:noFill/>
          <a:ln/>
        </p:spPr>
        <p:txBody>
          <a:bodyPr wrap="square" rtlCol="0" anchor="ctr"/>
          <a:lstStyle/>
          <a:p>
            <a:pPr indent="0" marL="0">
              <a:buNone/>
            </a:pPr>
            <a:r>
              <a:rPr lang="en-US" sz="1400" dirty="0">
                <a:solidFill>
                  <a:srgbClr val="2E8C46"/>
                </a:solidFill>
                <a:latin typeface="Consolas" pitchFamily="34" charset="0"/>
                <a:ea typeface="Consolas" pitchFamily="34" charset="-122"/>
                <a:cs typeface="Consolas" pitchFamily="34" charset="-120"/>
              </a:rPr>
              <a:t>swm-frontend-548539235319.s3.us-east-1.amazonaws.com</a:t>
            </a:r>
            <a:endParaRPr lang="en-US" sz="1400" dirty="0"/>
          </a:p>
        </p:txBody>
      </p:sp>
      <p:sp>
        <p:nvSpPr>
          <p:cNvPr id="4" name="Shape 2"/>
          <p:cNvSpPr/>
          <p:nvPr/>
        </p:nvSpPr>
        <p:spPr>
          <a:xfrm>
            <a:off x="731520" y="1965960"/>
            <a:ext cx="685800" cy="685800"/>
          </a:xfrm>
          <a:prstGeom prst="ellipse">
            <a:avLst/>
          </a:prstGeom>
          <a:solidFill>
            <a:srgbClr val="1E6B34"/>
          </a:solidFill>
          <a:ln/>
        </p:spPr>
      </p:sp>
      <p:sp>
        <p:nvSpPr>
          <p:cNvPr id="5" name="Text 3"/>
          <p:cNvSpPr/>
          <p:nvPr/>
        </p:nvSpPr>
        <p:spPr>
          <a:xfrm>
            <a:off x="731520" y="196596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1</a:t>
            </a:r>
            <a:endParaRPr lang="en-US" sz="2600" dirty="0"/>
          </a:p>
        </p:txBody>
      </p:sp>
      <p:sp>
        <p:nvSpPr>
          <p:cNvPr id="6" name="Text 4"/>
          <p:cNvSpPr/>
          <p:nvPr/>
        </p:nvSpPr>
        <p:spPr>
          <a:xfrm>
            <a:off x="1691640" y="1920240"/>
            <a:ext cx="9875520" cy="411480"/>
          </a:xfrm>
          <a:prstGeom prst="rect">
            <a:avLst/>
          </a:prstGeom>
          <a:noFill/>
          <a:ln/>
        </p:spPr>
        <p:txBody>
          <a:bodyPr wrap="square" lIns="0" tIns="0" rIns="0" bIns="0" rtlCol="0" anchor="ctr"/>
          <a:lstStyle/>
          <a:p>
            <a:pPr indent="0" marL="0">
              <a:buNone/>
            </a:pPr>
            <a:r>
              <a:rPr lang="en-US" sz="1800" b="1" dirty="0">
                <a:solidFill>
                  <a:srgbClr val="152619"/>
                </a:solidFill>
                <a:latin typeface="Calibri" pitchFamily="34" charset="0"/>
                <a:ea typeface="Calibri" pitchFamily="34" charset="-122"/>
                <a:cs typeface="Calibri" pitchFamily="34" charset="-120"/>
              </a:rPr>
              <a:t>Two districts, four hazard signals</a:t>
            </a:r>
            <a:endParaRPr lang="en-US" sz="1800" dirty="0"/>
          </a:p>
        </p:txBody>
      </p:sp>
      <p:sp>
        <p:nvSpPr>
          <p:cNvPr id="7" name="Text 5"/>
          <p:cNvSpPr/>
          <p:nvPr/>
        </p:nvSpPr>
        <p:spPr>
          <a:xfrm>
            <a:off x="1691640" y="2340864"/>
            <a:ext cx="9875520" cy="640080"/>
          </a:xfrm>
          <a:prstGeom prst="rect">
            <a:avLst/>
          </a:prstGeom>
          <a:noFill/>
          <a:ln/>
        </p:spPr>
        <p:txBody>
          <a:bodyPr wrap="square" lIns="0" tIns="0" rIns="0" bIns="0" rtlCol="0" anchor="ctr"/>
          <a:lstStyle/>
          <a:p>
            <a:pPr indent="0" marL="0">
              <a:buNone/>
            </a:pPr>
            <a:r>
              <a:rPr lang="en-US" sz="1350" dirty="0">
                <a:solidFill>
                  <a:srgbClr val="5C6E58"/>
                </a:solidFill>
                <a:latin typeface="Calibri" pitchFamily="34" charset="0"/>
                <a:ea typeface="Calibri" pitchFamily="34" charset="-122"/>
                <a:cs typeface="Calibri" pitchFamily="34" charset="-120"/>
              </a:rPr>
              <a:t>Fill level, internal temperature, gas and lid activity live per bin, so the busiest bin is always surfaced first.</a:t>
            </a:r>
            <a:endParaRPr lang="en-US" sz="1350" dirty="0"/>
          </a:p>
        </p:txBody>
      </p:sp>
      <p:sp>
        <p:nvSpPr>
          <p:cNvPr id="8" name="Shape 6"/>
          <p:cNvSpPr/>
          <p:nvPr/>
        </p:nvSpPr>
        <p:spPr>
          <a:xfrm>
            <a:off x="731520" y="3383280"/>
            <a:ext cx="685800" cy="685800"/>
          </a:xfrm>
          <a:prstGeom prst="ellipse">
            <a:avLst/>
          </a:prstGeom>
          <a:solidFill>
            <a:srgbClr val="1E6B34"/>
          </a:solidFill>
          <a:ln/>
        </p:spPr>
      </p:sp>
      <p:sp>
        <p:nvSpPr>
          <p:cNvPr id="9" name="Text 7"/>
          <p:cNvSpPr/>
          <p:nvPr/>
        </p:nvSpPr>
        <p:spPr>
          <a:xfrm>
            <a:off x="731520" y="338328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2</a:t>
            </a:r>
            <a:endParaRPr lang="en-US" sz="2600" dirty="0"/>
          </a:p>
        </p:txBody>
      </p:sp>
      <p:sp>
        <p:nvSpPr>
          <p:cNvPr id="10" name="Text 8"/>
          <p:cNvSpPr/>
          <p:nvPr/>
        </p:nvSpPr>
        <p:spPr>
          <a:xfrm>
            <a:off x="1691640" y="3337560"/>
            <a:ext cx="9875520" cy="411480"/>
          </a:xfrm>
          <a:prstGeom prst="rect">
            <a:avLst/>
          </a:prstGeom>
          <a:noFill/>
          <a:ln/>
        </p:spPr>
        <p:txBody>
          <a:bodyPr wrap="square" lIns="0" tIns="0" rIns="0" bIns="0" rtlCol="0" anchor="ctr"/>
          <a:lstStyle/>
          <a:p>
            <a:pPr indent="0" marL="0">
              <a:buNone/>
            </a:pPr>
            <a:r>
              <a:rPr lang="en-US" sz="1800" b="1" dirty="0">
                <a:solidFill>
                  <a:srgbClr val="152619"/>
                </a:solidFill>
                <a:latin typeface="Calibri" pitchFamily="34" charset="0"/>
                <a:ea typeface="Calibri" pitchFamily="34" charset="-122"/>
                <a:cs typeface="Calibri" pitchFamily="34" charset="-120"/>
              </a:rPr>
              <a:t>Four hazard rules firing live</a:t>
            </a:r>
            <a:endParaRPr lang="en-US" sz="1800" dirty="0"/>
          </a:p>
        </p:txBody>
      </p:sp>
      <p:sp>
        <p:nvSpPr>
          <p:cNvPr id="11" name="Text 9"/>
          <p:cNvSpPr/>
          <p:nvPr/>
        </p:nvSpPr>
        <p:spPr>
          <a:xfrm>
            <a:off x="1691640" y="3758184"/>
            <a:ext cx="9875520" cy="640080"/>
          </a:xfrm>
          <a:prstGeom prst="rect">
            <a:avLst/>
          </a:prstGeom>
          <a:noFill/>
          <a:ln/>
        </p:spPr>
        <p:txBody>
          <a:bodyPr wrap="square" lIns="0" tIns="0" rIns="0" bIns="0" rtlCol="0" anchor="ctr"/>
          <a:lstStyle/>
          <a:p>
            <a:pPr indent="0" marL="0">
              <a:buNone/>
            </a:pPr>
            <a:r>
              <a:rPr lang="en-US" sz="1350" dirty="0">
                <a:solidFill>
                  <a:srgbClr val="5C6E58"/>
                </a:solidFill>
                <a:latin typeface="Calibri" pitchFamily="34" charset="0"/>
                <a:ea typeface="Calibri" pitchFamily="34" charset="-122"/>
                <a:cs typeface="Calibri" pitchFamily="34" charset="-120"/>
              </a:rPr>
              <a:t>Overflow above 85% fill, fire risk above 55 C, gas above 400 ppm and tampering each raise on the window they appear.</a:t>
            </a:r>
            <a:endParaRPr lang="en-US" sz="1350" dirty="0"/>
          </a:p>
        </p:txBody>
      </p:sp>
      <p:sp>
        <p:nvSpPr>
          <p:cNvPr id="12" name="Shape 10"/>
          <p:cNvSpPr/>
          <p:nvPr/>
        </p:nvSpPr>
        <p:spPr>
          <a:xfrm>
            <a:off x="731520" y="4800600"/>
            <a:ext cx="685800" cy="685800"/>
          </a:xfrm>
          <a:prstGeom prst="ellipse">
            <a:avLst/>
          </a:prstGeom>
          <a:solidFill>
            <a:srgbClr val="1E6B34"/>
          </a:solidFill>
          <a:ln/>
        </p:spPr>
      </p:sp>
      <p:sp>
        <p:nvSpPr>
          <p:cNvPr id="13" name="Text 11"/>
          <p:cNvSpPr/>
          <p:nvPr/>
        </p:nvSpPr>
        <p:spPr>
          <a:xfrm>
            <a:off x="731520" y="48006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3</a:t>
            </a:r>
            <a:endParaRPr lang="en-US" sz="2600" dirty="0"/>
          </a:p>
        </p:txBody>
      </p:sp>
      <p:sp>
        <p:nvSpPr>
          <p:cNvPr id="14" name="Text 12"/>
          <p:cNvSpPr/>
          <p:nvPr/>
        </p:nvSpPr>
        <p:spPr>
          <a:xfrm>
            <a:off x="1691640" y="4754880"/>
            <a:ext cx="9875520" cy="411480"/>
          </a:xfrm>
          <a:prstGeom prst="rect">
            <a:avLst/>
          </a:prstGeom>
          <a:noFill/>
          <a:ln/>
        </p:spPr>
        <p:txBody>
          <a:bodyPr wrap="square" lIns="0" tIns="0" rIns="0" bIns="0" rtlCol="0" anchor="ctr"/>
          <a:lstStyle/>
          <a:p>
            <a:pPr indent="0" marL="0">
              <a:buNone/>
            </a:pPr>
            <a:r>
              <a:rPr lang="en-US" sz="1800" b="1" dirty="0">
                <a:solidFill>
                  <a:srgbClr val="152619"/>
                </a:solidFill>
                <a:latin typeface="Calibri" pitchFamily="34" charset="0"/>
                <a:ea typeface="Calibri" pitchFamily="34" charset="-122"/>
                <a:cs typeface="Calibri" pitchFamily="34" charset="-120"/>
              </a:rPr>
              <a:t>Genuinely live, not a cache</a:t>
            </a:r>
            <a:endParaRPr lang="en-US" sz="1800" dirty="0"/>
          </a:p>
        </p:txBody>
      </p:sp>
      <p:sp>
        <p:nvSpPr>
          <p:cNvPr id="15" name="Text 13"/>
          <p:cNvSpPr/>
          <p:nvPr/>
        </p:nvSpPr>
        <p:spPr>
          <a:xfrm>
            <a:off x="1691640" y="5175504"/>
            <a:ext cx="9875520" cy="640080"/>
          </a:xfrm>
          <a:prstGeom prst="rect">
            <a:avLst/>
          </a:prstGeom>
          <a:noFill/>
          <a:ln/>
        </p:spPr>
        <p:txBody>
          <a:bodyPr wrap="square" lIns="0" tIns="0" rIns="0" bIns="0" rtlCol="0" anchor="ctr"/>
          <a:lstStyle/>
          <a:p>
            <a:pPr indent="0" marL="0">
              <a:buNone/>
            </a:pPr>
            <a:r>
              <a:rPr lang="en-US" sz="1350" dirty="0">
                <a:solidFill>
                  <a:srgbClr val="5C6E58"/>
                </a:solidFill>
                <a:latin typeface="Calibri" pitchFamily="34" charset="0"/>
                <a:ea typeface="Calibri" pitchFamily="34" charset="-122"/>
                <a:cs typeface="Calibri" pitchFamily="34" charset="-120"/>
              </a:rPr>
              <a:t>Two health polls fifteen seconds apart show the stored count climbing 4,083 to 4,093 — live data.</a:t>
            </a:r>
            <a:endParaRPr lang="en-US" sz="1350" dirty="0"/>
          </a:p>
        </p:txBody>
      </p:sp>
      <p:sp>
        <p:nvSpPr>
          <p:cNvPr id="16" name="Text 14"/>
          <p:cNvSpPr/>
          <p:nvPr/>
        </p:nvSpPr>
        <p:spPr>
          <a:xfrm>
            <a:off x="640080" y="6263640"/>
            <a:ext cx="10972800" cy="365760"/>
          </a:xfrm>
          <a:prstGeom prst="rect">
            <a:avLst/>
          </a:prstGeom>
          <a:noFill/>
          <a:ln/>
        </p:spPr>
        <p:txBody>
          <a:bodyPr wrap="square" rtlCol="0" anchor="ctr"/>
          <a:lstStyle/>
          <a:p>
            <a:pPr indent="0" marL="0">
              <a:buNone/>
            </a:pPr>
            <a:r>
              <a:rPr lang="en-US" sz="1300" i="1" dirty="0">
                <a:solidFill>
                  <a:srgbClr val="5E9A62"/>
                </a:solidFill>
                <a:latin typeface="Calibri" pitchFamily="34" charset="0"/>
                <a:ea typeface="Calibri" pitchFamily="34" charset="-122"/>
                <a:cs typeface="Calibri" pitchFamily="34" charset="-120"/>
              </a:rPr>
              <a:t>Switch to the live dashboard here — backup video ready.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72800" cy="822960"/>
          </a:xfrm>
          <a:prstGeom prst="rect">
            <a:avLst/>
          </a:prstGeom>
          <a:noFill/>
          <a:ln/>
        </p:spPr>
        <p:txBody>
          <a:bodyPr wrap="square" rtlCol="0" anchor="t"/>
          <a:lstStyle/>
          <a:p>
            <a:pPr indent="0" marL="0">
              <a:buNone/>
            </a:pPr>
            <a:r>
              <a:rPr lang="en-US" sz="2800" b="1" dirty="0">
                <a:solidFill>
                  <a:srgbClr val="152619"/>
                </a:solidFill>
                <a:latin typeface="Century Schoolbook" pitchFamily="34" charset="0"/>
                <a:ea typeface="Century Schoolbook" pitchFamily="34" charset="-122"/>
                <a:cs typeface="Century Schoolbook" pitchFamily="34" charset="-120"/>
              </a:rPr>
              <a:t>Hardest Part — what only the real cloud revealed</a:t>
            </a:r>
            <a:endParaRPr lang="en-US" sz="2800" dirty="0"/>
          </a:p>
        </p:txBody>
      </p:sp>
      <p:sp>
        <p:nvSpPr>
          <p:cNvPr id="3" name="Shape 1"/>
          <p:cNvSpPr/>
          <p:nvPr/>
        </p:nvSpPr>
        <p:spPr>
          <a:xfrm>
            <a:off x="731520" y="1920240"/>
            <a:ext cx="10698480" cy="1965960"/>
          </a:xfrm>
          <a:prstGeom prst="roundRect">
            <a:avLst>
              <a:gd name="adj" fmla="val 4651"/>
            </a:avLst>
          </a:prstGeom>
          <a:solidFill>
            <a:srgbClr val="EEF4EC"/>
          </a:solidFill>
          <a:ln w="19050">
            <a:solidFill>
              <a:srgbClr val="D9A62E"/>
            </a:solidFill>
            <a:prstDash val="solid"/>
          </a:ln>
        </p:spPr>
      </p:sp>
      <p:sp>
        <p:nvSpPr>
          <p:cNvPr id="4" name="Text 2"/>
          <p:cNvSpPr/>
          <p:nvPr/>
        </p:nvSpPr>
        <p:spPr>
          <a:xfrm>
            <a:off x="1005840" y="2103120"/>
            <a:ext cx="3657600" cy="457200"/>
          </a:xfrm>
          <a:prstGeom prst="rect">
            <a:avLst/>
          </a:prstGeom>
          <a:noFill/>
          <a:ln/>
        </p:spPr>
        <p:txBody>
          <a:bodyPr wrap="square" lIns="0" tIns="0" rIns="0" bIns="0" rtlCol="0" anchor="ctr"/>
          <a:lstStyle/>
          <a:p>
            <a:pPr indent="0" marL="0">
              <a:buNone/>
            </a:pPr>
            <a:r>
              <a:rPr lang="en-US" sz="1900" b="1" dirty="0">
                <a:solidFill>
                  <a:srgbClr val="D9A62E"/>
                </a:solidFill>
                <a:latin typeface="Century Schoolbook" pitchFamily="34" charset="0"/>
                <a:ea typeface="Century Schoolbook" pitchFamily="34" charset="-122"/>
                <a:cs typeface="Century Schoolbook" pitchFamily="34" charset="-120"/>
              </a:rPr>
              <a:t>Problem</a:t>
            </a:r>
            <a:endParaRPr lang="en-US" sz="1900" dirty="0"/>
          </a:p>
        </p:txBody>
      </p:sp>
      <p:sp>
        <p:nvSpPr>
          <p:cNvPr id="5" name="Text 3"/>
          <p:cNvSpPr/>
          <p:nvPr/>
        </p:nvSpPr>
        <p:spPr>
          <a:xfrm>
            <a:off x="1005840" y="2578608"/>
            <a:ext cx="9966960" cy="1188720"/>
          </a:xfrm>
          <a:prstGeom prst="rect">
            <a:avLst/>
          </a:prstGeom>
          <a:noFill/>
          <a:ln/>
        </p:spPr>
        <p:txBody>
          <a:bodyPr wrap="square" lIns="0" tIns="0" rIns="0" bIns="0" rtlCol="0" anchor="ctr"/>
          <a:lstStyle/>
          <a:p>
            <a:pPr indent="0" marL="0">
              <a:lnSpc>
                <a:spcPct val="105000"/>
              </a:lnSpc>
              <a:buNone/>
            </a:pPr>
            <a:r>
              <a:rPr lang="en-US" sz="1300" dirty="0">
                <a:solidFill>
                  <a:srgbClr val="152619"/>
                </a:solidFill>
                <a:latin typeface="Calibri" pitchFamily="34" charset="0"/>
                <a:ea typeface="Calibri" pitchFamily="34" charset="-122"/>
                <a:cs typeface="Calibri" pitchFamily="34" charset="-120"/>
              </a:rPr>
              <a:t>On the first real deployment, every DynamoDB and SQS call failed authentication across fog, processor and dashboard, while CloudFront and public Lambda Function URLs were blocked outright in the academy account. All 115 tests and the full emulator run passed cleanly, so nothing pointed at the code — the client swapped in hardcoded emulator credentials whenever an access-key variable was present, and real AWS always sets that variable.</a:t>
            </a:r>
            <a:endParaRPr lang="en-US" sz="1300" dirty="0"/>
          </a:p>
        </p:txBody>
      </p:sp>
      <p:sp>
        <p:nvSpPr>
          <p:cNvPr id="6" name="Shape 4"/>
          <p:cNvSpPr/>
          <p:nvPr/>
        </p:nvSpPr>
        <p:spPr>
          <a:xfrm>
            <a:off x="731520" y="4041648"/>
            <a:ext cx="10698480" cy="1965960"/>
          </a:xfrm>
          <a:prstGeom prst="roundRect">
            <a:avLst>
              <a:gd name="adj" fmla="val 4651"/>
            </a:avLst>
          </a:prstGeom>
          <a:solidFill>
            <a:srgbClr val="EEF4EC"/>
          </a:solidFill>
          <a:ln w="19050">
            <a:solidFill>
              <a:srgbClr val="2E8C46"/>
            </a:solidFill>
            <a:prstDash val="solid"/>
          </a:ln>
        </p:spPr>
      </p:sp>
      <p:sp>
        <p:nvSpPr>
          <p:cNvPr id="7" name="Text 5"/>
          <p:cNvSpPr/>
          <p:nvPr/>
        </p:nvSpPr>
        <p:spPr>
          <a:xfrm>
            <a:off x="1005840" y="4224528"/>
            <a:ext cx="3657600" cy="457200"/>
          </a:xfrm>
          <a:prstGeom prst="rect">
            <a:avLst/>
          </a:prstGeom>
          <a:noFill/>
          <a:ln/>
        </p:spPr>
        <p:txBody>
          <a:bodyPr wrap="square" lIns="0" tIns="0" rIns="0" bIns="0" rtlCol="0" anchor="ctr"/>
          <a:lstStyle/>
          <a:p>
            <a:pPr indent="0" marL="0">
              <a:buNone/>
            </a:pPr>
            <a:r>
              <a:rPr lang="en-US" sz="1900" b="1" dirty="0">
                <a:solidFill>
                  <a:srgbClr val="2E8C46"/>
                </a:solidFill>
                <a:latin typeface="Century Schoolbook" pitchFamily="34" charset="0"/>
                <a:ea typeface="Century Schoolbook" pitchFamily="34" charset="-122"/>
                <a:cs typeface="Century Schoolbook" pitchFamily="34" charset="-120"/>
              </a:rPr>
              <a:t>Solution</a:t>
            </a:r>
            <a:endParaRPr lang="en-US" sz="1900" dirty="0"/>
          </a:p>
        </p:txBody>
      </p:sp>
      <p:sp>
        <p:nvSpPr>
          <p:cNvPr id="8" name="Text 6"/>
          <p:cNvSpPr/>
          <p:nvPr/>
        </p:nvSpPr>
        <p:spPr>
          <a:xfrm>
            <a:off x="1005840" y="4700016"/>
            <a:ext cx="9966960" cy="1188720"/>
          </a:xfrm>
          <a:prstGeom prst="rect">
            <a:avLst/>
          </a:prstGeom>
          <a:noFill/>
          <a:ln/>
        </p:spPr>
        <p:txBody>
          <a:bodyPr wrap="square" lIns="0" tIns="0" rIns="0" bIns="0" rtlCol="0" anchor="ctr"/>
          <a:lstStyle/>
          <a:p>
            <a:pPr indent="0" marL="0">
              <a:lnSpc>
                <a:spcPct val="105000"/>
              </a:lnSpc>
              <a:buNone/>
            </a:pPr>
            <a:r>
              <a:rPr lang="en-US" sz="1300" dirty="0">
                <a:solidFill>
                  <a:srgbClr val="152619"/>
                </a:solidFill>
                <a:latin typeface="Calibri" pitchFamily="34" charset="0"/>
                <a:ea typeface="Calibri" pitchFamily="34" charset="-122"/>
                <a:cs typeface="Calibri" pitchFamily="34" charset="-120"/>
              </a:rPr>
              <a:t>Gate emulator credentials on the one truly local signal — the explicit LocalStack endpoint override — and serve the API through API Gateway with the frontend from S3 over HTTPS, around the account blocks. Every fix was re-verified live: a real DynamoDB write and a real 200 through the gateway.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2026-07-24T07:05:03Z</dcterms:created>
  <dcterms:modified xsi:type="dcterms:W3CDTF">2026-07-24T07:05:03Z</dcterms:modified>
</cp:coreProperties>
</file>