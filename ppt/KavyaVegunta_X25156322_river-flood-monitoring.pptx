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5833872"/>
            <a:ext cx="13288975" cy="914400"/>
          </a:xfrm>
          <a:prstGeom prst="wave">
            <a:avLst/>
          </a:prstGeom>
          <a:solidFill>
            <a:srgbClr val="54B1EE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6382512"/>
            <a:ext cx="13288975" cy="658368"/>
          </a:xfrm>
          <a:prstGeom prst="wave">
            <a:avLst/>
          </a:prstGeom>
          <a:solidFill>
            <a:srgbClr val="0E6BA8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" y="1645920"/>
            <a:ext cx="106372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River Flood Early-Warning Monitoring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 Vegunta   ·   X25156322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8138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2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river below its flood line can still be the emergency — if it is climbing fast enough to cross it within the hour. One reading tells you how high the water is; it cannot tell you how fast it is rising.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5833872"/>
            <a:ext cx="13288975" cy="914400"/>
          </a:xfrm>
          <a:prstGeom prst="wave">
            <a:avLst/>
          </a:prstGeom>
          <a:solidFill>
            <a:srgbClr val="54B1EE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6382512"/>
            <a:ext cx="13288975" cy="658368"/>
          </a:xfrm>
          <a:prstGeom prst="wave">
            <a:avLst/>
          </a:prstGeom>
          <a:solidFill>
            <a:srgbClr val="0E6BA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905256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8074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 Built — River Edge to Cloud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1391869" cy="1965960"/>
          </a:xfrm>
          <a:prstGeom prst="roundRect">
            <a:avLst>
              <a:gd name="adj" fmla="val 3942"/>
            </a:avLst>
          </a:prstGeom>
          <a:solidFill>
            <a:srgbClr val="0E6BA8"/>
          </a:solidFill>
          <a:ln w="12700">
            <a:solidFill>
              <a:srgbClr val="0E6B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3544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Reach gauges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23544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units · 2 reaches · 5 signals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2261" y="3845052"/>
            <a:ext cx="310896" cy="219456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2" name="Shape 10"/>
          <p:cNvSpPr/>
          <p:nvPr/>
        </p:nvSpPr>
        <p:spPr>
          <a:xfrm>
            <a:off x="2626309" y="2971800"/>
            <a:ext cx="1391869" cy="1965960"/>
          </a:xfrm>
          <a:prstGeom prst="roundRect">
            <a:avLst>
              <a:gd name="adj" fmla="val 3942"/>
            </a:avLst>
          </a:prstGeom>
          <a:solidFill>
            <a:srgbClr val="0E6BA8"/>
          </a:solidFill>
          <a:ln w="12700">
            <a:solidFill>
              <a:srgbClr val="0E6B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2613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72613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Fog relay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72613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windows · flood stage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91330" y="3845052"/>
            <a:ext cx="310896" cy="219456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7" name="Shape 15"/>
          <p:cNvSpPr/>
          <p:nvPr/>
        </p:nvSpPr>
        <p:spPr>
          <a:xfrm>
            <a:off x="4475378" y="2971800"/>
            <a:ext cx="1391869" cy="1965960"/>
          </a:xfrm>
          <a:prstGeom prst="roundRect">
            <a:avLst>
              <a:gd name="adj" fmla="val 3942"/>
            </a:avLst>
          </a:prstGeom>
          <a:solidFill>
            <a:srgbClr val="E7EFF6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1682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1682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Amazon SQS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21682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summaries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0400" y="3845052"/>
            <a:ext cx="310896" cy="219456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2" name="Shape 20"/>
          <p:cNvSpPr/>
          <p:nvPr/>
        </p:nvSpPr>
        <p:spPr>
          <a:xfrm>
            <a:off x="6324448" y="2971800"/>
            <a:ext cx="1391869" cy="1965960"/>
          </a:xfrm>
          <a:prstGeom prst="roundRect">
            <a:avLst>
              <a:gd name="adj" fmla="val 3942"/>
            </a:avLst>
          </a:prstGeom>
          <a:solidFill>
            <a:srgbClr val="E7EFF6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0752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70752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0752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python3.12 ingest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89469" y="3845052"/>
            <a:ext cx="310896" cy="219456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7" name="Shape 25"/>
          <p:cNvSpPr/>
          <p:nvPr/>
        </p:nvSpPr>
        <p:spPr>
          <a:xfrm>
            <a:off x="8173517" y="2971800"/>
            <a:ext cx="1391869" cy="1965960"/>
          </a:xfrm>
          <a:prstGeom prst="roundRect">
            <a:avLst>
              <a:gd name="adj" fmla="val 3942"/>
            </a:avLst>
          </a:prstGeom>
          <a:solidFill>
            <a:srgbClr val="E7EFF6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9821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19821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DynamoDB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19821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signal · reach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38538" y="3845052"/>
            <a:ext cx="310896" cy="219456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22586" y="2971800"/>
            <a:ext cx="1391869" cy="1965960"/>
          </a:xfrm>
          <a:prstGeom prst="roundRect">
            <a:avLst>
              <a:gd name="adj" fmla="val 3942"/>
            </a:avLst>
          </a:prstGeom>
          <a:solidFill>
            <a:srgbClr val="E7EFF6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68890" y="315468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68890" y="359359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GW + S3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168890" y="445312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rate of rise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5833872"/>
            <a:ext cx="13288975" cy="914400"/>
          </a:xfrm>
          <a:prstGeom prst="wave">
            <a:avLst/>
          </a:prstGeom>
          <a:solidFill>
            <a:srgbClr val="54B1EE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6382512"/>
            <a:ext cx="13288975" cy="658368"/>
          </a:xfrm>
          <a:prstGeom prst="wave">
            <a:avLst/>
          </a:prstGeom>
          <a:solidFill>
            <a:srgbClr val="0E6BA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905256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8074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 it running on AWS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river-flood-early-warning.s3.us-east-1.amazonaws.com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3301898" cy="3566160"/>
          </a:xfrm>
          <a:prstGeom prst="roundRect">
            <a:avLst>
              <a:gd name="adj" fmla="val 1662"/>
            </a:avLst>
          </a:prstGeom>
          <a:solidFill>
            <a:srgbClr val="E7EFF6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5234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069848" y="35661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reaches, live stage gauges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69848" y="4434840"/>
            <a:ext cx="2753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level, rainfall, flow velocity, soil moisture and turbidity for reach-a and reach-b, each level drawn against the advisory 3.5 m, watch 4.5 m and warning 5.5 m flood bands.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4898" y="2514600"/>
            <a:ext cx="3301898" cy="3566160"/>
          </a:xfrm>
          <a:prstGeom prst="roundRect">
            <a:avLst>
              <a:gd name="adj" fmla="val 1662"/>
            </a:avLst>
          </a:prstGeom>
          <a:solidFill>
            <a:srgbClr val="E7EFF6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9218" y="275234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737506" y="35661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Rate of rise — the leading indicator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37506" y="4434840"/>
            <a:ext cx="2753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reach shows how fast it is climbing in metres per hour, derived on read from the level trend; a rise past 8 m/h raises a rapid-rise flag before a stage line is even crossed.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2557" y="2514600"/>
            <a:ext cx="3301898" cy="3566160"/>
          </a:xfrm>
          <a:prstGeom prst="roundRect">
            <a:avLst>
              <a:gd name="adj" fmla="val 1662"/>
            </a:avLst>
          </a:prstGeom>
          <a:solidFill>
            <a:srgbClr val="E7EFF6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6877" y="275234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405165" y="356616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alarms firing live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05165" y="4434840"/>
            <a:ext cx="2753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 both reaches escalate to a warning with flood-warning, torrential-rain, dangerous-current and rapid-rise alarms, over a green fog / queue / lambda / pipeline health strip.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5833872"/>
            <a:ext cx="13288975" cy="914400"/>
          </a:xfrm>
          <a:prstGeom prst="wave">
            <a:avLst/>
          </a:prstGeom>
          <a:solidFill>
            <a:srgbClr val="54B1EE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6382512"/>
            <a:ext cx="13288975" cy="658368"/>
          </a:xfrm>
          <a:prstGeom prst="wave">
            <a:avLst/>
          </a:prstGeom>
          <a:solidFill>
            <a:srgbClr val="0E6BA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905256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8074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F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high is one question, how fast is another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5090008" cy="3657600"/>
          </a:xfrm>
          <a:prstGeom prst="roundRect">
            <a:avLst>
              <a:gd name="adj" fmla="val 1500"/>
            </a:avLst>
          </a:prstGeom>
          <a:solidFill>
            <a:srgbClr val="E7EFF6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97480"/>
            <a:ext cx="444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081528"/>
            <a:ext cx="444992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46120"/>
            <a:ext cx="44499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high the water stands is a property of one instant, so a single ten-second window can answer it. How fast it is rising is not: a rate is a change measured across time, and no single window holds two moments to compare. Forcing both onto the edge would mean making the edge keep a rolling history, trading away the lock-free simplicity that lets it keep up with the sensors.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2423160"/>
            <a:ext cx="5090008" cy="3657600"/>
          </a:xfrm>
          <a:prstGeom prst="roundRect">
            <a:avLst>
              <a:gd name="adj" fmla="val 1500"/>
            </a:avLst>
          </a:prstGeom>
          <a:solidFill>
            <a:srgbClr val="E7EFF6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4488" y="2697480"/>
            <a:ext cx="444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44488" y="3081528"/>
            <a:ext cx="4449928" cy="0"/>
          </a:xfrm>
          <a:prstGeom prst="line">
            <a:avLst/>
          </a:prstGeom>
          <a:noFill/>
          <a:ln w="19050">
            <a:solidFill>
              <a:srgbClr val="2F8F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3246120"/>
            <a:ext cx="44499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2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fog answers the level question at the edge, raising the flood stage from each window's peak the moment the water reaches a mark. The rate of rise is derived one tier later, on read, from the trend of stored windows over real elapsed time — a leading indicator that can fire while the level is still below its line, computed where the history already lives so the edge stays stateless and cheap.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2026-07-24T12:55:33Z</dcterms:created>
  <dcterms:modified xsi:type="dcterms:W3CDTF">2026-07-24T12:55:33Z</dcterms:modified>
</cp:coreProperties>
</file>