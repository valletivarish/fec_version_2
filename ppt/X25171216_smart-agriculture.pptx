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-91440" y="-91440"/>
            <a:ext cx="12435840" cy="7040880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68680" y="1600200"/>
            <a:ext cx="10424160" cy="214884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3400" b="1" i="0">
                <a:solidFill>
                  <a:srgbClr val="FFFFFF"/>
                </a:solidFill>
                <a:latin typeface="Trebuchet MS"/>
              </a:rPr>
              <a:t>Smart Agriculture Field Monitoring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3977639"/>
            <a:ext cx="10058400" cy="640080"/>
          </a:xfrm>
          <a:prstGeom prst="rect">
            <a:avLst/>
          </a:prstGeom>
          <a:noFill/>
        </p:spPr>
        <p:txBody>
          <a:bodyPr wrap="square" anchor="t">
            <a:spAutoFit/>
          </a:bodyPr>
          <a:lstStyle/>
          <a:p>
            <a:pPr algn="l"/>
            <a:r>
              <a:rPr sz="1800" b="0" i="1">
                <a:solidFill>
                  <a:srgbClr val="CDDECC"/>
                </a:solidFill>
                <a:latin typeface="Verdana"/>
              </a:rPr>
              <a:t>A fog and edge pipeline, deployed live on AWS</a:t>
            </a:r>
          </a:p>
        </p:txBody>
      </p:sp>
      <p:sp>
        <p:nvSpPr>
          <p:cNvPr id="5" name="Rectangle 4"/>
          <p:cNvSpPr/>
          <p:nvPr/>
        </p:nvSpPr>
        <p:spPr>
          <a:xfrm>
            <a:off x="-91440" y="5257800"/>
            <a:ext cx="12435840" cy="1691640"/>
          </a:xfrm>
          <a:prstGeom prst="rect">
            <a:avLst/>
          </a:prstGeom>
          <a:solidFill>
            <a:srgbClr val="234D2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868680" y="5440680"/>
            <a:ext cx="10424160" cy="1371600"/>
          </a:xfrm>
          <a:prstGeom prst="rect">
            <a:avLst/>
          </a:prstGeom>
          <a:noFill/>
        </p:spPr>
        <p:txBody>
          <a:bodyPr wrap="square" anchor="ctr">
            <a:spAutoFit/>
          </a:bodyPr>
          <a:lstStyle/>
          <a:p>
            <a:pPr algn="l"/>
            <a:r>
              <a:rPr sz="1700" b="1" i="0">
                <a:solidFill>
                  <a:srgbClr val="FFFFFF"/>
                </a:solidFill>
                <a:latin typeface="Verdana"/>
              </a:rPr>
              <a:t>Kondragunta Lakshmi Chaitanya</a:t>
            </a:r>
          </a:p>
          <a:p>
            <a:pPr algn="l"/>
            <a:r>
              <a:rPr sz="1300" b="0" i="0">
                <a:solidFill>
                  <a:srgbClr val="C7DAC6"/>
                </a:solidFill>
                <a:latin typeface="Verdana"/>
              </a:rPr>
              <a:t>Student ID X25171216</a:t>
            </a:r>
          </a:p>
          <a:p>
            <a:pPr algn="l"/>
            <a:r>
              <a:rPr sz="1250" b="0" i="0">
                <a:solidFill>
                  <a:srgbClr val="C7DAC6"/>
                </a:solidFill>
                <a:latin typeface="Verdana"/>
              </a:rPr>
              <a:t>MSc in Cloud Computing   ·   Fog and Edge Computing (H9FECC)</a:t>
            </a:r>
          </a:p>
          <a:p>
            <a:pPr algn="l"/>
            <a:r>
              <a:rPr sz="1250" b="0" i="0">
                <a:solidFill>
                  <a:srgbClr val="C7DAC6"/>
                </a:solidFill>
                <a:latin typeface="Verdana"/>
              </a:rPr>
              <a:t>National College of Ireland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-91440" y="6419088"/>
            <a:ext cx="12435840" cy="548640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3A7D34"/>
                </a:solidFill>
                <a:latin typeface="Trebuchet MS"/>
              </a:rPr>
              <a:t>Why Scheduled Field Checks Fail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61772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A field inspected on a fixed schedule reveals a dry root zone, a frost event, or a fungal-risk humidity spell only after the fact, at the next walk-through. Continuous sensing flips that: every reading is checked against an explicit rule the moment it arrives.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2 to 4 seconds between fresh readings from every field sensor.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6 threshold alert rules evaluated at the edge.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A7D34"/>
                </a:solidFill>
                <a:latin typeface="Verdana"/>
              </a:rPr>
              <a:t>Three hazards that a fixed schedule catches too late: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Dry root zone: soil moisture averaging under 20% means irrigation is already overdue, and on a schedule that is found days late.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Overnight frost: a dip below 3 °C damages crops within hours, while a scheduled visit only records the loss afterwards.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Fungal-risk humidity: sustained humidity above 90% quietly builds disease risk in the gap between two inspections.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-91440" y="6419088"/>
            <a:ext cx="12435840" cy="548640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3A7D34"/>
                </a:solidFill>
                <a:latin typeface="Trebuchet MS"/>
              </a:rPr>
              <a:t>How It Works: Edge to Cloud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5760720" cy="448056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Field sensors: five sensor types (soil moisture, temperature, humidity, light, rainfall) sample every 2 to 4 seconds.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Fog node: windows each stream over 10 seconds, aggregates min, max, and average, and raises alerts locally.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Amazon SQS then AWS Lambda: a managed queue absorbs batched window summaries and levels the load, then a serverless function fires on each summary and ingests it with no servers to manage.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Amazon DynamoDB: every window lands as one record, keyed by sensor type and time, ready for fast lookups.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Live dashboard: Amazon API Gateway serves the data API and Amazon S3 hosts the page the browser loads.</a:t>
            </a:r>
          </a:p>
          <a:p>
            <a:pPr>
              <a:spcAft>
                <a:spcPts val="800"/>
              </a:spcAft>
            </a:pPr>
            <a:r>
              <a:rPr sz="1500" b="1">
                <a:solidFill>
                  <a:srgbClr val="3A7D34"/>
                </a:solidFill>
                <a:latin typeface="Verdana"/>
              </a:rPr>
              <a:t>Raw readings never leave the edge; only compact ten-second window summaries cross into the cloud.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topology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29400" y="2599881"/>
            <a:ext cx="5120640" cy="217944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-91440" y="6419088"/>
            <a:ext cx="12435840" cy="548640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3A7D34"/>
                </a:solidFill>
                <a:latin typeface="Trebuchet MS"/>
              </a:rPr>
              <a:t>Live Demonstration Highlights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5760720" cy="4480560"/>
          </a:xfrm>
        </p:spPr>
        <p:txBody>
          <a:bodyPr wrap="square">
            <a:normAutofit/>
          </a:bodyPr>
          <a:lstStyle/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The S3-hosted dashboard during live verification shows per-sensor panels, trend charts, and an active alert banner.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Every pipeline health check green: fog node, queue, Lambda, and end-to-end freshness all report healthy on the live API, with the freshest reading just 1.88 seconds old.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39 automated tests pass, covering the sensors' bounded random walk, fog aggregation and alert rules, SQS batching, and every dashboard route.</a:t>
            </a:r>
          </a:p>
          <a:p>
            <a:pPr>
              <a:spcAft>
                <a:spcPts val="8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300-message burst absorbed: fired at the live queue in 4.5 seconds, about 67 per second, with every message processed and stored, verified directly in DynamoDB.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6" name="Picture 5" descr="dashboard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73240" y="1517904"/>
            <a:ext cx="4632960" cy="43434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-91440" y="6419088"/>
            <a:ext cx="12435840" cy="548640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400">
                <a:solidFill>
                  <a:srgbClr val="3A7D34"/>
                </a:solidFill>
                <a:latin typeface="Trebuchet MS"/>
              </a:rPr>
              <a:t>The Hardest Part: A Defect the Emulator Hid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61772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3A7D34"/>
                </a:solidFill>
                <a:latin typeface="Verdana"/>
              </a:rPr>
              <a:t>The problem: a record count that quietly lied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The dashboard totalled its stored records with a single DynamoDB scan. DynamoDB caps every scan at about 1 MB, so beyond the first page the count simply stops, with no error, no warning, just a smaller number.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A7D34"/>
                </a:solidFill>
                <a:latin typeface="Verdana"/>
              </a:rPr>
              <a:t>Why it was hard: nothing ever failed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All 39 tests passed, the full emulator-backed integration run passed, and demo-sized data looked correct. With no failing signal to chase, the defect surfaced only when the pipeline ran on the real AWS account.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A7D34"/>
                </a:solidFill>
                <a:latin typeface="Verdana"/>
              </a:rPr>
              <a:t>The fix: follow the pagination cursor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The count now walks DynamoDB's pagination cursor and sums every page. It is locked in by a three-page test (500 + 500 + 214 = 1,214) and re-verified against the live deployed table.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4" name="Rectangle 3"/>
          <p:cNvSpPr/>
          <p:nvPr/>
        </p:nvSpPr>
        <p:spPr>
          <a:xfrm>
            <a:off x="-91440" y="6419088"/>
            <a:ext cx="12435840" cy="548640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40080" y="384048"/>
            <a:ext cx="10972800" cy="868680"/>
          </a:xfrm>
        </p:spPr>
        <p:txBody>
          <a:bodyPr wrap="square" anchor="t"/>
          <a:lstStyle/>
          <a:p>
            <a:pPr algn="l"/>
            <a:r>
              <a:rPr b="1" sz="2700">
                <a:solidFill>
                  <a:srgbClr val="3A7D34"/>
                </a:solidFill>
                <a:latin typeface="Trebuchet MS"/>
              </a:rPr>
              <a:t>What This Project Proves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58368" y="1481328"/>
            <a:ext cx="10972800" cy="4617720"/>
          </a:xfrm>
        </p:spPr>
        <p:txBody>
          <a:bodyPr wrap="square">
            <a:normAutofit/>
          </a:bodyPr>
          <a:lstStyle/>
          <a:p>
            <a:pPr>
              <a:spcAft>
                <a:spcPts val="900"/>
              </a:spcAft>
            </a:pPr>
            <a:r>
              <a:rPr sz="1700" b="1">
                <a:solidFill>
                  <a:srgbClr val="3A7D34"/>
                </a:solidFill>
                <a:latin typeface="Verdana"/>
              </a:rPr>
              <a:t>Edge-first design pays off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Aggregating and alerting at the fog node keeps raw readings local; alerts fire seconds after a threshold breaks.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A7D34"/>
                </a:solidFill>
                <a:latin typeface="Verdana"/>
              </a:rPr>
              <a:t>Serverless scales without provisioning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SQS, Lambda, and DynamoDB rode out a 67-message-per-second burst with nothing pre-sized or pre-warmed.</a:t>
            </a:r>
          </a:p>
          <a:p>
            <a:pPr>
              <a:spcAft>
                <a:spcPts val="900"/>
              </a:spcAft>
            </a:pPr>
            <a:r>
              <a:rPr sz="1700" b="1">
                <a:solidFill>
                  <a:srgbClr val="3A7D34"/>
                </a:solidFill>
                <a:latin typeface="Verdana"/>
              </a:rPr>
              <a:t>An emulator is not the cloud</a:t>
            </a:r>
          </a:p>
          <a:p>
            <a:pPr lvl="1">
              <a:spcAft>
                <a:spcPts val="900"/>
              </a:spcAft>
            </a:pPr>
            <a:r>
              <a:rPr sz="1500" b="0">
                <a:solidFill>
                  <a:srgbClr val="232A26"/>
                </a:solidFill>
                <a:latin typeface="Verdana"/>
              </a:rPr>
              <a:t>Two defects passed every local test and only surfaced against the real AWS deployment.</a:t>
            </a:r>
          </a:p>
          <a:p>
            <a:pPr>
              <a:spcAft>
                <a:spcPts val="900"/>
              </a:spcAft>
            </a:pPr>
            <a:r>
              <a:rPr sz="1700" b="0">
                <a:solidFill>
                  <a:srgbClr val="232A26"/>
                </a:solidFill>
                <a:latin typeface="Verdana"/>
              </a:rPr>
              <a:t>Thank you. Questions?</a:t>
            </a:r>
          </a:p>
        </p:txBody>
      </p:sp>
      <p:sp>
        <p:nvSpPr>
          <p:cNvPr id="5" name="Rectangle 4"/>
          <p:cNvSpPr/>
          <p:nvPr/>
        </p:nvSpPr>
        <p:spPr>
          <a:xfrm>
            <a:off x="658368" y="1261872"/>
            <a:ext cx="3108960" cy="36576"/>
          </a:xfrm>
          <a:prstGeom prst="rect">
            <a:avLst/>
          </a:prstGeom>
          <a:solidFill>
            <a:srgbClr val="3A7D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