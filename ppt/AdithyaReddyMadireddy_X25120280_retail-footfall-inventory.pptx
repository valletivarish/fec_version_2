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841248"/>
            <a:ext cx="10637215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5" name="Shape 3"/>
          <p:cNvSpPr/>
          <p:nvPr/>
        </p:nvSpPr>
        <p:spPr>
          <a:xfrm>
            <a:off x="1399032" y="548640"/>
            <a:ext cx="201168" cy="201168"/>
          </a:xfrm>
          <a:prstGeom prst="rect">
            <a:avLst/>
          </a:prstGeom>
          <a:solidFill>
            <a:srgbClr val="C17F0A"/>
          </a:solidFill>
          <a:ln/>
        </p:spPr>
      </p:sp>
      <p:sp>
        <p:nvSpPr>
          <p:cNvPr id="6" name="Shape 4"/>
          <p:cNvSpPr/>
          <p:nvPr/>
        </p:nvSpPr>
        <p:spPr>
          <a:xfrm>
            <a:off x="1709928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7" name="Shape 5"/>
          <p:cNvSpPr/>
          <p:nvPr/>
        </p:nvSpPr>
        <p:spPr>
          <a:xfrm>
            <a:off x="2020824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182880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Footfall &amp; Inventory Monitoring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5204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4114800"/>
            <a:ext cx="81381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841248"/>
            <a:ext cx="10637215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5" name="Shape 3"/>
          <p:cNvSpPr/>
          <p:nvPr/>
        </p:nvSpPr>
        <p:spPr>
          <a:xfrm>
            <a:off x="1399032" y="548640"/>
            <a:ext cx="201168" cy="201168"/>
          </a:xfrm>
          <a:prstGeom prst="rect">
            <a:avLst/>
          </a:prstGeom>
          <a:solidFill>
            <a:srgbClr val="C17F0A"/>
          </a:solidFill>
          <a:ln/>
        </p:spPr>
      </p:sp>
      <p:sp>
        <p:nvSpPr>
          <p:cNvPr id="6" name="Shape 4"/>
          <p:cNvSpPr/>
          <p:nvPr/>
        </p:nvSpPr>
        <p:spPr>
          <a:xfrm>
            <a:off x="1709928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7" name="Shape 5"/>
          <p:cNvSpPr/>
          <p:nvPr/>
        </p:nvSpPr>
        <p:spPr>
          <a:xfrm>
            <a:off x="2020824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Store to Cloud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77240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C17F0A"/>
          </a:solidFill>
          <a:ln w="12700">
            <a:solidFill>
              <a:srgbClr val="C17F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sensors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3544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42261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16" name="Shape 14"/>
          <p:cNvSpPr/>
          <p:nvPr/>
        </p:nvSpPr>
        <p:spPr>
          <a:xfrm>
            <a:off x="2626309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C17F0A"/>
          </a:solidFill>
          <a:ln w="12700">
            <a:solidFill>
              <a:srgbClr val="C17F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72613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72613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 gateway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72613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91330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1" name="Shape 19"/>
          <p:cNvSpPr/>
          <p:nvPr/>
        </p:nvSpPr>
        <p:spPr>
          <a:xfrm>
            <a:off x="4475378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1682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17F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21682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21682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40400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26" name="Shape 24"/>
          <p:cNvSpPr/>
          <p:nvPr/>
        </p:nvSpPr>
        <p:spPr>
          <a:xfrm>
            <a:off x="6324448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0752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17F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70752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70752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89469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1" name="Shape 29"/>
          <p:cNvSpPr/>
          <p:nvPr/>
        </p:nvSpPr>
        <p:spPr>
          <a:xfrm>
            <a:off x="8173517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19821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17F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19821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19821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638538" y="4256532"/>
            <a:ext cx="310896" cy="219456"/>
          </a:xfrm>
          <a:prstGeom prst="rightArrow">
            <a:avLst/>
          </a:prstGeom>
          <a:solidFill>
            <a:srgbClr val="5F6B7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22586" y="3383280"/>
            <a:ext cx="1391869" cy="196596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168890" y="35661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17F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168890" y="40050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168890" y="48646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841248"/>
            <a:ext cx="10637215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5" name="Shape 3"/>
          <p:cNvSpPr/>
          <p:nvPr/>
        </p:nvSpPr>
        <p:spPr>
          <a:xfrm>
            <a:off x="1399032" y="548640"/>
            <a:ext cx="201168" cy="201168"/>
          </a:xfrm>
          <a:prstGeom prst="rect">
            <a:avLst/>
          </a:prstGeom>
          <a:solidFill>
            <a:srgbClr val="C17F0A"/>
          </a:solidFill>
          <a:ln/>
        </p:spPr>
      </p:sp>
      <p:sp>
        <p:nvSpPr>
          <p:cNvPr id="6" name="Shape 4"/>
          <p:cNvSpPr/>
          <p:nvPr/>
        </p:nvSpPr>
        <p:spPr>
          <a:xfrm>
            <a:off x="1709928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7" name="Shape 5"/>
          <p:cNvSpPr/>
          <p:nvPr/>
        </p:nvSpPr>
        <p:spPr>
          <a:xfrm>
            <a:off x="2020824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77240" y="231343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17F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26080"/>
            <a:ext cx="3301898" cy="3154680"/>
          </a:xfrm>
          <a:prstGeom prst="roundRect">
            <a:avLst>
              <a:gd name="adj" fmla="val 1159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069848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estate KPIs, then per store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69848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roll up to four estate tiles, then break out per store.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44898" y="2926080"/>
            <a:ext cx="3301898" cy="3154680"/>
          </a:xfrm>
          <a:prstGeom prst="roundRect">
            <a:avLst>
              <a:gd name="adj" fmla="val 1159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9218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4737506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Mixed-polarity rules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737506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has a depletion floor while queue and footfall have ceilings — each raises the moment its window crosses in the right direction.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12557" y="2926080"/>
            <a:ext cx="3301898" cy="3154680"/>
          </a:xfrm>
          <a:prstGeom prst="roundRect">
            <a:avLst>
              <a:gd name="adj" fmla="val 1159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86877" y="31638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8405165" y="39776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refrigeration warning on real data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405165" y="4846320"/>
            <a:ext cx="27532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drifting warm in one store raises the refrigeration warning on its card while the rest stay nominal.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841248"/>
            <a:ext cx="10637215" cy="0"/>
          </a:xfrm>
          <a:prstGeom prst="line">
            <a:avLst/>
          </a:prstGeom>
          <a:noFill/>
          <a:ln w="9525">
            <a:solidFill>
              <a:srgbClr val="5F6B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5" name="Shape 3"/>
          <p:cNvSpPr/>
          <p:nvPr/>
        </p:nvSpPr>
        <p:spPr>
          <a:xfrm>
            <a:off x="1399032" y="548640"/>
            <a:ext cx="201168" cy="201168"/>
          </a:xfrm>
          <a:prstGeom prst="rect">
            <a:avLst/>
          </a:prstGeom>
          <a:solidFill>
            <a:srgbClr val="C17F0A"/>
          </a:solidFill>
          <a:ln/>
        </p:spPr>
      </p:sp>
      <p:sp>
        <p:nvSpPr>
          <p:cNvPr id="6" name="Shape 4"/>
          <p:cNvSpPr/>
          <p:nvPr/>
        </p:nvSpPr>
        <p:spPr>
          <a:xfrm>
            <a:off x="1709928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7" name="Shape 5"/>
          <p:cNvSpPr/>
          <p:nvPr/>
        </p:nvSpPr>
        <p:spPr>
          <a:xfrm>
            <a:off x="2020824" y="548640"/>
            <a:ext cx="201168" cy="201168"/>
          </a:xfrm>
          <a:prstGeom prst="rect">
            <a:avLst/>
          </a:prstGeom>
          <a:solidFill>
            <a:srgbClr val="FFC55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430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17F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45920" y="13167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F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7922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C23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buffer, many writers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77240" y="2834640"/>
            <a:ext cx="5090008" cy="32461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1089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97280" y="3493008"/>
            <a:ext cx="4449928" cy="0"/>
          </a:xfrm>
          <a:prstGeom prst="line">
            <a:avLst/>
          </a:prstGeom>
          <a:noFill/>
          <a:ln w="1905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657600"/>
            <a:ext cx="44499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C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24448" y="2834640"/>
            <a:ext cx="5090008" cy="324612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2700">
            <a:solidFill>
              <a:srgbClr val="E4E6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44488" y="31089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44488" y="3493008"/>
            <a:ext cx="4449928" cy="0"/>
          </a:xfrm>
          <a:prstGeom prst="line">
            <a:avLst/>
          </a:prstGeom>
          <a:noFill/>
          <a:ln w="19050">
            <a:solidFill>
              <a:srgbClr val="2F8F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4488" y="3657600"/>
            <a:ext cx="444992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C23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