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0"/>
            <a:ext cx="4663440" cy="6858000"/>
          </a:xfrm>
          <a:prstGeom prst="rect">
            <a:avLst/>
          </a:prstGeom>
          <a:solidFill>
            <a:srgbClr val="12703C"/>
          </a:solidFill>
          <a:ln/>
        </p:spPr>
      </p:sp>
      <p:sp>
        <p:nvSpPr>
          <p:cNvPr id="3" name="Text 1"/>
          <p:cNvSpPr/>
          <p:nvPr/>
        </p:nvSpPr>
        <p:spPr>
          <a:xfrm>
            <a:off x="7939735" y="128016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 Charging Network Monitoring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958023" y="539496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DE9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Nemi Ishwarlal Vikani   ·   X24303046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6492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CDE9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at a charging hub move in seconds — a manual round or an hourly poll leaves an overloaded or overheating bay unnoticed for the whole gap between checks.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40233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153A27"/>
          </a:solidFill>
          <a:ln w="12700">
            <a:solidFill>
              <a:srgbClr val="E3A8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0233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3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&gt; 32 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47091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153A27"/>
          </a:solidFill>
          <a:ln w="12700">
            <a:solidFill>
              <a:srgbClr val="E3A8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7091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3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&gt; 45 °C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53949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153A27"/>
          </a:solidFill>
          <a:ln w="12700">
            <a:solidFill>
              <a:srgbClr val="E3A8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53949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3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draw &gt; 80 kW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61722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81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 Built — Edge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992728" y="123444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F0"/>
          </a:solidFill>
          <a:ln w="17780">
            <a:solidFill>
              <a:srgbClr val="4FB07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93896" y="1481328"/>
            <a:ext cx="164592" cy="164592"/>
          </a:xfrm>
          <a:prstGeom prst="ellipse">
            <a:avLst/>
          </a:prstGeom>
          <a:solidFill>
            <a:srgbClr val="4FB077"/>
          </a:solidFill>
          <a:ln/>
        </p:spPr>
      </p:sp>
      <p:sp>
        <p:nvSpPr>
          <p:cNvPr id="5" name="Text 3"/>
          <p:cNvSpPr/>
          <p:nvPr/>
        </p:nvSpPr>
        <p:spPr>
          <a:xfrm>
            <a:off x="4495648" y="12344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sensors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644488" y="12344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hubs · 5 metrics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095848" y="1892808"/>
            <a:ext cx="0" cy="219456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992728" y="2112264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F0"/>
          </a:solidFill>
          <a:ln w="17780">
            <a:solidFill>
              <a:srgbClr val="4FB07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93896" y="2359152"/>
            <a:ext cx="164592" cy="164592"/>
          </a:xfrm>
          <a:prstGeom prst="ellipse">
            <a:avLst/>
          </a:prstGeom>
          <a:solidFill>
            <a:srgbClr val="4FB077"/>
          </a:solidFill>
          <a:ln/>
        </p:spPr>
      </p:sp>
      <p:sp>
        <p:nvSpPr>
          <p:cNvPr id="10" name="Text 8"/>
          <p:cNvSpPr/>
          <p:nvPr/>
        </p:nvSpPr>
        <p:spPr>
          <a:xfrm>
            <a:off x="4495648" y="211226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644488" y="2112264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4 rules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95848" y="2770632"/>
            <a:ext cx="0" cy="219456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992728" y="2990088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F0"/>
          </a:solidFill>
          <a:ln w="17780">
            <a:solidFill>
              <a:srgbClr val="1270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93896" y="3236976"/>
            <a:ext cx="164592" cy="164592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15" name="Text 13"/>
          <p:cNvSpPr/>
          <p:nvPr/>
        </p:nvSpPr>
        <p:spPr>
          <a:xfrm>
            <a:off x="4495648" y="299008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44488" y="299008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aggregate / window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95848" y="3648456"/>
            <a:ext cx="0" cy="219456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92728" y="3867912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F0"/>
          </a:solidFill>
          <a:ln w="17780">
            <a:solidFill>
              <a:srgbClr val="1270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93896" y="4114800"/>
            <a:ext cx="164592" cy="164592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20" name="Text 18"/>
          <p:cNvSpPr/>
          <p:nvPr/>
        </p:nvSpPr>
        <p:spPr>
          <a:xfrm>
            <a:off x="4495648" y="386791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644488" y="386791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095848" y="4526280"/>
            <a:ext cx="0" cy="219456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992728" y="4745736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F0"/>
          </a:solidFill>
          <a:ln w="17780">
            <a:solidFill>
              <a:srgbClr val="1270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93896" y="4992624"/>
            <a:ext cx="164592" cy="164592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25" name="Text 23"/>
          <p:cNvSpPr/>
          <p:nvPr/>
        </p:nvSpPr>
        <p:spPr>
          <a:xfrm>
            <a:off x="4495648" y="474573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644488" y="474573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store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095848" y="5404104"/>
            <a:ext cx="0" cy="219456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992728" y="562356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F0"/>
          </a:solidFill>
          <a:ln w="17780">
            <a:solidFill>
              <a:srgbClr val="1E945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193896" y="5870448"/>
            <a:ext cx="164592" cy="164592"/>
          </a:xfrm>
          <a:prstGeom prst="ellipse">
            <a:avLst/>
          </a:prstGeom>
          <a:solidFill>
            <a:srgbClr val="1E9450"/>
          </a:solidFill>
          <a:ln/>
        </p:spPr>
      </p:sp>
      <p:sp>
        <p:nvSpPr>
          <p:cNvPr id="30" name="Text 28"/>
          <p:cNvSpPr/>
          <p:nvPr/>
        </p:nvSpPr>
        <p:spPr>
          <a:xfrm>
            <a:off x="4495648" y="56235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644488" y="5623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38248" y="12344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4FB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438248" y="299008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27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656168" y="2743200"/>
            <a:ext cx="3291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27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readings stay at the edge; the fog node sends one aggregate per sensor per window, so alerts fire next to the hardware.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81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9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ecn-frontend-350600740537.s3.us-east-1.amazonaws.com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DF6F0"/>
          </a:solidFill>
          <a:ln w="15240">
            <a:solidFill>
              <a:srgbClr val="1E94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03704"/>
            <a:ext cx="621792" cy="621792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037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02996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hubs, five charging metrics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28800" y="2450592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Current, battery charge, temperature, grid load and session time live for both hubs, freshest reading a few seconds old.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346704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DF6F0"/>
          </a:solidFill>
          <a:ln w="15240">
            <a:solidFill>
              <a:srgbClr val="1E94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721608"/>
            <a:ext cx="621792" cy="621792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721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28800" y="3547872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safety alerts on hub-1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828800" y="3968496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Overheat risk and grid strain are both firing live on hub-1, each raised at the fog node the moment its window crossed.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864608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DF6F0"/>
          </a:solidFill>
          <a:ln w="15240">
            <a:solidFill>
              <a:srgbClr val="1E945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5239512"/>
            <a:ext cx="621792" cy="621792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23951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828800" y="50657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data, climbing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828800" y="548640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stored-record count runs from 26 to 289 across the verification window, confirming genuinely live data.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0281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Hardest Part — one Flask app, two front doors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DF6F0"/>
          </a:solidFill>
          <a:ln w="19050">
            <a:solidFill>
              <a:srgbClr val="E3A8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3A83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is a Flask application, but API Gateway invokes a Lambda with a proxy event, not an HTTP request — so the same code had to answer in both worlds. Re-declaring every route for Lambda would drift from the local server over time, and a third-party adapter would add a dependency to maintain.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DF6F0"/>
          </a:solidFill>
          <a:ln w="19050">
            <a:solidFill>
              <a:srgbClr val="1E94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94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hand-rolled bridge turns the API Gateway proxy event into a standard Python web-server environment and invokes the existing Flask app unchanged, with a cross-origin header on every response. A pre-deployment audit also confirmed the recurring pitfalls — paginated counting, batched publishing and credential handling — were already correct.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12703C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2026-07-24T07:20:52Z</dcterms:created>
  <dcterms:modified xsi:type="dcterms:W3CDTF">2026-07-24T07:20:52Z</dcterms:modified>
</cp:coreProperties>
</file>