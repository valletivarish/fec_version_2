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</p:sldIdLst>
  <p:notesMasterIdLst>
    <p:notesMasterId r:id="rId6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notesMaster" Target="notesMasters/notesMaster1.xml"/><Relationship Id="rId7" Type="http://schemas.openxmlformats.org/officeDocument/2006/relationships/presProps" Target="presProps.xml"/><Relationship Id="rId8" Type="http://schemas.openxmlformats.org/officeDocument/2006/relationships/viewProps" Target="viewProps.xml"/><Relationship Id="rId9" Type="http://schemas.openxmlformats.org/officeDocument/2006/relationships/theme" Target="theme/theme1.xml"/><Relationship Id="rId1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222A3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1051560"/>
            <a:ext cx="1106424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Elevator &amp; Escalator Fleet Monitoring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548640" y="2286000"/>
            <a:ext cx="11064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7488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Rasool Basha Durbesula   ·   X24205478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1463040" y="2926080"/>
            <a:ext cx="923544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2000" dirty="0">
                <a:solidFill>
                  <a:srgbClr val="D3DB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lift fails two ways — slowly, as a motor creeps hot or a ride roughens, and suddenly, as one overweight trip loads the car past its limit — and a clipboard round sees only one instant.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1889608" y="4526280"/>
            <a:ext cx="2651760" cy="566928"/>
          </a:xfrm>
          <a:prstGeom prst="roundRect">
            <a:avLst>
              <a:gd name="adj" fmla="val 50000"/>
            </a:avLst>
          </a:prstGeom>
          <a:solidFill>
            <a:srgbClr val="2A343B"/>
          </a:solidFill>
          <a:ln w="12700">
            <a:solidFill>
              <a:srgbClr val="F0A50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889608" y="4526280"/>
            <a:ext cx="2651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F0A5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Motor &gt; 85 °C (avg)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4769968" y="4526280"/>
            <a:ext cx="2651760" cy="566928"/>
          </a:xfrm>
          <a:prstGeom prst="roundRect">
            <a:avLst>
              <a:gd name="adj" fmla="val 50000"/>
            </a:avLst>
          </a:prstGeom>
          <a:solidFill>
            <a:srgbClr val="2A343B"/>
          </a:solidFill>
          <a:ln w="12700">
            <a:solidFill>
              <a:srgbClr val="F0A50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769968" y="4526280"/>
            <a:ext cx="2651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F0A5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Overload &gt; 1,000 kg (peak)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7650328" y="4526280"/>
            <a:ext cx="2651760" cy="566928"/>
          </a:xfrm>
          <a:prstGeom prst="roundRect">
            <a:avLst>
              <a:gd name="adj" fmla="val 50000"/>
            </a:avLst>
          </a:prstGeom>
          <a:solidFill>
            <a:srgbClr val="2A343B"/>
          </a:solidFill>
          <a:ln w="12700">
            <a:solidFill>
              <a:srgbClr val="F0A50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650328" y="4526280"/>
            <a:ext cx="2651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F0A5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Stall &lt; 0.5 m/s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548640" y="6126480"/>
            <a:ext cx="11064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626E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Fog &amp; Edge Computing (H9FECC)   ·   deployed live on AWS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72D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What I Built — Sensor to Screen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640080" y="1874520"/>
            <a:ext cx="2286000" cy="1280160"/>
          </a:xfrm>
          <a:prstGeom prst="roundRect">
            <a:avLst>
              <a:gd name="adj" fmla="val 7143"/>
            </a:avLst>
          </a:prstGeom>
          <a:solidFill>
            <a:srgbClr val="EFF2F4"/>
          </a:solidFill>
          <a:ln w="19050">
            <a:solidFill>
              <a:srgbClr val="74889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691640" y="2039112"/>
            <a:ext cx="182880" cy="182880"/>
          </a:xfrm>
          <a:prstGeom prst="ellipse">
            <a:avLst/>
          </a:prstGeom>
          <a:solidFill>
            <a:srgbClr val="74889A"/>
          </a:solidFill>
          <a:ln/>
        </p:spPr>
      </p:sp>
      <p:sp>
        <p:nvSpPr>
          <p:cNvPr id="5" name="Text 3"/>
          <p:cNvSpPr/>
          <p:nvPr/>
        </p:nvSpPr>
        <p:spPr>
          <a:xfrm>
            <a:off x="612648" y="2258568"/>
            <a:ext cx="234086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1F27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Cab sensors</a:t>
            </a:r>
            <a:endParaRPr lang="en-US" sz="1450" dirty="0"/>
          </a:p>
        </p:txBody>
      </p:sp>
      <p:sp>
        <p:nvSpPr>
          <p:cNvPr id="6" name="Text 4"/>
          <p:cNvSpPr/>
          <p:nvPr/>
        </p:nvSpPr>
        <p:spPr>
          <a:xfrm>
            <a:off x="640080" y="2606040"/>
            <a:ext cx="2286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626E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· 2 towers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2944368" y="2514600"/>
            <a:ext cx="1975104" cy="0"/>
          </a:xfrm>
          <a:prstGeom prst="line">
            <a:avLst/>
          </a:prstGeom>
          <a:noFill/>
          <a:ln w="25400">
            <a:solidFill>
              <a:srgbClr val="74889A"/>
            </a:solidFill>
            <a:prstDash val="solid"/>
            <a:headEnd type="none"/>
            <a:tailEnd type="triangle"/>
          </a:ln>
        </p:spPr>
      </p:sp>
      <p:sp>
        <p:nvSpPr>
          <p:cNvPr id="8" name="Shape 6"/>
          <p:cNvSpPr/>
          <p:nvPr/>
        </p:nvSpPr>
        <p:spPr>
          <a:xfrm>
            <a:off x="4937760" y="1874520"/>
            <a:ext cx="2286000" cy="1280160"/>
          </a:xfrm>
          <a:prstGeom prst="roundRect">
            <a:avLst>
              <a:gd name="adj" fmla="val 7143"/>
            </a:avLst>
          </a:prstGeom>
          <a:solidFill>
            <a:srgbClr val="EFF2F4"/>
          </a:solidFill>
          <a:ln w="19050">
            <a:solidFill>
              <a:srgbClr val="74889A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5989320" y="2039112"/>
            <a:ext cx="182880" cy="182880"/>
          </a:xfrm>
          <a:prstGeom prst="ellipse">
            <a:avLst/>
          </a:prstGeom>
          <a:solidFill>
            <a:srgbClr val="74889A"/>
          </a:solidFill>
          <a:ln/>
        </p:spPr>
      </p:sp>
      <p:sp>
        <p:nvSpPr>
          <p:cNvPr id="10" name="Text 8"/>
          <p:cNvSpPr/>
          <p:nvPr/>
        </p:nvSpPr>
        <p:spPr>
          <a:xfrm>
            <a:off x="4910328" y="2258568"/>
            <a:ext cx="234086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1F27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Fog node</a:t>
            </a:r>
            <a:endParaRPr lang="en-US" sz="1450" dirty="0"/>
          </a:p>
        </p:txBody>
      </p:sp>
      <p:sp>
        <p:nvSpPr>
          <p:cNvPr id="11" name="Text 9"/>
          <p:cNvSpPr/>
          <p:nvPr/>
        </p:nvSpPr>
        <p:spPr>
          <a:xfrm>
            <a:off x="4937760" y="2606040"/>
            <a:ext cx="2286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626E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window · aggregate · alert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7242048" y="2514600"/>
            <a:ext cx="1975104" cy="0"/>
          </a:xfrm>
          <a:prstGeom prst="line">
            <a:avLst/>
          </a:prstGeom>
          <a:noFill/>
          <a:ln w="25400">
            <a:solidFill>
              <a:srgbClr val="74889A"/>
            </a:solidFill>
            <a:prstDash val="solid"/>
            <a:headEnd type="none"/>
            <a:tailEnd type="triangle"/>
          </a:ln>
        </p:spPr>
      </p:sp>
      <p:sp>
        <p:nvSpPr>
          <p:cNvPr id="13" name="Shape 11"/>
          <p:cNvSpPr/>
          <p:nvPr/>
        </p:nvSpPr>
        <p:spPr>
          <a:xfrm>
            <a:off x="9235440" y="1874520"/>
            <a:ext cx="2286000" cy="1280160"/>
          </a:xfrm>
          <a:prstGeom prst="roundRect">
            <a:avLst>
              <a:gd name="adj" fmla="val 7143"/>
            </a:avLst>
          </a:prstGeom>
          <a:solidFill>
            <a:srgbClr val="EFF2F4"/>
          </a:solidFill>
          <a:ln w="19050">
            <a:solidFill>
              <a:srgbClr val="37474F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10287000" y="2039112"/>
            <a:ext cx="182880" cy="182880"/>
          </a:xfrm>
          <a:prstGeom prst="ellipse">
            <a:avLst/>
          </a:prstGeom>
          <a:solidFill>
            <a:srgbClr val="37474F"/>
          </a:solidFill>
          <a:ln/>
        </p:spPr>
      </p:sp>
      <p:sp>
        <p:nvSpPr>
          <p:cNvPr id="15" name="Text 13"/>
          <p:cNvSpPr/>
          <p:nvPr/>
        </p:nvSpPr>
        <p:spPr>
          <a:xfrm>
            <a:off x="9208008" y="2258568"/>
            <a:ext cx="234086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1F27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Amazon SQS</a:t>
            </a:r>
            <a:endParaRPr lang="en-US" sz="1450" dirty="0"/>
          </a:p>
        </p:txBody>
      </p:sp>
      <p:sp>
        <p:nvSpPr>
          <p:cNvPr id="16" name="Text 14"/>
          <p:cNvSpPr/>
          <p:nvPr/>
        </p:nvSpPr>
        <p:spPr>
          <a:xfrm>
            <a:off x="9235440" y="2606040"/>
            <a:ext cx="2286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626E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aggregate queue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9235440" y="3520440"/>
            <a:ext cx="2286000" cy="1280160"/>
          </a:xfrm>
          <a:prstGeom prst="roundRect">
            <a:avLst>
              <a:gd name="adj" fmla="val 7143"/>
            </a:avLst>
          </a:prstGeom>
          <a:solidFill>
            <a:srgbClr val="EFF2F4"/>
          </a:solidFill>
          <a:ln w="19050">
            <a:solidFill>
              <a:srgbClr val="37474F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10287000" y="3685032"/>
            <a:ext cx="182880" cy="182880"/>
          </a:xfrm>
          <a:prstGeom prst="ellipse">
            <a:avLst/>
          </a:prstGeom>
          <a:solidFill>
            <a:srgbClr val="37474F"/>
          </a:solidFill>
          <a:ln/>
        </p:spPr>
      </p:sp>
      <p:sp>
        <p:nvSpPr>
          <p:cNvPr id="19" name="Text 17"/>
          <p:cNvSpPr/>
          <p:nvPr/>
        </p:nvSpPr>
        <p:spPr>
          <a:xfrm>
            <a:off x="9208008" y="3904488"/>
            <a:ext cx="234086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1F27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AWS Lambda</a:t>
            </a:r>
            <a:endParaRPr lang="en-US" sz="1450" dirty="0"/>
          </a:p>
        </p:txBody>
      </p:sp>
      <p:sp>
        <p:nvSpPr>
          <p:cNvPr id="20" name="Text 18"/>
          <p:cNvSpPr/>
          <p:nvPr/>
        </p:nvSpPr>
        <p:spPr>
          <a:xfrm>
            <a:off x="9235440" y="4251960"/>
            <a:ext cx="2286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626E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nodejs20 ingest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7242048" y="4160520"/>
            <a:ext cx="1975104" cy="0"/>
          </a:xfrm>
          <a:prstGeom prst="line">
            <a:avLst/>
          </a:prstGeom>
          <a:noFill/>
          <a:ln w="25400">
            <a:solidFill>
              <a:srgbClr val="74889A"/>
            </a:solidFill>
            <a:prstDash val="solid"/>
            <a:headEnd type="triangle"/>
            <a:tailEnd type="oval"/>
          </a:ln>
        </p:spPr>
      </p:sp>
      <p:sp>
        <p:nvSpPr>
          <p:cNvPr id="22" name="Shape 20"/>
          <p:cNvSpPr/>
          <p:nvPr/>
        </p:nvSpPr>
        <p:spPr>
          <a:xfrm>
            <a:off x="4937760" y="3520440"/>
            <a:ext cx="2286000" cy="1280160"/>
          </a:xfrm>
          <a:prstGeom prst="roundRect">
            <a:avLst>
              <a:gd name="adj" fmla="val 7143"/>
            </a:avLst>
          </a:prstGeom>
          <a:solidFill>
            <a:srgbClr val="EFF2F4"/>
          </a:solidFill>
          <a:ln w="19050">
            <a:solidFill>
              <a:srgbClr val="37474F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989320" y="3685032"/>
            <a:ext cx="182880" cy="182880"/>
          </a:xfrm>
          <a:prstGeom prst="ellipse">
            <a:avLst/>
          </a:prstGeom>
          <a:solidFill>
            <a:srgbClr val="37474F"/>
          </a:solidFill>
          <a:ln/>
        </p:spPr>
      </p:sp>
      <p:sp>
        <p:nvSpPr>
          <p:cNvPr id="24" name="Text 22"/>
          <p:cNvSpPr/>
          <p:nvPr/>
        </p:nvSpPr>
        <p:spPr>
          <a:xfrm>
            <a:off x="4910328" y="3904488"/>
            <a:ext cx="234086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1F27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DynamoDB</a:t>
            </a:r>
            <a:endParaRPr lang="en-US" sz="1450" dirty="0"/>
          </a:p>
        </p:txBody>
      </p:sp>
      <p:sp>
        <p:nvSpPr>
          <p:cNvPr id="25" name="Text 23"/>
          <p:cNvSpPr/>
          <p:nvPr/>
        </p:nvSpPr>
        <p:spPr>
          <a:xfrm>
            <a:off x="4937760" y="4251960"/>
            <a:ext cx="2286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626E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window store</a:t>
            </a:r>
            <a:endParaRPr lang="en-US" sz="1050" dirty="0"/>
          </a:p>
        </p:txBody>
      </p:sp>
      <p:sp>
        <p:nvSpPr>
          <p:cNvPr id="26" name="Shape 24"/>
          <p:cNvSpPr/>
          <p:nvPr/>
        </p:nvSpPr>
        <p:spPr>
          <a:xfrm>
            <a:off x="2944368" y="4160520"/>
            <a:ext cx="1975104" cy="0"/>
          </a:xfrm>
          <a:prstGeom prst="line">
            <a:avLst/>
          </a:prstGeom>
          <a:noFill/>
          <a:ln w="25400">
            <a:solidFill>
              <a:srgbClr val="74889A"/>
            </a:solidFill>
            <a:prstDash val="solid"/>
            <a:headEnd type="triangle"/>
            <a:tailEnd type="oval"/>
          </a:ln>
        </p:spPr>
      </p:sp>
      <p:sp>
        <p:nvSpPr>
          <p:cNvPr id="27" name="Shape 25"/>
          <p:cNvSpPr/>
          <p:nvPr/>
        </p:nvSpPr>
        <p:spPr>
          <a:xfrm>
            <a:off x="640080" y="3520440"/>
            <a:ext cx="2286000" cy="1280160"/>
          </a:xfrm>
          <a:prstGeom prst="roundRect">
            <a:avLst>
              <a:gd name="adj" fmla="val 7143"/>
            </a:avLst>
          </a:prstGeom>
          <a:solidFill>
            <a:srgbClr val="EFF2F4"/>
          </a:solidFill>
          <a:ln w="19050">
            <a:solidFill>
              <a:srgbClr val="4E6270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691640" y="3685032"/>
            <a:ext cx="182880" cy="182880"/>
          </a:xfrm>
          <a:prstGeom prst="ellipse">
            <a:avLst/>
          </a:prstGeom>
          <a:solidFill>
            <a:srgbClr val="4E6270"/>
          </a:solidFill>
          <a:ln/>
        </p:spPr>
      </p:sp>
      <p:sp>
        <p:nvSpPr>
          <p:cNvPr id="29" name="Text 27"/>
          <p:cNvSpPr/>
          <p:nvPr/>
        </p:nvSpPr>
        <p:spPr>
          <a:xfrm>
            <a:off x="612648" y="3904488"/>
            <a:ext cx="234086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1F27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 GW + S3</a:t>
            </a:r>
            <a:endParaRPr lang="en-US" sz="1450" dirty="0"/>
          </a:p>
        </p:txBody>
      </p:sp>
      <p:sp>
        <p:nvSpPr>
          <p:cNvPr id="30" name="Text 28"/>
          <p:cNvSpPr/>
          <p:nvPr/>
        </p:nvSpPr>
        <p:spPr>
          <a:xfrm>
            <a:off x="640080" y="4251960"/>
            <a:ext cx="2286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626E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fleet dashboard</a:t>
            </a:r>
            <a:endParaRPr lang="en-US" sz="1050" dirty="0"/>
          </a:p>
        </p:txBody>
      </p:sp>
      <p:sp>
        <p:nvSpPr>
          <p:cNvPr id="31" name="Shape 29"/>
          <p:cNvSpPr/>
          <p:nvPr/>
        </p:nvSpPr>
        <p:spPr>
          <a:xfrm>
            <a:off x="10378440" y="3154680"/>
            <a:ext cx="0" cy="365760"/>
          </a:xfrm>
          <a:prstGeom prst="line">
            <a:avLst/>
          </a:prstGeom>
          <a:noFill/>
          <a:ln w="25400">
            <a:solidFill>
              <a:srgbClr val="74889A"/>
            </a:solidFill>
            <a:prstDash val="solid"/>
            <a:tailEnd type="triangle"/>
          </a:ln>
        </p:spPr>
      </p:sp>
      <p:sp>
        <p:nvSpPr>
          <p:cNvPr id="32" name="Text 30"/>
          <p:cNvSpPr/>
          <p:nvPr/>
        </p:nvSpPr>
        <p:spPr>
          <a:xfrm>
            <a:off x="640080" y="52578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i="1" dirty="0">
                <a:solidFill>
                  <a:srgbClr val="3747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rule reads the number its fault lives in — the drift faults read the window average, the single-instant overload reads the window maximum.</a:t>
            </a:r>
            <a:endParaRPr lang="en-US" sz="15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73152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72D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Live Demo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658368" y="1143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4E627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eef-frontend-786504441742.s3.us-east-1.amazonaws.com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640080" y="1737360"/>
            <a:ext cx="10972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EFF2F4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1</a:t>
            </a:r>
            <a:endParaRPr lang="en-US" sz="5400" dirty="0"/>
          </a:p>
        </p:txBody>
      </p:sp>
      <p:sp>
        <p:nvSpPr>
          <p:cNvPr id="5" name="Shape 3"/>
          <p:cNvSpPr/>
          <p:nvPr/>
        </p:nvSpPr>
        <p:spPr>
          <a:xfrm>
            <a:off x="1828800" y="1920240"/>
            <a:ext cx="0" cy="1051560"/>
          </a:xfrm>
          <a:prstGeom prst="line">
            <a:avLst/>
          </a:prstGeom>
          <a:noFill/>
          <a:ln w="25400">
            <a:solidFill>
              <a:srgbClr val="4E627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057400" y="1874520"/>
            <a:ext cx="9509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F27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meter card per signal, per tower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2057400" y="2313432"/>
            <a:ext cx="95097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626E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Motor temperature, door cycles, cab vibration, load weight and travel speed live for both towers with native meter bars.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640080" y="3200400"/>
            <a:ext cx="10972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EFF2F4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2</a:t>
            </a:r>
            <a:endParaRPr lang="en-US" sz="5400" dirty="0"/>
          </a:p>
        </p:txBody>
      </p:sp>
      <p:sp>
        <p:nvSpPr>
          <p:cNvPr id="9" name="Shape 7"/>
          <p:cNvSpPr/>
          <p:nvPr/>
        </p:nvSpPr>
        <p:spPr>
          <a:xfrm>
            <a:off x="1828800" y="3383280"/>
            <a:ext cx="0" cy="1051560"/>
          </a:xfrm>
          <a:prstGeom prst="line">
            <a:avLst/>
          </a:prstGeom>
          <a:noFill/>
          <a:ln w="25400">
            <a:solidFill>
              <a:srgbClr val="4E627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2057400" y="3337560"/>
            <a:ext cx="9509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F27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faults at opposite ends of time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2057400" y="3776472"/>
            <a:ext cx="95097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626E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Tower-B is firing a ride-quality fault (a drift, read on the average) and an overload warning (an instant, read on the peak) at once.</a:t>
            </a:r>
            <a:endParaRPr lang="en-US" sz="1350" dirty="0"/>
          </a:p>
        </p:txBody>
      </p:sp>
      <p:sp>
        <p:nvSpPr>
          <p:cNvPr id="12" name="Text 10"/>
          <p:cNvSpPr/>
          <p:nvPr/>
        </p:nvSpPr>
        <p:spPr>
          <a:xfrm>
            <a:off x="640080" y="4663440"/>
            <a:ext cx="10972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EFF2F4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3</a:t>
            </a:r>
            <a:endParaRPr lang="en-US" sz="5400" dirty="0"/>
          </a:p>
        </p:txBody>
      </p:sp>
      <p:sp>
        <p:nvSpPr>
          <p:cNvPr id="13" name="Shape 11"/>
          <p:cNvSpPr/>
          <p:nvPr/>
        </p:nvSpPr>
        <p:spPr>
          <a:xfrm>
            <a:off x="1828800" y="4846320"/>
            <a:ext cx="0" cy="1051560"/>
          </a:xfrm>
          <a:prstGeom prst="line">
            <a:avLst/>
          </a:prstGeom>
          <a:noFill/>
          <a:ln w="25400">
            <a:solidFill>
              <a:srgbClr val="4E627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057400" y="4800600"/>
            <a:ext cx="9509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F27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Window-average trend charts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2057400" y="5239512"/>
            <a:ext cx="95097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626E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Five trend charts run per tower, so a slowly overheating motor is visible on the trend well before it alarms.</a:t>
            </a:r>
            <a:endParaRPr lang="en-US" sz="1350" dirty="0"/>
          </a:p>
        </p:txBody>
      </p:sp>
      <p:sp>
        <p:nvSpPr>
          <p:cNvPr id="16" name="Text 14"/>
          <p:cNvSpPr/>
          <p:nvPr/>
        </p:nvSpPr>
        <p:spPr>
          <a:xfrm>
            <a:off x="640080" y="630936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7488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Switch to the live dashboard here — backup video ready.</a:t>
            </a:r>
            <a:endParaRPr lang="en-US" sz="13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97280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1F272D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Hardest Part — peak or trend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731520" y="1965960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F0A500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Problem</a:t>
            </a:r>
            <a:endParaRPr lang="en-US" sz="2300" dirty="0"/>
          </a:p>
        </p:txBody>
      </p:sp>
      <p:sp>
        <p:nvSpPr>
          <p:cNvPr id="4" name="Shape 2"/>
          <p:cNvSpPr/>
          <p:nvPr/>
        </p:nvSpPr>
        <p:spPr>
          <a:xfrm>
            <a:off x="3200400" y="1920240"/>
            <a:ext cx="0" cy="1783080"/>
          </a:xfrm>
          <a:prstGeom prst="line">
            <a:avLst/>
          </a:prstGeom>
          <a:noFill/>
          <a:ln w="31750">
            <a:solidFill>
              <a:srgbClr val="F0A50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3474720" y="1920240"/>
            <a:ext cx="795528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450" dirty="0">
                <a:solidFill>
                  <a:srgbClr val="1F27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window becomes the same five numbers: count, min, max, average, latest. If every rule read the average, the overload would slip through — one overweight trip among nine ordinary ones averages out below the limit while the car is genuinely overloaded.</a:t>
            </a:r>
            <a:endParaRPr lang="en-US" sz="1450" dirty="0"/>
          </a:p>
        </p:txBody>
      </p:sp>
      <p:sp>
        <p:nvSpPr>
          <p:cNvPr id="6" name="Text 4"/>
          <p:cNvSpPr/>
          <p:nvPr/>
        </p:nvSpPr>
        <p:spPr>
          <a:xfrm>
            <a:off x="731520" y="4114800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4E6270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Solution</a:t>
            </a:r>
            <a:endParaRPr lang="en-US" sz="2300" dirty="0"/>
          </a:p>
        </p:txBody>
      </p:sp>
      <p:sp>
        <p:nvSpPr>
          <p:cNvPr id="7" name="Shape 5"/>
          <p:cNvSpPr/>
          <p:nvPr/>
        </p:nvSpPr>
        <p:spPr>
          <a:xfrm>
            <a:off x="3200400" y="4069080"/>
            <a:ext cx="0" cy="1783080"/>
          </a:xfrm>
          <a:prstGeom prst="line">
            <a:avLst/>
          </a:prstGeom>
          <a:noFill/>
          <a:ln w="31750">
            <a:solidFill>
              <a:srgbClr val="4E627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474720" y="4069080"/>
            <a:ext cx="795528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450" dirty="0">
                <a:solidFill>
                  <a:srgbClr val="1F27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Bind each rule to the number its fault lives in: overheating, rough riding and stalling are trends, so they read the window average; overload is a single instant, so it reads the window maximum. The samplers are drift-corrected so every window covers a like span of time and the peak that trips an overload is real, not a clock artefact. A unit test fires the overload on a peak the average leaves below the limit.</a:t>
            </a:r>
            <a:endParaRPr lang="en-US" sz="14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4</Slides>
  <Notes>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Slide 1</vt:lpstr>
      <vt:lpstr>Slide 2</vt:lpstr>
      <vt:lpstr>Slide 3</vt:lpstr>
      <vt:lpstr>Slide 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2026-07-24T07:12:02Z</dcterms:created>
  <dcterms:modified xsi:type="dcterms:W3CDTF">2026-07-24T07:12:02Z</dcterms:modified>
</cp:coreProperties>
</file>