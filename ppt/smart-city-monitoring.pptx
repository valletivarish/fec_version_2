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0"/>
          </a:xfrm>
          <a:prstGeom prst="rect">
            <a:avLst/>
          </a:prstGeom>
          <a:solidFill>
            <a:srgbClr val="3B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entury Gothic"/>
              </a:rPr>
              <a:t>Smart City Environmental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6984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C655F"/>
                </a:solidFill>
                <a:latin typeface="Verdana"/>
              </a:rPr>
              <a:t>Ten street sensors, one edge relay, one serverless cloud pipeline</a:t>
            </a:r>
          </a:p>
          <a:p>
            <a:pPr algn="l"/>
            <a:r>
              <a:rPr sz="1600" b="1">
                <a:solidFill>
                  <a:srgbClr val="232A26"/>
                </a:solidFill>
                <a:latin typeface="Verdana"/>
              </a:rPr>
              <a:t/>
            </a:r>
          </a:p>
          <a:p>
            <a:pPr algn="l"/>
            <a:r>
              <a:rPr sz="1300" b="0">
                <a:solidFill>
                  <a:srgbClr val="5C655F"/>
                </a:solidFill>
                <a:latin typeface="Verdana"/>
              </a:rPr>
              <a:t>MSc in Cloud Computing   ·   Fog and Edge Computing (H9FECC)</a:t>
            </a:r>
          </a:p>
          <a:p>
            <a:pPr algn="l"/>
            <a:r>
              <a:rPr sz="1300" b="0">
                <a:solidFill>
                  <a:srgbClr val="5C655F"/>
                </a:solidFill>
                <a:latin typeface="Verdana"/>
              </a:rPr>
              <a:t>National College of Ireland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0"/>
            <a:ext cx="10972800" cy="1051560"/>
          </a:xfrm>
        </p:spPr>
        <p:txBody>
          <a:bodyPr wrap="square" anchor="ctr"/>
          <a:lstStyle/>
          <a:p>
            <a:pPr algn="l"/>
            <a:r>
              <a:rPr b="1" sz="2400">
                <a:solidFill>
                  <a:srgbClr val="FFFFFF"/>
                </a:solidFill>
                <a:latin typeface="Century Gothic"/>
              </a:rPr>
              <a:t>Why occasional checking fails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371600"/>
            <a:ext cx="10972800" cy="5029200"/>
          </a:xfrm>
        </p:spPr>
        <p:txBody>
          <a:bodyPr wrap="square">
            <a:norm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Verdana"/>
              </a:rPr>
              <a:t>Congestion, pollution spikes and full car parks build and fade within minutes, between any two manual checks.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Verdana"/>
              </a:rPr>
              <a:t>A patrol or a monthly meter read captures one moment; the breach that matters happens after the clipboard leaves.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Verdana"/>
              </a:rPr>
              <a:t>Streaming every raw reading to a distant cloud is the other extreme: heavy, slow and costly at city scale.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3B4A8A"/>
                </a:solidFill>
                <a:latin typeface="Verdana"/>
              </a:rPr>
              <a:t>What a city needs is continuous local watching, with only compact summaries and alerts leaving the street.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Verdana"/>
              </a:rPr>
              <a:t>35 micrograms per cubic metre is the pipeline's PM2.5 alert line; an air quality breach can rise and fade between manual reads.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Verdana"/>
              </a:rPr>
              <a:t>75 dB is the noise violation threshold; residents feel every extra minute it goes unnoticed.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Verdana"/>
              </a:rPr>
              <a:t>Each of ten street sensors reports one reading every 2 to 5 seconds continuously, and no manual process keeps up with that.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0"/>
            <a:ext cx="10972800" cy="1051560"/>
          </a:xfrm>
        </p:spPr>
        <p:txBody>
          <a:bodyPr wrap="square" anchor="ctr"/>
          <a:lstStyle/>
          <a:p>
            <a:pPr algn="l"/>
            <a:r>
              <a:rPr b="1" sz="2400">
                <a:solidFill>
                  <a:srgbClr val="FFFFFF"/>
                </a:solidFill>
                <a:latin typeface="Century Gothic"/>
              </a:rPr>
              <a:t>How it works: edge to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371600"/>
            <a:ext cx="10972800" cy="5029200"/>
          </a:xfr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3B4A8A"/>
                </a:solidFill>
                <a:latin typeface="Verdana"/>
              </a:rPr>
              <a:t>City edge: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Verdana"/>
              </a:rPr>
              <a:t>Street sensors: 10 devices, 5 metrics, 2 zones.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Verdana"/>
              </a:rPr>
              <a:t>Fog node windows, aggregates and alerts, with a 10 second aggregation window at the edge relay.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3B4A8A"/>
                </a:solidFill>
                <a:latin typeface="Verdana"/>
              </a:rPr>
              <a:t>AWS cloud: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Verdana"/>
              </a:rPr>
              <a:t>Amazon SQS aggregate queue, AWS Lambda serverless ingest, and Amazon DynamoDB durable store.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Verdana"/>
              </a:rPr>
              <a:t>Live dashboard on Amazon S3 and API Gateway.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32A26"/>
                </a:solidFill>
                <a:latin typeface="Verdana"/>
              </a:rPr>
              <a:t>5 alert rules are assessed beside the sensors, not in the cloud.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32A26"/>
                </a:solidFill>
                <a:latin typeface="Verdana"/>
              </a:rPr>
              <a:t>1 scripted step: verified locally on an AWS emulator, deploys to AWS unchanged.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3B4A8A"/>
                </a:solidFill>
                <a:latin typeface="Verdana"/>
              </a:rPr>
              <a:t>Each zone and metric leaves the street as one compact summary every ten seconds, alerts already attached.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0"/>
            <a:ext cx="10972800" cy="1051560"/>
          </a:xfrm>
        </p:spPr>
        <p:txBody>
          <a:bodyPr wrap="square" anchor="ctr"/>
          <a:lstStyle/>
          <a:p>
            <a:pPr algn="l"/>
            <a:r>
              <a:rPr b="1" sz="2400">
                <a:solidFill>
                  <a:srgbClr val="FFFFFF"/>
                </a:solidFill>
                <a:latin typeface="Century Gothic"/>
              </a:rPr>
              <a:t>Demonstration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371600"/>
            <a:ext cx="5760720" cy="493776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Verdana"/>
              </a:rPr>
              <a:t>Dashboard captured from the running stack.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Verdana"/>
              </a:rPr>
              <a:t>Two zones reporting, five metrics per zone, citywide trend charts, and the health footer along the bottom edge.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B4A8A"/>
                </a:solidFill>
                <a:latin typeface="Verdana"/>
              </a:rPr>
              <a:t>All pipeline health checks green: edge relay online, queue reachable, Lambda deployed, records archived.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Verdana"/>
              </a:rPr>
              <a:t>61 automated tests pass across the sensor, fog, processor and dashboard modules.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Verdana"/>
              </a:rPr>
              <a:t>2,000-message burst absorbed: load test fired through 32 parallel workers as scalability evidence.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Verdana"/>
              </a:rPr>
              <a:t>Five alert rules fire live: congestion, air quality, noise, parking and low visibility.</a:t>
            </a:r>
          </a:p>
        </p:txBody>
      </p:sp>
      <p:pic>
        <p:nvPicPr>
          <p:cNvPr id="5" name="Picture 4" descr="dashboard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748789"/>
            <a:ext cx="5120640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0"/>
            <a:ext cx="10972800" cy="1051560"/>
          </a:xfrm>
        </p:spPr>
        <p:txBody>
          <a:bodyPr wrap="square" anchor="ctr"/>
          <a:lstStyle/>
          <a:p>
            <a:pPr algn="l"/>
            <a:r>
              <a:rPr b="1" sz="2400">
                <a:solidFill>
                  <a:srgbClr val="FFFFFF"/>
                </a:solidFill>
                <a:latin typeface="Century Gothic"/>
              </a:rPr>
              <a:t>The hardest part: a silent race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371600"/>
            <a:ext cx="10972800" cy="5029200"/>
          </a:xfr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32A26"/>
                </a:solidFill>
                <a:latin typeface="Verdana"/>
              </a:rPr>
              <a:t>Every ten seconds the fog node hands its buffer over for flushing. What happens to a reading that arrives at that exact instant?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3B4A8A"/>
                </a:solidFill>
                <a:latin typeface="Verdana"/>
              </a:rPr>
              <a:t>The problem: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Verdana"/>
              </a:rPr>
              <a:t>Sensor posts run on four parallel threads while a timer swaps the window buffer out for flushing. A reading landing mid-swap can be written into the retired buffer after the flush has already read it, and it simply vanishes.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3B4A8A"/>
                </a:solidFill>
                <a:latin typeface="Verdana"/>
              </a:rPr>
              <a:t>Why it was hard: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Verdana"/>
              </a:rPr>
              <a:t>Nothing fails: no exception, no log line, just one number quietly missing from a summary. The timing hole is microseconds wide, so ordinary tests pass every time and the loss would only surface under real concurrent load.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3B4A8A"/>
                </a:solidFill>
                <a:latin typeface="Verdana"/>
              </a:rPr>
              <a:t>The fix: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Verdana"/>
              </a:rPr>
              <a:t>Each buffer became a fenced generation. The flush closes the fence, waits for writers already inside to finish, then reads. A writer arriving after the fence is turned away and retries into the fresh buffer instead.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3B4A8A"/>
                </a:solidFill>
                <a:latin typeface="Verdana"/>
              </a:rPr>
              <a:t>The ingest path stays lock-free; every reading now lands in exactly one window, guaranteed by the fence rather than a global lock.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0"/>
            <a:ext cx="10972800" cy="1051560"/>
          </a:xfrm>
        </p:spPr>
        <p:txBody>
          <a:bodyPr wrap="square" anchor="ctr"/>
          <a:lstStyle/>
          <a:p>
            <a:pPr algn="l"/>
            <a:r>
              <a:rPr b="1" sz="2400">
                <a:solidFill>
                  <a:srgbClr val="FFFFFF"/>
                </a:solidFill>
                <a:latin typeface="Century Gothic"/>
              </a:rPr>
              <a:t>Three things to take 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371600"/>
            <a:ext cx="10972800" cy="5029200"/>
          </a:xfrm>
        </p:spPr>
        <p:txBody>
          <a:bodyPr wrap="square">
            <a:norm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Verdana"/>
              </a:rPr>
              <a:t>Alerts are computed beside the sensors: ten seconds from street reading to raised incident, and only compact summaries ever leave the edge.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Verdana"/>
              </a:rPr>
              <a:t>The cloud side is serverless by construction: the same code runs against the local AWS emulator and real AWS, one scripted deployment step apart.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Verdana"/>
              </a:rPr>
              <a:t>Correctness is proven, not assumed: 61 automated tests, an end-to-end pipeline check, a 2,000-message burst, and a fence for the bug that never showed itself.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3B4A8A"/>
                </a:solidFill>
                <a:latin typeface="Verdana"/>
              </a:rPr>
              <a:t>Thank you.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