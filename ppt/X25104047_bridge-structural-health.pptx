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651760"/>
          </a:xfrm>
          <a:prstGeom prst="rect">
            <a:avLst/>
          </a:prstGeom>
          <a:solidFill>
            <a:srgbClr val="3F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1463040"/>
          </a:xfrm>
          <a:prstGeom prst="rect">
            <a:avLst/>
          </a:prstGeom>
          <a:noFill/>
        </p:spPr>
        <p:txBody>
          <a:bodyPr wrap="square" anchor="ctr">
            <a:spAutoFit/>
          </a:bodyPr>
          <a:lstStyle/>
          <a:p>
            <a:pPr algn="l"/>
            <a:r>
              <a:rPr sz="3000" b="1">
                <a:solidFill>
                  <a:srgbClr val="FFFFFF"/>
                </a:solidFill>
                <a:latin typeface="Cambria"/>
              </a:rPr>
              <a:t>Bridge Structural Health Monitoring</a:t>
            </a:r>
          </a:p>
        </p:txBody>
      </p:sp>
      <p:sp>
        <p:nvSpPr>
          <p:cNvPr id="4" name="TextBox 3"/>
          <p:cNvSpPr txBox="1"/>
          <p:nvPr/>
        </p:nvSpPr>
        <p:spPr>
          <a:xfrm>
            <a:off x="731520" y="3108960"/>
            <a:ext cx="10698480" cy="2743200"/>
          </a:xfrm>
          <a:prstGeom prst="rect">
            <a:avLst/>
          </a:prstGeom>
          <a:noFill/>
        </p:spPr>
        <p:txBody>
          <a:bodyPr wrap="square" anchor="t">
            <a:spAutoFit/>
          </a:bodyPr>
          <a:lstStyle/>
          <a:p>
            <a:pPr algn="l"/>
            <a:r>
              <a:rPr sz="1800" b="0">
                <a:solidFill>
                  <a:srgbClr val="5C655F"/>
                </a:solidFill>
                <a:latin typeface="Calibri"/>
              </a:rPr>
              <a:t>Continuous fog-and-serverless monitoring of two bridge spans, live on AWS</a:t>
            </a:r>
          </a:p>
          <a:p>
            <a:pPr algn="l"/>
            <a:r>
              <a:rPr sz="1600" b="1">
                <a:solidFill>
                  <a:srgbClr val="232A26"/>
                </a:solidFill>
                <a:latin typeface="Calibri"/>
              </a:rPr>
              <a:t>Kasireddy Vadicherla    Student ID X25104047</a:t>
            </a:r>
          </a:p>
          <a:p>
            <a:pPr algn="l"/>
            <a:r>
              <a:rPr sz="1300" b="0">
                <a:solidFill>
                  <a:srgbClr val="5C655F"/>
                </a:solidFill>
                <a:latin typeface="Calibri"/>
              </a:rPr>
              <a:t>MSc in Cloud Computing   ·   Fog and Edge Computing (H9FECC)</a:t>
            </a:r>
          </a:p>
          <a:p>
            <a:pPr algn="l"/>
            <a:r>
              <a:rPr sz="1300" b="0">
                <a:solidFill>
                  <a:srgbClr val="5C655F"/>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1051560"/>
          </a:xfrm>
          <a:prstGeom prst="rect">
            <a:avLst/>
          </a:prstGeom>
          <a:solidFill>
            <a:srgbClr val="3F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0"/>
            <a:ext cx="10972800" cy="1051560"/>
          </a:xfrm>
        </p:spPr>
        <p:txBody>
          <a:bodyPr wrap="square" anchor="ctr"/>
          <a:lstStyle/>
          <a:p>
            <a:pPr algn="l"/>
            <a:r>
              <a:rPr b="1" sz="2400">
                <a:solidFill>
                  <a:srgbClr val="FFFFFF"/>
                </a:solidFill>
                <a:latin typeface="Cambria"/>
              </a:rPr>
              <a:t>Why Periodic Inspection Falls Short</a:t>
            </a:r>
          </a:p>
        </p:txBody>
      </p:sp>
      <p:sp>
        <p:nvSpPr>
          <p:cNvPr id="3" name="Content Placeholder 2"/>
          <p:cNvSpPr>
            <a:spLocks noGrp="1"/>
          </p:cNvSpPr>
          <p:nvPr>
            <p:ph idx="1"/>
          </p:nvPr>
        </p:nvSpPr>
        <p:spPr>
          <a:xfrm>
            <a:off x="658368" y="1371600"/>
            <a:ext cx="10972800" cy="5029200"/>
          </a:xfrm>
        </p:spPr>
        <p:txBody>
          <a:bodyPr wrap="square">
            <a:normAutofit/>
          </a:bodyPr>
          <a:lstStyle/>
          <a:p>
            <a:pPr>
              <a:spcAft>
                <a:spcPts val="600"/>
              </a:spcAft>
            </a:pPr>
            <a:r>
              <a:rPr sz="1500" b="0">
                <a:solidFill>
                  <a:srgbClr val="232A26"/>
                </a:solidFill>
                <a:latin typeface="Calibri"/>
              </a:rPr>
              <a:t>Most road authorities still assess bridge condition by visual inspection, on a cycle measured in years, not days.</a:t>
            </a:r>
          </a:p>
          <a:p>
            <a:pPr>
              <a:spcAft>
                <a:spcPts val="600"/>
              </a:spcAft>
            </a:pPr>
            <a:r>
              <a:rPr sz="1500" b="0">
                <a:solidFill>
                  <a:srgbClr val="232A26"/>
                </a:solidFill>
                <a:latin typeface="Calibri"/>
              </a:rPr>
              <a:t>Between those inspections the deck keeps working: strain cycles from traffic loading, thermal expansion and contraction at the joints, and slow deformation, none of which a scheduled walk-through can catch as it develops.</a:t>
            </a:r>
          </a:p>
          <a:p>
            <a:pPr>
              <a:spcAft>
                <a:spcPts val="600"/>
              </a:spcAft>
            </a:pPr>
            <a:r>
              <a:rPr sz="1500" b="0">
                <a:solidFill>
                  <a:srgbClr val="232A26"/>
                </a:solidFill>
                <a:latin typeface="Calibri"/>
              </a:rPr>
              <a:t>Streaming every raw sample to a distant data centre is no answer either: it wastes bandwidth on readings that individually rarely matter, and delays the moment a threshold breach needs flagging.</a:t>
            </a:r>
          </a:p>
          <a:p>
            <a:pPr>
              <a:spcAft>
                <a:spcPts val="600"/>
              </a:spcAft>
            </a:pPr>
            <a:r>
              <a:rPr sz="1500" b="1">
                <a:solidFill>
                  <a:srgbClr val="3F5A72"/>
                </a:solidFill>
                <a:latin typeface="Calibri"/>
              </a:rPr>
              <a:t>This project closes the gap with continuous sensing: five structural sensor types on each of two spans, aggregated at the edge, alerting in seconds.</a:t>
            </a:r>
          </a:p>
          <a:p>
            <a:pPr>
              <a:spcAft>
                <a:spcPts val="600"/>
              </a:spcAft>
            </a:pPr>
            <a:r>
              <a:rPr sz="1500" b="1">
                <a:solidFill>
                  <a:srgbClr val="3F5A72"/>
                </a:solidFill>
                <a:latin typeface="Calibri"/>
              </a:rPr>
              <a:t>The inspection gap in numbers:</a:t>
            </a:r>
          </a:p>
          <a:p>
            <a:pPr lvl="1">
              <a:spcAft>
                <a:spcPts val="600"/>
              </a:spcAft>
            </a:pPr>
            <a:r>
              <a:rPr sz="1300" b="0">
                <a:solidFill>
                  <a:srgbClr val="232A26"/>
                </a:solidFill>
                <a:latin typeface="Calibri"/>
              </a:rPr>
              <a:t>Years: the typical cycle between visual inspections of a bridge deck.</a:t>
            </a:r>
          </a:p>
          <a:p>
            <a:pPr lvl="1">
              <a:spcAft>
                <a:spcPts val="600"/>
              </a:spcAft>
            </a:pPr>
            <a:r>
              <a:rPr sz="1300" b="0">
                <a:solidFill>
                  <a:srgbClr val="232A26"/>
                </a:solidFill>
                <a:latin typeface="Calibri"/>
              </a:rPr>
              <a:t>24/7: traffic strain cycles and thermal joint movement accumulate between those inspections.</a:t>
            </a:r>
          </a:p>
          <a:p>
            <a:pPr lvl="1">
              <a:spcAft>
                <a:spcPts val="600"/>
              </a:spcAft>
            </a:pPr>
            <a:r>
              <a:rPr sz="1300" b="0">
                <a:solidFill>
                  <a:srgbClr val="232A26"/>
                </a:solidFill>
                <a:latin typeface="Calibri"/>
              </a:rPr>
              <a:t>0: visibility into the structure between one walk-through and the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1051560"/>
          </a:xfrm>
          <a:prstGeom prst="rect">
            <a:avLst/>
          </a:prstGeom>
          <a:solidFill>
            <a:srgbClr val="3F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0"/>
            <a:ext cx="10972800" cy="1051560"/>
          </a:xfrm>
        </p:spPr>
        <p:txBody>
          <a:bodyPr wrap="square" anchor="ctr"/>
          <a:lstStyle/>
          <a:p>
            <a:pPr algn="l"/>
            <a:r>
              <a:rPr b="1" sz="2400">
                <a:solidFill>
                  <a:srgbClr val="FFFFFF"/>
                </a:solidFill>
                <a:latin typeface="Cambria"/>
              </a:rPr>
              <a:t>How It Works: Bridge to Browser</a:t>
            </a:r>
          </a:p>
        </p:txBody>
      </p:sp>
      <p:sp>
        <p:nvSpPr>
          <p:cNvPr id="3" name="Content Placeholder 2"/>
          <p:cNvSpPr>
            <a:spLocks noGrp="1"/>
          </p:cNvSpPr>
          <p:nvPr>
            <p:ph idx="1"/>
          </p:nvPr>
        </p:nvSpPr>
        <p:spPr>
          <a:xfrm>
            <a:off x="658368" y="1371600"/>
            <a:ext cx="5760720" cy="4937760"/>
          </a:xfrm>
        </p:spPr>
        <p:txBody>
          <a:bodyPr wrap="square">
            <a:normAutofit/>
          </a:bodyPr>
          <a:lstStyle/>
          <a:p>
            <a:pPr>
              <a:spcAft>
                <a:spcPts val="800"/>
              </a:spcAft>
            </a:pPr>
            <a:r>
              <a:rPr sz="1500" b="0">
                <a:solidFill>
                  <a:srgbClr val="232A26"/>
                </a:solidFill>
                <a:latin typeface="Calibri"/>
              </a:rPr>
              <a:t>At the bridge (edge, EC2): 10 sensors, five types across two spans, feed a fog node that windows, aggregates, and alerts.</a:t>
            </a:r>
          </a:p>
          <a:p>
            <a:pPr>
              <a:spcAft>
                <a:spcPts val="800"/>
              </a:spcAft>
            </a:pPr>
            <a:r>
              <a:rPr sz="1500" b="0">
                <a:solidFill>
                  <a:srgbClr val="232A26"/>
                </a:solidFill>
                <a:latin typeface="Calibri"/>
              </a:rPr>
              <a:t>AWS cloud (serverless): Amazon SQS carries batched summaries to a Lambda ingest function, into a time-keyed DynamoDB store, surfaced by a dashboard on API Gateway and S3.</a:t>
            </a:r>
          </a:p>
          <a:p>
            <a:pPr>
              <a:spcAft>
                <a:spcPts val="800"/>
              </a:spcAft>
            </a:pPr>
            <a:r>
              <a:rPr sz="1500" b="1">
                <a:solidFill>
                  <a:srgbClr val="3F5A72"/>
                </a:solidFill>
                <a:latin typeface="Calibri"/>
              </a:rPr>
              <a:t>Less data, faster alerts:</a:t>
            </a:r>
          </a:p>
          <a:p>
            <a:pPr lvl="1">
              <a:spcAft>
                <a:spcPts val="800"/>
              </a:spcAft>
            </a:pPr>
            <a:r>
              <a:rPr sz="1300" b="0">
                <a:solidFill>
                  <a:srgbClr val="232A26"/>
                </a:solidFill>
                <a:latin typeface="Calibri"/>
              </a:rPr>
              <a:t>Raw samples never leave the bridge; every 10-second window becomes one min / max / average summary per sensor, checked against four alert thresholds at the fog node before anything is sent onward.</a:t>
            </a:r>
          </a:p>
          <a:p>
            <a:pPr>
              <a:spcAft>
                <a:spcPts val="800"/>
              </a:spcAft>
            </a:pPr>
            <a:r>
              <a:rPr sz="1500" b="1">
                <a:solidFill>
                  <a:srgbClr val="3F5A72"/>
                </a:solidFill>
                <a:latin typeface="Calibri"/>
              </a:rPr>
              <a:t>One number per span:</a:t>
            </a:r>
          </a:p>
          <a:p>
            <a:pPr lvl="1">
              <a:spcAft>
                <a:spcPts val="800"/>
              </a:spcAft>
            </a:pPr>
            <a:r>
              <a:rPr sz="1300" b="0">
                <a:solidFill>
                  <a:srgbClr val="232A26"/>
                </a:solidFill>
                <a:latin typeface="Calibri"/>
              </a:rPr>
              <a:t>The dashboard folds each span's strain average and peak vibration into a 0 to 100 structural integrity index, whose critical bound equals the alert threshold, so the index reaches zero exactly where an alert fires.</a:t>
            </a:r>
          </a:p>
        </p:txBody>
      </p:sp>
      <p:pic>
        <p:nvPicPr>
          <p:cNvPr id="5" name="Picture 4" descr="topology.png"/>
          <p:cNvPicPr>
            <a:picLocks noChangeAspect="1"/>
          </p:cNvPicPr>
          <p:nvPr/>
        </p:nvPicPr>
        <p:blipFill>
          <a:blip r:embed="rId2"/>
          <a:stretch>
            <a:fillRect/>
          </a:stretch>
        </p:blipFill>
        <p:spPr>
          <a:xfrm>
            <a:off x="6629400" y="1984586"/>
            <a:ext cx="5120640" cy="352890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1051560"/>
          </a:xfrm>
          <a:prstGeom prst="rect">
            <a:avLst/>
          </a:prstGeom>
          <a:solidFill>
            <a:srgbClr val="3F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0"/>
            <a:ext cx="10972800" cy="1051560"/>
          </a:xfrm>
        </p:spPr>
        <p:txBody>
          <a:bodyPr wrap="square" anchor="ctr"/>
          <a:lstStyle/>
          <a:p>
            <a:pPr algn="l"/>
            <a:r>
              <a:rPr b="1" sz="2400">
                <a:solidFill>
                  <a:srgbClr val="FFFFFF"/>
                </a:solidFill>
                <a:latin typeface="Cambria"/>
              </a:rPr>
              <a:t>Live on AWS: Demonstration Highlights</a:t>
            </a:r>
          </a:p>
        </p:txBody>
      </p:sp>
      <p:sp>
        <p:nvSpPr>
          <p:cNvPr id="3" name="Content Placeholder 2"/>
          <p:cNvSpPr>
            <a:spLocks noGrp="1"/>
          </p:cNvSpPr>
          <p:nvPr>
            <p:ph idx="1"/>
          </p:nvPr>
        </p:nvSpPr>
        <p:spPr>
          <a:xfrm>
            <a:off x="658368" y="1371600"/>
            <a:ext cx="5760720" cy="4937760"/>
          </a:xfrm>
        </p:spPr>
        <p:txBody>
          <a:bodyPr wrap="square">
            <a:normAutofit/>
          </a:bodyPr>
          <a:lstStyle/>
          <a:p>
            <a:pPr>
              <a:spcAft>
                <a:spcPts val="800"/>
              </a:spcAft>
            </a:pPr>
            <a:r>
              <a:rPr sz="1500" b="0">
                <a:solidFill>
                  <a:srgbClr val="232A26"/>
                </a:solidFill>
                <a:latin typeface="Calibri"/>
              </a:rPr>
              <a:t>Deployed dashboard, captured live from the S3 and API Gateway endpoint.</a:t>
            </a:r>
          </a:p>
          <a:p>
            <a:pPr>
              <a:spcAft>
                <a:spcPts val="800"/>
              </a:spcAft>
            </a:pPr>
            <a:r>
              <a:rPr sz="1500" b="0">
                <a:solidFill>
                  <a:srgbClr val="232A26"/>
                </a:solidFill>
                <a:latin typeface="Calibri"/>
              </a:rPr>
              <a:t>4 / 4 pipeline health checks green on the live deployment: fog gateway, SQS queue, Lambda, and data freshness all reporting healthy.</a:t>
            </a:r>
          </a:p>
          <a:p>
            <a:pPr>
              <a:spcAft>
                <a:spcPts val="800"/>
              </a:spcAft>
            </a:pPr>
            <a:r>
              <a:rPr sz="1500" b="0">
                <a:solidFill>
                  <a:srgbClr val="232A26"/>
                </a:solidFill>
                <a:latin typeface="Calibri"/>
              </a:rPr>
              <a:t>115 automated tests pass across fourteen suites: windowing, thresholds, pagination, batching, and real-socket HTTP routing.</a:t>
            </a:r>
          </a:p>
          <a:p>
            <a:pPr>
              <a:spcAft>
                <a:spcPts val="800"/>
              </a:spcAft>
            </a:pPr>
            <a:r>
              <a:rPr sz="1500" b="0">
                <a:solidFill>
                  <a:srgbClr val="232A26"/>
                </a:solidFill>
                <a:latin typeface="Calibri"/>
              </a:rPr>
              <a:t>Under 10 seconds: age of the freshest window on the live health check; 100 records had landed in DynamoDB within a minute of bootstrap.</a:t>
            </a:r>
          </a:p>
          <a:p>
            <a:pPr>
              <a:spcAft>
                <a:spcPts val="800"/>
              </a:spcAft>
            </a:pPr>
            <a:r>
              <a:rPr sz="1500" b="1">
                <a:solidFill>
                  <a:srgbClr val="3F5A72"/>
                </a:solidFill>
                <a:latin typeface="Calibri"/>
              </a:rPr>
              <a:t>Structural integrity index, live:</a:t>
            </a:r>
          </a:p>
          <a:p>
            <a:pPr lvl="1">
              <a:spcAft>
                <a:spcPts val="800"/>
              </a:spcAft>
            </a:pPr>
            <a:r>
              <a:rPr sz="1300" b="0">
                <a:solidFill>
                  <a:srgbClr val="232A26"/>
                </a:solidFill>
                <a:latin typeface="Calibri"/>
              </a:rPr>
              <a:t>Span A at 100 percent, excellent with no active alerts; Span B at 76.8 percent, good and tracking real readings.</a:t>
            </a:r>
          </a:p>
        </p:txBody>
      </p:sp>
      <p:pic>
        <p:nvPicPr>
          <p:cNvPr id="5" name="Picture 4" descr="dashboard.png"/>
          <p:cNvPicPr>
            <a:picLocks noChangeAspect="1"/>
          </p:cNvPicPr>
          <p:nvPr/>
        </p:nvPicPr>
        <p:blipFill>
          <a:blip r:embed="rId2"/>
          <a:stretch>
            <a:fillRect/>
          </a:stretch>
        </p:blipFill>
        <p:spPr>
          <a:xfrm>
            <a:off x="7324344" y="1417320"/>
            <a:ext cx="3730752" cy="46634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1051560"/>
          </a:xfrm>
          <a:prstGeom prst="rect">
            <a:avLst/>
          </a:prstGeom>
          <a:solidFill>
            <a:srgbClr val="3F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0"/>
            <a:ext cx="10972800" cy="1051560"/>
          </a:xfrm>
        </p:spPr>
        <p:txBody>
          <a:bodyPr wrap="square" anchor="ctr"/>
          <a:lstStyle/>
          <a:p>
            <a:pPr algn="l"/>
            <a:r>
              <a:rPr b="1" sz="2400">
                <a:solidFill>
                  <a:srgbClr val="FFFFFF"/>
                </a:solidFill>
                <a:latin typeface="Cambria"/>
              </a:rPr>
              <a:t>The Hardest Part: One Risky Apply</a:t>
            </a:r>
          </a:p>
        </p:txBody>
      </p:sp>
      <p:sp>
        <p:nvSpPr>
          <p:cNvPr id="3" name="Content Placeholder 2"/>
          <p:cNvSpPr>
            <a:spLocks noGrp="1"/>
          </p:cNvSpPr>
          <p:nvPr>
            <p:ph idx="1"/>
          </p:nvPr>
        </p:nvSpPr>
        <p:spPr>
          <a:xfrm>
            <a:off x="658368" y="1371600"/>
            <a:ext cx="10972800" cy="5029200"/>
          </a:xfrm>
        </p:spPr>
        <p:txBody>
          <a:bodyPr wrap="square">
            <a:normAutofit/>
          </a:bodyPr>
          <a:lstStyle/>
          <a:p>
            <a:pPr>
              <a:spcAft>
                <a:spcPts val="600"/>
              </a:spcAft>
            </a:pPr>
            <a:r>
              <a:rPr sz="1500" b="1">
                <a:solidFill>
                  <a:srgbClr val="3F5A72"/>
                </a:solidFill>
                <a:latin typeface="Calibri"/>
              </a:rPr>
              <a:t>The problem:</a:t>
            </a:r>
          </a:p>
          <a:p>
            <a:pPr lvl="1">
              <a:spcAft>
                <a:spcPts val="600"/>
              </a:spcAft>
            </a:pPr>
            <a:r>
              <a:rPr sz="1300" b="0">
                <a:solidFill>
                  <a:srgbClr val="232A26"/>
                </a:solidFill>
                <a:latin typeface="Calibri"/>
              </a:rPr>
              <a:t>Every project here deploys through one shared Terraform module, and its local state file already tracked a different live AWS stack under the default workspace.</a:t>
            </a:r>
          </a:p>
          <a:p>
            <a:pPr>
              <a:spcAft>
                <a:spcPts val="600"/>
              </a:spcAft>
            </a:pPr>
            <a:r>
              <a:rPr sz="1500" b="1">
                <a:solidFill>
                  <a:srgbClr val="3F5A72"/>
                </a:solidFill>
                <a:latin typeface="Calibri"/>
              </a:rPr>
              <a:t>Why it was hard:</a:t>
            </a:r>
          </a:p>
          <a:p>
            <a:pPr lvl="1">
              <a:spcAft>
                <a:spcPts val="600"/>
              </a:spcAft>
            </a:pPr>
            <a:r>
              <a:rPr sz="1300" b="0">
                <a:solidFill>
                  <a:srgbClr val="232A26"/>
                </a:solidFill>
                <a:latin typeface="Calibri"/>
              </a:rPr>
              <a:t>Nothing in this project's code was wrong. Applied against that workspace, Terraform reconciles state and plans to destroy the other deployment's live resources. The only warning is one line of plan output.</a:t>
            </a:r>
          </a:p>
          <a:p>
            <a:pPr>
              <a:spcAft>
                <a:spcPts val="600"/>
              </a:spcAft>
            </a:pPr>
            <a:r>
              <a:rPr sz="1500" b="1">
                <a:solidFill>
                  <a:srgbClr val="3F5A72"/>
                </a:solidFill>
                <a:latin typeface="Calibri"/>
              </a:rPr>
              <a:t>The fix:</a:t>
            </a:r>
          </a:p>
          <a:p>
            <a:pPr lvl="1">
              <a:spcAft>
                <a:spcPts val="600"/>
              </a:spcAft>
            </a:pPr>
            <a:r>
              <a:rPr sz="1300" b="0">
                <a:solidFill>
                  <a:srgbClr val="232A26"/>
                </a:solidFill>
                <a:latin typeface="Calibri"/>
              </a:rPr>
              <a:t>A dedicated workspace was created first (terraform workspace new bshm); the re-plan read Plan: 24 to add, 0 to change, 0 to destroy, then a single apply built all 24 resources, healthy within a minute.</a:t>
            </a:r>
          </a:p>
          <a:p>
            <a:pPr>
              <a:spcAft>
                <a:spcPts val="600"/>
              </a:spcAft>
            </a:pPr>
            <a:r>
              <a:rPr sz="1500" b="1">
                <a:solidFill>
                  <a:srgbClr val="3F5A72"/>
                </a:solidFill>
                <a:latin typeface="Calibri"/>
              </a:rPr>
              <a:t>Never apply an unread plan.</a:t>
            </a:r>
          </a:p>
          <a:p>
            <a:pPr>
              <a:spcAft>
                <a:spcPts val="600"/>
              </a:spcAft>
            </a:pPr>
            <a:r>
              <a:rPr sz="1500" b="0">
                <a:solidFill>
                  <a:srgbClr val="232A26"/>
                </a:solidFill>
                <a:latin typeface="Calibri"/>
              </a:rPr>
              <a:t>The same pre-deploy audit also caught two silent defects, a DynamoDB scan-pagination undercount and unbatched SQS publishing, both fixed and regression-tested before launch.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1051560"/>
          </a:xfrm>
          <a:prstGeom prst="rect">
            <a:avLst/>
          </a:prstGeom>
          <a:solidFill>
            <a:srgbClr val="3F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0"/>
            <a:ext cx="10972800" cy="1051560"/>
          </a:xfrm>
        </p:spPr>
        <p:txBody>
          <a:bodyPr wrap="square" anchor="ctr"/>
          <a:lstStyle/>
          <a:p>
            <a:pPr algn="l"/>
            <a:r>
              <a:rPr b="1" sz="2400">
                <a:solidFill>
                  <a:srgbClr val="FFFFFF"/>
                </a:solidFill>
                <a:latin typeface="Cambria"/>
              </a:rPr>
              <a:t>What This Project Shows</a:t>
            </a:r>
          </a:p>
        </p:txBody>
      </p:sp>
      <p:sp>
        <p:nvSpPr>
          <p:cNvPr id="3" name="Content Placeholder 2"/>
          <p:cNvSpPr>
            <a:spLocks noGrp="1"/>
          </p:cNvSpPr>
          <p:nvPr>
            <p:ph idx="1"/>
          </p:nvPr>
        </p:nvSpPr>
        <p:spPr>
          <a:xfrm>
            <a:off x="658368" y="1371600"/>
            <a:ext cx="10972800" cy="5029200"/>
          </a:xfrm>
        </p:spPr>
        <p:txBody>
          <a:bodyPr wrap="square">
            <a:normAutofit/>
          </a:bodyPr>
          <a:lstStyle/>
          <a:p>
            <a:pPr>
              <a:spcAft>
                <a:spcPts val="900"/>
              </a:spcAft>
            </a:pPr>
            <a:r>
              <a:rPr sz="1700" b="1">
                <a:solidFill>
                  <a:srgbClr val="3F5A72"/>
                </a:solidFill>
                <a:latin typeface="Calibri"/>
              </a:rPr>
              <a:t>Aggregate at the edge:</a:t>
            </a:r>
          </a:p>
          <a:p>
            <a:pPr lvl="1">
              <a:spcAft>
                <a:spcPts val="900"/>
              </a:spcAft>
            </a:pPr>
            <a:r>
              <a:rPr sz="1500" b="0">
                <a:solidFill>
                  <a:srgbClr val="232A26"/>
                </a:solidFill>
                <a:latin typeface="Calibri"/>
              </a:rPr>
              <a:t>Only compact 10-second summaries ever leave the bridge; alerts fire at the fog node, not after a cloud round trip.</a:t>
            </a:r>
          </a:p>
          <a:p>
            <a:pPr>
              <a:spcAft>
                <a:spcPts val="900"/>
              </a:spcAft>
            </a:pPr>
            <a:r>
              <a:rPr sz="1700" b="1">
                <a:solidFill>
                  <a:srgbClr val="3F5A72"/>
                </a:solidFill>
                <a:latin typeface="Calibri"/>
              </a:rPr>
              <a:t>Serverless earns its keep:</a:t>
            </a:r>
          </a:p>
          <a:p>
            <a:pPr lvl="1">
              <a:spcAft>
                <a:spcPts val="900"/>
              </a:spcAft>
            </a:pPr>
            <a:r>
              <a:rPr sz="1500" b="0">
                <a:solidFill>
                  <a:srgbClr val="232A26"/>
                </a:solidFill>
                <a:latin typeface="Calibri"/>
              </a:rPr>
              <a:t>SQS, Lambda, and DynamoDB cost nothing while idle, and ran green on a real AWS account, with 115 passing tests behind them.</a:t>
            </a:r>
          </a:p>
          <a:p>
            <a:pPr>
              <a:spcAft>
                <a:spcPts val="900"/>
              </a:spcAft>
            </a:pPr>
            <a:r>
              <a:rPr sz="1700" b="1">
                <a:solidFill>
                  <a:srgbClr val="3F5A72"/>
                </a:solidFill>
                <a:latin typeface="Calibri"/>
              </a:rPr>
              <a:t>Read the plan, trust the evidence:</a:t>
            </a:r>
          </a:p>
          <a:p>
            <a:pPr lvl="1">
              <a:spcAft>
                <a:spcPts val="900"/>
              </a:spcAft>
            </a:pPr>
            <a:r>
              <a:rPr sz="1500" b="0">
                <a:solidFill>
                  <a:srgbClr val="232A26"/>
                </a:solidFill>
                <a:latin typeface="Calibri"/>
              </a:rPr>
              <a:t>A pre-deployment audit and one carefully read Terraform plan caught every defect before live traffic could.</a:t>
            </a:r>
          </a:p>
          <a:p>
            <a:pPr>
              <a:spcAft>
                <a:spcPts val="900"/>
              </a:spcAft>
            </a:pPr>
            <a:r>
              <a:rPr sz="1700" b="0">
                <a:solidFill>
                  <a:srgbClr val="232A26"/>
                </a:solidFill>
                <a:latin typeface="Calibri"/>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