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40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3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PARKING MANAGEMENT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146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Smart Parking Management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58368" y="3703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7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Pooja   ·   X25120921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" y="4251960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DBD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operator asks two things at once — how full is each lot, and is anything wrong — and they are not the same question: a lot can be busy but healthy, or nearly empty yet faulted.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58368" y="56235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51F3D"/>
          </a:solidFill>
          <a:ln w="12700">
            <a:solidFill>
              <a:srgbClr val="E3A9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5623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3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full &gt; 270/300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538728" y="56235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51F3D"/>
          </a:solidFill>
          <a:ln w="12700">
            <a:solidFill>
              <a:srgbClr val="E3A9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38728" y="5623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3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Inflow &gt; 20 veh/min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19088" y="56235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51F3D"/>
          </a:solidFill>
          <a:ln w="12700">
            <a:solidFill>
              <a:srgbClr val="E3A9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5623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3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fault &gt; 3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8368" y="6400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7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Sensor to Console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1EEF8"/>
          </a:solidFill>
          <a:ln w="19050">
            <a:solidFill>
              <a:srgbClr val="8F79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35024" y="2633472"/>
            <a:ext cx="182880" cy="182880"/>
          </a:xfrm>
          <a:prstGeom prst="ellipse">
            <a:avLst/>
          </a:prstGeom>
          <a:solidFill>
            <a:srgbClr val="8F79C0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lots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8F79C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1EEF8"/>
          </a:solidFill>
          <a:ln w="19050">
            <a:solidFill>
              <a:srgbClr val="8F79C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2777" y="2633472"/>
            <a:ext cx="182880" cy="182880"/>
          </a:xfrm>
          <a:prstGeom prst="ellipse">
            <a:avLst/>
          </a:prstGeom>
          <a:solidFill>
            <a:srgbClr val="8F79C0"/>
          </a:solidFill>
          <a:ln/>
        </p:spPr>
      </p:sp>
      <p:sp>
        <p:nvSpPr>
          <p:cNvPr id="10" name="Text 8"/>
          <p:cNvSpPr/>
          <p:nvPr/>
        </p:nvSpPr>
        <p:spPr>
          <a:xfrm>
            <a:off x="2480401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507833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· fault alarms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8F79C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1EEF8"/>
          </a:solidFill>
          <a:ln w="19050">
            <a:solidFill>
              <a:srgbClr val="4B2F8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70531" y="2633472"/>
            <a:ext cx="182880" cy="182880"/>
          </a:xfrm>
          <a:prstGeom prst="ellipse">
            <a:avLst/>
          </a:prstGeom>
          <a:solidFill>
            <a:srgbClr val="4B2F83"/>
          </a:solidFill>
          <a:ln/>
        </p:spPr>
      </p:sp>
      <p:sp>
        <p:nvSpPr>
          <p:cNvPr id="15" name="Text 13"/>
          <p:cNvSpPr/>
          <p:nvPr/>
        </p:nvSpPr>
        <p:spPr>
          <a:xfrm>
            <a:off x="434815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7558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8F79C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1EEF8"/>
          </a:solidFill>
          <a:ln w="19050">
            <a:solidFill>
              <a:srgbClr val="4B2F8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8284" y="2633472"/>
            <a:ext cx="182880" cy="182880"/>
          </a:xfrm>
          <a:prstGeom prst="ellipse">
            <a:avLst/>
          </a:prstGeom>
          <a:solidFill>
            <a:srgbClr val="4B2F83"/>
          </a:solidFill>
          <a:ln/>
        </p:spPr>
      </p:sp>
      <p:sp>
        <p:nvSpPr>
          <p:cNvPr id="20" name="Text 18"/>
          <p:cNvSpPr/>
          <p:nvPr/>
        </p:nvSpPr>
        <p:spPr>
          <a:xfrm>
            <a:off x="621590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4334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8F79C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1EEF8"/>
          </a:solidFill>
          <a:ln w="19050">
            <a:solidFill>
              <a:srgbClr val="4B2F8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06038" y="2633472"/>
            <a:ext cx="182880" cy="182880"/>
          </a:xfrm>
          <a:prstGeom prst="ellipse">
            <a:avLst/>
          </a:prstGeom>
          <a:solidFill>
            <a:srgbClr val="4B2F83"/>
          </a:solidFill>
          <a:ln/>
        </p:spPr>
      </p:sp>
      <p:sp>
        <p:nvSpPr>
          <p:cNvPr id="25" name="Text 23"/>
          <p:cNvSpPr/>
          <p:nvPr/>
        </p:nvSpPr>
        <p:spPr>
          <a:xfrm>
            <a:off x="8083662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111094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store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8F79C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1EEF8"/>
          </a:solidFill>
          <a:ln w="19050">
            <a:solidFill>
              <a:srgbClr val="6A51A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73791" y="2633472"/>
            <a:ext cx="182880" cy="182880"/>
          </a:xfrm>
          <a:prstGeom prst="ellipse">
            <a:avLst/>
          </a:prstGeom>
          <a:solidFill>
            <a:srgbClr val="6A51AB"/>
          </a:solidFill>
          <a:ln/>
        </p:spPr>
      </p:sp>
      <p:sp>
        <p:nvSpPr>
          <p:cNvPr id="30" name="Text 28"/>
          <p:cNvSpPr/>
          <p:nvPr/>
        </p:nvSpPr>
        <p:spPr>
          <a:xfrm>
            <a:off x="995141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7884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console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8F7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B2F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B2F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raises the four hard fault alarms at the edge; the dashboard buckets occupancy into a fullness tier on read and fuses the two into one badge.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7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1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smart-parking-management-console.s3.us-east-1.amazonaws.com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4B2F83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capacity gauge and tier per lot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lot shows a live occupancy gauge and a four-tier badge — Quiet, Busy or Near-full — derived on read from its capacity percentage.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4B2F83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fault outranks fullness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LOT-B reads Alert on a gate-fault alarm despite low occupancy, while LOT-A reads Normal — the fusion always shows the more urgent of the two.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4B2F83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occupied-spaces trend per lot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chart tracks both lots live, so a filling lot is visible before it reaches the near-full tier.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7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17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how full, and what is wrong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3A93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3200400" y="1920240"/>
            <a:ext cx="0" cy="1783080"/>
          </a:xfrm>
          <a:prstGeom prst="line">
            <a:avLst/>
          </a:prstGeom>
          <a:noFill/>
          <a:ln w="31750">
            <a:solidFill>
              <a:srgbClr val="E3A9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0" y="1920240"/>
            <a:ext cx="7955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Fullness is a smooth quantity that climbs and falls with the day; a fault is a discrete event — a gate stuck faulting, an inflow surge, a car dwelling far too long. A lot can be busy but perfectly healthy, or nearly empty yet faulted, so collapsing both into one number would hide whichever matters.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A51A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3200400" y="4069080"/>
            <a:ext cx="0" cy="1783080"/>
          </a:xfrm>
          <a:prstGeom prst="line">
            <a:avLst/>
          </a:prstGeom>
          <a:noFill/>
          <a:ln w="31750">
            <a:solidFill>
              <a:srgbClr val="6A51A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4069080"/>
            <a:ext cx="7955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them on separate axes: the fog raises the four hard fault alarms at the edge, and the dashboard buckets each lot's latest occupancy into Quiet / Busy / Near-full on read. The two fuse into one badge where any active fault outranks the fullness tier, so an operator always sees the more urgent of the two at a glance. The tier is derived fresh on every read, never stored.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2026-07-24T07:05:03Z</dcterms:created>
  <dcterms:modified xsi:type="dcterms:W3CDTF">2026-07-24T07:05:03Z</dcterms:modified>
</cp:coreProperties>
</file>