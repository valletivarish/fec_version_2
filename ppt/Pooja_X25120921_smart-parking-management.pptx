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C18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931920"/>
          </a:xfrm>
          <a:prstGeom prst="rect">
            <a:avLst/>
          </a:prstGeom>
          <a:solidFill>
            <a:srgbClr val="4B2F83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1005840"/>
            <a:ext cx="1097280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Smart Parking Management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658368" y="288036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BD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Pooja   ·   X25120921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58368" y="4206240"/>
            <a:ext cx="1042416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800" dirty="0">
                <a:solidFill>
                  <a:srgbClr val="DBD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operator asks two things at once — how full is each lot, and is anything wrong — and they are not the same question: a lot can be busy but healthy, or nearly empty yet faulted.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58368" y="5724144"/>
            <a:ext cx="146304" cy="146304"/>
          </a:xfrm>
          <a:prstGeom prst="rect">
            <a:avLst/>
          </a:prstGeom>
          <a:solidFill>
            <a:srgbClr val="E3A93C"/>
          </a:solidFill>
          <a:ln/>
        </p:spPr>
      </p:sp>
      <p:sp>
        <p:nvSpPr>
          <p:cNvPr id="7" name="Text 5"/>
          <p:cNvSpPr/>
          <p:nvPr/>
        </p:nvSpPr>
        <p:spPr>
          <a:xfrm>
            <a:off x="932688" y="557784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BD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Near full &gt; 270/300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3538728" y="5724144"/>
            <a:ext cx="146304" cy="146304"/>
          </a:xfrm>
          <a:prstGeom prst="rect">
            <a:avLst/>
          </a:prstGeom>
          <a:solidFill>
            <a:srgbClr val="E3A93C"/>
          </a:solidFill>
          <a:ln/>
        </p:spPr>
      </p:sp>
      <p:sp>
        <p:nvSpPr>
          <p:cNvPr id="9" name="Text 7"/>
          <p:cNvSpPr/>
          <p:nvPr/>
        </p:nvSpPr>
        <p:spPr>
          <a:xfrm>
            <a:off x="3813048" y="557784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BD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Inflow &gt; 20 veh/min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419088" y="5724144"/>
            <a:ext cx="146304" cy="146304"/>
          </a:xfrm>
          <a:prstGeom prst="rect">
            <a:avLst/>
          </a:prstGeom>
          <a:solidFill>
            <a:srgbClr val="E3A93C"/>
          </a:solidFill>
          <a:ln/>
        </p:spPr>
      </p:sp>
      <p:sp>
        <p:nvSpPr>
          <p:cNvPr id="11" name="Text 9"/>
          <p:cNvSpPr/>
          <p:nvPr/>
        </p:nvSpPr>
        <p:spPr>
          <a:xfrm>
            <a:off x="6693408" y="557784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BD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 fault &gt; 3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58368" y="640080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1730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What I Built — Sensor to Console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554480"/>
            <a:ext cx="3200400" cy="3383280"/>
          </a:xfrm>
          <a:prstGeom prst="roundRect">
            <a:avLst>
              <a:gd name="adj" fmla="val 2857"/>
            </a:avLst>
          </a:prstGeom>
          <a:solidFill>
            <a:srgbClr val="F1EEF8"/>
          </a:solidFill>
          <a:ln w="19050">
            <a:solidFill>
              <a:srgbClr val="8F79C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169164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300" kern="0" dirty="0">
                <a:solidFill>
                  <a:srgbClr val="8F79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914400" y="2286000"/>
            <a:ext cx="265176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5240">
            <a:solidFill>
              <a:srgbClr val="8F79C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2432304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Lot sensors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914400" y="2816352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65F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· 2 lots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914400" y="3520440"/>
            <a:ext cx="265176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5240">
            <a:solidFill>
              <a:srgbClr val="8F79C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14400" y="3666744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Fog node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914400" y="4050792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65F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 · fault alarms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886200" y="3246120"/>
            <a:ext cx="502920" cy="0"/>
          </a:xfrm>
          <a:prstGeom prst="line">
            <a:avLst/>
          </a:prstGeom>
          <a:noFill/>
          <a:ln w="31750">
            <a:solidFill>
              <a:srgbClr val="4B2F83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4572000" y="1554480"/>
            <a:ext cx="6949440" cy="3383280"/>
          </a:xfrm>
          <a:prstGeom prst="roundRect">
            <a:avLst>
              <a:gd name="adj" fmla="val 2703"/>
            </a:avLst>
          </a:prstGeom>
          <a:solidFill>
            <a:srgbClr val="F1EEF8"/>
          </a:solidFill>
          <a:ln w="19050">
            <a:solidFill>
              <a:srgbClr val="4B2F8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0" y="1691640"/>
            <a:ext cx="6949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4B2F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(serverless)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846320" y="2651760"/>
            <a:ext cx="14630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5240">
            <a:solidFill>
              <a:srgbClr val="4B2F8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800600" y="2907792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B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 SQS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4828032" y="3401568"/>
            <a:ext cx="14996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5F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aggregate queue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6318504" y="3337560"/>
            <a:ext cx="164592" cy="0"/>
          </a:xfrm>
          <a:prstGeom prst="line">
            <a:avLst/>
          </a:prstGeom>
          <a:noFill/>
          <a:ln w="20320">
            <a:solidFill>
              <a:srgbClr val="8F79C0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6492240" y="2651760"/>
            <a:ext cx="14630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5240">
            <a:solidFill>
              <a:srgbClr val="4B2F8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446520" y="2907792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B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Lambda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6473952" y="3401568"/>
            <a:ext cx="14996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5F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python3.12 ingest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7964424" y="3337560"/>
            <a:ext cx="164592" cy="0"/>
          </a:xfrm>
          <a:prstGeom prst="line">
            <a:avLst/>
          </a:prstGeom>
          <a:noFill/>
          <a:ln w="20320">
            <a:solidFill>
              <a:srgbClr val="8F79C0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8138160" y="2651760"/>
            <a:ext cx="14630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5240">
            <a:solidFill>
              <a:srgbClr val="4B2F8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092440" y="2907792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B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DynamoDB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8119872" y="3401568"/>
            <a:ext cx="14996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5F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 store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9610344" y="3337560"/>
            <a:ext cx="164592" cy="0"/>
          </a:xfrm>
          <a:prstGeom prst="line">
            <a:avLst/>
          </a:prstGeom>
          <a:noFill/>
          <a:ln w="20320">
            <a:solidFill>
              <a:srgbClr val="8F79C0"/>
            </a:solidFill>
            <a:prstDash val="solid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9784080" y="2651760"/>
            <a:ext cx="14630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5240">
            <a:solidFill>
              <a:srgbClr val="6A51A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738360" y="2907792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B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GW + S3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9765792" y="3401568"/>
            <a:ext cx="14996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5F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capacity console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640080" y="52578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4B2F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fog raises the four hard fault alarms at the edge; the dashboard buckets occupancy into a fullness tier on read and fuses the two into one badge.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1730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Live Demo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58368" y="1143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A51A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smart-parking-management-console.s3.us-east-1.amazonaws.com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3502152" cy="3977640"/>
          </a:xfrm>
          <a:prstGeom prst="roundRect">
            <a:avLst>
              <a:gd name="adj" fmla="val 2611"/>
            </a:avLst>
          </a:prstGeom>
          <a:solidFill>
            <a:srgbClr val="F1EEF8"/>
          </a:solidFill>
          <a:ln w="15240">
            <a:solidFill>
              <a:srgbClr val="6A51A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2148840"/>
            <a:ext cx="603504" cy="603504"/>
          </a:xfrm>
          <a:prstGeom prst="ellipse">
            <a:avLst/>
          </a:prstGeom>
          <a:solidFill>
            <a:srgbClr val="4B2F83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2148840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1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914400" y="2898648"/>
            <a:ext cx="29535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capacity gauge and tier per lot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914400" y="3657600"/>
            <a:ext cx="2953512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665F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lot shows a live occupancy gauge and a four-tier badge — Quiet, Busy or Near-full — derived on read from its capacity percentage.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416552" y="1874520"/>
            <a:ext cx="3502152" cy="3977640"/>
          </a:xfrm>
          <a:prstGeom prst="roundRect">
            <a:avLst>
              <a:gd name="adj" fmla="val 2611"/>
            </a:avLst>
          </a:prstGeom>
          <a:solidFill>
            <a:srgbClr val="F1EEF8"/>
          </a:solidFill>
          <a:ln w="15240">
            <a:solidFill>
              <a:srgbClr val="6A51A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690872" y="2148840"/>
            <a:ext cx="603504" cy="603504"/>
          </a:xfrm>
          <a:prstGeom prst="ellipse">
            <a:avLst/>
          </a:prstGeom>
          <a:solidFill>
            <a:srgbClr val="4B2F83"/>
          </a:solidFill>
          <a:ln/>
        </p:spPr>
      </p:sp>
      <p:sp>
        <p:nvSpPr>
          <p:cNvPr id="11" name="Text 9"/>
          <p:cNvSpPr/>
          <p:nvPr/>
        </p:nvSpPr>
        <p:spPr>
          <a:xfrm>
            <a:off x="4690872" y="2148840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2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4690872" y="2898648"/>
            <a:ext cx="29535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fault outranks fullness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690872" y="3657600"/>
            <a:ext cx="2953512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665F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LOT-B reads Alert on a gate-fault alarm despite low occupancy, while LOT-A reads Normal — the fusion always shows the more urgent of the two.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8193024" y="1874520"/>
            <a:ext cx="3502152" cy="3977640"/>
          </a:xfrm>
          <a:prstGeom prst="roundRect">
            <a:avLst>
              <a:gd name="adj" fmla="val 2611"/>
            </a:avLst>
          </a:prstGeom>
          <a:solidFill>
            <a:srgbClr val="F1EEF8"/>
          </a:solidFill>
          <a:ln w="15240">
            <a:solidFill>
              <a:srgbClr val="6A51A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467344" y="2148840"/>
            <a:ext cx="603504" cy="603504"/>
          </a:xfrm>
          <a:prstGeom prst="ellipse">
            <a:avLst/>
          </a:prstGeom>
          <a:solidFill>
            <a:srgbClr val="4B2F83"/>
          </a:solidFill>
          <a:ln/>
        </p:spPr>
      </p:sp>
      <p:sp>
        <p:nvSpPr>
          <p:cNvPr id="16" name="Text 14"/>
          <p:cNvSpPr/>
          <p:nvPr/>
        </p:nvSpPr>
        <p:spPr>
          <a:xfrm>
            <a:off x="8467344" y="2148840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3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8467344" y="2898648"/>
            <a:ext cx="29535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occupied-spaces trend per lot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8467344" y="3657600"/>
            <a:ext cx="2953512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665F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chart tracks both lots live, so a filling lot is visible before it reaches the near-full tier.</a:t>
            </a:r>
            <a:endParaRPr lang="en-US" sz="1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B1730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Hardest Part — how full, and what is wrong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640080" y="1874520"/>
            <a:ext cx="4937760" cy="4160520"/>
          </a:xfrm>
          <a:prstGeom prst="roundRect">
            <a:avLst>
              <a:gd name="adj" fmla="val 2198"/>
            </a:avLst>
          </a:prstGeom>
          <a:solidFill>
            <a:srgbClr val="F1EEF8"/>
          </a:solidFill>
          <a:ln w="19050">
            <a:solidFill>
              <a:srgbClr val="E3A93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60120" y="210312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3A93C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Problem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960120" y="2651760"/>
            <a:ext cx="43434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1B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Fullness is a smooth quantity that climbs and falls with the day; a fault is a discrete event — a gate stuck faulting, an inflow surge, a car dwelling far too long. A lot can be busy but perfectly healthy, or nearly empty yet faulted, so collapsing both into one number would hide whichever matters.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6611112" y="1874520"/>
            <a:ext cx="4937760" cy="4160520"/>
          </a:xfrm>
          <a:prstGeom prst="roundRect">
            <a:avLst>
              <a:gd name="adj" fmla="val 2198"/>
            </a:avLst>
          </a:prstGeom>
          <a:solidFill>
            <a:srgbClr val="F1EEF8"/>
          </a:solidFill>
          <a:ln w="19050">
            <a:solidFill>
              <a:srgbClr val="6A51A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931152" y="210312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6A51AB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Solution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6931152" y="2651760"/>
            <a:ext cx="43434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1B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them on separate axes: the fog raises the four hard fault alarms at the edge, and the dashboard buckets each lot's latest occupancy into Quiet / Busy / Near-full on read. The two fuse into one badge where any active fault outranks the fullness tier, so an operator always sees the more urgent of the two at a glance. The tier is derived fresh on every read, never stored.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669280" y="3703320"/>
            <a:ext cx="841248" cy="512064"/>
          </a:xfrm>
          <a:prstGeom prst="rightArrow">
            <a:avLst/>
          </a:prstGeom>
          <a:solidFill>
            <a:srgbClr val="4B2F83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2026-07-24T07:37:26Z</dcterms:created>
  <dcterms:modified xsi:type="dcterms:W3CDTF">2026-07-24T07:37:26Z</dcterms:modified>
</cp:coreProperties>
</file>