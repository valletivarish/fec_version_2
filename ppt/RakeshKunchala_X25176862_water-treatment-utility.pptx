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2E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91440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Water Treatment Utility Monitoring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658368" y="21488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FAA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Rakesh Kunchala   ·   X25176862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58368" y="2697480"/>
            <a:ext cx="104241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CE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Treatment quality moves second by second, and a momentary pressure drop can mean a hydraulic fault even when the daily mean looks perfectly healthy — transient events vanish into averages.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58368" y="420624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143A40"/>
          </a:solidFill>
          <a:ln w="12700">
            <a:solidFill>
              <a:srgbClr val="E4A63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420624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4A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Pressure &lt; 2 bar (min)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3538728" y="420624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143A40"/>
          </a:solidFill>
          <a:ln w="12700">
            <a:solidFill>
              <a:srgbClr val="E4A6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38728" y="420624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4A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Chlorine &lt; 0.2 ppm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419088" y="420624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143A40"/>
          </a:solidFill>
          <a:ln w="12700">
            <a:solidFill>
              <a:srgbClr val="E4A63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19088" y="420624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4A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 window score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58368" y="61264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67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 &amp; Edge Computing (H9FECC)   ·   deployed live on AWS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E33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What I Built — Intake to Dashboard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EDF6F7"/>
          </a:solidFill>
          <a:ln w="19050">
            <a:solidFill>
              <a:srgbClr val="4FAAB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335024" y="2633472"/>
            <a:ext cx="182880" cy="182880"/>
          </a:xfrm>
          <a:prstGeom prst="ellipse">
            <a:avLst/>
          </a:prstGeom>
          <a:solidFill>
            <a:srgbClr val="4FAAB6"/>
          </a:solidFill>
          <a:ln/>
        </p:spPr>
      </p:sp>
      <p:sp>
        <p:nvSpPr>
          <p:cNvPr id="5" name="Text 3"/>
          <p:cNvSpPr/>
          <p:nvPr/>
        </p:nvSpPr>
        <p:spPr>
          <a:xfrm>
            <a:off x="612648" y="2852928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F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 sensors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640080" y="3200400"/>
            <a:ext cx="157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67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· 2 plants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231136" y="3154680"/>
            <a:ext cx="258409" cy="0"/>
          </a:xfrm>
          <a:prstGeom prst="line">
            <a:avLst/>
          </a:prstGeom>
          <a:noFill/>
          <a:ln w="25400">
            <a:solidFill>
              <a:srgbClr val="4FAAB6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2507833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EDF6F7"/>
          </a:solidFill>
          <a:ln w="19050">
            <a:solidFill>
              <a:srgbClr val="4FAAB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2777" y="2633472"/>
            <a:ext cx="182880" cy="182880"/>
          </a:xfrm>
          <a:prstGeom prst="ellipse">
            <a:avLst/>
          </a:prstGeom>
          <a:solidFill>
            <a:srgbClr val="4FAAB6"/>
          </a:solidFill>
          <a:ln/>
        </p:spPr>
      </p:sp>
      <p:sp>
        <p:nvSpPr>
          <p:cNvPr id="10" name="Text 8"/>
          <p:cNvSpPr/>
          <p:nvPr/>
        </p:nvSpPr>
        <p:spPr>
          <a:xfrm>
            <a:off x="2480401" y="2852928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F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 node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2507833" y="3200400"/>
            <a:ext cx="157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67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 windows · gates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098889" y="3154680"/>
            <a:ext cx="258409" cy="0"/>
          </a:xfrm>
          <a:prstGeom prst="line">
            <a:avLst/>
          </a:prstGeom>
          <a:noFill/>
          <a:ln w="25400">
            <a:solidFill>
              <a:srgbClr val="4FAAB6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4375587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EDF6F7"/>
          </a:solidFill>
          <a:ln w="19050">
            <a:solidFill>
              <a:srgbClr val="0F6E7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070531" y="2633472"/>
            <a:ext cx="182880" cy="182880"/>
          </a:xfrm>
          <a:prstGeom prst="ellipse">
            <a:avLst/>
          </a:prstGeom>
          <a:solidFill>
            <a:srgbClr val="0F6E7C"/>
          </a:solidFill>
          <a:ln/>
        </p:spPr>
      </p:sp>
      <p:sp>
        <p:nvSpPr>
          <p:cNvPr id="15" name="Text 13"/>
          <p:cNvSpPr/>
          <p:nvPr/>
        </p:nvSpPr>
        <p:spPr>
          <a:xfrm>
            <a:off x="4348155" y="2852928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F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SQS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375587" y="3200400"/>
            <a:ext cx="157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67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summary / window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966643" y="3154680"/>
            <a:ext cx="258409" cy="0"/>
          </a:xfrm>
          <a:prstGeom prst="line">
            <a:avLst/>
          </a:prstGeom>
          <a:noFill/>
          <a:ln w="25400">
            <a:solidFill>
              <a:srgbClr val="4FAAB6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6243340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EDF6F7"/>
          </a:solidFill>
          <a:ln w="19050">
            <a:solidFill>
              <a:srgbClr val="0F6E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938284" y="2633472"/>
            <a:ext cx="182880" cy="182880"/>
          </a:xfrm>
          <a:prstGeom prst="ellipse">
            <a:avLst/>
          </a:prstGeom>
          <a:solidFill>
            <a:srgbClr val="0F6E7C"/>
          </a:solidFill>
          <a:ln/>
        </p:spPr>
      </p:sp>
      <p:sp>
        <p:nvSpPr>
          <p:cNvPr id="20" name="Text 18"/>
          <p:cNvSpPr/>
          <p:nvPr/>
        </p:nvSpPr>
        <p:spPr>
          <a:xfrm>
            <a:off x="6215908" y="2852928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F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Lambda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6243340" y="3200400"/>
            <a:ext cx="157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67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nodejs20 ingest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834396" y="3154680"/>
            <a:ext cx="258409" cy="0"/>
          </a:xfrm>
          <a:prstGeom prst="line">
            <a:avLst/>
          </a:prstGeom>
          <a:noFill/>
          <a:ln w="25400">
            <a:solidFill>
              <a:srgbClr val="4FAAB6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8111094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EDF6F7"/>
          </a:solidFill>
          <a:ln w="19050">
            <a:solidFill>
              <a:srgbClr val="0F6E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806038" y="2633472"/>
            <a:ext cx="182880" cy="182880"/>
          </a:xfrm>
          <a:prstGeom prst="ellipse">
            <a:avLst/>
          </a:prstGeom>
          <a:solidFill>
            <a:srgbClr val="0F6E7C"/>
          </a:solidFill>
          <a:ln/>
        </p:spPr>
      </p:sp>
      <p:sp>
        <p:nvSpPr>
          <p:cNvPr id="25" name="Text 23"/>
          <p:cNvSpPr/>
          <p:nvPr/>
        </p:nvSpPr>
        <p:spPr>
          <a:xfrm>
            <a:off x="8083662" y="2852928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F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DynamoDB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8111094" y="3200400"/>
            <a:ext cx="157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67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time-series store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9702150" y="3154680"/>
            <a:ext cx="258409" cy="0"/>
          </a:xfrm>
          <a:prstGeom prst="line">
            <a:avLst/>
          </a:prstGeom>
          <a:noFill/>
          <a:ln w="25400">
            <a:solidFill>
              <a:srgbClr val="4FAAB6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9978847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EDF6F7"/>
          </a:solidFill>
          <a:ln w="19050">
            <a:solidFill>
              <a:srgbClr val="1E8FA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0673791" y="2633472"/>
            <a:ext cx="182880" cy="182880"/>
          </a:xfrm>
          <a:prstGeom prst="ellipse">
            <a:avLst/>
          </a:prstGeom>
          <a:solidFill>
            <a:srgbClr val="1E8FA0"/>
          </a:solidFill>
          <a:ln/>
        </p:spPr>
      </p:sp>
      <p:sp>
        <p:nvSpPr>
          <p:cNvPr id="30" name="Text 28"/>
          <p:cNvSpPr/>
          <p:nvPr/>
        </p:nvSpPr>
        <p:spPr>
          <a:xfrm>
            <a:off x="9951415" y="2852928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F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GW + S3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9978847" y="3200400"/>
            <a:ext cx="157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67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board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640080" y="3977640"/>
            <a:ext cx="344052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4FAA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375587" y="3977640"/>
            <a:ext cx="71760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0F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40080" y="52578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0F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ten-second window is scored as it closes, and thresholds are checked against the window minimum, never the average, so a brief dip cannot hide.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E33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Live Demo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58368" y="1143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8F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wtu-frontend-824792629641.s3.us-east-1.amazonaws.com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3502152" cy="3657600"/>
          </a:xfrm>
          <a:prstGeom prst="roundRect">
            <a:avLst>
              <a:gd name="adj" fmla="val 2611"/>
            </a:avLst>
          </a:prstGeom>
          <a:solidFill>
            <a:srgbClr val="EDF6F7"/>
          </a:solidFill>
          <a:ln w="15240">
            <a:solidFill>
              <a:srgbClr val="1E8FA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2194560"/>
            <a:ext cx="640080" cy="640080"/>
          </a:xfrm>
          <a:prstGeom prst="ellipse">
            <a:avLst/>
          </a:prstGeom>
          <a:solidFill>
            <a:srgbClr val="0F6E7C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1945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914400" y="3017520"/>
            <a:ext cx="29535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reading-by-plant matrix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14400" y="3794760"/>
            <a:ext cx="295351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67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Turbidity, pH, chlorine, flow and pressure for both plants, with compliance strips showing each against its drinking-water limit.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416552" y="1874520"/>
            <a:ext cx="3502152" cy="3657600"/>
          </a:xfrm>
          <a:prstGeom prst="roundRect">
            <a:avLst>
              <a:gd name="adj" fmla="val 2611"/>
            </a:avLst>
          </a:prstGeom>
          <a:solidFill>
            <a:srgbClr val="EDF6F7"/>
          </a:solidFill>
          <a:ln w="15240">
            <a:solidFill>
              <a:srgbClr val="1E8FA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90872" y="2194560"/>
            <a:ext cx="640080" cy="640080"/>
          </a:xfrm>
          <a:prstGeom prst="ellipse">
            <a:avLst/>
          </a:prstGeom>
          <a:solidFill>
            <a:srgbClr val="0F6E7C"/>
          </a:solidFill>
          <a:ln/>
        </p:spPr>
      </p:sp>
      <p:sp>
        <p:nvSpPr>
          <p:cNvPr id="11" name="Text 9"/>
          <p:cNvSpPr/>
          <p:nvPr/>
        </p:nvSpPr>
        <p:spPr>
          <a:xfrm>
            <a:off x="4690872" y="21945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2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4690872" y="3017520"/>
            <a:ext cx="29535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brief pressure dip cannot hide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690872" y="3794760"/>
            <a:ext cx="295351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67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low-pressure rule reads the window minimum, not the average, so a momentary drop below 2 bar is flagged even when the mean looks healthy.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193024" y="1874520"/>
            <a:ext cx="3502152" cy="3657600"/>
          </a:xfrm>
          <a:prstGeom prst="roundRect">
            <a:avLst>
              <a:gd name="adj" fmla="val 2611"/>
            </a:avLst>
          </a:prstGeom>
          <a:solidFill>
            <a:srgbClr val="EDF6F7"/>
          </a:solidFill>
          <a:ln w="15240">
            <a:solidFill>
              <a:srgbClr val="1E8FA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467344" y="2194560"/>
            <a:ext cx="640080" cy="640080"/>
          </a:xfrm>
          <a:prstGeom prst="ellipse">
            <a:avLst/>
          </a:prstGeom>
          <a:solidFill>
            <a:srgbClr val="0F6E7C"/>
          </a:solidFill>
          <a:ln/>
        </p:spPr>
      </p:sp>
      <p:sp>
        <p:nvSpPr>
          <p:cNvPr id="16" name="Text 14"/>
          <p:cNvSpPr/>
          <p:nvPr/>
        </p:nvSpPr>
        <p:spPr>
          <a:xfrm>
            <a:off x="8467344" y="21945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3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8467344" y="3017520"/>
            <a:ext cx="29535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Cross-plant trends, live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467344" y="3794760"/>
            <a:ext cx="295351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67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trend charts run both plants side by side, so an under-chlorination drift is visible as it develops.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" y="62636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FAA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to the live dashboard here — backup video ready.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F2E33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Hardest Part — proving the queue drains under a burst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31520" y="196596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E4A63C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Problem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3200400" y="1920240"/>
            <a:ext cx="0" cy="1783080"/>
          </a:xfrm>
          <a:prstGeom prst="line">
            <a:avLst/>
          </a:prstGeom>
          <a:noFill/>
          <a:ln w="31750">
            <a:solidFill>
              <a:srgbClr val="E4A63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474720" y="1920240"/>
            <a:ext cx="79552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0F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traffic is one summary every ten seconds; to claim scalability I fired 2,000 messages at the queue from 32 parallel workers. But from outside, a non-empty queue is ambiguous — a slow consumer and a dead one look identical — and the emulator runs the Lambda in a single container, so drain time swings wildly and a naive pass/fail test either flakes or lies.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731520" y="41148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E8FA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Solution</a:t>
            </a:r>
            <a:endParaRPr lang="en-US" sz="2300" dirty="0"/>
          </a:p>
        </p:txBody>
      </p:sp>
      <p:sp>
        <p:nvSpPr>
          <p:cNvPr id="7" name="Shape 5"/>
          <p:cNvSpPr/>
          <p:nvPr/>
        </p:nvSpPr>
        <p:spPr>
          <a:xfrm>
            <a:off x="3200400" y="4069080"/>
            <a:ext cx="0" cy="1783080"/>
          </a:xfrm>
          <a:prstGeom prst="line">
            <a:avLst/>
          </a:prstGeom>
          <a:noFill/>
          <a:ln w="31750">
            <a:solidFill>
              <a:srgbClr val="1E8FA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74720" y="4069080"/>
            <a:ext cx="79552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0F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two-tier check: first assert the queue really absorbed the burst, then require either a full drain in time or a backlog strictly below the post-burst peak. A strictly decreasing backlog proves the consumer is alive and working, not stalled — real progress, not a guess.</a:t>
            </a:r>
            <a:endParaRPr lang="en-US" sz="14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2026-07-24T07:12:01Z</dcterms:created>
  <dcterms:modified xsi:type="dcterms:W3CDTF">2026-07-24T07:12:01Z</dcterms:modified>
</cp:coreProperties>
</file>