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EF4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ECF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1C6EA4"/>
          </a:solidFill>
          <a:ln/>
        </p:spPr>
      </p:sp>
      <p:sp>
        <p:nvSpPr>
          <p:cNvPr id="4" name="Text 2"/>
          <p:cNvSpPr/>
          <p:nvPr/>
        </p:nvSpPr>
        <p:spPr>
          <a:xfrm>
            <a:off x="758952" y="1874520"/>
            <a:ext cx="10637215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800" b="1" dirty="0">
                <a:solidFill>
                  <a:srgbClr val="14304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Water Treatment Utility Monitoring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77240" y="3566160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6B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Rakesh Kunchala   ·   X25176862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77240" y="416052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4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quality moves second by second, and a momentary pressure drop can mean a hydraulic fault even when the daily mean looks perfectly healthy — transient events vanish into averages.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4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ECF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1C6EA4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1887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6EA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645920" y="1362456"/>
            <a:ext cx="9768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F6B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" y="1837944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4304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I Built — Intake to Dashboard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777240" y="3429000"/>
            <a:ext cx="1391869" cy="1965960"/>
          </a:xfrm>
          <a:prstGeom prst="roundRect">
            <a:avLst>
              <a:gd name="adj" fmla="val 3942"/>
            </a:avLst>
          </a:prstGeom>
          <a:solidFill>
            <a:srgbClr val="1C6EA4"/>
          </a:solidFill>
          <a:ln w="12700">
            <a:solidFill>
              <a:srgbClr val="1C6EA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23544" y="361188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23544" y="405079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Plant sensors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23544" y="491032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2 plants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242261" y="4302252"/>
            <a:ext cx="310896" cy="219456"/>
          </a:xfrm>
          <a:prstGeom prst="rightArrow">
            <a:avLst/>
          </a:prstGeom>
          <a:solidFill>
            <a:srgbClr val="5F6B74"/>
          </a:solidFill>
          <a:ln/>
        </p:spPr>
      </p:sp>
      <p:sp>
        <p:nvSpPr>
          <p:cNvPr id="12" name="Shape 10"/>
          <p:cNvSpPr/>
          <p:nvPr/>
        </p:nvSpPr>
        <p:spPr>
          <a:xfrm>
            <a:off x="2626309" y="3429000"/>
            <a:ext cx="1391869" cy="1965960"/>
          </a:xfrm>
          <a:prstGeom prst="roundRect">
            <a:avLst>
              <a:gd name="adj" fmla="val 3942"/>
            </a:avLst>
          </a:prstGeom>
          <a:solidFill>
            <a:srgbClr val="1C6EA4"/>
          </a:solidFill>
          <a:ln w="12700">
            <a:solidFill>
              <a:srgbClr val="1C6EA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72613" y="361188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772613" y="405079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Fog node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772613" y="491032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 windows · gates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091330" y="4302252"/>
            <a:ext cx="310896" cy="219456"/>
          </a:xfrm>
          <a:prstGeom prst="rightArrow">
            <a:avLst/>
          </a:prstGeom>
          <a:solidFill>
            <a:srgbClr val="5F6B74"/>
          </a:solidFill>
          <a:ln/>
        </p:spPr>
      </p:sp>
      <p:sp>
        <p:nvSpPr>
          <p:cNvPr id="17" name="Shape 15"/>
          <p:cNvSpPr/>
          <p:nvPr/>
        </p:nvSpPr>
        <p:spPr>
          <a:xfrm>
            <a:off x="4475378" y="3429000"/>
            <a:ext cx="1391869" cy="1965960"/>
          </a:xfrm>
          <a:prstGeom prst="roundRect">
            <a:avLst>
              <a:gd name="adj" fmla="val 3942"/>
            </a:avLst>
          </a:prstGeom>
          <a:solidFill>
            <a:srgbClr val="FFFFFF"/>
          </a:solidFill>
          <a:ln w="12700">
            <a:solidFill>
              <a:srgbClr val="E4E6E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21682" y="361188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6E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621682" y="405079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14304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Amazon SQS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621682" y="491032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summary / window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40400" y="4302252"/>
            <a:ext cx="310896" cy="219456"/>
          </a:xfrm>
          <a:prstGeom prst="rightArrow">
            <a:avLst/>
          </a:prstGeom>
          <a:solidFill>
            <a:srgbClr val="5F6B74"/>
          </a:solidFill>
          <a:ln/>
        </p:spPr>
      </p:sp>
      <p:sp>
        <p:nvSpPr>
          <p:cNvPr id="22" name="Shape 20"/>
          <p:cNvSpPr/>
          <p:nvPr/>
        </p:nvSpPr>
        <p:spPr>
          <a:xfrm>
            <a:off x="6324448" y="3429000"/>
            <a:ext cx="1391869" cy="1965960"/>
          </a:xfrm>
          <a:prstGeom prst="roundRect">
            <a:avLst>
              <a:gd name="adj" fmla="val 3942"/>
            </a:avLst>
          </a:prstGeom>
          <a:solidFill>
            <a:srgbClr val="FFFFFF"/>
          </a:solidFill>
          <a:ln w="12700">
            <a:solidFill>
              <a:srgbClr val="E4E6E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0752" y="361188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6E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70752" y="405079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14304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AWS Lambda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70752" y="491032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nodejs20 ingest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789469" y="4302252"/>
            <a:ext cx="310896" cy="219456"/>
          </a:xfrm>
          <a:prstGeom prst="rightArrow">
            <a:avLst/>
          </a:prstGeom>
          <a:solidFill>
            <a:srgbClr val="5F6B74"/>
          </a:solidFill>
          <a:ln/>
        </p:spPr>
      </p:sp>
      <p:sp>
        <p:nvSpPr>
          <p:cNvPr id="27" name="Shape 25"/>
          <p:cNvSpPr/>
          <p:nvPr/>
        </p:nvSpPr>
        <p:spPr>
          <a:xfrm>
            <a:off x="8173517" y="3429000"/>
            <a:ext cx="1391869" cy="1965960"/>
          </a:xfrm>
          <a:prstGeom prst="roundRect">
            <a:avLst>
              <a:gd name="adj" fmla="val 3942"/>
            </a:avLst>
          </a:prstGeom>
          <a:solidFill>
            <a:srgbClr val="FFFFFF"/>
          </a:solidFill>
          <a:ln w="12700">
            <a:solidFill>
              <a:srgbClr val="E4E6E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19821" y="361188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6E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319821" y="405079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14304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DynamoDB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319821" y="491032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time-series store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9638538" y="4302252"/>
            <a:ext cx="310896" cy="219456"/>
          </a:xfrm>
          <a:prstGeom prst="rightArrow">
            <a:avLst/>
          </a:prstGeom>
          <a:solidFill>
            <a:srgbClr val="5F6B74"/>
          </a:solidFill>
          <a:ln/>
        </p:spPr>
      </p:sp>
      <p:sp>
        <p:nvSpPr>
          <p:cNvPr id="32" name="Shape 30"/>
          <p:cNvSpPr/>
          <p:nvPr/>
        </p:nvSpPr>
        <p:spPr>
          <a:xfrm>
            <a:off x="10022586" y="3429000"/>
            <a:ext cx="1391869" cy="1965960"/>
          </a:xfrm>
          <a:prstGeom prst="roundRect">
            <a:avLst>
              <a:gd name="adj" fmla="val 3942"/>
            </a:avLst>
          </a:prstGeom>
          <a:solidFill>
            <a:srgbClr val="FFFFFF"/>
          </a:solidFill>
          <a:ln w="12700">
            <a:solidFill>
              <a:srgbClr val="E4E6E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168890" y="361188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6E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0168890" y="405079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14304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API GW + S3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0168890" y="491032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board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4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ECF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1C6EA4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1887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6EA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02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645920" y="1362456"/>
            <a:ext cx="9768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F6B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" y="1837944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4304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See it running on AWS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777240" y="2359152"/>
            <a:ext cx="106372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6E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wtu-frontend-824792629641.s3.us-east-1.amazonaws.com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77240" y="2971800"/>
            <a:ext cx="3301898" cy="3108960"/>
          </a:xfrm>
          <a:prstGeom prst="roundRect">
            <a:avLst>
              <a:gd name="adj" fmla="val 1765"/>
            </a:avLst>
          </a:prstGeom>
          <a:solidFill>
            <a:srgbClr val="FFFFFF"/>
          </a:solidFill>
          <a:ln w="12700">
            <a:solidFill>
              <a:srgbClr val="E4E6E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3209544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C6EA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01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1069848" y="4023360"/>
            <a:ext cx="27532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14304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 reading-by-plant matrix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069848" y="4892040"/>
            <a:ext cx="27532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F6B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Turbidity, pH, chlorine, flow and pressure for both plants, with compliance strips showing each against its drinking-water limit.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444898" y="2971800"/>
            <a:ext cx="3301898" cy="3108960"/>
          </a:xfrm>
          <a:prstGeom prst="roundRect">
            <a:avLst>
              <a:gd name="adj" fmla="val 1765"/>
            </a:avLst>
          </a:prstGeom>
          <a:solidFill>
            <a:srgbClr val="FFFFFF"/>
          </a:solidFill>
          <a:ln w="12700">
            <a:solidFill>
              <a:srgbClr val="E4E6E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19218" y="3209544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C6EA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02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4737506" y="4023360"/>
            <a:ext cx="27532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14304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 brief pressure dip cannot hide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4737506" y="4892040"/>
            <a:ext cx="27532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F6B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low-pressure rule reads the window minimum, not the average, so a momentary drop below 2 bar is flagged even when the mean looks healthy.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12557" y="2971800"/>
            <a:ext cx="3301898" cy="3108960"/>
          </a:xfrm>
          <a:prstGeom prst="roundRect">
            <a:avLst>
              <a:gd name="adj" fmla="val 1765"/>
            </a:avLst>
          </a:prstGeom>
          <a:solidFill>
            <a:srgbClr val="FFFFFF"/>
          </a:solidFill>
          <a:ln w="12700">
            <a:solidFill>
              <a:srgbClr val="E4E6E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86877" y="3209544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C6EA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03</a:t>
            </a:r>
            <a:endParaRPr lang="en-US" sz="3800" dirty="0"/>
          </a:p>
        </p:txBody>
      </p:sp>
      <p:sp>
        <p:nvSpPr>
          <p:cNvPr id="18" name="Text 16"/>
          <p:cNvSpPr/>
          <p:nvPr/>
        </p:nvSpPr>
        <p:spPr>
          <a:xfrm>
            <a:off x="8405165" y="4023360"/>
            <a:ext cx="27532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14304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Cross-plant trends, live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8405165" y="4892040"/>
            <a:ext cx="27532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F6B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trend charts run both plants side by side, so an under-chlorination drift is visible as it develops.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4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ECF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1C6EA4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1887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6EA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03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645920" y="1362456"/>
            <a:ext cx="9768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F6B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" y="1837944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4304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when the danger is too little, not too much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777240" y="2880360"/>
            <a:ext cx="5090008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12700">
            <a:solidFill>
              <a:srgbClr val="E4E6E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3154680"/>
            <a:ext cx="4449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158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097280" y="3538728"/>
            <a:ext cx="4449928" cy="0"/>
          </a:xfrm>
          <a:prstGeom prst="line">
            <a:avLst/>
          </a:prstGeom>
          <a:noFill/>
          <a:ln w="19050">
            <a:solidFill>
              <a:srgbClr val="D1584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3703320"/>
            <a:ext cx="444992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14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monitoring fires when a number climbs too high, but drinking-water compliance is the opposite: the breaches that matter are mostly under-treatment — chlorine too low, pH too acidic, pressure too low. A rule set built around ceilings would silently pass exactly the failures a water utility most needs to catch.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324448" y="2880360"/>
            <a:ext cx="5090008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12700">
            <a:solidFill>
              <a:srgbClr val="E4E6E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44488" y="3154680"/>
            <a:ext cx="4449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7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644488" y="3538728"/>
            <a:ext cx="4449928" cy="0"/>
          </a:xfrm>
          <a:prstGeom prst="line">
            <a:avLst/>
          </a:prstGeom>
          <a:noFill/>
          <a:ln w="19050">
            <a:solidFill>
              <a:srgbClr val="2F7D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44488" y="3703320"/>
            <a:ext cx="444992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14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fog rules are written as compliance bounds, most of them lower bounds, and each window is reduced through a small ledger that accumulates then evaluates so a brief dip is not lost between windows. Breaches are raised as named compliance events, so the operator sees under-chlorination or low pressure as a first-class alert rather than the mere absence of a high-value alarm.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2026-07-24T09:15:28Z</dcterms:created>
  <dcterms:modified xsi:type="dcterms:W3CDTF">2026-07-24T09:15:28Z</dcterms:modified>
</cp:coreProperties>
</file>