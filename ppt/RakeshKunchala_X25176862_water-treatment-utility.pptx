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Water Treatment Utility Monitoring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2148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Rakesh Kunchala   ·   X25176862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26974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E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quality moves second by second, and a momentary pressure drop can mean a hydraulic fault even when the daily mean looks perfectly healthy — transient events vanish into averages.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43A40"/>
          </a:solidFill>
          <a:ln w="12700">
            <a:solidFill>
              <a:srgbClr val="E4A6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4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&lt; 2 bar (min)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3872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43A40"/>
          </a:solidFill>
          <a:ln w="12700">
            <a:solidFill>
              <a:srgbClr val="E4A6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872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4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Chlorine &lt; 0.2 ppm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1908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43A40"/>
          </a:solidFill>
          <a:ln w="12700">
            <a:solidFill>
              <a:srgbClr val="E4A6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4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 window score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8368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Edge Computing (H9FECC)   ·   deployed live on AWS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 Built — Intake to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6F7"/>
          </a:solidFill>
          <a:ln w="19050">
            <a:solidFill>
              <a:srgbClr val="4FAA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2039112"/>
            <a:ext cx="182880" cy="182880"/>
          </a:xfrm>
          <a:prstGeom prst="ellipse">
            <a:avLst/>
          </a:prstGeom>
          <a:solidFill>
            <a:srgbClr val="4FAAB6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sensors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2 plants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44368" y="2514600"/>
            <a:ext cx="1975104" cy="0"/>
          </a:xfrm>
          <a:prstGeom prst="line">
            <a:avLst/>
          </a:prstGeom>
          <a:noFill/>
          <a:ln w="25400">
            <a:solidFill>
              <a:srgbClr val="4FAAB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937760" y="18745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6F7"/>
          </a:solidFill>
          <a:ln w="19050">
            <a:solidFill>
              <a:srgbClr val="4FAA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2039112"/>
            <a:ext cx="182880" cy="182880"/>
          </a:xfrm>
          <a:prstGeom prst="ellipse">
            <a:avLst/>
          </a:prstGeom>
          <a:solidFill>
            <a:srgbClr val="4FAAB6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node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 windows · gates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42048" y="2514600"/>
            <a:ext cx="1975104" cy="0"/>
          </a:xfrm>
          <a:prstGeom prst="line">
            <a:avLst/>
          </a:prstGeom>
          <a:noFill/>
          <a:ln w="25400">
            <a:solidFill>
              <a:srgbClr val="4FAAB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235440" y="187452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6F7"/>
          </a:solidFill>
          <a:ln w="19050">
            <a:solidFill>
              <a:srgbClr val="0F6E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87000" y="2039112"/>
            <a:ext cx="182880" cy="182880"/>
          </a:xfrm>
          <a:prstGeom prst="ellipse">
            <a:avLst/>
          </a:prstGeom>
          <a:solidFill>
            <a:srgbClr val="0F6E7C"/>
          </a:solidFill>
          <a:ln/>
        </p:spPr>
      </p:sp>
      <p:sp>
        <p:nvSpPr>
          <p:cNvPr id="15" name="Text 13"/>
          <p:cNvSpPr/>
          <p:nvPr/>
        </p:nvSpPr>
        <p:spPr>
          <a:xfrm>
            <a:off x="9208008" y="225856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SQS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23544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summary / window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35440" y="35204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6F7"/>
          </a:solidFill>
          <a:ln w="19050">
            <a:solidFill>
              <a:srgbClr val="0F6E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87000" y="3685032"/>
            <a:ext cx="182880" cy="182880"/>
          </a:xfrm>
          <a:prstGeom prst="ellipse">
            <a:avLst/>
          </a:prstGeom>
          <a:solidFill>
            <a:srgbClr val="0F6E7C"/>
          </a:solidFill>
          <a:ln/>
        </p:spPr>
      </p:sp>
      <p:sp>
        <p:nvSpPr>
          <p:cNvPr id="19" name="Text 17"/>
          <p:cNvSpPr/>
          <p:nvPr/>
        </p:nvSpPr>
        <p:spPr>
          <a:xfrm>
            <a:off x="9208008" y="39044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23544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nodejs20 ingest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42048" y="4160520"/>
            <a:ext cx="1975104" cy="0"/>
          </a:xfrm>
          <a:prstGeom prst="line">
            <a:avLst/>
          </a:prstGeom>
          <a:noFill/>
          <a:ln w="25400">
            <a:solidFill>
              <a:srgbClr val="4FAAB6"/>
            </a:solidFill>
            <a:prstDash val="solid"/>
            <a:headEnd type="triangle"/>
            <a:tailEnd type="oval"/>
          </a:ln>
        </p:spPr>
      </p:sp>
      <p:sp>
        <p:nvSpPr>
          <p:cNvPr id="22" name="Shape 20"/>
          <p:cNvSpPr/>
          <p:nvPr/>
        </p:nvSpPr>
        <p:spPr>
          <a:xfrm>
            <a:off x="4937760" y="35204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6F7"/>
          </a:solidFill>
          <a:ln w="19050">
            <a:solidFill>
              <a:srgbClr val="0F6E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3685032"/>
            <a:ext cx="182880" cy="182880"/>
          </a:xfrm>
          <a:prstGeom prst="ellipse">
            <a:avLst/>
          </a:prstGeom>
          <a:solidFill>
            <a:srgbClr val="0F6E7C"/>
          </a:solidFill>
          <a:ln/>
        </p:spPr>
      </p:sp>
      <p:sp>
        <p:nvSpPr>
          <p:cNvPr id="24" name="Text 22"/>
          <p:cNvSpPr/>
          <p:nvPr/>
        </p:nvSpPr>
        <p:spPr>
          <a:xfrm>
            <a:off x="4910328" y="39044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93776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store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44368" y="4160520"/>
            <a:ext cx="1975104" cy="0"/>
          </a:xfrm>
          <a:prstGeom prst="line">
            <a:avLst/>
          </a:prstGeom>
          <a:noFill/>
          <a:ln w="25400">
            <a:solidFill>
              <a:srgbClr val="4FAAB6"/>
            </a:solidFill>
            <a:prstDash val="solid"/>
            <a:headEnd type="triangle"/>
            <a:tailEnd type="oval"/>
          </a:ln>
        </p:spPr>
      </p:sp>
      <p:sp>
        <p:nvSpPr>
          <p:cNvPr id="27" name="Shape 25"/>
          <p:cNvSpPr/>
          <p:nvPr/>
        </p:nvSpPr>
        <p:spPr>
          <a:xfrm>
            <a:off x="640080" y="352044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DF6F7"/>
          </a:solidFill>
          <a:ln w="19050">
            <a:solidFill>
              <a:srgbClr val="1E8F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91640" y="3685032"/>
            <a:ext cx="182880" cy="182880"/>
          </a:xfrm>
          <a:prstGeom prst="ellipse">
            <a:avLst/>
          </a:prstGeom>
          <a:solidFill>
            <a:srgbClr val="1E8FA0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" y="390448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 + S3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6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board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378440" y="3154680"/>
            <a:ext cx="0" cy="365760"/>
          </a:xfrm>
          <a:prstGeom prst="line">
            <a:avLst/>
          </a:prstGeom>
          <a:noFill/>
          <a:ln w="25400">
            <a:solidFill>
              <a:srgbClr val="4FAAB6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40080" y="5257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F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ten-second window is scored as it closes, and thresholds are checked against the window minimum, never the average, so a brief dip cannot hide.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wtu-frontend-824792629641.s3.us-east-1.amazonaws.com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02152" cy="3657600"/>
          </a:xfrm>
          <a:prstGeom prst="roundRect">
            <a:avLst>
              <a:gd name="adj" fmla="val 2611"/>
            </a:avLst>
          </a:prstGeom>
          <a:solidFill>
            <a:srgbClr val="EDF6F7"/>
          </a:solidFill>
          <a:ln w="15240">
            <a:solidFill>
              <a:srgbClr val="1E8F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0F6E7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reading-by-plant matrix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953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6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Turbidity, pH, chlorine, flow and pressure for both plants, with compliance strips showing each against its drinking-water limit.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1874520"/>
            <a:ext cx="3502152" cy="3657600"/>
          </a:xfrm>
          <a:prstGeom prst="roundRect">
            <a:avLst>
              <a:gd name="adj" fmla="val 2611"/>
            </a:avLst>
          </a:prstGeom>
          <a:solidFill>
            <a:srgbClr val="EDF6F7"/>
          </a:solidFill>
          <a:ln w="15240">
            <a:solidFill>
              <a:srgbClr val="1E8F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194560"/>
            <a:ext cx="640080" cy="640080"/>
          </a:xfrm>
          <a:prstGeom prst="ellipse">
            <a:avLst/>
          </a:prstGeom>
          <a:solidFill>
            <a:srgbClr val="0F6E7C"/>
          </a:solidFill>
          <a:ln/>
        </p:spPr>
      </p:sp>
      <p:sp>
        <p:nvSpPr>
          <p:cNvPr id="11" name="Text 9"/>
          <p:cNvSpPr/>
          <p:nvPr/>
        </p:nvSpPr>
        <p:spPr>
          <a:xfrm>
            <a:off x="4690872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90872" y="301752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pressure dip cannot hide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90872" y="3794760"/>
            <a:ext cx="2953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6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low-pressure rule reads the window minimum, not the average, so a momentary drop below 2 bar is flagged even when the mean looks healthy.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3024" y="1874520"/>
            <a:ext cx="3502152" cy="3657600"/>
          </a:xfrm>
          <a:prstGeom prst="roundRect">
            <a:avLst>
              <a:gd name="adj" fmla="val 2611"/>
            </a:avLst>
          </a:prstGeom>
          <a:solidFill>
            <a:srgbClr val="EDF6F7"/>
          </a:solidFill>
          <a:ln w="15240">
            <a:solidFill>
              <a:srgbClr val="1E8F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7344" y="2194560"/>
            <a:ext cx="640080" cy="640080"/>
          </a:xfrm>
          <a:prstGeom prst="ellipse">
            <a:avLst/>
          </a:prstGeom>
          <a:solidFill>
            <a:srgbClr val="0F6E7C"/>
          </a:solidFill>
          <a:ln/>
        </p:spPr>
      </p:sp>
      <p:sp>
        <p:nvSpPr>
          <p:cNvPr id="16" name="Text 14"/>
          <p:cNvSpPr/>
          <p:nvPr/>
        </p:nvSpPr>
        <p:spPr>
          <a:xfrm>
            <a:off x="846734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67344" y="301752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Cross-plant trends, live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67344" y="3794760"/>
            <a:ext cx="29535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6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trend charts run both plants side by side, so an under-chlorination drift is visible as it develops.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live dashboard here — backup video ready.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Hardest Part — proving the queue drains under a burst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EDF6F7"/>
          </a:solidFill>
          <a:ln w="19050">
            <a:solidFill>
              <a:srgbClr val="E4A6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4A6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578608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traffic is one summary every ten seconds; to claim scalability I fired 2,000 messages at the queue from 32 parallel workers. But from outside, a non-empty queue is ambiguous — a slow consumer and a dead one look identical — and the emulator runs the Lambda in a single container, so drain time swings wildly and a naive pass/fail test either flakes or lies.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041648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EDF6F7"/>
          </a:solidFill>
          <a:ln w="19050">
            <a:solidFill>
              <a:srgbClr val="1E8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224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8FA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Solution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4700016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two-tier check: first assert the queue really absorbed the burst, then require either a full drain in time or a backlog strictly below the post-burst peak. A strictly decreasing backlog proves the consumer is alive and working, not stalled — real progress, not a guess.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2026-07-24T07:05:03Z</dcterms:created>
  <dcterms:modified xsi:type="dcterms:W3CDTF">2026-07-24T07:05:03Z</dcterms:modified>
</cp:coreProperties>
</file>