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663440" cy="6858000"/>
          </a:xfrm>
          <a:prstGeom prst="rect">
            <a:avLst/>
          </a:prstGeom>
          <a:solidFill>
            <a:srgbClr val="1F513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280160"/>
            <a:ext cx="374904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Smart Agriculture Field Monitoring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21208" y="5394960"/>
            <a:ext cx="3840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FE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Kondragunta Lakshmi Chaitanya   ·   X25171216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120640" y="1371600"/>
            <a:ext cx="64922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2000" dirty="0">
                <a:solidFill>
                  <a:srgbClr val="CFE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Fixed-schedule field checks reveal a dry root zone, an overnight frost, or a fungal-risk humidity spell only after the damage is done.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120640" y="4023360"/>
            <a:ext cx="2926080" cy="566928"/>
          </a:xfrm>
          <a:prstGeom prst="roundRect">
            <a:avLst>
              <a:gd name="adj" fmla="val 50000"/>
            </a:avLst>
          </a:prstGeom>
          <a:solidFill>
            <a:srgbClr val="20351F"/>
          </a:solidFill>
          <a:ln w="12700">
            <a:solidFill>
              <a:srgbClr val="E0A83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120640" y="402336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0A8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Soil moisture &lt; 20%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120640" y="4709160"/>
            <a:ext cx="2926080" cy="566928"/>
          </a:xfrm>
          <a:prstGeom prst="roundRect">
            <a:avLst>
              <a:gd name="adj" fmla="val 50000"/>
            </a:avLst>
          </a:prstGeom>
          <a:solidFill>
            <a:srgbClr val="20351F"/>
          </a:solidFill>
          <a:ln w="12700">
            <a:solidFill>
              <a:srgbClr val="E0A83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120640" y="470916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0A8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 &lt; 3 °C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120640" y="5394960"/>
            <a:ext cx="2926080" cy="566928"/>
          </a:xfrm>
          <a:prstGeom prst="roundRect">
            <a:avLst>
              <a:gd name="adj" fmla="val 50000"/>
            </a:avLst>
          </a:prstGeom>
          <a:solidFill>
            <a:srgbClr val="20351F"/>
          </a:solidFill>
          <a:ln w="12700">
            <a:solidFill>
              <a:srgbClr val="E0A83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20640" y="539496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0A8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Humidity &gt; 90%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5120640" y="617220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&amp; Edge Computing (H9FECC)   ·   deployed live on AWS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3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 Built — Edge to Cloud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874520"/>
            <a:ext cx="2286000" cy="1280160"/>
          </a:xfrm>
          <a:prstGeom prst="roundRect">
            <a:avLst>
              <a:gd name="adj" fmla="val 7143"/>
            </a:avLst>
          </a:prstGeom>
          <a:solidFill>
            <a:srgbClr val="EFF4EC"/>
          </a:solidFill>
          <a:ln w="19050">
            <a:solidFill>
              <a:srgbClr val="6A994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691640" y="2039112"/>
            <a:ext cx="182880" cy="182880"/>
          </a:xfrm>
          <a:prstGeom prst="ellipse">
            <a:avLst/>
          </a:prstGeom>
          <a:solidFill>
            <a:srgbClr val="6A994E"/>
          </a:solidFill>
          <a:ln/>
        </p:spPr>
      </p:sp>
      <p:sp>
        <p:nvSpPr>
          <p:cNvPr id="5" name="Text 3"/>
          <p:cNvSpPr/>
          <p:nvPr/>
        </p:nvSpPr>
        <p:spPr>
          <a:xfrm>
            <a:off x="612648" y="225856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72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sensors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40080" y="26060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types · 2–4 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944368" y="2514600"/>
            <a:ext cx="1975104" cy="0"/>
          </a:xfrm>
          <a:prstGeom prst="line">
            <a:avLst/>
          </a:prstGeom>
          <a:noFill/>
          <a:ln w="25400">
            <a:solidFill>
              <a:srgbClr val="6A994E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4937760" y="1874520"/>
            <a:ext cx="2286000" cy="1280160"/>
          </a:xfrm>
          <a:prstGeom prst="roundRect">
            <a:avLst>
              <a:gd name="adj" fmla="val 7143"/>
            </a:avLst>
          </a:prstGeom>
          <a:solidFill>
            <a:srgbClr val="EFF4EC"/>
          </a:solidFill>
          <a:ln w="19050">
            <a:solidFill>
              <a:srgbClr val="6A994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89320" y="2039112"/>
            <a:ext cx="182880" cy="182880"/>
          </a:xfrm>
          <a:prstGeom prst="ellipse">
            <a:avLst/>
          </a:prstGeom>
          <a:solidFill>
            <a:srgbClr val="6A994E"/>
          </a:solidFill>
          <a:ln/>
        </p:spPr>
      </p:sp>
      <p:sp>
        <p:nvSpPr>
          <p:cNvPr id="10" name="Text 8"/>
          <p:cNvSpPr/>
          <p:nvPr/>
        </p:nvSpPr>
        <p:spPr>
          <a:xfrm>
            <a:off x="4910328" y="225856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72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node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937760" y="26060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 windows · edge alerts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242048" y="2514600"/>
            <a:ext cx="1975104" cy="0"/>
          </a:xfrm>
          <a:prstGeom prst="line">
            <a:avLst/>
          </a:prstGeom>
          <a:noFill/>
          <a:ln w="25400">
            <a:solidFill>
              <a:srgbClr val="6A994E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9235440" y="1874520"/>
            <a:ext cx="2286000" cy="1280160"/>
          </a:xfrm>
          <a:prstGeom prst="roundRect">
            <a:avLst>
              <a:gd name="adj" fmla="val 7143"/>
            </a:avLst>
          </a:prstGeom>
          <a:solidFill>
            <a:srgbClr val="EFF4EC"/>
          </a:solidFill>
          <a:ln w="19050">
            <a:solidFill>
              <a:srgbClr val="1F513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287000" y="2039112"/>
            <a:ext cx="182880" cy="182880"/>
          </a:xfrm>
          <a:prstGeom prst="ellipse">
            <a:avLst/>
          </a:prstGeom>
          <a:solidFill>
            <a:srgbClr val="1F5130"/>
          </a:solidFill>
          <a:ln/>
        </p:spPr>
      </p:sp>
      <p:sp>
        <p:nvSpPr>
          <p:cNvPr id="15" name="Text 13"/>
          <p:cNvSpPr/>
          <p:nvPr/>
        </p:nvSpPr>
        <p:spPr>
          <a:xfrm>
            <a:off x="9208008" y="225856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72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SQS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9235440" y="26060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queue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9235440" y="3520440"/>
            <a:ext cx="2286000" cy="1280160"/>
          </a:xfrm>
          <a:prstGeom prst="roundRect">
            <a:avLst>
              <a:gd name="adj" fmla="val 7143"/>
            </a:avLst>
          </a:prstGeom>
          <a:solidFill>
            <a:srgbClr val="EFF4EC"/>
          </a:solidFill>
          <a:ln w="19050">
            <a:solidFill>
              <a:srgbClr val="1F513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287000" y="3685032"/>
            <a:ext cx="182880" cy="182880"/>
          </a:xfrm>
          <a:prstGeom prst="ellipse">
            <a:avLst/>
          </a:prstGeom>
          <a:solidFill>
            <a:srgbClr val="1F5130"/>
          </a:solidFill>
          <a:ln/>
        </p:spPr>
      </p:sp>
      <p:sp>
        <p:nvSpPr>
          <p:cNvPr id="19" name="Text 17"/>
          <p:cNvSpPr/>
          <p:nvPr/>
        </p:nvSpPr>
        <p:spPr>
          <a:xfrm>
            <a:off x="9208008" y="390448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72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Lambda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9235440" y="42519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python3.12 ingest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7242048" y="4160520"/>
            <a:ext cx="1975104" cy="0"/>
          </a:xfrm>
          <a:prstGeom prst="line">
            <a:avLst/>
          </a:prstGeom>
          <a:noFill/>
          <a:ln w="25400">
            <a:solidFill>
              <a:srgbClr val="6A994E"/>
            </a:solidFill>
            <a:prstDash val="solid"/>
            <a:headEnd type="triangle"/>
            <a:tailEnd type="oval"/>
          </a:ln>
        </p:spPr>
      </p:sp>
      <p:sp>
        <p:nvSpPr>
          <p:cNvPr id="22" name="Shape 20"/>
          <p:cNvSpPr/>
          <p:nvPr/>
        </p:nvSpPr>
        <p:spPr>
          <a:xfrm>
            <a:off x="4937760" y="3520440"/>
            <a:ext cx="2286000" cy="1280160"/>
          </a:xfrm>
          <a:prstGeom prst="roundRect">
            <a:avLst>
              <a:gd name="adj" fmla="val 7143"/>
            </a:avLst>
          </a:prstGeom>
          <a:solidFill>
            <a:srgbClr val="EFF4EC"/>
          </a:solidFill>
          <a:ln w="19050">
            <a:solidFill>
              <a:srgbClr val="1F513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9320" y="3685032"/>
            <a:ext cx="182880" cy="182880"/>
          </a:xfrm>
          <a:prstGeom prst="ellipse">
            <a:avLst/>
          </a:prstGeom>
          <a:solidFill>
            <a:srgbClr val="1F5130"/>
          </a:solidFill>
          <a:ln/>
        </p:spPr>
      </p:sp>
      <p:sp>
        <p:nvSpPr>
          <p:cNvPr id="24" name="Text 22"/>
          <p:cNvSpPr/>
          <p:nvPr/>
        </p:nvSpPr>
        <p:spPr>
          <a:xfrm>
            <a:off x="4910328" y="390448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72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4937760" y="42519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record / window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2944368" y="4160520"/>
            <a:ext cx="1975104" cy="0"/>
          </a:xfrm>
          <a:prstGeom prst="line">
            <a:avLst/>
          </a:prstGeom>
          <a:noFill/>
          <a:ln w="25400">
            <a:solidFill>
              <a:srgbClr val="6A994E"/>
            </a:solidFill>
            <a:prstDash val="solid"/>
            <a:headEnd type="triangle"/>
            <a:tailEnd type="oval"/>
          </a:ln>
        </p:spPr>
      </p:sp>
      <p:sp>
        <p:nvSpPr>
          <p:cNvPr id="27" name="Shape 25"/>
          <p:cNvSpPr/>
          <p:nvPr/>
        </p:nvSpPr>
        <p:spPr>
          <a:xfrm>
            <a:off x="640080" y="3520440"/>
            <a:ext cx="2286000" cy="1280160"/>
          </a:xfrm>
          <a:prstGeom prst="roundRect">
            <a:avLst>
              <a:gd name="adj" fmla="val 7143"/>
            </a:avLst>
          </a:prstGeom>
          <a:solidFill>
            <a:srgbClr val="EFF4EC"/>
          </a:solidFill>
          <a:ln w="19050">
            <a:solidFill>
              <a:srgbClr val="2E7D4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691640" y="3685032"/>
            <a:ext cx="182880" cy="182880"/>
          </a:xfrm>
          <a:prstGeom prst="ellipse">
            <a:avLst/>
          </a:prstGeom>
          <a:solidFill>
            <a:srgbClr val="2E7D46"/>
          </a:solidFill>
          <a:ln/>
        </p:spPr>
      </p:sp>
      <p:sp>
        <p:nvSpPr>
          <p:cNvPr id="29" name="Text 27"/>
          <p:cNvSpPr/>
          <p:nvPr/>
        </p:nvSpPr>
        <p:spPr>
          <a:xfrm>
            <a:off x="612648" y="390448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72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GW + S3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640080" y="42519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dashboard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10378440" y="3154680"/>
            <a:ext cx="0" cy="365760"/>
          </a:xfrm>
          <a:prstGeom prst="line">
            <a:avLst/>
          </a:prstGeom>
          <a:noFill/>
          <a:ln w="25400">
            <a:solidFill>
              <a:srgbClr val="6A994E"/>
            </a:solidFill>
            <a:prstDash val="solid"/>
            <a:tailEnd type="triangle"/>
          </a:ln>
        </p:spPr>
      </p:sp>
      <p:sp>
        <p:nvSpPr>
          <p:cNvPr id="32" name="Text 30"/>
          <p:cNvSpPr/>
          <p:nvPr/>
        </p:nvSpPr>
        <p:spPr>
          <a:xfrm>
            <a:off x="640080" y="52578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1F51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readings never leave the edge — only compact 10-second window summaries cross into the cloud.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3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Demo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58368" y="1143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E7D4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smart-agriculture-field-monitor.s3.us-east-1.amazonaws.com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3502152" cy="3657600"/>
          </a:xfrm>
          <a:prstGeom prst="roundRect">
            <a:avLst>
              <a:gd name="adj" fmla="val 2611"/>
            </a:avLst>
          </a:prstGeom>
          <a:solidFill>
            <a:srgbClr val="EFF4EC"/>
          </a:solidFill>
          <a:ln w="15240">
            <a:solidFill>
              <a:srgbClr val="2E7D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194560"/>
            <a:ext cx="640080" cy="640080"/>
          </a:xfrm>
          <a:prstGeom prst="ellipse">
            <a:avLst/>
          </a:prstGeom>
          <a:solidFill>
            <a:srgbClr val="1F5130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945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914400" y="3017520"/>
            <a:ext cx="29535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2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fields streaming five signals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14400" y="3794760"/>
            <a:ext cx="295351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Soil moisture, temperature, humidity, light and rainfall live on Field-1 and Field-2, freshest reading about two seconds old.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416552" y="1874520"/>
            <a:ext cx="3502152" cy="3657600"/>
          </a:xfrm>
          <a:prstGeom prst="roundRect">
            <a:avLst>
              <a:gd name="adj" fmla="val 2611"/>
            </a:avLst>
          </a:prstGeom>
          <a:solidFill>
            <a:srgbClr val="EFF4EC"/>
          </a:solidFill>
          <a:ln w="15240">
            <a:solidFill>
              <a:srgbClr val="2E7D4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90872" y="2194560"/>
            <a:ext cx="640080" cy="640080"/>
          </a:xfrm>
          <a:prstGeom prst="ellipse">
            <a:avLst/>
          </a:prstGeom>
          <a:solidFill>
            <a:srgbClr val="1F5130"/>
          </a:solidFill>
          <a:ln/>
        </p:spPr>
      </p:sp>
      <p:sp>
        <p:nvSpPr>
          <p:cNvPr id="11" name="Text 9"/>
          <p:cNvSpPr/>
          <p:nvPr/>
        </p:nvSpPr>
        <p:spPr>
          <a:xfrm>
            <a:off x="4690872" y="21945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4690872" y="3017520"/>
            <a:ext cx="29535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2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charts with the alert band drawn in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690872" y="3794760"/>
            <a:ext cx="295351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Soil-moisture, temperature and humidity charts show each field's live series against its threshold band, so you can see how close it is to an alert.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93024" y="1874520"/>
            <a:ext cx="3502152" cy="3657600"/>
          </a:xfrm>
          <a:prstGeom prst="roundRect">
            <a:avLst>
              <a:gd name="adj" fmla="val 2611"/>
            </a:avLst>
          </a:prstGeom>
          <a:solidFill>
            <a:srgbClr val="EFF4EC"/>
          </a:solidFill>
          <a:ln w="15240">
            <a:solidFill>
              <a:srgbClr val="2E7D4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67344" y="2194560"/>
            <a:ext cx="640080" cy="640080"/>
          </a:xfrm>
          <a:prstGeom prst="ellipse">
            <a:avLst/>
          </a:prstGeom>
          <a:solidFill>
            <a:srgbClr val="1F5130"/>
          </a:solidFill>
          <a:ln/>
        </p:spPr>
      </p:sp>
      <p:sp>
        <p:nvSpPr>
          <p:cNvPr id="16" name="Text 14"/>
          <p:cNvSpPr/>
          <p:nvPr/>
        </p:nvSpPr>
        <p:spPr>
          <a:xfrm>
            <a:off x="8467344" y="21945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8467344" y="3017520"/>
            <a:ext cx="29535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2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alert fires the moment a rule trips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467344" y="3794760"/>
            <a:ext cx="295351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a field's soil moisture below 20% and the irrigation-needed banner appears within one ten-second window.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A99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to the live dashboard here — backup video ready.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62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943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Hardest Part — a defect the emulator hid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0A8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200400" y="1920240"/>
            <a:ext cx="0" cy="1737360"/>
          </a:xfrm>
          <a:prstGeom prst="line">
            <a:avLst/>
          </a:prstGeom>
          <a:noFill/>
          <a:ln w="25400">
            <a:solidFill>
              <a:srgbClr val="E0A8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474720" y="1920240"/>
            <a:ext cx="795528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CFE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dashboard totalled its stored records with a single DynamoDB scan, which silently caps at ~1 MB. All 39 tests and the full emulator run passed, so the undercount only surfaced on the real AWS account — no error, just a smaller number.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731520" y="41148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6A99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Solution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3200400" y="4069080"/>
            <a:ext cx="0" cy="1737360"/>
          </a:xfrm>
          <a:prstGeom prst="line">
            <a:avLst/>
          </a:prstGeom>
          <a:noFill/>
          <a:ln w="25400">
            <a:solidFill>
              <a:srgbClr val="6A99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74720" y="4069080"/>
            <a:ext cx="795528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CFE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count now follows DynamoDB's pagination cursor and sums every page. Locked in by a three-page test (500 + 500 + 214 = 1,214) and re-verified against the live deployed table.</a:t>
            </a:r>
            <a:endParaRPr lang="en-US" sz="14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2026-07-24T07:00:28Z</dcterms:created>
  <dcterms:modified xsi:type="dcterms:W3CDTF">2026-07-24T07:00:28Z</dcterms:modified>
</cp:coreProperties>
</file>