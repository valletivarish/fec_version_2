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62C38"/>
        </a:solidFill>
      </p:bgPr>
    </p:bg>
    <p:spTree>
      <p:nvGrpSpPr>
        <p:cNvPr id="1" name=""/>
        <p:cNvGrpSpPr/>
        <p:nvPr/>
      </p:nvGrpSpPr>
      <p:grpSpPr>
        <a:xfrm>
          <a:off x="0" y="0"/>
          <a:ext cx="0" cy="0"/>
          <a:chOff x="0" y="0"/>
          <a:chExt cx="0" cy="0"/>
        </a:xfrm>
      </p:grpSpPr>
      <p:sp>
        <p:nvSpPr>
          <p:cNvPr id="2" name="Shape 0"/>
          <p:cNvSpPr/>
          <p:nvPr/>
        </p:nvSpPr>
        <p:spPr>
          <a:xfrm>
            <a:off x="0" y="0"/>
            <a:ext cx="1463040" cy="6858000"/>
          </a:xfrm>
          <a:prstGeom prst="rect">
            <a:avLst/>
          </a:prstGeom>
          <a:solidFill>
            <a:srgbClr val="FF8A6B"/>
          </a:solidFill>
          <a:ln/>
        </p:spPr>
      </p:sp>
      <p:sp>
        <p:nvSpPr>
          <p:cNvPr id="3" name="Text 1"/>
          <p:cNvSpPr/>
          <p:nvPr/>
        </p:nvSpPr>
        <p:spPr>
          <a:xfrm>
            <a:off x="1764792" y="1645920"/>
            <a:ext cx="9677095" cy="1645920"/>
          </a:xfrm>
          <a:prstGeom prst="rect">
            <a:avLst/>
          </a:prstGeom>
          <a:noFill/>
          <a:ln/>
        </p:spPr>
        <p:txBody>
          <a:bodyPr wrap="square" rtlCol="0" anchor="t"/>
          <a:lstStyle/>
          <a:p>
            <a:pPr indent="0" marL="0">
              <a:lnSpc>
                <a:spcPct val="98000"/>
              </a:lnSpc>
              <a:buNone/>
            </a:pPr>
            <a:r>
              <a:rPr lang="en-US" sz="3800" b="1" dirty="0">
                <a:solidFill>
                  <a:srgbClr val="EEF2F6"/>
                </a:solidFill>
                <a:latin typeface="Cambria" pitchFamily="34" charset="0"/>
                <a:ea typeface="Cambria" pitchFamily="34" charset="-122"/>
                <a:cs typeface="Cambria" pitchFamily="34" charset="-120"/>
              </a:rPr>
              <a:t>Smart Agriculture Field Monitoring</a:t>
            </a:r>
            <a:endParaRPr lang="en-US" sz="3800" dirty="0"/>
          </a:p>
        </p:txBody>
      </p:sp>
      <p:sp>
        <p:nvSpPr>
          <p:cNvPr id="4" name="Text 2"/>
          <p:cNvSpPr/>
          <p:nvPr/>
        </p:nvSpPr>
        <p:spPr>
          <a:xfrm>
            <a:off x="1783080" y="3337560"/>
            <a:ext cx="9677095" cy="365760"/>
          </a:xfrm>
          <a:prstGeom prst="rect">
            <a:avLst/>
          </a:prstGeom>
          <a:noFill/>
          <a:ln/>
        </p:spPr>
        <p:txBody>
          <a:bodyPr wrap="square" rtlCol="0" anchor="ctr"/>
          <a:lstStyle/>
          <a:p>
            <a:pPr indent="0" marL="0">
              <a:buNone/>
            </a:pPr>
            <a:r>
              <a:rPr lang="en-US" sz="1450" dirty="0">
                <a:solidFill>
                  <a:srgbClr val="8B98A6"/>
                </a:solidFill>
                <a:latin typeface="Calibri" pitchFamily="34" charset="0"/>
                <a:ea typeface="Calibri" pitchFamily="34" charset="-122"/>
                <a:cs typeface="Calibri" pitchFamily="34" charset="-120"/>
              </a:rPr>
              <a:t>Kondragunta Lakshmi Chaitanya   ·   X25171216</a:t>
            </a:r>
            <a:endParaRPr lang="en-US" sz="1450" dirty="0"/>
          </a:p>
        </p:txBody>
      </p:sp>
      <p:sp>
        <p:nvSpPr>
          <p:cNvPr id="5" name="Text 3"/>
          <p:cNvSpPr/>
          <p:nvPr/>
        </p:nvSpPr>
        <p:spPr>
          <a:xfrm>
            <a:off x="1783080" y="3931920"/>
            <a:ext cx="8138160" cy="1325880"/>
          </a:xfrm>
          <a:prstGeom prst="rect">
            <a:avLst/>
          </a:prstGeom>
          <a:noFill/>
          <a:ln/>
        </p:spPr>
        <p:txBody>
          <a:bodyPr wrap="square" rtlCol="0" anchor="t"/>
          <a:lstStyle/>
          <a:p>
            <a:pPr indent="0" marL="0">
              <a:lnSpc>
                <a:spcPct val="130000"/>
              </a:lnSpc>
              <a:buNone/>
            </a:pPr>
            <a:r>
              <a:rPr lang="en-US" sz="1400" dirty="0">
                <a:solidFill>
                  <a:srgbClr val="EEF2F6"/>
                </a:solidFill>
                <a:latin typeface="Calibri" pitchFamily="34" charset="0"/>
                <a:ea typeface="Calibri" pitchFamily="34" charset="-122"/>
                <a:cs typeface="Calibri" pitchFamily="34" charset="-120"/>
              </a:rPr>
              <a:t>Fixed-schedule field checks reveal a dry root zone, an overnight frost, or a fungal-risk humidity spell only after the damage is done.</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262C38"/>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FF8A6B"/>
          </a:solidFill>
          <a:ln/>
        </p:spPr>
      </p:sp>
      <p:sp>
        <p:nvSpPr>
          <p:cNvPr id="3" name="Text 1"/>
          <p:cNvSpPr/>
          <p:nvPr/>
        </p:nvSpPr>
        <p:spPr>
          <a:xfrm>
            <a:off x="868680" y="731520"/>
            <a:ext cx="914400" cy="640080"/>
          </a:xfrm>
          <a:prstGeom prst="rect">
            <a:avLst/>
          </a:prstGeom>
          <a:noFill/>
          <a:ln/>
        </p:spPr>
        <p:txBody>
          <a:bodyPr wrap="square" lIns="0" tIns="0" rIns="0" bIns="0" rtlCol="0" anchor="ctr"/>
          <a:lstStyle/>
          <a:p>
            <a:pPr indent="0" marL="0">
              <a:buNone/>
            </a:pPr>
            <a:r>
              <a:rPr lang="en-US" sz="3000" b="1" dirty="0">
                <a:solidFill>
                  <a:srgbClr val="FF8A6B"/>
                </a:solidFill>
                <a:latin typeface="Cambria" pitchFamily="34" charset="0"/>
                <a:ea typeface="Cambria" pitchFamily="34" charset="-122"/>
                <a:cs typeface="Cambria" pitchFamily="34" charset="-120"/>
              </a:rPr>
              <a:t>01</a:t>
            </a:r>
            <a:endParaRPr lang="en-US" sz="3000" dirty="0"/>
          </a:p>
        </p:txBody>
      </p:sp>
      <p:sp>
        <p:nvSpPr>
          <p:cNvPr id="4" name="Text 2"/>
          <p:cNvSpPr/>
          <p:nvPr/>
        </p:nvSpPr>
        <p:spPr>
          <a:xfrm>
            <a:off x="1737360" y="905256"/>
            <a:ext cx="9722815" cy="274320"/>
          </a:xfrm>
          <a:prstGeom prst="rect">
            <a:avLst/>
          </a:prstGeom>
          <a:noFill/>
          <a:ln/>
        </p:spPr>
        <p:txBody>
          <a:bodyPr wrap="square" lIns="0" tIns="0" rIns="0" bIns="0" rtlCol="0" anchor="ctr"/>
          <a:lstStyle/>
          <a:p>
            <a:pPr indent="0" marL="0">
              <a:buNone/>
            </a:pPr>
            <a:r>
              <a:rPr lang="en-US" sz="1100" b="1" spc="200" kern="0" dirty="0">
                <a:solidFill>
                  <a:srgbClr val="8B98A6"/>
                </a:solidFill>
                <a:latin typeface="Calibri" pitchFamily="34" charset="0"/>
                <a:ea typeface="Calibri" pitchFamily="34" charset="-122"/>
                <a:cs typeface="Calibri" pitchFamily="34" charset="-120"/>
              </a:rPr>
              <a:t>ARCHITECTURE</a:t>
            </a:r>
            <a:endParaRPr lang="en-US" sz="1100" dirty="0"/>
          </a:p>
        </p:txBody>
      </p:sp>
      <p:sp>
        <p:nvSpPr>
          <p:cNvPr id="5" name="Text 3"/>
          <p:cNvSpPr/>
          <p:nvPr/>
        </p:nvSpPr>
        <p:spPr>
          <a:xfrm>
            <a:off x="868680" y="1380744"/>
            <a:ext cx="10591495" cy="640080"/>
          </a:xfrm>
          <a:prstGeom prst="rect">
            <a:avLst/>
          </a:prstGeom>
          <a:noFill/>
          <a:ln/>
        </p:spPr>
        <p:txBody>
          <a:bodyPr wrap="square" lIns="0" tIns="0" rIns="0" bIns="0" rtlCol="0" anchor="ctr"/>
          <a:lstStyle/>
          <a:p>
            <a:pPr indent="0" marL="0">
              <a:buNone/>
            </a:pPr>
            <a:r>
              <a:rPr lang="en-US" sz="2300" b="1" dirty="0">
                <a:solidFill>
                  <a:srgbClr val="EEF2F6"/>
                </a:solidFill>
                <a:latin typeface="Cambria" pitchFamily="34" charset="0"/>
                <a:ea typeface="Cambria" pitchFamily="34" charset="-122"/>
                <a:cs typeface="Cambria" pitchFamily="34" charset="-120"/>
              </a:rPr>
              <a:t>What I Built — Edge to Cloud</a:t>
            </a:r>
            <a:endParaRPr lang="en-US" sz="2300" dirty="0"/>
          </a:p>
        </p:txBody>
      </p:sp>
      <p:sp>
        <p:nvSpPr>
          <p:cNvPr id="6" name="Shape 4"/>
          <p:cNvSpPr/>
          <p:nvPr/>
        </p:nvSpPr>
        <p:spPr>
          <a:xfrm>
            <a:off x="868680" y="2971800"/>
            <a:ext cx="1384249" cy="1965960"/>
          </a:xfrm>
          <a:prstGeom prst="roundRect">
            <a:avLst/>
          </a:prstGeom>
          <a:solidFill>
            <a:srgbClr val="FF8A6B"/>
          </a:solidFill>
          <a:ln w="12700">
            <a:solidFill>
              <a:srgbClr val="FF8A6B"/>
            </a:solidFill>
            <a:prstDash val="solid"/>
          </a:ln>
        </p:spPr>
      </p:sp>
      <p:sp>
        <p:nvSpPr>
          <p:cNvPr id="7" name="Text 5"/>
          <p:cNvSpPr/>
          <p:nvPr/>
        </p:nvSpPr>
        <p:spPr>
          <a:xfrm>
            <a:off x="1014984" y="3154680"/>
            <a:ext cx="1091641" cy="320040"/>
          </a:xfrm>
          <a:prstGeom prst="rect">
            <a:avLst/>
          </a:prstGeom>
          <a:noFill/>
          <a:ln/>
        </p:spPr>
        <p:txBody>
          <a:bodyPr wrap="square" lIns="0" tIns="0" rIns="0" bIns="0" rtlCol="0" anchor="ctr"/>
          <a:lstStyle/>
          <a:p>
            <a:pPr indent="0" marL="0">
              <a:buNone/>
            </a:pPr>
            <a:r>
              <a:rPr lang="en-US" sz="1100" dirty="0">
                <a:solidFill>
                  <a:srgbClr val="111111"/>
                </a:solidFill>
                <a:latin typeface="Consolas" pitchFamily="34" charset="0"/>
                <a:ea typeface="Consolas" pitchFamily="34" charset="-122"/>
                <a:cs typeface="Consolas" pitchFamily="34" charset="-120"/>
              </a:rPr>
              <a:t>01</a:t>
            </a:r>
            <a:endParaRPr lang="en-US" sz="1100" dirty="0"/>
          </a:p>
        </p:txBody>
      </p:sp>
      <p:sp>
        <p:nvSpPr>
          <p:cNvPr id="8" name="Text 6"/>
          <p:cNvSpPr/>
          <p:nvPr/>
        </p:nvSpPr>
        <p:spPr>
          <a:xfrm>
            <a:off x="1014984" y="3593592"/>
            <a:ext cx="1091641" cy="868680"/>
          </a:xfrm>
          <a:prstGeom prst="rect">
            <a:avLst/>
          </a:prstGeom>
          <a:noFill/>
          <a:ln/>
        </p:spPr>
        <p:txBody>
          <a:bodyPr wrap="square" lIns="0" tIns="0" rIns="0" bIns="0" rtlCol="0" anchor="t"/>
          <a:lstStyle/>
          <a:p>
            <a:pPr indent="0" marL="0">
              <a:lnSpc>
                <a:spcPct val="96000"/>
              </a:lnSpc>
              <a:buNone/>
            </a:pPr>
            <a:r>
              <a:rPr lang="en-US" sz="1300" b="1" dirty="0">
                <a:solidFill>
                  <a:srgbClr val="111111"/>
                </a:solidFill>
                <a:latin typeface="Cambria" pitchFamily="34" charset="0"/>
                <a:ea typeface="Cambria" pitchFamily="34" charset="-122"/>
                <a:cs typeface="Cambria" pitchFamily="34" charset="-120"/>
              </a:rPr>
              <a:t>Field sensors</a:t>
            </a:r>
            <a:endParaRPr lang="en-US" sz="1300" dirty="0"/>
          </a:p>
        </p:txBody>
      </p:sp>
      <p:sp>
        <p:nvSpPr>
          <p:cNvPr id="9" name="Text 7"/>
          <p:cNvSpPr/>
          <p:nvPr/>
        </p:nvSpPr>
        <p:spPr>
          <a:xfrm>
            <a:off x="1014984" y="4453128"/>
            <a:ext cx="1091641" cy="365760"/>
          </a:xfrm>
          <a:prstGeom prst="rect">
            <a:avLst/>
          </a:prstGeom>
          <a:noFill/>
          <a:ln/>
        </p:spPr>
        <p:txBody>
          <a:bodyPr wrap="square" lIns="0" tIns="0" rIns="0" bIns="0" rtlCol="0" anchor="ctr"/>
          <a:lstStyle/>
          <a:p>
            <a:pPr indent="0" marL="0">
              <a:buNone/>
            </a:pPr>
            <a:r>
              <a:rPr lang="en-US" sz="900" dirty="0">
                <a:solidFill>
                  <a:srgbClr val="111111"/>
                </a:solidFill>
                <a:latin typeface="Calibri" pitchFamily="34" charset="0"/>
                <a:ea typeface="Calibri" pitchFamily="34" charset="-122"/>
                <a:cs typeface="Calibri" pitchFamily="34" charset="-120"/>
              </a:rPr>
              <a:t>5 types · 2–4 s</a:t>
            </a:r>
            <a:endParaRPr lang="en-US" sz="900" dirty="0"/>
          </a:p>
        </p:txBody>
      </p:sp>
      <p:sp>
        <p:nvSpPr>
          <p:cNvPr id="10" name="Shape 8"/>
          <p:cNvSpPr/>
          <p:nvPr/>
        </p:nvSpPr>
        <p:spPr>
          <a:xfrm>
            <a:off x="2326081" y="3845052"/>
            <a:ext cx="310896" cy="219456"/>
          </a:xfrm>
          <a:prstGeom prst="rightArrow">
            <a:avLst/>
          </a:prstGeom>
          <a:solidFill>
            <a:srgbClr val="8B98A6"/>
          </a:solidFill>
          <a:ln/>
        </p:spPr>
      </p:sp>
      <p:sp>
        <p:nvSpPr>
          <p:cNvPr id="11" name="Shape 9"/>
          <p:cNvSpPr/>
          <p:nvPr/>
        </p:nvSpPr>
        <p:spPr>
          <a:xfrm>
            <a:off x="2710129" y="2971800"/>
            <a:ext cx="1384249" cy="1965960"/>
          </a:xfrm>
          <a:prstGeom prst="roundRect">
            <a:avLst/>
          </a:prstGeom>
          <a:solidFill>
            <a:srgbClr val="FF8A6B"/>
          </a:solidFill>
          <a:ln w="12700">
            <a:solidFill>
              <a:srgbClr val="FF8A6B"/>
            </a:solidFill>
            <a:prstDash val="solid"/>
          </a:ln>
        </p:spPr>
      </p:sp>
      <p:sp>
        <p:nvSpPr>
          <p:cNvPr id="12" name="Text 10"/>
          <p:cNvSpPr/>
          <p:nvPr/>
        </p:nvSpPr>
        <p:spPr>
          <a:xfrm>
            <a:off x="2856433" y="3154680"/>
            <a:ext cx="1091641" cy="320040"/>
          </a:xfrm>
          <a:prstGeom prst="rect">
            <a:avLst/>
          </a:prstGeom>
          <a:noFill/>
          <a:ln/>
        </p:spPr>
        <p:txBody>
          <a:bodyPr wrap="square" lIns="0" tIns="0" rIns="0" bIns="0" rtlCol="0" anchor="ctr"/>
          <a:lstStyle/>
          <a:p>
            <a:pPr indent="0" marL="0">
              <a:buNone/>
            </a:pPr>
            <a:r>
              <a:rPr lang="en-US" sz="1100" dirty="0">
                <a:solidFill>
                  <a:srgbClr val="111111"/>
                </a:solidFill>
                <a:latin typeface="Consolas" pitchFamily="34" charset="0"/>
                <a:ea typeface="Consolas" pitchFamily="34" charset="-122"/>
                <a:cs typeface="Consolas" pitchFamily="34" charset="-120"/>
              </a:rPr>
              <a:t>02</a:t>
            </a:r>
            <a:endParaRPr lang="en-US" sz="1100" dirty="0"/>
          </a:p>
        </p:txBody>
      </p:sp>
      <p:sp>
        <p:nvSpPr>
          <p:cNvPr id="13" name="Text 11"/>
          <p:cNvSpPr/>
          <p:nvPr/>
        </p:nvSpPr>
        <p:spPr>
          <a:xfrm>
            <a:off x="2856433" y="3593592"/>
            <a:ext cx="1091641" cy="868680"/>
          </a:xfrm>
          <a:prstGeom prst="rect">
            <a:avLst/>
          </a:prstGeom>
          <a:noFill/>
          <a:ln/>
        </p:spPr>
        <p:txBody>
          <a:bodyPr wrap="square" lIns="0" tIns="0" rIns="0" bIns="0" rtlCol="0" anchor="t"/>
          <a:lstStyle/>
          <a:p>
            <a:pPr indent="0" marL="0">
              <a:lnSpc>
                <a:spcPct val="96000"/>
              </a:lnSpc>
              <a:buNone/>
            </a:pPr>
            <a:r>
              <a:rPr lang="en-US" sz="1300" b="1" dirty="0">
                <a:solidFill>
                  <a:srgbClr val="111111"/>
                </a:solidFill>
                <a:latin typeface="Cambria" pitchFamily="34" charset="0"/>
                <a:ea typeface="Cambria" pitchFamily="34" charset="-122"/>
                <a:cs typeface="Cambria" pitchFamily="34" charset="-120"/>
              </a:rPr>
              <a:t>Fog node</a:t>
            </a:r>
            <a:endParaRPr lang="en-US" sz="1300" dirty="0"/>
          </a:p>
        </p:txBody>
      </p:sp>
      <p:sp>
        <p:nvSpPr>
          <p:cNvPr id="14" name="Text 12"/>
          <p:cNvSpPr/>
          <p:nvPr/>
        </p:nvSpPr>
        <p:spPr>
          <a:xfrm>
            <a:off x="2856433" y="4453128"/>
            <a:ext cx="1091641" cy="365760"/>
          </a:xfrm>
          <a:prstGeom prst="rect">
            <a:avLst/>
          </a:prstGeom>
          <a:noFill/>
          <a:ln/>
        </p:spPr>
        <p:txBody>
          <a:bodyPr wrap="square" lIns="0" tIns="0" rIns="0" bIns="0" rtlCol="0" anchor="ctr"/>
          <a:lstStyle/>
          <a:p>
            <a:pPr indent="0" marL="0">
              <a:buNone/>
            </a:pPr>
            <a:r>
              <a:rPr lang="en-US" sz="900" dirty="0">
                <a:solidFill>
                  <a:srgbClr val="111111"/>
                </a:solidFill>
                <a:latin typeface="Calibri" pitchFamily="34" charset="0"/>
                <a:ea typeface="Calibri" pitchFamily="34" charset="-122"/>
                <a:cs typeface="Calibri" pitchFamily="34" charset="-120"/>
              </a:rPr>
              <a:t>10 s windows · edge alerts</a:t>
            </a:r>
            <a:endParaRPr lang="en-US" sz="900" dirty="0"/>
          </a:p>
        </p:txBody>
      </p:sp>
      <p:sp>
        <p:nvSpPr>
          <p:cNvPr id="15" name="Shape 13"/>
          <p:cNvSpPr/>
          <p:nvPr/>
        </p:nvSpPr>
        <p:spPr>
          <a:xfrm>
            <a:off x="4167530" y="3845052"/>
            <a:ext cx="310896" cy="219456"/>
          </a:xfrm>
          <a:prstGeom prst="rightArrow">
            <a:avLst/>
          </a:prstGeom>
          <a:solidFill>
            <a:srgbClr val="8B98A6"/>
          </a:solidFill>
          <a:ln/>
        </p:spPr>
      </p:sp>
      <p:sp>
        <p:nvSpPr>
          <p:cNvPr id="16" name="Shape 14"/>
          <p:cNvSpPr/>
          <p:nvPr/>
        </p:nvSpPr>
        <p:spPr>
          <a:xfrm>
            <a:off x="4551578" y="2971800"/>
            <a:ext cx="1384249" cy="1965960"/>
          </a:xfrm>
          <a:prstGeom prst="roundRect">
            <a:avLst/>
          </a:prstGeom>
          <a:solidFill>
            <a:srgbClr val="222733"/>
          </a:solidFill>
          <a:ln w="12700">
            <a:solidFill>
              <a:srgbClr val="363B47"/>
            </a:solidFill>
            <a:prstDash val="solid"/>
          </a:ln>
        </p:spPr>
      </p:sp>
      <p:sp>
        <p:nvSpPr>
          <p:cNvPr id="17" name="Text 15"/>
          <p:cNvSpPr/>
          <p:nvPr/>
        </p:nvSpPr>
        <p:spPr>
          <a:xfrm>
            <a:off x="4697882" y="3154680"/>
            <a:ext cx="1091641" cy="320040"/>
          </a:xfrm>
          <a:prstGeom prst="rect">
            <a:avLst/>
          </a:prstGeom>
          <a:noFill/>
          <a:ln/>
        </p:spPr>
        <p:txBody>
          <a:bodyPr wrap="square" lIns="0" tIns="0" rIns="0" bIns="0" rtlCol="0" anchor="ctr"/>
          <a:lstStyle/>
          <a:p>
            <a:pPr indent="0" marL="0">
              <a:buNone/>
            </a:pPr>
            <a:r>
              <a:rPr lang="en-US" sz="1100" dirty="0">
                <a:solidFill>
                  <a:srgbClr val="FF8A6B"/>
                </a:solidFill>
                <a:latin typeface="Consolas" pitchFamily="34" charset="0"/>
                <a:ea typeface="Consolas" pitchFamily="34" charset="-122"/>
                <a:cs typeface="Consolas" pitchFamily="34" charset="-120"/>
              </a:rPr>
              <a:t>03</a:t>
            </a:r>
            <a:endParaRPr lang="en-US" sz="1100" dirty="0"/>
          </a:p>
        </p:txBody>
      </p:sp>
      <p:sp>
        <p:nvSpPr>
          <p:cNvPr id="18" name="Text 16"/>
          <p:cNvSpPr/>
          <p:nvPr/>
        </p:nvSpPr>
        <p:spPr>
          <a:xfrm>
            <a:off x="4697882" y="3593592"/>
            <a:ext cx="1091641" cy="868680"/>
          </a:xfrm>
          <a:prstGeom prst="rect">
            <a:avLst/>
          </a:prstGeom>
          <a:noFill/>
          <a:ln/>
        </p:spPr>
        <p:txBody>
          <a:bodyPr wrap="square" lIns="0" tIns="0" rIns="0" bIns="0" rtlCol="0" anchor="t"/>
          <a:lstStyle/>
          <a:p>
            <a:pPr indent="0" marL="0">
              <a:lnSpc>
                <a:spcPct val="96000"/>
              </a:lnSpc>
              <a:buNone/>
            </a:pPr>
            <a:r>
              <a:rPr lang="en-US" sz="1300" b="1" dirty="0">
                <a:solidFill>
                  <a:srgbClr val="EEF2F6"/>
                </a:solidFill>
                <a:latin typeface="Cambria" pitchFamily="34" charset="0"/>
                <a:ea typeface="Cambria" pitchFamily="34" charset="-122"/>
                <a:cs typeface="Cambria" pitchFamily="34" charset="-120"/>
              </a:rPr>
              <a:t>Amazon SQS</a:t>
            </a:r>
            <a:endParaRPr lang="en-US" sz="1300" dirty="0"/>
          </a:p>
        </p:txBody>
      </p:sp>
      <p:sp>
        <p:nvSpPr>
          <p:cNvPr id="19" name="Text 17"/>
          <p:cNvSpPr/>
          <p:nvPr/>
        </p:nvSpPr>
        <p:spPr>
          <a:xfrm>
            <a:off x="4697882" y="4453128"/>
            <a:ext cx="1091641" cy="365760"/>
          </a:xfrm>
          <a:prstGeom prst="rect">
            <a:avLst/>
          </a:prstGeom>
          <a:noFill/>
          <a:ln/>
        </p:spPr>
        <p:txBody>
          <a:bodyPr wrap="square" lIns="0" tIns="0" rIns="0" bIns="0" rtlCol="0" anchor="ctr"/>
          <a:lstStyle/>
          <a:p>
            <a:pPr indent="0" marL="0">
              <a:buNone/>
            </a:pPr>
            <a:r>
              <a:rPr lang="en-US" sz="900" dirty="0">
                <a:solidFill>
                  <a:srgbClr val="8B98A6"/>
                </a:solidFill>
                <a:latin typeface="Calibri" pitchFamily="34" charset="0"/>
                <a:ea typeface="Calibri" pitchFamily="34" charset="-122"/>
                <a:cs typeface="Calibri" pitchFamily="34" charset="-120"/>
              </a:rPr>
              <a:t>managed queue</a:t>
            </a:r>
            <a:endParaRPr lang="en-US" sz="900" dirty="0"/>
          </a:p>
        </p:txBody>
      </p:sp>
      <p:sp>
        <p:nvSpPr>
          <p:cNvPr id="20" name="Shape 18"/>
          <p:cNvSpPr/>
          <p:nvPr/>
        </p:nvSpPr>
        <p:spPr>
          <a:xfrm>
            <a:off x="6008980" y="3845052"/>
            <a:ext cx="310896" cy="219456"/>
          </a:xfrm>
          <a:prstGeom prst="rightArrow">
            <a:avLst/>
          </a:prstGeom>
          <a:solidFill>
            <a:srgbClr val="8B98A6"/>
          </a:solidFill>
          <a:ln/>
        </p:spPr>
      </p:sp>
      <p:sp>
        <p:nvSpPr>
          <p:cNvPr id="21" name="Shape 19"/>
          <p:cNvSpPr/>
          <p:nvPr/>
        </p:nvSpPr>
        <p:spPr>
          <a:xfrm>
            <a:off x="6393028" y="2971800"/>
            <a:ext cx="1384249" cy="1965960"/>
          </a:xfrm>
          <a:prstGeom prst="roundRect">
            <a:avLst/>
          </a:prstGeom>
          <a:solidFill>
            <a:srgbClr val="222733"/>
          </a:solidFill>
          <a:ln w="12700">
            <a:solidFill>
              <a:srgbClr val="363B47"/>
            </a:solidFill>
            <a:prstDash val="solid"/>
          </a:ln>
        </p:spPr>
      </p:sp>
      <p:sp>
        <p:nvSpPr>
          <p:cNvPr id="22" name="Text 20"/>
          <p:cNvSpPr/>
          <p:nvPr/>
        </p:nvSpPr>
        <p:spPr>
          <a:xfrm>
            <a:off x="6539332" y="3154680"/>
            <a:ext cx="1091641" cy="320040"/>
          </a:xfrm>
          <a:prstGeom prst="rect">
            <a:avLst/>
          </a:prstGeom>
          <a:noFill/>
          <a:ln/>
        </p:spPr>
        <p:txBody>
          <a:bodyPr wrap="square" lIns="0" tIns="0" rIns="0" bIns="0" rtlCol="0" anchor="ctr"/>
          <a:lstStyle/>
          <a:p>
            <a:pPr indent="0" marL="0">
              <a:buNone/>
            </a:pPr>
            <a:r>
              <a:rPr lang="en-US" sz="1100" dirty="0">
                <a:solidFill>
                  <a:srgbClr val="FF8A6B"/>
                </a:solidFill>
                <a:latin typeface="Consolas" pitchFamily="34" charset="0"/>
                <a:ea typeface="Consolas" pitchFamily="34" charset="-122"/>
                <a:cs typeface="Consolas" pitchFamily="34" charset="-120"/>
              </a:rPr>
              <a:t>04</a:t>
            </a:r>
            <a:endParaRPr lang="en-US" sz="1100" dirty="0"/>
          </a:p>
        </p:txBody>
      </p:sp>
      <p:sp>
        <p:nvSpPr>
          <p:cNvPr id="23" name="Text 21"/>
          <p:cNvSpPr/>
          <p:nvPr/>
        </p:nvSpPr>
        <p:spPr>
          <a:xfrm>
            <a:off x="6539332" y="3593592"/>
            <a:ext cx="1091641" cy="868680"/>
          </a:xfrm>
          <a:prstGeom prst="rect">
            <a:avLst/>
          </a:prstGeom>
          <a:noFill/>
          <a:ln/>
        </p:spPr>
        <p:txBody>
          <a:bodyPr wrap="square" lIns="0" tIns="0" rIns="0" bIns="0" rtlCol="0" anchor="t"/>
          <a:lstStyle/>
          <a:p>
            <a:pPr indent="0" marL="0">
              <a:lnSpc>
                <a:spcPct val="96000"/>
              </a:lnSpc>
              <a:buNone/>
            </a:pPr>
            <a:r>
              <a:rPr lang="en-US" sz="1300" b="1" dirty="0">
                <a:solidFill>
                  <a:srgbClr val="EEF2F6"/>
                </a:solidFill>
                <a:latin typeface="Cambria" pitchFamily="34" charset="0"/>
                <a:ea typeface="Cambria" pitchFamily="34" charset="-122"/>
                <a:cs typeface="Cambria" pitchFamily="34" charset="-120"/>
              </a:rPr>
              <a:t>AWS Lambda</a:t>
            </a:r>
            <a:endParaRPr lang="en-US" sz="1300" dirty="0"/>
          </a:p>
        </p:txBody>
      </p:sp>
      <p:sp>
        <p:nvSpPr>
          <p:cNvPr id="24" name="Text 22"/>
          <p:cNvSpPr/>
          <p:nvPr/>
        </p:nvSpPr>
        <p:spPr>
          <a:xfrm>
            <a:off x="6539332" y="4453128"/>
            <a:ext cx="1091641" cy="365760"/>
          </a:xfrm>
          <a:prstGeom prst="rect">
            <a:avLst/>
          </a:prstGeom>
          <a:noFill/>
          <a:ln/>
        </p:spPr>
        <p:txBody>
          <a:bodyPr wrap="square" lIns="0" tIns="0" rIns="0" bIns="0" rtlCol="0" anchor="ctr"/>
          <a:lstStyle/>
          <a:p>
            <a:pPr indent="0" marL="0">
              <a:buNone/>
            </a:pPr>
            <a:r>
              <a:rPr lang="en-US" sz="900" dirty="0">
                <a:solidFill>
                  <a:srgbClr val="8B98A6"/>
                </a:solidFill>
                <a:latin typeface="Calibri" pitchFamily="34" charset="0"/>
                <a:ea typeface="Calibri" pitchFamily="34" charset="-122"/>
                <a:cs typeface="Calibri" pitchFamily="34" charset="-120"/>
              </a:rPr>
              <a:t>python3.12 ingest</a:t>
            </a:r>
            <a:endParaRPr lang="en-US" sz="900" dirty="0"/>
          </a:p>
        </p:txBody>
      </p:sp>
      <p:sp>
        <p:nvSpPr>
          <p:cNvPr id="25" name="Shape 23"/>
          <p:cNvSpPr/>
          <p:nvPr/>
        </p:nvSpPr>
        <p:spPr>
          <a:xfrm>
            <a:off x="7850429" y="3845052"/>
            <a:ext cx="310896" cy="219456"/>
          </a:xfrm>
          <a:prstGeom prst="rightArrow">
            <a:avLst/>
          </a:prstGeom>
          <a:solidFill>
            <a:srgbClr val="8B98A6"/>
          </a:solidFill>
          <a:ln/>
        </p:spPr>
      </p:sp>
      <p:sp>
        <p:nvSpPr>
          <p:cNvPr id="26" name="Shape 24"/>
          <p:cNvSpPr/>
          <p:nvPr/>
        </p:nvSpPr>
        <p:spPr>
          <a:xfrm>
            <a:off x="8234477" y="2971800"/>
            <a:ext cx="1384249" cy="1965960"/>
          </a:xfrm>
          <a:prstGeom prst="roundRect">
            <a:avLst/>
          </a:prstGeom>
          <a:solidFill>
            <a:srgbClr val="222733"/>
          </a:solidFill>
          <a:ln w="12700">
            <a:solidFill>
              <a:srgbClr val="363B47"/>
            </a:solidFill>
            <a:prstDash val="solid"/>
          </a:ln>
        </p:spPr>
      </p:sp>
      <p:sp>
        <p:nvSpPr>
          <p:cNvPr id="27" name="Text 25"/>
          <p:cNvSpPr/>
          <p:nvPr/>
        </p:nvSpPr>
        <p:spPr>
          <a:xfrm>
            <a:off x="8380781" y="3154680"/>
            <a:ext cx="1091641" cy="320040"/>
          </a:xfrm>
          <a:prstGeom prst="rect">
            <a:avLst/>
          </a:prstGeom>
          <a:noFill/>
          <a:ln/>
        </p:spPr>
        <p:txBody>
          <a:bodyPr wrap="square" lIns="0" tIns="0" rIns="0" bIns="0" rtlCol="0" anchor="ctr"/>
          <a:lstStyle/>
          <a:p>
            <a:pPr indent="0" marL="0">
              <a:buNone/>
            </a:pPr>
            <a:r>
              <a:rPr lang="en-US" sz="1100" dirty="0">
                <a:solidFill>
                  <a:srgbClr val="FF8A6B"/>
                </a:solidFill>
                <a:latin typeface="Consolas" pitchFamily="34" charset="0"/>
                <a:ea typeface="Consolas" pitchFamily="34" charset="-122"/>
                <a:cs typeface="Consolas" pitchFamily="34" charset="-120"/>
              </a:rPr>
              <a:t>05</a:t>
            </a:r>
            <a:endParaRPr lang="en-US" sz="1100" dirty="0"/>
          </a:p>
        </p:txBody>
      </p:sp>
      <p:sp>
        <p:nvSpPr>
          <p:cNvPr id="28" name="Text 26"/>
          <p:cNvSpPr/>
          <p:nvPr/>
        </p:nvSpPr>
        <p:spPr>
          <a:xfrm>
            <a:off x="8380781" y="3593592"/>
            <a:ext cx="1091641" cy="868680"/>
          </a:xfrm>
          <a:prstGeom prst="rect">
            <a:avLst/>
          </a:prstGeom>
          <a:noFill/>
          <a:ln/>
        </p:spPr>
        <p:txBody>
          <a:bodyPr wrap="square" lIns="0" tIns="0" rIns="0" bIns="0" rtlCol="0" anchor="t"/>
          <a:lstStyle/>
          <a:p>
            <a:pPr indent="0" marL="0">
              <a:lnSpc>
                <a:spcPct val="96000"/>
              </a:lnSpc>
              <a:buNone/>
            </a:pPr>
            <a:r>
              <a:rPr lang="en-US" sz="1300" b="1" dirty="0">
                <a:solidFill>
                  <a:srgbClr val="EEF2F6"/>
                </a:solidFill>
                <a:latin typeface="Cambria" pitchFamily="34" charset="0"/>
                <a:ea typeface="Cambria" pitchFamily="34" charset="-122"/>
                <a:cs typeface="Cambria" pitchFamily="34" charset="-120"/>
              </a:rPr>
              <a:t>DynamoDB</a:t>
            </a:r>
            <a:endParaRPr lang="en-US" sz="1300" dirty="0"/>
          </a:p>
        </p:txBody>
      </p:sp>
      <p:sp>
        <p:nvSpPr>
          <p:cNvPr id="29" name="Text 27"/>
          <p:cNvSpPr/>
          <p:nvPr/>
        </p:nvSpPr>
        <p:spPr>
          <a:xfrm>
            <a:off x="8380781" y="4453128"/>
            <a:ext cx="1091641" cy="365760"/>
          </a:xfrm>
          <a:prstGeom prst="rect">
            <a:avLst/>
          </a:prstGeom>
          <a:noFill/>
          <a:ln/>
        </p:spPr>
        <p:txBody>
          <a:bodyPr wrap="square" lIns="0" tIns="0" rIns="0" bIns="0" rtlCol="0" anchor="ctr"/>
          <a:lstStyle/>
          <a:p>
            <a:pPr indent="0" marL="0">
              <a:buNone/>
            </a:pPr>
            <a:r>
              <a:rPr lang="en-US" sz="900" dirty="0">
                <a:solidFill>
                  <a:srgbClr val="8B98A6"/>
                </a:solidFill>
                <a:latin typeface="Calibri" pitchFamily="34" charset="0"/>
                <a:ea typeface="Calibri" pitchFamily="34" charset="-122"/>
                <a:cs typeface="Calibri" pitchFamily="34" charset="-120"/>
              </a:rPr>
              <a:t>one record / window</a:t>
            </a:r>
            <a:endParaRPr lang="en-US" sz="900" dirty="0"/>
          </a:p>
        </p:txBody>
      </p:sp>
      <p:sp>
        <p:nvSpPr>
          <p:cNvPr id="30" name="Shape 28"/>
          <p:cNvSpPr/>
          <p:nvPr/>
        </p:nvSpPr>
        <p:spPr>
          <a:xfrm>
            <a:off x="9691878" y="3845052"/>
            <a:ext cx="310896" cy="219456"/>
          </a:xfrm>
          <a:prstGeom prst="rightArrow">
            <a:avLst/>
          </a:prstGeom>
          <a:solidFill>
            <a:srgbClr val="8B98A6"/>
          </a:solidFill>
          <a:ln/>
        </p:spPr>
      </p:sp>
      <p:sp>
        <p:nvSpPr>
          <p:cNvPr id="31" name="Shape 29"/>
          <p:cNvSpPr/>
          <p:nvPr/>
        </p:nvSpPr>
        <p:spPr>
          <a:xfrm>
            <a:off x="10075926" y="2971800"/>
            <a:ext cx="1384249" cy="1965960"/>
          </a:xfrm>
          <a:prstGeom prst="roundRect">
            <a:avLst/>
          </a:prstGeom>
          <a:solidFill>
            <a:srgbClr val="222733"/>
          </a:solidFill>
          <a:ln w="12700">
            <a:solidFill>
              <a:srgbClr val="363B47"/>
            </a:solidFill>
            <a:prstDash val="solid"/>
          </a:ln>
        </p:spPr>
      </p:sp>
      <p:sp>
        <p:nvSpPr>
          <p:cNvPr id="32" name="Text 30"/>
          <p:cNvSpPr/>
          <p:nvPr/>
        </p:nvSpPr>
        <p:spPr>
          <a:xfrm>
            <a:off x="10222230" y="3154680"/>
            <a:ext cx="1091641" cy="320040"/>
          </a:xfrm>
          <a:prstGeom prst="rect">
            <a:avLst/>
          </a:prstGeom>
          <a:noFill/>
          <a:ln/>
        </p:spPr>
        <p:txBody>
          <a:bodyPr wrap="square" lIns="0" tIns="0" rIns="0" bIns="0" rtlCol="0" anchor="ctr"/>
          <a:lstStyle/>
          <a:p>
            <a:pPr indent="0" marL="0">
              <a:buNone/>
            </a:pPr>
            <a:r>
              <a:rPr lang="en-US" sz="1100" dirty="0">
                <a:solidFill>
                  <a:srgbClr val="FF8A6B"/>
                </a:solidFill>
                <a:latin typeface="Consolas" pitchFamily="34" charset="0"/>
                <a:ea typeface="Consolas" pitchFamily="34" charset="-122"/>
                <a:cs typeface="Consolas" pitchFamily="34" charset="-120"/>
              </a:rPr>
              <a:t>06</a:t>
            </a:r>
            <a:endParaRPr lang="en-US" sz="1100" dirty="0"/>
          </a:p>
        </p:txBody>
      </p:sp>
      <p:sp>
        <p:nvSpPr>
          <p:cNvPr id="33" name="Text 31"/>
          <p:cNvSpPr/>
          <p:nvPr/>
        </p:nvSpPr>
        <p:spPr>
          <a:xfrm>
            <a:off x="10222230" y="3593592"/>
            <a:ext cx="1091641" cy="868680"/>
          </a:xfrm>
          <a:prstGeom prst="rect">
            <a:avLst/>
          </a:prstGeom>
          <a:noFill/>
          <a:ln/>
        </p:spPr>
        <p:txBody>
          <a:bodyPr wrap="square" lIns="0" tIns="0" rIns="0" bIns="0" rtlCol="0" anchor="t"/>
          <a:lstStyle/>
          <a:p>
            <a:pPr indent="0" marL="0">
              <a:lnSpc>
                <a:spcPct val="96000"/>
              </a:lnSpc>
              <a:buNone/>
            </a:pPr>
            <a:r>
              <a:rPr lang="en-US" sz="1300" b="1" dirty="0">
                <a:solidFill>
                  <a:srgbClr val="EEF2F6"/>
                </a:solidFill>
                <a:latin typeface="Cambria" pitchFamily="34" charset="0"/>
                <a:ea typeface="Cambria" pitchFamily="34" charset="-122"/>
                <a:cs typeface="Cambria" pitchFamily="34" charset="-120"/>
              </a:rPr>
              <a:t>API GW + S3</a:t>
            </a:r>
            <a:endParaRPr lang="en-US" sz="1300" dirty="0"/>
          </a:p>
        </p:txBody>
      </p:sp>
      <p:sp>
        <p:nvSpPr>
          <p:cNvPr id="34" name="Text 32"/>
          <p:cNvSpPr/>
          <p:nvPr/>
        </p:nvSpPr>
        <p:spPr>
          <a:xfrm>
            <a:off x="10222230" y="4453128"/>
            <a:ext cx="1091641" cy="365760"/>
          </a:xfrm>
          <a:prstGeom prst="rect">
            <a:avLst/>
          </a:prstGeom>
          <a:noFill/>
          <a:ln/>
        </p:spPr>
        <p:txBody>
          <a:bodyPr wrap="square" lIns="0" tIns="0" rIns="0" bIns="0" rtlCol="0" anchor="ctr"/>
          <a:lstStyle/>
          <a:p>
            <a:pPr indent="0" marL="0">
              <a:buNone/>
            </a:pPr>
            <a:r>
              <a:rPr lang="en-US" sz="900" dirty="0">
                <a:solidFill>
                  <a:srgbClr val="8B98A6"/>
                </a:solidFill>
                <a:latin typeface="Calibri" pitchFamily="34" charset="0"/>
                <a:ea typeface="Calibri" pitchFamily="34" charset="-122"/>
                <a:cs typeface="Calibri" pitchFamily="34" charset="-120"/>
              </a:rPr>
              <a:t>live dashboard</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262C38"/>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FF8A6B"/>
          </a:solidFill>
          <a:ln/>
        </p:spPr>
      </p:sp>
      <p:sp>
        <p:nvSpPr>
          <p:cNvPr id="3" name="Text 1"/>
          <p:cNvSpPr/>
          <p:nvPr/>
        </p:nvSpPr>
        <p:spPr>
          <a:xfrm>
            <a:off x="868680" y="731520"/>
            <a:ext cx="914400" cy="640080"/>
          </a:xfrm>
          <a:prstGeom prst="rect">
            <a:avLst/>
          </a:prstGeom>
          <a:noFill/>
          <a:ln/>
        </p:spPr>
        <p:txBody>
          <a:bodyPr wrap="square" lIns="0" tIns="0" rIns="0" bIns="0" rtlCol="0" anchor="ctr"/>
          <a:lstStyle/>
          <a:p>
            <a:pPr indent="0" marL="0">
              <a:buNone/>
            </a:pPr>
            <a:r>
              <a:rPr lang="en-US" sz="3000" b="1" dirty="0">
                <a:solidFill>
                  <a:srgbClr val="FF8A6B"/>
                </a:solidFill>
                <a:latin typeface="Cambria" pitchFamily="34" charset="0"/>
                <a:ea typeface="Cambria" pitchFamily="34" charset="-122"/>
                <a:cs typeface="Cambria" pitchFamily="34" charset="-120"/>
              </a:rPr>
              <a:t>02</a:t>
            </a:r>
            <a:endParaRPr lang="en-US" sz="3000" dirty="0"/>
          </a:p>
        </p:txBody>
      </p:sp>
      <p:sp>
        <p:nvSpPr>
          <p:cNvPr id="4" name="Text 2"/>
          <p:cNvSpPr/>
          <p:nvPr/>
        </p:nvSpPr>
        <p:spPr>
          <a:xfrm>
            <a:off x="1737360" y="905256"/>
            <a:ext cx="9722815" cy="274320"/>
          </a:xfrm>
          <a:prstGeom prst="rect">
            <a:avLst/>
          </a:prstGeom>
          <a:noFill/>
          <a:ln/>
        </p:spPr>
        <p:txBody>
          <a:bodyPr wrap="square" lIns="0" tIns="0" rIns="0" bIns="0" rtlCol="0" anchor="ctr"/>
          <a:lstStyle/>
          <a:p>
            <a:pPr indent="0" marL="0">
              <a:buNone/>
            </a:pPr>
            <a:r>
              <a:rPr lang="en-US" sz="1100" b="1" spc="200" kern="0" dirty="0">
                <a:solidFill>
                  <a:srgbClr val="8B98A6"/>
                </a:solidFill>
                <a:latin typeface="Calibri" pitchFamily="34" charset="0"/>
                <a:ea typeface="Calibri" pitchFamily="34" charset="-122"/>
                <a:cs typeface="Calibri" pitchFamily="34" charset="-120"/>
              </a:rPr>
              <a:t>LIVE DEMO</a:t>
            </a:r>
            <a:endParaRPr lang="en-US" sz="1100" dirty="0"/>
          </a:p>
        </p:txBody>
      </p:sp>
      <p:sp>
        <p:nvSpPr>
          <p:cNvPr id="5" name="Text 3"/>
          <p:cNvSpPr/>
          <p:nvPr/>
        </p:nvSpPr>
        <p:spPr>
          <a:xfrm>
            <a:off x="868680" y="1380744"/>
            <a:ext cx="10591495" cy="640080"/>
          </a:xfrm>
          <a:prstGeom prst="rect">
            <a:avLst/>
          </a:prstGeom>
          <a:noFill/>
          <a:ln/>
        </p:spPr>
        <p:txBody>
          <a:bodyPr wrap="square" lIns="0" tIns="0" rIns="0" bIns="0" rtlCol="0" anchor="ctr"/>
          <a:lstStyle/>
          <a:p>
            <a:pPr indent="0" marL="0">
              <a:buNone/>
            </a:pPr>
            <a:r>
              <a:rPr lang="en-US" sz="2300" b="1" dirty="0">
                <a:solidFill>
                  <a:srgbClr val="EEF2F6"/>
                </a:solidFill>
                <a:latin typeface="Cambria" pitchFamily="34" charset="0"/>
                <a:ea typeface="Cambria" pitchFamily="34" charset="-122"/>
                <a:cs typeface="Cambria" pitchFamily="34" charset="-120"/>
              </a:rPr>
              <a:t>See it running on AWS</a:t>
            </a:r>
            <a:endParaRPr lang="en-US" sz="2300" dirty="0"/>
          </a:p>
        </p:txBody>
      </p:sp>
      <p:sp>
        <p:nvSpPr>
          <p:cNvPr id="6" name="Text 4"/>
          <p:cNvSpPr/>
          <p:nvPr/>
        </p:nvSpPr>
        <p:spPr>
          <a:xfrm>
            <a:off x="868680" y="1901952"/>
            <a:ext cx="10591495" cy="274320"/>
          </a:xfrm>
          <a:prstGeom prst="rect">
            <a:avLst/>
          </a:prstGeom>
          <a:noFill/>
          <a:ln/>
        </p:spPr>
        <p:txBody>
          <a:bodyPr wrap="square" rtlCol="0" anchor="ctr"/>
          <a:lstStyle/>
          <a:p>
            <a:pPr indent="0" marL="0">
              <a:buNone/>
            </a:pPr>
            <a:r>
              <a:rPr lang="en-US" sz="1100" dirty="0">
                <a:solidFill>
                  <a:srgbClr val="FF8A6B"/>
                </a:solidFill>
                <a:latin typeface="Consolas" pitchFamily="34" charset="0"/>
                <a:ea typeface="Consolas" pitchFamily="34" charset="-122"/>
                <a:cs typeface="Consolas" pitchFamily="34" charset="-120"/>
              </a:rPr>
              <a:t>smart-agriculture-field-monitor.s3.us-east-1.amazonaws.com</a:t>
            </a:r>
            <a:endParaRPr lang="en-US" sz="1100" dirty="0"/>
          </a:p>
        </p:txBody>
      </p:sp>
      <p:sp>
        <p:nvSpPr>
          <p:cNvPr id="7" name="Shape 5"/>
          <p:cNvSpPr/>
          <p:nvPr/>
        </p:nvSpPr>
        <p:spPr>
          <a:xfrm>
            <a:off x="868680" y="2514600"/>
            <a:ext cx="3286658" cy="3566160"/>
          </a:xfrm>
          <a:prstGeom prst="roundRect">
            <a:avLst/>
          </a:prstGeom>
          <a:solidFill>
            <a:srgbClr val="222733"/>
          </a:solidFill>
          <a:ln w="12700">
            <a:solidFill>
              <a:srgbClr val="363B47"/>
            </a:solidFill>
            <a:prstDash val="solid"/>
          </a:ln>
        </p:spPr>
      </p:sp>
      <p:sp>
        <p:nvSpPr>
          <p:cNvPr id="8" name="Text 6"/>
          <p:cNvSpPr/>
          <p:nvPr/>
        </p:nvSpPr>
        <p:spPr>
          <a:xfrm>
            <a:off x="1143000" y="2752344"/>
            <a:ext cx="1828800" cy="777240"/>
          </a:xfrm>
          <a:prstGeom prst="rect">
            <a:avLst/>
          </a:prstGeom>
          <a:noFill/>
          <a:ln/>
        </p:spPr>
        <p:txBody>
          <a:bodyPr wrap="square" lIns="0" tIns="0" rIns="0" bIns="0" rtlCol="0" anchor="ctr"/>
          <a:lstStyle/>
          <a:p>
            <a:pPr indent="0" marL="0">
              <a:buNone/>
            </a:pPr>
            <a:r>
              <a:rPr lang="en-US" sz="3800" b="1" dirty="0">
                <a:solidFill>
                  <a:srgbClr val="FF8A6B"/>
                </a:solidFill>
                <a:latin typeface="Cambria" pitchFamily="34" charset="0"/>
                <a:ea typeface="Cambria" pitchFamily="34" charset="-122"/>
                <a:cs typeface="Cambria" pitchFamily="34" charset="-120"/>
              </a:rPr>
              <a:t>01</a:t>
            </a:r>
            <a:endParaRPr lang="en-US" sz="3800" dirty="0"/>
          </a:p>
        </p:txBody>
      </p:sp>
      <p:sp>
        <p:nvSpPr>
          <p:cNvPr id="9" name="Text 7"/>
          <p:cNvSpPr/>
          <p:nvPr/>
        </p:nvSpPr>
        <p:spPr>
          <a:xfrm>
            <a:off x="1161288" y="3566160"/>
            <a:ext cx="2738018" cy="868680"/>
          </a:xfrm>
          <a:prstGeom prst="rect">
            <a:avLst/>
          </a:prstGeom>
          <a:noFill/>
          <a:ln/>
        </p:spPr>
        <p:txBody>
          <a:bodyPr wrap="square" lIns="0" tIns="0" rIns="0" bIns="0" rtlCol="0" anchor="t"/>
          <a:lstStyle/>
          <a:p>
            <a:pPr indent="0" marL="0">
              <a:lnSpc>
                <a:spcPct val="100000"/>
              </a:lnSpc>
              <a:buNone/>
            </a:pPr>
            <a:r>
              <a:rPr lang="en-US" sz="1550" b="1" dirty="0">
                <a:solidFill>
                  <a:srgbClr val="EEF2F6"/>
                </a:solidFill>
                <a:latin typeface="Cambria" pitchFamily="34" charset="0"/>
                <a:ea typeface="Cambria" pitchFamily="34" charset="-122"/>
                <a:cs typeface="Cambria" pitchFamily="34" charset="-120"/>
              </a:rPr>
              <a:t>Two fields streaming five signals</a:t>
            </a:r>
            <a:endParaRPr lang="en-US" sz="1550" dirty="0"/>
          </a:p>
        </p:txBody>
      </p:sp>
      <p:sp>
        <p:nvSpPr>
          <p:cNvPr id="10" name="Text 8"/>
          <p:cNvSpPr/>
          <p:nvPr/>
        </p:nvSpPr>
        <p:spPr>
          <a:xfrm>
            <a:off x="1161288" y="4434840"/>
            <a:ext cx="2738018" cy="1463040"/>
          </a:xfrm>
          <a:prstGeom prst="rect">
            <a:avLst/>
          </a:prstGeom>
          <a:noFill/>
          <a:ln/>
        </p:spPr>
        <p:txBody>
          <a:bodyPr wrap="square" lIns="0" tIns="0" rIns="0" bIns="0" rtlCol="0" anchor="ctr"/>
          <a:lstStyle/>
          <a:p>
            <a:pPr indent="0" marL="0">
              <a:lnSpc>
                <a:spcPct val="120000"/>
              </a:lnSpc>
              <a:buNone/>
            </a:pPr>
            <a:r>
              <a:rPr lang="en-US" sz="1200" dirty="0">
                <a:solidFill>
                  <a:srgbClr val="8B98A6"/>
                </a:solidFill>
                <a:latin typeface="Calibri" pitchFamily="34" charset="0"/>
                <a:ea typeface="Calibri" pitchFamily="34" charset="-122"/>
                <a:cs typeface="Calibri" pitchFamily="34" charset="-120"/>
              </a:rPr>
              <a:t>Soil moisture, temperature, humidity, light and rainfall live on Field-1 and Field-2, freshest reading about two seconds old.</a:t>
            </a:r>
            <a:endParaRPr lang="en-US" sz="1200" dirty="0"/>
          </a:p>
        </p:txBody>
      </p:sp>
      <p:sp>
        <p:nvSpPr>
          <p:cNvPr id="11" name="Shape 9"/>
          <p:cNvSpPr/>
          <p:nvPr/>
        </p:nvSpPr>
        <p:spPr>
          <a:xfrm>
            <a:off x="4521098" y="2514600"/>
            <a:ext cx="3286658" cy="3566160"/>
          </a:xfrm>
          <a:prstGeom prst="roundRect">
            <a:avLst/>
          </a:prstGeom>
          <a:solidFill>
            <a:srgbClr val="222733"/>
          </a:solidFill>
          <a:ln w="12700">
            <a:solidFill>
              <a:srgbClr val="363B47"/>
            </a:solidFill>
            <a:prstDash val="solid"/>
          </a:ln>
        </p:spPr>
      </p:sp>
      <p:sp>
        <p:nvSpPr>
          <p:cNvPr id="12" name="Text 10"/>
          <p:cNvSpPr/>
          <p:nvPr/>
        </p:nvSpPr>
        <p:spPr>
          <a:xfrm>
            <a:off x="4795418" y="2752344"/>
            <a:ext cx="1828800" cy="777240"/>
          </a:xfrm>
          <a:prstGeom prst="rect">
            <a:avLst/>
          </a:prstGeom>
          <a:noFill/>
          <a:ln/>
        </p:spPr>
        <p:txBody>
          <a:bodyPr wrap="square" lIns="0" tIns="0" rIns="0" bIns="0" rtlCol="0" anchor="ctr"/>
          <a:lstStyle/>
          <a:p>
            <a:pPr indent="0" marL="0">
              <a:buNone/>
            </a:pPr>
            <a:r>
              <a:rPr lang="en-US" sz="3800" b="1" dirty="0">
                <a:solidFill>
                  <a:srgbClr val="FF8A6B"/>
                </a:solidFill>
                <a:latin typeface="Cambria" pitchFamily="34" charset="0"/>
                <a:ea typeface="Cambria" pitchFamily="34" charset="-122"/>
                <a:cs typeface="Cambria" pitchFamily="34" charset="-120"/>
              </a:rPr>
              <a:t>02</a:t>
            </a:r>
            <a:endParaRPr lang="en-US" sz="3800" dirty="0"/>
          </a:p>
        </p:txBody>
      </p:sp>
      <p:sp>
        <p:nvSpPr>
          <p:cNvPr id="13" name="Text 11"/>
          <p:cNvSpPr/>
          <p:nvPr/>
        </p:nvSpPr>
        <p:spPr>
          <a:xfrm>
            <a:off x="4813706" y="3566160"/>
            <a:ext cx="2738018" cy="868680"/>
          </a:xfrm>
          <a:prstGeom prst="rect">
            <a:avLst/>
          </a:prstGeom>
          <a:noFill/>
          <a:ln/>
        </p:spPr>
        <p:txBody>
          <a:bodyPr wrap="square" lIns="0" tIns="0" rIns="0" bIns="0" rtlCol="0" anchor="t"/>
          <a:lstStyle/>
          <a:p>
            <a:pPr indent="0" marL="0">
              <a:lnSpc>
                <a:spcPct val="100000"/>
              </a:lnSpc>
              <a:buNone/>
            </a:pPr>
            <a:r>
              <a:rPr lang="en-US" sz="1550" b="1" dirty="0">
                <a:solidFill>
                  <a:srgbClr val="EEF2F6"/>
                </a:solidFill>
                <a:latin typeface="Cambria" pitchFamily="34" charset="0"/>
                <a:ea typeface="Cambria" pitchFamily="34" charset="-122"/>
                <a:cs typeface="Cambria" pitchFamily="34" charset="-120"/>
              </a:rPr>
              <a:t>Trend charts with the alert band drawn in</a:t>
            </a:r>
            <a:endParaRPr lang="en-US" sz="1550" dirty="0"/>
          </a:p>
        </p:txBody>
      </p:sp>
      <p:sp>
        <p:nvSpPr>
          <p:cNvPr id="14" name="Text 12"/>
          <p:cNvSpPr/>
          <p:nvPr/>
        </p:nvSpPr>
        <p:spPr>
          <a:xfrm>
            <a:off x="4813706" y="4434840"/>
            <a:ext cx="2738018" cy="1463040"/>
          </a:xfrm>
          <a:prstGeom prst="rect">
            <a:avLst/>
          </a:prstGeom>
          <a:noFill/>
          <a:ln/>
        </p:spPr>
        <p:txBody>
          <a:bodyPr wrap="square" lIns="0" tIns="0" rIns="0" bIns="0" rtlCol="0" anchor="ctr"/>
          <a:lstStyle/>
          <a:p>
            <a:pPr indent="0" marL="0">
              <a:lnSpc>
                <a:spcPct val="120000"/>
              </a:lnSpc>
              <a:buNone/>
            </a:pPr>
            <a:r>
              <a:rPr lang="en-US" sz="1200" dirty="0">
                <a:solidFill>
                  <a:srgbClr val="8B98A6"/>
                </a:solidFill>
                <a:latin typeface="Calibri" pitchFamily="34" charset="0"/>
                <a:ea typeface="Calibri" pitchFamily="34" charset="-122"/>
                <a:cs typeface="Calibri" pitchFamily="34" charset="-120"/>
              </a:rPr>
              <a:t>Soil-moisture, temperature and humidity charts show each field's live series against its threshold band, so you can see how close it is to an alert.</a:t>
            </a:r>
            <a:endParaRPr lang="en-US" sz="1200" dirty="0"/>
          </a:p>
        </p:txBody>
      </p:sp>
      <p:sp>
        <p:nvSpPr>
          <p:cNvPr id="15" name="Shape 13"/>
          <p:cNvSpPr/>
          <p:nvPr/>
        </p:nvSpPr>
        <p:spPr>
          <a:xfrm>
            <a:off x="8173517" y="2514600"/>
            <a:ext cx="3286658" cy="3566160"/>
          </a:xfrm>
          <a:prstGeom prst="roundRect">
            <a:avLst/>
          </a:prstGeom>
          <a:solidFill>
            <a:srgbClr val="222733"/>
          </a:solidFill>
          <a:ln w="12700">
            <a:solidFill>
              <a:srgbClr val="363B47"/>
            </a:solidFill>
            <a:prstDash val="solid"/>
          </a:ln>
        </p:spPr>
      </p:sp>
      <p:sp>
        <p:nvSpPr>
          <p:cNvPr id="16" name="Text 14"/>
          <p:cNvSpPr/>
          <p:nvPr/>
        </p:nvSpPr>
        <p:spPr>
          <a:xfrm>
            <a:off x="8447837" y="2752344"/>
            <a:ext cx="1828800" cy="777240"/>
          </a:xfrm>
          <a:prstGeom prst="rect">
            <a:avLst/>
          </a:prstGeom>
          <a:noFill/>
          <a:ln/>
        </p:spPr>
        <p:txBody>
          <a:bodyPr wrap="square" lIns="0" tIns="0" rIns="0" bIns="0" rtlCol="0" anchor="ctr"/>
          <a:lstStyle/>
          <a:p>
            <a:pPr indent="0" marL="0">
              <a:buNone/>
            </a:pPr>
            <a:r>
              <a:rPr lang="en-US" sz="3800" b="1" dirty="0">
                <a:solidFill>
                  <a:srgbClr val="FF8A6B"/>
                </a:solidFill>
                <a:latin typeface="Cambria" pitchFamily="34" charset="0"/>
                <a:ea typeface="Cambria" pitchFamily="34" charset="-122"/>
                <a:cs typeface="Cambria" pitchFamily="34" charset="-120"/>
              </a:rPr>
              <a:t>03</a:t>
            </a:r>
            <a:endParaRPr lang="en-US" sz="3800" dirty="0"/>
          </a:p>
        </p:txBody>
      </p:sp>
      <p:sp>
        <p:nvSpPr>
          <p:cNvPr id="17" name="Text 15"/>
          <p:cNvSpPr/>
          <p:nvPr/>
        </p:nvSpPr>
        <p:spPr>
          <a:xfrm>
            <a:off x="8466125" y="3566160"/>
            <a:ext cx="2738018" cy="868680"/>
          </a:xfrm>
          <a:prstGeom prst="rect">
            <a:avLst/>
          </a:prstGeom>
          <a:noFill/>
          <a:ln/>
        </p:spPr>
        <p:txBody>
          <a:bodyPr wrap="square" lIns="0" tIns="0" rIns="0" bIns="0" rtlCol="0" anchor="t"/>
          <a:lstStyle/>
          <a:p>
            <a:pPr indent="0" marL="0">
              <a:lnSpc>
                <a:spcPct val="100000"/>
              </a:lnSpc>
              <a:buNone/>
            </a:pPr>
            <a:r>
              <a:rPr lang="en-US" sz="1550" b="1" dirty="0">
                <a:solidFill>
                  <a:srgbClr val="EEF2F6"/>
                </a:solidFill>
                <a:latin typeface="Cambria" pitchFamily="34" charset="0"/>
                <a:ea typeface="Cambria" pitchFamily="34" charset="-122"/>
                <a:cs typeface="Cambria" pitchFamily="34" charset="-120"/>
              </a:rPr>
              <a:t>An alert fires the moment a rule trips</a:t>
            </a:r>
            <a:endParaRPr lang="en-US" sz="1550" dirty="0"/>
          </a:p>
        </p:txBody>
      </p:sp>
      <p:sp>
        <p:nvSpPr>
          <p:cNvPr id="18" name="Text 16"/>
          <p:cNvSpPr/>
          <p:nvPr/>
        </p:nvSpPr>
        <p:spPr>
          <a:xfrm>
            <a:off x="8466125" y="4434840"/>
            <a:ext cx="2738018" cy="1463040"/>
          </a:xfrm>
          <a:prstGeom prst="rect">
            <a:avLst/>
          </a:prstGeom>
          <a:noFill/>
          <a:ln/>
        </p:spPr>
        <p:txBody>
          <a:bodyPr wrap="square" lIns="0" tIns="0" rIns="0" bIns="0" rtlCol="0" anchor="ctr"/>
          <a:lstStyle/>
          <a:p>
            <a:pPr indent="0" marL="0">
              <a:lnSpc>
                <a:spcPct val="120000"/>
              </a:lnSpc>
              <a:buNone/>
            </a:pPr>
            <a:r>
              <a:rPr lang="en-US" sz="1200" dirty="0">
                <a:solidFill>
                  <a:srgbClr val="8B98A6"/>
                </a:solidFill>
                <a:latin typeface="Calibri" pitchFamily="34" charset="0"/>
                <a:ea typeface="Calibri" pitchFamily="34" charset="-122"/>
                <a:cs typeface="Calibri" pitchFamily="34" charset="-120"/>
              </a:rPr>
              <a:t>Push a field's soil moisture below 20% and the irrigation-needed banner appears within one ten-second window.</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262C38"/>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FF8A6B"/>
          </a:solidFill>
          <a:ln/>
        </p:spPr>
      </p:sp>
      <p:sp>
        <p:nvSpPr>
          <p:cNvPr id="3" name="Text 1"/>
          <p:cNvSpPr/>
          <p:nvPr/>
        </p:nvSpPr>
        <p:spPr>
          <a:xfrm>
            <a:off x="868680" y="731520"/>
            <a:ext cx="914400" cy="640080"/>
          </a:xfrm>
          <a:prstGeom prst="rect">
            <a:avLst/>
          </a:prstGeom>
          <a:noFill/>
          <a:ln/>
        </p:spPr>
        <p:txBody>
          <a:bodyPr wrap="square" lIns="0" tIns="0" rIns="0" bIns="0" rtlCol="0" anchor="ctr"/>
          <a:lstStyle/>
          <a:p>
            <a:pPr indent="0" marL="0">
              <a:buNone/>
            </a:pPr>
            <a:r>
              <a:rPr lang="en-US" sz="3000" b="1" dirty="0">
                <a:solidFill>
                  <a:srgbClr val="FF8A6B"/>
                </a:solidFill>
                <a:latin typeface="Cambria" pitchFamily="34" charset="0"/>
                <a:ea typeface="Cambria" pitchFamily="34" charset="-122"/>
                <a:cs typeface="Cambria" pitchFamily="34" charset="-120"/>
              </a:rPr>
              <a:t>03</a:t>
            </a:r>
            <a:endParaRPr lang="en-US" sz="3000" dirty="0"/>
          </a:p>
        </p:txBody>
      </p:sp>
      <p:sp>
        <p:nvSpPr>
          <p:cNvPr id="4" name="Text 2"/>
          <p:cNvSpPr/>
          <p:nvPr/>
        </p:nvSpPr>
        <p:spPr>
          <a:xfrm>
            <a:off x="1737360" y="905256"/>
            <a:ext cx="9722815" cy="274320"/>
          </a:xfrm>
          <a:prstGeom prst="rect">
            <a:avLst/>
          </a:prstGeom>
          <a:noFill/>
          <a:ln/>
        </p:spPr>
        <p:txBody>
          <a:bodyPr wrap="square" lIns="0" tIns="0" rIns="0" bIns="0" rtlCol="0" anchor="ctr"/>
          <a:lstStyle/>
          <a:p>
            <a:pPr indent="0" marL="0">
              <a:buNone/>
            </a:pPr>
            <a:r>
              <a:rPr lang="en-US" sz="1100" b="1" spc="200" kern="0" dirty="0">
                <a:solidFill>
                  <a:srgbClr val="8B98A6"/>
                </a:solidFill>
                <a:latin typeface="Calibri" pitchFamily="34" charset="0"/>
                <a:ea typeface="Calibri" pitchFamily="34" charset="-122"/>
                <a:cs typeface="Calibri" pitchFamily="34" charset="-120"/>
              </a:rPr>
              <a:t>CHALLENGE</a:t>
            </a:r>
            <a:endParaRPr lang="en-US" sz="1100" dirty="0"/>
          </a:p>
        </p:txBody>
      </p:sp>
      <p:sp>
        <p:nvSpPr>
          <p:cNvPr id="5" name="Text 3"/>
          <p:cNvSpPr/>
          <p:nvPr/>
        </p:nvSpPr>
        <p:spPr>
          <a:xfrm>
            <a:off x="868680" y="1380744"/>
            <a:ext cx="10591495" cy="640080"/>
          </a:xfrm>
          <a:prstGeom prst="rect">
            <a:avLst/>
          </a:prstGeom>
          <a:noFill/>
          <a:ln/>
        </p:spPr>
        <p:txBody>
          <a:bodyPr wrap="square" lIns="0" tIns="0" rIns="0" bIns="0" rtlCol="0" anchor="ctr"/>
          <a:lstStyle/>
          <a:p>
            <a:pPr indent="0" marL="0">
              <a:buNone/>
            </a:pPr>
            <a:r>
              <a:rPr lang="en-US" sz="2300" b="1" dirty="0">
                <a:solidFill>
                  <a:srgbClr val="EEF2F6"/>
                </a:solidFill>
                <a:latin typeface="Cambria" pitchFamily="34" charset="0"/>
                <a:ea typeface="Cambria" pitchFamily="34" charset="-122"/>
                <a:cs typeface="Cambria" pitchFamily="34" charset="-120"/>
              </a:rPr>
              <a:t>a web framework inside a function</a:t>
            </a:r>
            <a:endParaRPr lang="en-US" sz="2300" dirty="0"/>
          </a:p>
        </p:txBody>
      </p:sp>
      <p:sp>
        <p:nvSpPr>
          <p:cNvPr id="6" name="Shape 4"/>
          <p:cNvSpPr/>
          <p:nvPr/>
        </p:nvSpPr>
        <p:spPr>
          <a:xfrm>
            <a:off x="868680" y="2423160"/>
            <a:ext cx="5067148" cy="3657600"/>
          </a:xfrm>
          <a:prstGeom prst="roundRect">
            <a:avLst/>
          </a:prstGeom>
          <a:solidFill>
            <a:srgbClr val="222733"/>
          </a:solidFill>
          <a:ln w="12700">
            <a:solidFill>
              <a:srgbClr val="363B47"/>
            </a:solidFill>
            <a:prstDash val="solid"/>
          </a:ln>
        </p:spPr>
      </p:sp>
      <p:sp>
        <p:nvSpPr>
          <p:cNvPr id="7" name="Text 5"/>
          <p:cNvSpPr/>
          <p:nvPr/>
        </p:nvSpPr>
        <p:spPr>
          <a:xfrm>
            <a:off x="1188720" y="2697480"/>
            <a:ext cx="4427068" cy="320040"/>
          </a:xfrm>
          <a:prstGeom prst="rect">
            <a:avLst/>
          </a:prstGeom>
          <a:noFill/>
          <a:ln/>
        </p:spPr>
        <p:txBody>
          <a:bodyPr wrap="square" lIns="0" tIns="0" rIns="0" bIns="0" rtlCol="0" anchor="ctr"/>
          <a:lstStyle/>
          <a:p>
            <a:pPr indent="0" marL="0">
              <a:buNone/>
            </a:pPr>
            <a:r>
              <a:rPr lang="en-US" sz="1200" b="1" spc="200" kern="0" dirty="0">
                <a:solidFill>
                  <a:srgbClr val="D1584E"/>
                </a:solidFill>
                <a:latin typeface="Calibri" pitchFamily="34" charset="0"/>
                <a:ea typeface="Calibri" pitchFamily="34" charset="-122"/>
                <a:cs typeface="Calibri" pitchFamily="34" charset="-120"/>
              </a:rPr>
              <a:t>PROBLEM</a:t>
            </a:r>
            <a:endParaRPr lang="en-US" sz="1200" dirty="0"/>
          </a:p>
        </p:txBody>
      </p:sp>
      <p:sp>
        <p:nvSpPr>
          <p:cNvPr id="8" name="Shape 6"/>
          <p:cNvSpPr/>
          <p:nvPr/>
        </p:nvSpPr>
        <p:spPr>
          <a:xfrm>
            <a:off x="1188720" y="3081528"/>
            <a:ext cx="4427068" cy="0"/>
          </a:xfrm>
          <a:prstGeom prst="line">
            <a:avLst/>
          </a:prstGeom>
          <a:noFill/>
          <a:ln w="19050">
            <a:solidFill>
              <a:srgbClr val="D1584E"/>
            </a:solidFill>
            <a:prstDash val="solid"/>
          </a:ln>
        </p:spPr>
      </p:sp>
      <p:sp>
        <p:nvSpPr>
          <p:cNvPr id="9" name="Text 7"/>
          <p:cNvSpPr/>
          <p:nvPr/>
        </p:nvSpPr>
        <p:spPr>
          <a:xfrm>
            <a:off x="1188720" y="3246120"/>
            <a:ext cx="4427068" cy="2651760"/>
          </a:xfrm>
          <a:prstGeom prst="rect">
            <a:avLst/>
          </a:prstGeom>
          <a:noFill/>
          <a:ln/>
        </p:spPr>
        <p:txBody>
          <a:bodyPr wrap="square" lIns="0" tIns="0" rIns="0" bIns="0" rtlCol="0" anchor="t"/>
          <a:lstStyle/>
          <a:p>
            <a:pPr indent="0" marL="0">
              <a:lnSpc>
                <a:spcPct val="128000"/>
              </a:lnSpc>
              <a:buNone/>
            </a:pPr>
            <a:r>
              <a:rPr lang="en-US" sz="1350" dirty="0">
                <a:solidFill>
                  <a:srgbClr val="EEF2F6"/>
                </a:solidFill>
                <a:latin typeface="Calibri" pitchFamily="34" charset="0"/>
                <a:ea typeface="Calibri" pitchFamily="34" charset="-122"/>
                <a:cs typeface="Calibri" pitchFamily="34" charset="-120"/>
              </a:rPr>
              <a:t>The dashboard is a FastAPI application written for a long-running server, but on AWS it had to answer through a single stateless function per request. FastAPI speaks the ASGI protocol; API Gateway speaks events and JSON. The two do not fit together on their own, and the app also mounts a static directory at import time that is not part of the deployed package.</a:t>
            </a:r>
            <a:endParaRPr lang="en-US" sz="1350" dirty="0"/>
          </a:p>
        </p:txBody>
      </p:sp>
      <p:sp>
        <p:nvSpPr>
          <p:cNvPr id="10" name="Shape 8"/>
          <p:cNvSpPr/>
          <p:nvPr/>
        </p:nvSpPr>
        <p:spPr>
          <a:xfrm>
            <a:off x="6393028" y="2423160"/>
            <a:ext cx="5067148" cy="3657600"/>
          </a:xfrm>
          <a:prstGeom prst="roundRect">
            <a:avLst/>
          </a:prstGeom>
          <a:solidFill>
            <a:srgbClr val="222733"/>
          </a:solidFill>
          <a:ln w="12700">
            <a:solidFill>
              <a:srgbClr val="363B47"/>
            </a:solidFill>
            <a:prstDash val="solid"/>
          </a:ln>
        </p:spPr>
      </p:sp>
      <p:sp>
        <p:nvSpPr>
          <p:cNvPr id="11" name="Text 9"/>
          <p:cNvSpPr/>
          <p:nvPr/>
        </p:nvSpPr>
        <p:spPr>
          <a:xfrm>
            <a:off x="6713068" y="2697480"/>
            <a:ext cx="4427068" cy="320040"/>
          </a:xfrm>
          <a:prstGeom prst="rect">
            <a:avLst/>
          </a:prstGeom>
          <a:noFill/>
          <a:ln/>
        </p:spPr>
        <p:txBody>
          <a:bodyPr wrap="square" lIns="0" tIns="0" rIns="0" bIns="0" rtlCol="0" anchor="ctr"/>
          <a:lstStyle/>
          <a:p>
            <a:pPr indent="0" marL="0">
              <a:buNone/>
            </a:pPr>
            <a:r>
              <a:rPr lang="en-US" sz="1200" b="1" spc="200" kern="0" dirty="0">
                <a:solidFill>
                  <a:srgbClr val="3FAE82"/>
                </a:solidFill>
                <a:latin typeface="Calibri" pitchFamily="34" charset="0"/>
                <a:ea typeface="Calibri" pitchFamily="34" charset="-122"/>
                <a:cs typeface="Calibri" pitchFamily="34" charset="-120"/>
              </a:rPr>
              <a:t>SOLUTION</a:t>
            </a:r>
            <a:endParaRPr lang="en-US" sz="1200" dirty="0"/>
          </a:p>
        </p:txBody>
      </p:sp>
      <p:sp>
        <p:nvSpPr>
          <p:cNvPr id="12" name="Shape 10"/>
          <p:cNvSpPr/>
          <p:nvPr/>
        </p:nvSpPr>
        <p:spPr>
          <a:xfrm>
            <a:off x="6713068" y="3081528"/>
            <a:ext cx="4427068" cy="0"/>
          </a:xfrm>
          <a:prstGeom prst="line">
            <a:avLst/>
          </a:prstGeom>
          <a:noFill/>
          <a:ln w="19050">
            <a:solidFill>
              <a:srgbClr val="3FAE82"/>
            </a:solidFill>
            <a:prstDash val="solid"/>
          </a:ln>
        </p:spPr>
      </p:sp>
      <p:sp>
        <p:nvSpPr>
          <p:cNvPr id="13" name="Text 11"/>
          <p:cNvSpPr/>
          <p:nvPr/>
        </p:nvSpPr>
        <p:spPr>
          <a:xfrm>
            <a:off x="6713068" y="3246120"/>
            <a:ext cx="4427068" cy="2651760"/>
          </a:xfrm>
          <a:prstGeom prst="rect">
            <a:avLst/>
          </a:prstGeom>
          <a:noFill/>
          <a:ln/>
        </p:spPr>
        <p:txBody>
          <a:bodyPr wrap="square" lIns="0" tIns="0" rIns="0" bIns="0" rtlCol="0" anchor="t"/>
          <a:lstStyle/>
          <a:p>
            <a:pPr indent="0" marL="0">
              <a:lnSpc>
                <a:spcPct val="128000"/>
              </a:lnSpc>
              <a:buNone/>
            </a:pPr>
            <a:r>
              <a:rPr lang="en-US" sz="1350" dirty="0">
                <a:solidFill>
                  <a:srgbClr val="EEF2F6"/>
                </a:solidFill>
                <a:latin typeface="Calibri" pitchFamily="34" charset="0"/>
                <a:ea typeface="Calibri" pitchFamily="34" charset="-122"/>
                <a:cs typeface="Calibri" pitchFamily="34" charset="-120"/>
              </a:rPr>
              <a:t>A Mangum adapter wraps the FastAPI app and translates each API Gateway event into the ASGI scope the framework expects, then translates the response back, so the identical routes and validation run locally and in the cloud with no parallel handler to maintain. The static mount was made tolerant of the directory being absent, since the browser is served from S3, not the function.</a:t>
            </a:r>
            <a:endParaRPr lang="en-US" sz="13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2026-07-24T09:15:28Z</dcterms:created>
  <dcterms:modified xsi:type="dcterms:W3CDTF">2026-07-24T09:15:28Z</dcterms:modified>
</cp:coreProperties>
</file>