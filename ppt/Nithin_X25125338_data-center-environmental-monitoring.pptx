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2"/>
        </a:solidFill>
      </p:bgPr>
    </p:bg>
    <p:spTree>
      <p:nvGrpSpPr>
        <p:cNvPr id="1" name=""/>
        <p:cNvGrpSpPr/>
        <p:nvPr/>
      </p:nvGrpSpPr>
      <p:grpSpPr>
        <a:xfrm>
          <a:off x="0" y="0"/>
          <a:ext cx="0" cy="0"/>
          <a:chOff x="0" y="0"/>
          <a:chExt cx="0" cy="0"/>
        </a:xfrm>
      </p:grpSpPr>
      <p:sp>
        <p:nvSpPr>
          <p:cNvPr id="2" name="Shape 0"/>
          <p:cNvSpPr/>
          <p:nvPr/>
        </p:nvSpPr>
        <p:spPr>
          <a:xfrm>
            <a:off x="685800" y="0"/>
            <a:ext cx="0" cy="6858000"/>
          </a:xfrm>
          <a:prstGeom prst="line">
            <a:avLst/>
          </a:prstGeom>
          <a:noFill/>
          <a:ln w="6350">
            <a:solidFill>
              <a:srgbClr val="3FB8C4">
                <a:alpha val="18000"/>
              </a:srgbClr>
            </a:solidFill>
            <a:prstDash val="solid"/>
          </a:ln>
        </p:spPr>
      </p:sp>
      <p:sp>
        <p:nvSpPr>
          <p:cNvPr id="3" name="Shape 1"/>
          <p:cNvSpPr/>
          <p:nvPr/>
        </p:nvSpPr>
        <p:spPr>
          <a:xfrm>
            <a:off x="1325880" y="0"/>
            <a:ext cx="0" cy="6858000"/>
          </a:xfrm>
          <a:prstGeom prst="line">
            <a:avLst/>
          </a:prstGeom>
          <a:noFill/>
          <a:ln w="6350">
            <a:solidFill>
              <a:srgbClr val="3FB8C4">
                <a:alpha val="18000"/>
              </a:srgbClr>
            </a:solidFill>
            <a:prstDash val="solid"/>
          </a:ln>
        </p:spPr>
      </p:sp>
      <p:sp>
        <p:nvSpPr>
          <p:cNvPr id="4" name="Shape 2"/>
          <p:cNvSpPr/>
          <p:nvPr/>
        </p:nvSpPr>
        <p:spPr>
          <a:xfrm>
            <a:off x="1965960" y="0"/>
            <a:ext cx="0" cy="6858000"/>
          </a:xfrm>
          <a:prstGeom prst="line">
            <a:avLst/>
          </a:prstGeom>
          <a:noFill/>
          <a:ln w="6350">
            <a:solidFill>
              <a:srgbClr val="3FB8C4">
                <a:alpha val="18000"/>
              </a:srgbClr>
            </a:solidFill>
            <a:prstDash val="solid"/>
          </a:ln>
        </p:spPr>
      </p:sp>
      <p:sp>
        <p:nvSpPr>
          <p:cNvPr id="5" name="Shape 3"/>
          <p:cNvSpPr/>
          <p:nvPr/>
        </p:nvSpPr>
        <p:spPr>
          <a:xfrm>
            <a:off x="2606040" y="0"/>
            <a:ext cx="0" cy="6858000"/>
          </a:xfrm>
          <a:prstGeom prst="line">
            <a:avLst/>
          </a:prstGeom>
          <a:noFill/>
          <a:ln w="6350">
            <a:solidFill>
              <a:srgbClr val="3FB8C4">
                <a:alpha val="18000"/>
              </a:srgbClr>
            </a:solidFill>
            <a:prstDash val="solid"/>
          </a:ln>
        </p:spPr>
      </p:sp>
      <p:sp>
        <p:nvSpPr>
          <p:cNvPr id="6" name="Shape 4"/>
          <p:cNvSpPr/>
          <p:nvPr/>
        </p:nvSpPr>
        <p:spPr>
          <a:xfrm>
            <a:off x="3246120" y="0"/>
            <a:ext cx="0" cy="6858000"/>
          </a:xfrm>
          <a:prstGeom prst="line">
            <a:avLst/>
          </a:prstGeom>
          <a:noFill/>
          <a:ln w="6350">
            <a:solidFill>
              <a:srgbClr val="3FB8C4">
                <a:alpha val="18000"/>
              </a:srgbClr>
            </a:solidFill>
            <a:prstDash val="solid"/>
          </a:ln>
        </p:spPr>
      </p:sp>
      <p:sp>
        <p:nvSpPr>
          <p:cNvPr id="7" name="Shape 5"/>
          <p:cNvSpPr/>
          <p:nvPr/>
        </p:nvSpPr>
        <p:spPr>
          <a:xfrm>
            <a:off x="3886200" y="0"/>
            <a:ext cx="0" cy="6858000"/>
          </a:xfrm>
          <a:prstGeom prst="line">
            <a:avLst/>
          </a:prstGeom>
          <a:noFill/>
          <a:ln w="6350">
            <a:solidFill>
              <a:srgbClr val="3FB8C4">
                <a:alpha val="18000"/>
              </a:srgbClr>
            </a:solidFill>
            <a:prstDash val="solid"/>
          </a:ln>
        </p:spPr>
      </p:sp>
      <p:sp>
        <p:nvSpPr>
          <p:cNvPr id="8" name="Shape 6"/>
          <p:cNvSpPr/>
          <p:nvPr/>
        </p:nvSpPr>
        <p:spPr>
          <a:xfrm>
            <a:off x="4526280" y="0"/>
            <a:ext cx="0" cy="6858000"/>
          </a:xfrm>
          <a:prstGeom prst="line">
            <a:avLst/>
          </a:prstGeom>
          <a:noFill/>
          <a:ln w="6350">
            <a:solidFill>
              <a:srgbClr val="3FB8C4">
                <a:alpha val="18000"/>
              </a:srgbClr>
            </a:solidFill>
            <a:prstDash val="solid"/>
          </a:ln>
        </p:spPr>
      </p:sp>
      <p:sp>
        <p:nvSpPr>
          <p:cNvPr id="9" name="Shape 7"/>
          <p:cNvSpPr/>
          <p:nvPr/>
        </p:nvSpPr>
        <p:spPr>
          <a:xfrm>
            <a:off x="5166360" y="0"/>
            <a:ext cx="0" cy="6858000"/>
          </a:xfrm>
          <a:prstGeom prst="line">
            <a:avLst/>
          </a:prstGeom>
          <a:noFill/>
          <a:ln w="6350">
            <a:solidFill>
              <a:srgbClr val="3FB8C4">
                <a:alpha val="18000"/>
              </a:srgbClr>
            </a:solidFill>
            <a:prstDash val="solid"/>
          </a:ln>
        </p:spPr>
      </p:sp>
      <p:sp>
        <p:nvSpPr>
          <p:cNvPr id="10" name="Shape 8"/>
          <p:cNvSpPr/>
          <p:nvPr/>
        </p:nvSpPr>
        <p:spPr>
          <a:xfrm>
            <a:off x="5806440" y="0"/>
            <a:ext cx="0" cy="6858000"/>
          </a:xfrm>
          <a:prstGeom prst="line">
            <a:avLst/>
          </a:prstGeom>
          <a:noFill/>
          <a:ln w="6350">
            <a:solidFill>
              <a:srgbClr val="3FB8C4">
                <a:alpha val="18000"/>
              </a:srgbClr>
            </a:solidFill>
            <a:prstDash val="solid"/>
          </a:ln>
        </p:spPr>
      </p:sp>
      <p:sp>
        <p:nvSpPr>
          <p:cNvPr id="11" name="Shape 9"/>
          <p:cNvSpPr/>
          <p:nvPr/>
        </p:nvSpPr>
        <p:spPr>
          <a:xfrm>
            <a:off x="6446520" y="0"/>
            <a:ext cx="0" cy="6858000"/>
          </a:xfrm>
          <a:prstGeom prst="line">
            <a:avLst/>
          </a:prstGeom>
          <a:noFill/>
          <a:ln w="6350">
            <a:solidFill>
              <a:srgbClr val="3FB8C4">
                <a:alpha val="18000"/>
              </a:srgbClr>
            </a:solidFill>
            <a:prstDash val="solid"/>
          </a:ln>
        </p:spPr>
      </p:sp>
      <p:sp>
        <p:nvSpPr>
          <p:cNvPr id="12" name="Shape 10"/>
          <p:cNvSpPr/>
          <p:nvPr/>
        </p:nvSpPr>
        <p:spPr>
          <a:xfrm>
            <a:off x="7086600" y="0"/>
            <a:ext cx="0" cy="6858000"/>
          </a:xfrm>
          <a:prstGeom prst="line">
            <a:avLst/>
          </a:prstGeom>
          <a:noFill/>
          <a:ln w="6350">
            <a:solidFill>
              <a:srgbClr val="3FB8C4">
                <a:alpha val="18000"/>
              </a:srgbClr>
            </a:solidFill>
            <a:prstDash val="solid"/>
          </a:ln>
        </p:spPr>
      </p:sp>
      <p:sp>
        <p:nvSpPr>
          <p:cNvPr id="13" name="Shape 11"/>
          <p:cNvSpPr/>
          <p:nvPr/>
        </p:nvSpPr>
        <p:spPr>
          <a:xfrm>
            <a:off x="7726680" y="0"/>
            <a:ext cx="0" cy="6858000"/>
          </a:xfrm>
          <a:prstGeom prst="line">
            <a:avLst/>
          </a:prstGeom>
          <a:noFill/>
          <a:ln w="6350">
            <a:solidFill>
              <a:srgbClr val="3FB8C4">
                <a:alpha val="18000"/>
              </a:srgbClr>
            </a:solidFill>
            <a:prstDash val="solid"/>
          </a:ln>
        </p:spPr>
      </p:sp>
      <p:sp>
        <p:nvSpPr>
          <p:cNvPr id="14" name="Shape 12"/>
          <p:cNvSpPr/>
          <p:nvPr/>
        </p:nvSpPr>
        <p:spPr>
          <a:xfrm>
            <a:off x="8366760" y="0"/>
            <a:ext cx="0" cy="6858000"/>
          </a:xfrm>
          <a:prstGeom prst="line">
            <a:avLst/>
          </a:prstGeom>
          <a:noFill/>
          <a:ln w="6350">
            <a:solidFill>
              <a:srgbClr val="3FB8C4">
                <a:alpha val="18000"/>
              </a:srgbClr>
            </a:solidFill>
            <a:prstDash val="solid"/>
          </a:ln>
        </p:spPr>
      </p:sp>
      <p:sp>
        <p:nvSpPr>
          <p:cNvPr id="15" name="Shape 13"/>
          <p:cNvSpPr/>
          <p:nvPr/>
        </p:nvSpPr>
        <p:spPr>
          <a:xfrm>
            <a:off x="9006840" y="0"/>
            <a:ext cx="0" cy="6858000"/>
          </a:xfrm>
          <a:prstGeom prst="line">
            <a:avLst/>
          </a:prstGeom>
          <a:noFill/>
          <a:ln w="6350">
            <a:solidFill>
              <a:srgbClr val="3FB8C4">
                <a:alpha val="18000"/>
              </a:srgbClr>
            </a:solidFill>
            <a:prstDash val="solid"/>
          </a:ln>
        </p:spPr>
      </p:sp>
      <p:sp>
        <p:nvSpPr>
          <p:cNvPr id="16" name="Shape 14"/>
          <p:cNvSpPr/>
          <p:nvPr/>
        </p:nvSpPr>
        <p:spPr>
          <a:xfrm>
            <a:off x="9646920" y="0"/>
            <a:ext cx="0" cy="6858000"/>
          </a:xfrm>
          <a:prstGeom prst="line">
            <a:avLst/>
          </a:prstGeom>
          <a:noFill/>
          <a:ln w="6350">
            <a:solidFill>
              <a:srgbClr val="3FB8C4">
                <a:alpha val="18000"/>
              </a:srgbClr>
            </a:solidFill>
            <a:prstDash val="solid"/>
          </a:ln>
        </p:spPr>
      </p:sp>
      <p:sp>
        <p:nvSpPr>
          <p:cNvPr id="17" name="Shape 15"/>
          <p:cNvSpPr/>
          <p:nvPr/>
        </p:nvSpPr>
        <p:spPr>
          <a:xfrm>
            <a:off x="10287000" y="0"/>
            <a:ext cx="0" cy="6858000"/>
          </a:xfrm>
          <a:prstGeom prst="line">
            <a:avLst/>
          </a:prstGeom>
          <a:noFill/>
          <a:ln w="6350">
            <a:solidFill>
              <a:srgbClr val="3FB8C4">
                <a:alpha val="18000"/>
              </a:srgbClr>
            </a:solidFill>
            <a:prstDash val="solid"/>
          </a:ln>
        </p:spPr>
      </p:sp>
      <p:sp>
        <p:nvSpPr>
          <p:cNvPr id="18" name="Shape 16"/>
          <p:cNvSpPr/>
          <p:nvPr/>
        </p:nvSpPr>
        <p:spPr>
          <a:xfrm>
            <a:off x="10927080" y="0"/>
            <a:ext cx="0" cy="6858000"/>
          </a:xfrm>
          <a:prstGeom prst="line">
            <a:avLst/>
          </a:prstGeom>
          <a:noFill/>
          <a:ln w="6350">
            <a:solidFill>
              <a:srgbClr val="3FB8C4">
                <a:alpha val="18000"/>
              </a:srgbClr>
            </a:solidFill>
            <a:prstDash val="solid"/>
          </a:ln>
        </p:spPr>
      </p:sp>
      <p:sp>
        <p:nvSpPr>
          <p:cNvPr id="19" name="Shape 17"/>
          <p:cNvSpPr/>
          <p:nvPr/>
        </p:nvSpPr>
        <p:spPr>
          <a:xfrm>
            <a:off x="11567160" y="0"/>
            <a:ext cx="0" cy="6858000"/>
          </a:xfrm>
          <a:prstGeom prst="line">
            <a:avLst/>
          </a:prstGeom>
          <a:noFill/>
          <a:ln w="6350">
            <a:solidFill>
              <a:srgbClr val="3FB8C4">
                <a:alpha val="18000"/>
              </a:srgbClr>
            </a:solidFill>
            <a:prstDash val="solid"/>
          </a:ln>
        </p:spPr>
      </p:sp>
      <p:sp>
        <p:nvSpPr>
          <p:cNvPr id="20" name="Shape 18"/>
          <p:cNvSpPr/>
          <p:nvPr/>
        </p:nvSpPr>
        <p:spPr>
          <a:xfrm>
            <a:off x="0" y="640080"/>
            <a:ext cx="12191695" cy="0"/>
          </a:xfrm>
          <a:prstGeom prst="line">
            <a:avLst/>
          </a:prstGeom>
          <a:noFill/>
          <a:ln w="6350">
            <a:solidFill>
              <a:srgbClr val="3FB8C4">
                <a:alpha val="18000"/>
              </a:srgbClr>
            </a:solidFill>
            <a:prstDash val="solid"/>
          </a:ln>
        </p:spPr>
      </p:sp>
      <p:sp>
        <p:nvSpPr>
          <p:cNvPr id="21" name="Shape 19"/>
          <p:cNvSpPr/>
          <p:nvPr/>
        </p:nvSpPr>
        <p:spPr>
          <a:xfrm>
            <a:off x="0" y="1280160"/>
            <a:ext cx="12191695" cy="0"/>
          </a:xfrm>
          <a:prstGeom prst="line">
            <a:avLst/>
          </a:prstGeom>
          <a:noFill/>
          <a:ln w="6350">
            <a:solidFill>
              <a:srgbClr val="3FB8C4">
                <a:alpha val="18000"/>
              </a:srgbClr>
            </a:solidFill>
            <a:prstDash val="solid"/>
          </a:ln>
        </p:spPr>
      </p:sp>
      <p:sp>
        <p:nvSpPr>
          <p:cNvPr id="22" name="Shape 20"/>
          <p:cNvSpPr/>
          <p:nvPr/>
        </p:nvSpPr>
        <p:spPr>
          <a:xfrm>
            <a:off x="0" y="1920240"/>
            <a:ext cx="12191695" cy="0"/>
          </a:xfrm>
          <a:prstGeom prst="line">
            <a:avLst/>
          </a:prstGeom>
          <a:noFill/>
          <a:ln w="6350">
            <a:solidFill>
              <a:srgbClr val="3FB8C4">
                <a:alpha val="18000"/>
              </a:srgbClr>
            </a:solidFill>
            <a:prstDash val="solid"/>
          </a:ln>
        </p:spPr>
      </p:sp>
      <p:sp>
        <p:nvSpPr>
          <p:cNvPr id="23" name="Shape 21"/>
          <p:cNvSpPr/>
          <p:nvPr/>
        </p:nvSpPr>
        <p:spPr>
          <a:xfrm>
            <a:off x="0" y="2560320"/>
            <a:ext cx="12191695" cy="0"/>
          </a:xfrm>
          <a:prstGeom prst="line">
            <a:avLst/>
          </a:prstGeom>
          <a:noFill/>
          <a:ln w="6350">
            <a:solidFill>
              <a:srgbClr val="3FB8C4">
                <a:alpha val="18000"/>
              </a:srgbClr>
            </a:solidFill>
            <a:prstDash val="solid"/>
          </a:ln>
        </p:spPr>
      </p:sp>
      <p:sp>
        <p:nvSpPr>
          <p:cNvPr id="24" name="Shape 22"/>
          <p:cNvSpPr/>
          <p:nvPr/>
        </p:nvSpPr>
        <p:spPr>
          <a:xfrm>
            <a:off x="0" y="3200400"/>
            <a:ext cx="12191695" cy="0"/>
          </a:xfrm>
          <a:prstGeom prst="line">
            <a:avLst/>
          </a:prstGeom>
          <a:noFill/>
          <a:ln w="6350">
            <a:solidFill>
              <a:srgbClr val="3FB8C4">
                <a:alpha val="18000"/>
              </a:srgbClr>
            </a:solidFill>
            <a:prstDash val="solid"/>
          </a:ln>
        </p:spPr>
      </p:sp>
      <p:sp>
        <p:nvSpPr>
          <p:cNvPr id="25" name="Shape 23"/>
          <p:cNvSpPr/>
          <p:nvPr/>
        </p:nvSpPr>
        <p:spPr>
          <a:xfrm>
            <a:off x="0" y="3840480"/>
            <a:ext cx="12191695" cy="0"/>
          </a:xfrm>
          <a:prstGeom prst="line">
            <a:avLst/>
          </a:prstGeom>
          <a:noFill/>
          <a:ln w="6350">
            <a:solidFill>
              <a:srgbClr val="3FB8C4">
                <a:alpha val="18000"/>
              </a:srgbClr>
            </a:solidFill>
            <a:prstDash val="solid"/>
          </a:ln>
        </p:spPr>
      </p:sp>
      <p:sp>
        <p:nvSpPr>
          <p:cNvPr id="26" name="Shape 24"/>
          <p:cNvSpPr/>
          <p:nvPr/>
        </p:nvSpPr>
        <p:spPr>
          <a:xfrm>
            <a:off x="0" y="4480560"/>
            <a:ext cx="12191695" cy="0"/>
          </a:xfrm>
          <a:prstGeom prst="line">
            <a:avLst/>
          </a:prstGeom>
          <a:noFill/>
          <a:ln w="6350">
            <a:solidFill>
              <a:srgbClr val="3FB8C4">
                <a:alpha val="18000"/>
              </a:srgbClr>
            </a:solidFill>
            <a:prstDash val="solid"/>
          </a:ln>
        </p:spPr>
      </p:sp>
      <p:sp>
        <p:nvSpPr>
          <p:cNvPr id="27" name="Shape 25"/>
          <p:cNvSpPr/>
          <p:nvPr/>
        </p:nvSpPr>
        <p:spPr>
          <a:xfrm>
            <a:off x="0" y="5120640"/>
            <a:ext cx="12191695" cy="0"/>
          </a:xfrm>
          <a:prstGeom prst="line">
            <a:avLst/>
          </a:prstGeom>
          <a:noFill/>
          <a:ln w="6350">
            <a:solidFill>
              <a:srgbClr val="3FB8C4">
                <a:alpha val="18000"/>
              </a:srgbClr>
            </a:solidFill>
            <a:prstDash val="solid"/>
          </a:ln>
        </p:spPr>
      </p:sp>
      <p:sp>
        <p:nvSpPr>
          <p:cNvPr id="28" name="Shape 26"/>
          <p:cNvSpPr/>
          <p:nvPr/>
        </p:nvSpPr>
        <p:spPr>
          <a:xfrm>
            <a:off x="0" y="5760720"/>
            <a:ext cx="12191695" cy="0"/>
          </a:xfrm>
          <a:prstGeom prst="line">
            <a:avLst/>
          </a:prstGeom>
          <a:noFill/>
          <a:ln w="6350">
            <a:solidFill>
              <a:srgbClr val="3FB8C4">
                <a:alpha val="18000"/>
              </a:srgbClr>
            </a:solidFill>
            <a:prstDash val="solid"/>
          </a:ln>
        </p:spPr>
      </p:sp>
      <p:sp>
        <p:nvSpPr>
          <p:cNvPr id="29" name="Shape 27"/>
          <p:cNvSpPr/>
          <p:nvPr/>
        </p:nvSpPr>
        <p:spPr>
          <a:xfrm>
            <a:off x="0" y="6400800"/>
            <a:ext cx="12191695" cy="0"/>
          </a:xfrm>
          <a:prstGeom prst="line">
            <a:avLst/>
          </a:prstGeom>
          <a:noFill/>
          <a:ln w="6350">
            <a:solidFill>
              <a:srgbClr val="3FB8C4">
                <a:alpha val="18000"/>
              </a:srgbClr>
            </a:solidFill>
            <a:prstDash val="solid"/>
          </a:ln>
        </p:spPr>
      </p:sp>
      <p:sp>
        <p:nvSpPr>
          <p:cNvPr id="30" name="Text 28"/>
          <p:cNvSpPr/>
          <p:nvPr/>
        </p:nvSpPr>
        <p:spPr>
          <a:xfrm>
            <a:off x="758952" y="1645920"/>
            <a:ext cx="10637215" cy="1645920"/>
          </a:xfrm>
          <a:prstGeom prst="rect">
            <a:avLst/>
          </a:prstGeom>
          <a:noFill/>
          <a:ln/>
        </p:spPr>
        <p:txBody>
          <a:bodyPr wrap="square" rtlCol="0" anchor="t"/>
          <a:lstStyle/>
          <a:p>
            <a:pPr indent="0" marL="0">
              <a:lnSpc>
                <a:spcPct val="98000"/>
              </a:lnSpc>
              <a:buNone/>
            </a:pPr>
            <a:r>
              <a:rPr lang="en-US" sz="3800" b="1" dirty="0">
                <a:solidFill>
                  <a:srgbClr val="E7F1F4"/>
                </a:solidFill>
                <a:latin typeface="Calibri" pitchFamily="34" charset="0"/>
                <a:ea typeface="Calibri" pitchFamily="34" charset="-122"/>
                <a:cs typeface="Calibri" pitchFamily="34" charset="-120"/>
              </a:rPr>
              <a:t>Data Center Environmental Monitoring</a:t>
            </a:r>
            <a:endParaRPr lang="en-US" sz="3800" dirty="0"/>
          </a:p>
        </p:txBody>
      </p:sp>
      <p:sp>
        <p:nvSpPr>
          <p:cNvPr id="31" name="Text 29"/>
          <p:cNvSpPr/>
          <p:nvPr/>
        </p:nvSpPr>
        <p:spPr>
          <a:xfrm>
            <a:off x="777240" y="3337560"/>
            <a:ext cx="10637215" cy="365760"/>
          </a:xfrm>
          <a:prstGeom prst="rect">
            <a:avLst/>
          </a:prstGeom>
          <a:noFill/>
          <a:ln/>
        </p:spPr>
        <p:txBody>
          <a:bodyPr wrap="square" rtlCol="0" anchor="ctr"/>
          <a:lstStyle/>
          <a:p>
            <a:pPr indent="0" marL="0">
              <a:buNone/>
            </a:pPr>
            <a:r>
              <a:rPr lang="en-US" sz="1450" dirty="0">
                <a:solidFill>
                  <a:srgbClr val="8B98A6"/>
                </a:solidFill>
                <a:latin typeface="Calibri" pitchFamily="34" charset="0"/>
                <a:ea typeface="Calibri" pitchFamily="34" charset="-122"/>
                <a:cs typeface="Calibri" pitchFamily="34" charset="-120"/>
              </a:rPr>
              <a:t>Nithin   ·   X25125338</a:t>
            </a:r>
            <a:endParaRPr lang="en-US" sz="1450" dirty="0"/>
          </a:p>
        </p:txBody>
      </p:sp>
      <p:sp>
        <p:nvSpPr>
          <p:cNvPr id="32" name="Text 30"/>
          <p:cNvSpPr/>
          <p:nvPr/>
        </p:nvSpPr>
        <p:spPr>
          <a:xfrm>
            <a:off x="777240" y="3931920"/>
            <a:ext cx="8138160" cy="1325880"/>
          </a:xfrm>
          <a:prstGeom prst="rect">
            <a:avLst/>
          </a:prstGeom>
          <a:noFill/>
          <a:ln/>
        </p:spPr>
        <p:txBody>
          <a:bodyPr wrap="square" rtlCol="0" anchor="t"/>
          <a:lstStyle/>
          <a:p>
            <a:pPr indent="0" marL="0">
              <a:lnSpc>
                <a:spcPct val="130000"/>
              </a:lnSpc>
              <a:buNone/>
            </a:pPr>
            <a:r>
              <a:rPr lang="en-US" sz="1400" dirty="0">
                <a:solidFill>
                  <a:srgbClr val="E7F1F4"/>
                </a:solidFill>
                <a:latin typeface="Calibri" pitchFamily="34" charset="0"/>
                <a:ea typeface="Calibri" pitchFamily="34" charset="-122"/>
                <a:cs typeface="Calibri" pitchFamily="34" charset="-120"/>
              </a:rPr>
              <a:t>An overheating server, a humidity swing toward condensation, or restricted airflow around a rack can each trigger a costly unplanned outage — and fixed rounds see them only after the fact.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2"/>
        </a:solidFill>
      </p:bgPr>
    </p:bg>
    <p:spTree>
      <p:nvGrpSpPr>
        <p:cNvPr id="1" name=""/>
        <p:cNvGrpSpPr/>
        <p:nvPr/>
      </p:nvGrpSpPr>
      <p:grpSpPr>
        <a:xfrm>
          <a:off x="0" y="0"/>
          <a:ext cx="0" cy="0"/>
          <a:chOff x="0" y="0"/>
          <a:chExt cx="0" cy="0"/>
        </a:xfrm>
      </p:grpSpPr>
      <p:sp>
        <p:nvSpPr>
          <p:cNvPr id="2" name="Shape 0"/>
          <p:cNvSpPr/>
          <p:nvPr/>
        </p:nvSpPr>
        <p:spPr>
          <a:xfrm>
            <a:off x="685800" y="0"/>
            <a:ext cx="0" cy="6858000"/>
          </a:xfrm>
          <a:prstGeom prst="line">
            <a:avLst/>
          </a:prstGeom>
          <a:noFill/>
          <a:ln w="6350">
            <a:solidFill>
              <a:srgbClr val="3FB8C4">
                <a:alpha val="18000"/>
              </a:srgbClr>
            </a:solidFill>
            <a:prstDash val="solid"/>
          </a:ln>
        </p:spPr>
      </p:sp>
      <p:sp>
        <p:nvSpPr>
          <p:cNvPr id="3" name="Shape 1"/>
          <p:cNvSpPr/>
          <p:nvPr/>
        </p:nvSpPr>
        <p:spPr>
          <a:xfrm>
            <a:off x="1325880" y="0"/>
            <a:ext cx="0" cy="6858000"/>
          </a:xfrm>
          <a:prstGeom prst="line">
            <a:avLst/>
          </a:prstGeom>
          <a:noFill/>
          <a:ln w="6350">
            <a:solidFill>
              <a:srgbClr val="3FB8C4">
                <a:alpha val="18000"/>
              </a:srgbClr>
            </a:solidFill>
            <a:prstDash val="solid"/>
          </a:ln>
        </p:spPr>
      </p:sp>
      <p:sp>
        <p:nvSpPr>
          <p:cNvPr id="4" name="Shape 2"/>
          <p:cNvSpPr/>
          <p:nvPr/>
        </p:nvSpPr>
        <p:spPr>
          <a:xfrm>
            <a:off x="1965960" y="0"/>
            <a:ext cx="0" cy="6858000"/>
          </a:xfrm>
          <a:prstGeom prst="line">
            <a:avLst/>
          </a:prstGeom>
          <a:noFill/>
          <a:ln w="6350">
            <a:solidFill>
              <a:srgbClr val="3FB8C4">
                <a:alpha val="18000"/>
              </a:srgbClr>
            </a:solidFill>
            <a:prstDash val="solid"/>
          </a:ln>
        </p:spPr>
      </p:sp>
      <p:sp>
        <p:nvSpPr>
          <p:cNvPr id="5" name="Shape 3"/>
          <p:cNvSpPr/>
          <p:nvPr/>
        </p:nvSpPr>
        <p:spPr>
          <a:xfrm>
            <a:off x="2606040" y="0"/>
            <a:ext cx="0" cy="6858000"/>
          </a:xfrm>
          <a:prstGeom prst="line">
            <a:avLst/>
          </a:prstGeom>
          <a:noFill/>
          <a:ln w="6350">
            <a:solidFill>
              <a:srgbClr val="3FB8C4">
                <a:alpha val="18000"/>
              </a:srgbClr>
            </a:solidFill>
            <a:prstDash val="solid"/>
          </a:ln>
        </p:spPr>
      </p:sp>
      <p:sp>
        <p:nvSpPr>
          <p:cNvPr id="6" name="Shape 4"/>
          <p:cNvSpPr/>
          <p:nvPr/>
        </p:nvSpPr>
        <p:spPr>
          <a:xfrm>
            <a:off x="3246120" y="0"/>
            <a:ext cx="0" cy="6858000"/>
          </a:xfrm>
          <a:prstGeom prst="line">
            <a:avLst/>
          </a:prstGeom>
          <a:noFill/>
          <a:ln w="6350">
            <a:solidFill>
              <a:srgbClr val="3FB8C4">
                <a:alpha val="18000"/>
              </a:srgbClr>
            </a:solidFill>
            <a:prstDash val="solid"/>
          </a:ln>
        </p:spPr>
      </p:sp>
      <p:sp>
        <p:nvSpPr>
          <p:cNvPr id="7" name="Shape 5"/>
          <p:cNvSpPr/>
          <p:nvPr/>
        </p:nvSpPr>
        <p:spPr>
          <a:xfrm>
            <a:off x="3886200" y="0"/>
            <a:ext cx="0" cy="6858000"/>
          </a:xfrm>
          <a:prstGeom prst="line">
            <a:avLst/>
          </a:prstGeom>
          <a:noFill/>
          <a:ln w="6350">
            <a:solidFill>
              <a:srgbClr val="3FB8C4">
                <a:alpha val="18000"/>
              </a:srgbClr>
            </a:solidFill>
            <a:prstDash val="solid"/>
          </a:ln>
        </p:spPr>
      </p:sp>
      <p:sp>
        <p:nvSpPr>
          <p:cNvPr id="8" name="Shape 6"/>
          <p:cNvSpPr/>
          <p:nvPr/>
        </p:nvSpPr>
        <p:spPr>
          <a:xfrm>
            <a:off x="4526280" y="0"/>
            <a:ext cx="0" cy="6858000"/>
          </a:xfrm>
          <a:prstGeom prst="line">
            <a:avLst/>
          </a:prstGeom>
          <a:noFill/>
          <a:ln w="6350">
            <a:solidFill>
              <a:srgbClr val="3FB8C4">
                <a:alpha val="18000"/>
              </a:srgbClr>
            </a:solidFill>
            <a:prstDash val="solid"/>
          </a:ln>
        </p:spPr>
      </p:sp>
      <p:sp>
        <p:nvSpPr>
          <p:cNvPr id="9" name="Shape 7"/>
          <p:cNvSpPr/>
          <p:nvPr/>
        </p:nvSpPr>
        <p:spPr>
          <a:xfrm>
            <a:off x="5166360" y="0"/>
            <a:ext cx="0" cy="6858000"/>
          </a:xfrm>
          <a:prstGeom prst="line">
            <a:avLst/>
          </a:prstGeom>
          <a:noFill/>
          <a:ln w="6350">
            <a:solidFill>
              <a:srgbClr val="3FB8C4">
                <a:alpha val="18000"/>
              </a:srgbClr>
            </a:solidFill>
            <a:prstDash val="solid"/>
          </a:ln>
        </p:spPr>
      </p:sp>
      <p:sp>
        <p:nvSpPr>
          <p:cNvPr id="10" name="Shape 8"/>
          <p:cNvSpPr/>
          <p:nvPr/>
        </p:nvSpPr>
        <p:spPr>
          <a:xfrm>
            <a:off x="5806440" y="0"/>
            <a:ext cx="0" cy="6858000"/>
          </a:xfrm>
          <a:prstGeom prst="line">
            <a:avLst/>
          </a:prstGeom>
          <a:noFill/>
          <a:ln w="6350">
            <a:solidFill>
              <a:srgbClr val="3FB8C4">
                <a:alpha val="18000"/>
              </a:srgbClr>
            </a:solidFill>
            <a:prstDash val="solid"/>
          </a:ln>
        </p:spPr>
      </p:sp>
      <p:sp>
        <p:nvSpPr>
          <p:cNvPr id="11" name="Shape 9"/>
          <p:cNvSpPr/>
          <p:nvPr/>
        </p:nvSpPr>
        <p:spPr>
          <a:xfrm>
            <a:off x="6446520" y="0"/>
            <a:ext cx="0" cy="6858000"/>
          </a:xfrm>
          <a:prstGeom prst="line">
            <a:avLst/>
          </a:prstGeom>
          <a:noFill/>
          <a:ln w="6350">
            <a:solidFill>
              <a:srgbClr val="3FB8C4">
                <a:alpha val="18000"/>
              </a:srgbClr>
            </a:solidFill>
            <a:prstDash val="solid"/>
          </a:ln>
        </p:spPr>
      </p:sp>
      <p:sp>
        <p:nvSpPr>
          <p:cNvPr id="12" name="Shape 10"/>
          <p:cNvSpPr/>
          <p:nvPr/>
        </p:nvSpPr>
        <p:spPr>
          <a:xfrm>
            <a:off x="7086600" y="0"/>
            <a:ext cx="0" cy="6858000"/>
          </a:xfrm>
          <a:prstGeom prst="line">
            <a:avLst/>
          </a:prstGeom>
          <a:noFill/>
          <a:ln w="6350">
            <a:solidFill>
              <a:srgbClr val="3FB8C4">
                <a:alpha val="18000"/>
              </a:srgbClr>
            </a:solidFill>
            <a:prstDash val="solid"/>
          </a:ln>
        </p:spPr>
      </p:sp>
      <p:sp>
        <p:nvSpPr>
          <p:cNvPr id="13" name="Shape 11"/>
          <p:cNvSpPr/>
          <p:nvPr/>
        </p:nvSpPr>
        <p:spPr>
          <a:xfrm>
            <a:off x="7726680" y="0"/>
            <a:ext cx="0" cy="6858000"/>
          </a:xfrm>
          <a:prstGeom prst="line">
            <a:avLst/>
          </a:prstGeom>
          <a:noFill/>
          <a:ln w="6350">
            <a:solidFill>
              <a:srgbClr val="3FB8C4">
                <a:alpha val="18000"/>
              </a:srgbClr>
            </a:solidFill>
            <a:prstDash val="solid"/>
          </a:ln>
        </p:spPr>
      </p:sp>
      <p:sp>
        <p:nvSpPr>
          <p:cNvPr id="14" name="Shape 12"/>
          <p:cNvSpPr/>
          <p:nvPr/>
        </p:nvSpPr>
        <p:spPr>
          <a:xfrm>
            <a:off x="8366760" y="0"/>
            <a:ext cx="0" cy="6858000"/>
          </a:xfrm>
          <a:prstGeom prst="line">
            <a:avLst/>
          </a:prstGeom>
          <a:noFill/>
          <a:ln w="6350">
            <a:solidFill>
              <a:srgbClr val="3FB8C4">
                <a:alpha val="18000"/>
              </a:srgbClr>
            </a:solidFill>
            <a:prstDash val="solid"/>
          </a:ln>
        </p:spPr>
      </p:sp>
      <p:sp>
        <p:nvSpPr>
          <p:cNvPr id="15" name="Shape 13"/>
          <p:cNvSpPr/>
          <p:nvPr/>
        </p:nvSpPr>
        <p:spPr>
          <a:xfrm>
            <a:off x="9006840" y="0"/>
            <a:ext cx="0" cy="6858000"/>
          </a:xfrm>
          <a:prstGeom prst="line">
            <a:avLst/>
          </a:prstGeom>
          <a:noFill/>
          <a:ln w="6350">
            <a:solidFill>
              <a:srgbClr val="3FB8C4">
                <a:alpha val="18000"/>
              </a:srgbClr>
            </a:solidFill>
            <a:prstDash val="solid"/>
          </a:ln>
        </p:spPr>
      </p:sp>
      <p:sp>
        <p:nvSpPr>
          <p:cNvPr id="16" name="Shape 14"/>
          <p:cNvSpPr/>
          <p:nvPr/>
        </p:nvSpPr>
        <p:spPr>
          <a:xfrm>
            <a:off x="9646920" y="0"/>
            <a:ext cx="0" cy="6858000"/>
          </a:xfrm>
          <a:prstGeom prst="line">
            <a:avLst/>
          </a:prstGeom>
          <a:noFill/>
          <a:ln w="6350">
            <a:solidFill>
              <a:srgbClr val="3FB8C4">
                <a:alpha val="18000"/>
              </a:srgbClr>
            </a:solidFill>
            <a:prstDash val="solid"/>
          </a:ln>
        </p:spPr>
      </p:sp>
      <p:sp>
        <p:nvSpPr>
          <p:cNvPr id="17" name="Shape 15"/>
          <p:cNvSpPr/>
          <p:nvPr/>
        </p:nvSpPr>
        <p:spPr>
          <a:xfrm>
            <a:off x="10287000" y="0"/>
            <a:ext cx="0" cy="6858000"/>
          </a:xfrm>
          <a:prstGeom prst="line">
            <a:avLst/>
          </a:prstGeom>
          <a:noFill/>
          <a:ln w="6350">
            <a:solidFill>
              <a:srgbClr val="3FB8C4">
                <a:alpha val="18000"/>
              </a:srgbClr>
            </a:solidFill>
            <a:prstDash val="solid"/>
          </a:ln>
        </p:spPr>
      </p:sp>
      <p:sp>
        <p:nvSpPr>
          <p:cNvPr id="18" name="Shape 16"/>
          <p:cNvSpPr/>
          <p:nvPr/>
        </p:nvSpPr>
        <p:spPr>
          <a:xfrm>
            <a:off x="10927080" y="0"/>
            <a:ext cx="0" cy="6858000"/>
          </a:xfrm>
          <a:prstGeom prst="line">
            <a:avLst/>
          </a:prstGeom>
          <a:noFill/>
          <a:ln w="6350">
            <a:solidFill>
              <a:srgbClr val="3FB8C4">
                <a:alpha val="18000"/>
              </a:srgbClr>
            </a:solidFill>
            <a:prstDash val="solid"/>
          </a:ln>
        </p:spPr>
      </p:sp>
      <p:sp>
        <p:nvSpPr>
          <p:cNvPr id="19" name="Shape 17"/>
          <p:cNvSpPr/>
          <p:nvPr/>
        </p:nvSpPr>
        <p:spPr>
          <a:xfrm>
            <a:off x="11567160" y="0"/>
            <a:ext cx="0" cy="6858000"/>
          </a:xfrm>
          <a:prstGeom prst="line">
            <a:avLst/>
          </a:prstGeom>
          <a:noFill/>
          <a:ln w="6350">
            <a:solidFill>
              <a:srgbClr val="3FB8C4">
                <a:alpha val="18000"/>
              </a:srgbClr>
            </a:solidFill>
            <a:prstDash val="solid"/>
          </a:ln>
        </p:spPr>
      </p:sp>
      <p:sp>
        <p:nvSpPr>
          <p:cNvPr id="20" name="Shape 18"/>
          <p:cNvSpPr/>
          <p:nvPr/>
        </p:nvSpPr>
        <p:spPr>
          <a:xfrm>
            <a:off x="0" y="640080"/>
            <a:ext cx="12191695" cy="0"/>
          </a:xfrm>
          <a:prstGeom prst="line">
            <a:avLst/>
          </a:prstGeom>
          <a:noFill/>
          <a:ln w="6350">
            <a:solidFill>
              <a:srgbClr val="3FB8C4">
                <a:alpha val="18000"/>
              </a:srgbClr>
            </a:solidFill>
            <a:prstDash val="solid"/>
          </a:ln>
        </p:spPr>
      </p:sp>
      <p:sp>
        <p:nvSpPr>
          <p:cNvPr id="21" name="Shape 19"/>
          <p:cNvSpPr/>
          <p:nvPr/>
        </p:nvSpPr>
        <p:spPr>
          <a:xfrm>
            <a:off x="0" y="1280160"/>
            <a:ext cx="12191695" cy="0"/>
          </a:xfrm>
          <a:prstGeom prst="line">
            <a:avLst/>
          </a:prstGeom>
          <a:noFill/>
          <a:ln w="6350">
            <a:solidFill>
              <a:srgbClr val="3FB8C4">
                <a:alpha val="18000"/>
              </a:srgbClr>
            </a:solidFill>
            <a:prstDash val="solid"/>
          </a:ln>
        </p:spPr>
      </p:sp>
      <p:sp>
        <p:nvSpPr>
          <p:cNvPr id="22" name="Shape 20"/>
          <p:cNvSpPr/>
          <p:nvPr/>
        </p:nvSpPr>
        <p:spPr>
          <a:xfrm>
            <a:off x="0" y="1920240"/>
            <a:ext cx="12191695" cy="0"/>
          </a:xfrm>
          <a:prstGeom prst="line">
            <a:avLst/>
          </a:prstGeom>
          <a:noFill/>
          <a:ln w="6350">
            <a:solidFill>
              <a:srgbClr val="3FB8C4">
                <a:alpha val="18000"/>
              </a:srgbClr>
            </a:solidFill>
            <a:prstDash val="solid"/>
          </a:ln>
        </p:spPr>
      </p:sp>
      <p:sp>
        <p:nvSpPr>
          <p:cNvPr id="23" name="Shape 21"/>
          <p:cNvSpPr/>
          <p:nvPr/>
        </p:nvSpPr>
        <p:spPr>
          <a:xfrm>
            <a:off x="0" y="2560320"/>
            <a:ext cx="12191695" cy="0"/>
          </a:xfrm>
          <a:prstGeom prst="line">
            <a:avLst/>
          </a:prstGeom>
          <a:noFill/>
          <a:ln w="6350">
            <a:solidFill>
              <a:srgbClr val="3FB8C4">
                <a:alpha val="18000"/>
              </a:srgbClr>
            </a:solidFill>
            <a:prstDash val="solid"/>
          </a:ln>
        </p:spPr>
      </p:sp>
      <p:sp>
        <p:nvSpPr>
          <p:cNvPr id="24" name="Shape 22"/>
          <p:cNvSpPr/>
          <p:nvPr/>
        </p:nvSpPr>
        <p:spPr>
          <a:xfrm>
            <a:off x="0" y="3200400"/>
            <a:ext cx="12191695" cy="0"/>
          </a:xfrm>
          <a:prstGeom prst="line">
            <a:avLst/>
          </a:prstGeom>
          <a:noFill/>
          <a:ln w="6350">
            <a:solidFill>
              <a:srgbClr val="3FB8C4">
                <a:alpha val="18000"/>
              </a:srgbClr>
            </a:solidFill>
            <a:prstDash val="solid"/>
          </a:ln>
        </p:spPr>
      </p:sp>
      <p:sp>
        <p:nvSpPr>
          <p:cNvPr id="25" name="Shape 23"/>
          <p:cNvSpPr/>
          <p:nvPr/>
        </p:nvSpPr>
        <p:spPr>
          <a:xfrm>
            <a:off x="0" y="3840480"/>
            <a:ext cx="12191695" cy="0"/>
          </a:xfrm>
          <a:prstGeom prst="line">
            <a:avLst/>
          </a:prstGeom>
          <a:noFill/>
          <a:ln w="6350">
            <a:solidFill>
              <a:srgbClr val="3FB8C4">
                <a:alpha val="18000"/>
              </a:srgbClr>
            </a:solidFill>
            <a:prstDash val="solid"/>
          </a:ln>
        </p:spPr>
      </p:sp>
      <p:sp>
        <p:nvSpPr>
          <p:cNvPr id="26" name="Shape 24"/>
          <p:cNvSpPr/>
          <p:nvPr/>
        </p:nvSpPr>
        <p:spPr>
          <a:xfrm>
            <a:off x="0" y="4480560"/>
            <a:ext cx="12191695" cy="0"/>
          </a:xfrm>
          <a:prstGeom prst="line">
            <a:avLst/>
          </a:prstGeom>
          <a:noFill/>
          <a:ln w="6350">
            <a:solidFill>
              <a:srgbClr val="3FB8C4">
                <a:alpha val="18000"/>
              </a:srgbClr>
            </a:solidFill>
            <a:prstDash val="solid"/>
          </a:ln>
        </p:spPr>
      </p:sp>
      <p:sp>
        <p:nvSpPr>
          <p:cNvPr id="27" name="Shape 25"/>
          <p:cNvSpPr/>
          <p:nvPr/>
        </p:nvSpPr>
        <p:spPr>
          <a:xfrm>
            <a:off x="0" y="5120640"/>
            <a:ext cx="12191695" cy="0"/>
          </a:xfrm>
          <a:prstGeom prst="line">
            <a:avLst/>
          </a:prstGeom>
          <a:noFill/>
          <a:ln w="6350">
            <a:solidFill>
              <a:srgbClr val="3FB8C4">
                <a:alpha val="18000"/>
              </a:srgbClr>
            </a:solidFill>
            <a:prstDash val="solid"/>
          </a:ln>
        </p:spPr>
      </p:sp>
      <p:sp>
        <p:nvSpPr>
          <p:cNvPr id="28" name="Shape 26"/>
          <p:cNvSpPr/>
          <p:nvPr/>
        </p:nvSpPr>
        <p:spPr>
          <a:xfrm>
            <a:off x="0" y="5760720"/>
            <a:ext cx="12191695" cy="0"/>
          </a:xfrm>
          <a:prstGeom prst="line">
            <a:avLst/>
          </a:prstGeom>
          <a:noFill/>
          <a:ln w="6350">
            <a:solidFill>
              <a:srgbClr val="3FB8C4">
                <a:alpha val="18000"/>
              </a:srgbClr>
            </a:solidFill>
            <a:prstDash val="solid"/>
          </a:ln>
        </p:spPr>
      </p:sp>
      <p:sp>
        <p:nvSpPr>
          <p:cNvPr id="29" name="Shape 27"/>
          <p:cNvSpPr/>
          <p:nvPr/>
        </p:nvSpPr>
        <p:spPr>
          <a:xfrm>
            <a:off x="0" y="6400800"/>
            <a:ext cx="12191695" cy="0"/>
          </a:xfrm>
          <a:prstGeom prst="line">
            <a:avLst/>
          </a:prstGeom>
          <a:noFill/>
          <a:ln w="6350">
            <a:solidFill>
              <a:srgbClr val="3FB8C4">
                <a:alpha val="18000"/>
              </a:srgbClr>
            </a:solidFill>
            <a:prstDash val="solid"/>
          </a:ln>
        </p:spPr>
      </p:sp>
      <p:sp>
        <p:nvSpPr>
          <p:cNvPr id="30" name="Text 28"/>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3FB8C4"/>
                </a:solidFill>
                <a:latin typeface="Calibri" pitchFamily="34" charset="0"/>
                <a:ea typeface="Calibri" pitchFamily="34" charset="-122"/>
                <a:cs typeface="Calibri" pitchFamily="34" charset="-120"/>
              </a:rPr>
              <a:t>01</a:t>
            </a:r>
            <a:endParaRPr lang="en-US" sz="3000" dirty="0"/>
          </a:p>
        </p:txBody>
      </p:sp>
      <p:sp>
        <p:nvSpPr>
          <p:cNvPr id="31" name="Text 29"/>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ARCHITECTURE</a:t>
            </a:r>
            <a:endParaRPr lang="en-US" sz="1100" dirty="0"/>
          </a:p>
        </p:txBody>
      </p:sp>
      <p:sp>
        <p:nvSpPr>
          <p:cNvPr id="32" name="Text 30"/>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7F1F4"/>
                </a:solidFill>
                <a:latin typeface="Calibri" pitchFamily="34" charset="0"/>
                <a:ea typeface="Calibri" pitchFamily="34" charset="-122"/>
                <a:cs typeface="Calibri" pitchFamily="34" charset="-120"/>
              </a:rPr>
              <a:t>What I Built — Halls to Cloud</a:t>
            </a:r>
            <a:endParaRPr lang="en-US" sz="2300" dirty="0"/>
          </a:p>
        </p:txBody>
      </p:sp>
      <p:sp>
        <p:nvSpPr>
          <p:cNvPr id="33" name="Shape 31"/>
          <p:cNvSpPr/>
          <p:nvPr/>
        </p:nvSpPr>
        <p:spPr>
          <a:xfrm>
            <a:off x="777240" y="2971800"/>
            <a:ext cx="1391869" cy="1965960"/>
          </a:xfrm>
          <a:prstGeom prst="roundRect">
            <a:avLst>
              <a:gd name="adj" fmla="val 2628"/>
            </a:avLst>
          </a:prstGeom>
          <a:solidFill>
            <a:srgbClr val="3FB8C4"/>
          </a:solidFill>
          <a:ln w="12700">
            <a:solidFill>
              <a:srgbClr val="3FB8C4"/>
            </a:solidFill>
            <a:prstDash val="solid"/>
          </a:ln>
        </p:spPr>
      </p:sp>
      <p:sp>
        <p:nvSpPr>
          <p:cNvPr id="34" name="Text 32"/>
          <p:cNvSpPr/>
          <p:nvPr/>
        </p:nvSpPr>
        <p:spPr>
          <a:xfrm>
            <a:off x="923544" y="3154680"/>
            <a:ext cx="109926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01</a:t>
            </a:r>
            <a:endParaRPr lang="en-US" sz="1100" dirty="0"/>
          </a:p>
        </p:txBody>
      </p:sp>
      <p:sp>
        <p:nvSpPr>
          <p:cNvPr id="35" name="Text 33"/>
          <p:cNvSpPr/>
          <p:nvPr/>
        </p:nvSpPr>
        <p:spPr>
          <a:xfrm>
            <a:off x="923544"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alibri" pitchFamily="34" charset="0"/>
                <a:ea typeface="Calibri" pitchFamily="34" charset="-122"/>
                <a:cs typeface="Calibri" pitchFamily="34" charset="-120"/>
              </a:rPr>
              <a:t>Hall sensors</a:t>
            </a:r>
            <a:endParaRPr lang="en-US" sz="1300" dirty="0"/>
          </a:p>
        </p:txBody>
      </p:sp>
      <p:sp>
        <p:nvSpPr>
          <p:cNvPr id="36" name="Text 34"/>
          <p:cNvSpPr/>
          <p:nvPr/>
        </p:nvSpPr>
        <p:spPr>
          <a:xfrm>
            <a:off x="923544" y="4453128"/>
            <a:ext cx="109926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10 · 2 halls · 5 metrics</a:t>
            </a:r>
            <a:endParaRPr lang="en-US" sz="900" dirty="0"/>
          </a:p>
        </p:txBody>
      </p:sp>
      <p:sp>
        <p:nvSpPr>
          <p:cNvPr id="37" name="Shape 35"/>
          <p:cNvSpPr/>
          <p:nvPr/>
        </p:nvSpPr>
        <p:spPr>
          <a:xfrm>
            <a:off x="2242261" y="3845052"/>
            <a:ext cx="310896" cy="219456"/>
          </a:xfrm>
          <a:prstGeom prst="rightArrow">
            <a:avLst/>
          </a:prstGeom>
          <a:solidFill>
            <a:srgbClr val="8B98A6"/>
          </a:solidFill>
          <a:ln/>
        </p:spPr>
      </p:sp>
      <p:sp>
        <p:nvSpPr>
          <p:cNvPr id="38" name="Shape 36"/>
          <p:cNvSpPr/>
          <p:nvPr/>
        </p:nvSpPr>
        <p:spPr>
          <a:xfrm>
            <a:off x="2626309" y="2971800"/>
            <a:ext cx="1391869" cy="1965960"/>
          </a:xfrm>
          <a:prstGeom prst="roundRect">
            <a:avLst>
              <a:gd name="adj" fmla="val 2628"/>
            </a:avLst>
          </a:prstGeom>
          <a:solidFill>
            <a:srgbClr val="3FB8C4"/>
          </a:solidFill>
          <a:ln w="12700">
            <a:solidFill>
              <a:srgbClr val="3FB8C4"/>
            </a:solidFill>
            <a:prstDash val="solid"/>
          </a:ln>
        </p:spPr>
      </p:sp>
      <p:sp>
        <p:nvSpPr>
          <p:cNvPr id="39" name="Text 37"/>
          <p:cNvSpPr/>
          <p:nvPr/>
        </p:nvSpPr>
        <p:spPr>
          <a:xfrm>
            <a:off x="2772613" y="3154680"/>
            <a:ext cx="109926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02</a:t>
            </a:r>
            <a:endParaRPr lang="en-US" sz="1100" dirty="0"/>
          </a:p>
        </p:txBody>
      </p:sp>
      <p:sp>
        <p:nvSpPr>
          <p:cNvPr id="40" name="Text 38"/>
          <p:cNvSpPr/>
          <p:nvPr/>
        </p:nvSpPr>
        <p:spPr>
          <a:xfrm>
            <a:off x="2772613"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alibri" pitchFamily="34" charset="0"/>
                <a:ea typeface="Calibri" pitchFamily="34" charset="-122"/>
                <a:cs typeface="Calibri" pitchFamily="34" charset="-120"/>
              </a:rPr>
              <a:t>Fog node</a:t>
            </a:r>
            <a:endParaRPr lang="en-US" sz="1300" dirty="0"/>
          </a:p>
        </p:txBody>
      </p:sp>
      <p:sp>
        <p:nvSpPr>
          <p:cNvPr id="41" name="Text 39"/>
          <p:cNvSpPr/>
          <p:nvPr/>
        </p:nvSpPr>
        <p:spPr>
          <a:xfrm>
            <a:off x="2772613" y="4453128"/>
            <a:ext cx="109926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windows · edge alerts</a:t>
            </a:r>
            <a:endParaRPr lang="en-US" sz="900" dirty="0"/>
          </a:p>
        </p:txBody>
      </p:sp>
      <p:sp>
        <p:nvSpPr>
          <p:cNvPr id="42" name="Shape 40"/>
          <p:cNvSpPr/>
          <p:nvPr/>
        </p:nvSpPr>
        <p:spPr>
          <a:xfrm>
            <a:off x="4091330" y="3845052"/>
            <a:ext cx="310896" cy="219456"/>
          </a:xfrm>
          <a:prstGeom prst="rightArrow">
            <a:avLst/>
          </a:prstGeom>
          <a:solidFill>
            <a:srgbClr val="8B98A6"/>
          </a:solidFill>
          <a:ln/>
        </p:spPr>
      </p:sp>
      <p:sp>
        <p:nvSpPr>
          <p:cNvPr id="43" name="Shape 41"/>
          <p:cNvSpPr/>
          <p:nvPr/>
        </p:nvSpPr>
        <p:spPr>
          <a:xfrm>
            <a:off x="4475378" y="2971800"/>
            <a:ext cx="1391869" cy="1965960"/>
          </a:xfrm>
          <a:prstGeom prst="roundRect">
            <a:avLst>
              <a:gd name="adj" fmla="val 2628"/>
            </a:avLst>
          </a:prstGeom>
          <a:solidFill>
            <a:srgbClr val="12242C"/>
          </a:solidFill>
          <a:ln w="12700">
            <a:solidFill>
              <a:srgbClr val="263840"/>
            </a:solidFill>
            <a:prstDash val="solid"/>
          </a:ln>
        </p:spPr>
      </p:sp>
      <p:sp>
        <p:nvSpPr>
          <p:cNvPr id="44" name="Text 42"/>
          <p:cNvSpPr/>
          <p:nvPr/>
        </p:nvSpPr>
        <p:spPr>
          <a:xfrm>
            <a:off x="4621682" y="3154680"/>
            <a:ext cx="1099261" cy="320040"/>
          </a:xfrm>
          <a:prstGeom prst="rect">
            <a:avLst/>
          </a:prstGeom>
          <a:noFill/>
          <a:ln/>
        </p:spPr>
        <p:txBody>
          <a:bodyPr wrap="square" lIns="0" tIns="0" rIns="0" bIns="0" rtlCol="0" anchor="ctr"/>
          <a:lstStyle/>
          <a:p>
            <a:pPr indent="0" marL="0">
              <a:buNone/>
            </a:pPr>
            <a:r>
              <a:rPr lang="en-US" sz="1100" dirty="0">
                <a:solidFill>
                  <a:srgbClr val="3FB8C4"/>
                </a:solidFill>
                <a:latin typeface="Consolas" pitchFamily="34" charset="0"/>
                <a:ea typeface="Consolas" pitchFamily="34" charset="-122"/>
                <a:cs typeface="Consolas" pitchFamily="34" charset="-120"/>
              </a:rPr>
              <a:t>03</a:t>
            </a:r>
            <a:endParaRPr lang="en-US" sz="1100" dirty="0"/>
          </a:p>
        </p:txBody>
      </p:sp>
      <p:sp>
        <p:nvSpPr>
          <p:cNvPr id="45" name="Text 43"/>
          <p:cNvSpPr/>
          <p:nvPr/>
        </p:nvSpPr>
        <p:spPr>
          <a:xfrm>
            <a:off x="4621682"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7F1F4"/>
                </a:solidFill>
                <a:latin typeface="Calibri" pitchFamily="34" charset="0"/>
                <a:ea typeface="Calibri" pitchFamily="34" charset="-122"/>
                <a:cs typeface="Calibri" pitchFamily="34" charset="-120"/>
              </a:rPr>
              <a:t>Amazon SQS</a:t>
            </a:r>
            <a:endParaRPr lang="en-US" sz="1300" dirty="0"/>
          </a:p>
        </p:txBody>
      </p:sp>
      <p:sp>
        <p:nvSpPr>
          <p:cNvPr id="46" name="Text 44"/>
          <p:cNvSpPr/>
          <p:nvPr/>
        </p:nvSpPr>
        <p:spPr>
          <a:xfrm>
            <a:off x="4621682"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window summaries</a:t>
            </a:r>
            <a:endParaRPr lang="en-US" sz="900" dirty="0"/>
          </a:p>
        </p:txBody>
      </p:sp>
      <p:sp>
        <p:nvSpPr>
          <p:cNvPr id="47" name="Shape 45"/>
          <p:cNvSpPr/>
          <p:nvPr/>
        </p:nvSpPr>
        <p:spPr>
          <a:xfrm>
            <a:off x="5940400" y="3845052"/>
            <a:ext cx="310896" cy="219456"/>
          </a:xfrm>
          <a:prstGeom prst="rightArrow">
            <a:avLst/>
          </a:prstGeom>
          <a:solidFill>
            <a:srgbClr val="8B98A6"/>
          </a:solidFill>
          <a:ln/>
        </p:spPr>
      </p:sp>
      <p:sp>
        <p:nvSpPr>
          <p:cNvPr id="48" name="Shape 46"/>
          <p:cNvSpPr/>
          <p:nvPr/>
        </p:nvSpPr>
        <p:spPr>
          <a:xfrm>
            <a:off x="6324448" y="2971800"/>
            <a:ext cx="1391869" cy="1965960"/>
          </a:xfrm>
          <a:prstGeom prst="roundRect">
            <a:avLst>
              <a:gd name="adj" fmla="val 2628"/>
            </a:avLst>
          </a:prstGeom>
          <a:solidFill>
            <a:srgbClr val="12242C"/>
          </a:solidFill>
          <a:ln w="12700">
            <a:solidFill>
              <a:srgbClr val="263840"/>
            </a:solidFill>
            <a:prstDash val="solid"/>
          </a:ln>
        </p:spPr>
      </p:sp>
      <p:sp>
        <p:nvSpPr>
          <p:cNvPr id="49" name="Text 47"/>
          <p:cNvSpPr/>
          <p:nvPr/>
        </p:nvSpPr>
        <p:spPr>
          <a:xfrm>
            <a:off x="6470752" y="3154680"/>
            <a:ext cx="1099261" cy="320040"/>
          </a:xfrm>
          <a:prstGeom prst="rect">
            <a:avLst/>
          </a:prstGeom>
          <a:noFill/>
          <a:ln/>
        </p:spPr>
        <p:txBody>
          <a:bodyPr wrap="square" lIns="0" tIns="0" rIns="0" bIns="0" rtlCol="0" anchor="ctr"/>
          <a:lstStyle/>
          <a:p>
            <a:pPr indent="0" marL="0">
              <a:buNone/>
            </a:pPr>
            <a:r>
              <a:rPr lang="en-US" sz="1100" dirty="0">
                <a:solidFill>
                  <a:srgbClr val="3FB8C4"/>
                </a:solidFill>
                <a:latin typeface="Consolas" pitchFamily="34" charset="0"/>
                <a:ea typeface="Consolas" pitchFamily="34" charset="-122"/>
                <a:cs typeface="Consolas" pitchFamily="34" charset="-120"/>
              </a:rPr>
              <a:t>04</a:t>
            </a:r>
            <a:endParaRPr lang="en-US" sz="1100" dirty="0"/>
          </a:p>
        </p:txBody>
      </p:sp>
      <p:sp>
        <p:nvSpPr>
          <p:cNvPr id="50" name="Text 48"/>
          <p:cNvSpPr/>
          <p:nvPr/>
        </p:nvSpPr>
        <p:spPr>
          <a:xfrm>
            <a:off x="6470752"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7F1F4"/>
                </a:solidFill>
                <a:latin typeface="Calibri" pitchFamily="34" charset="0"/>
                <a:ea typeface="Calibri" pitchFamily="34" charset="-122"/>
                <a:cs typeface="Calibri" pitchFamily="34" charset="-120"/>
              </a:rPr>
              <a:t>AWS Lambda</a:t>
            </a:r>
            <a:endParaRPr lang="en-US" sz="1300" dirty="0"/>
          </a:p>
        </p:txBody>
      </p:sp>
      <p:sp>
        <p:nvSpPr>
          <p:cNvPr id="51" name="Text 49"/>
          <p:cNvSpPr/>
          <p:nvPr/>
        </p:nvSpPr>
        <p:spPr>
          <a:xfrm>
            <a:off x="6470752"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ingest function</a:t>
            </a:r>
            <a:endParaRPr lang="en-US" sz="900" dirty="0"/>
          </a:p>
        </p:txBody>
      </p:sp>
      <p:sp>
        <p:nvSpPr>
          <p:cNvPr id="52" name="Shape 50"/>
          <p:cNvSpPr/>
          <p:nvPr/>
        </p:nvSpPr>
        <p:spPr>
          <a:xfrm>
            <a:off x="7789469" y="3845052"/>
            <a:ext cx="310896" cy="219456"/>
          </a:xfrm>
          <a:prstGeom prst="rightArrow">
            <a:avLst/>
          </a:prstGeom>
          <a:solidFill>
            <a:srgbClr val="8B98A6"/>
          </a:solidFill>
          <a:ln/>
        </p:spPr>
      </p:sp>
      <p:sp>
        <p:nvSpPr>
          <p:cNvPr id="53" name="Shape 51"/>
          <p:cNvSpPr/>
          <p:nvPr/>
        </p:nvSpPr>
        <p:spPr>
          <a:xfrm>
            <a:off x="8173517" y="2971800"/>
            <a:ext cx="1391869" cy="1965960"/>
          </a:xfrm>
          <a:prstGeom prst="roundRect">
            <a:avLst>
              <a:gd name="adj" fmla="val 2628"/>
            </a:avLst>
          </a:prstGeom>
          <a:solidFill>
            <a:srgbClr val="12242C"/>
          </a:solidFill>
          <a:ln w="12700">
            <a:solidFill>
              <a:srgbClr val="263840"/>
            </a:solidFill>
            <a:prstDash val="solid"/>
          </a:ln>
        </p:spPr>
      </p:sp>
      <p:sp>
        <p:nvSpPr>
          <p:cNvPr id="54" name="Text 52"/>
          <p:cNvSpPr/>
          <p:nvPr/>
        </p:nvSpPr>
        <p:spPr>
          <a:xfrm>
            <a:off x="8319821" y="3154680"/>
            <a:ext cx="1099261" cy="320040"/>
          </a:xfrm>
          <a:prstGeom prst="rect">
            <a:avLst/>
          </a:prstGeom>
          <a:noFill/>
          <a:ln/>
        </p:spPr>
        <p:txBody>
          <a:bodyPr wrap="square" lIns="0" tIns="0" rIns="0" bIns="0" rtlCol="0" anchor="ctr"/>
          <a:lstStyle/>
          <a:p>
            <a:pPr indent="0" marL="0">
              <a:buNone/>
            </a:pPr>
            <a:r>
              <a:rPr lang="en-US" sz="1100" dirty="0">
                <a:solidFill>
                  <a:srgbClr val="3FB8C4"/>
                </a:solidFill>
                <a:latin typeface="Consolas" pitchFamily="34" charset="0"/>
                <a:ea typeface="Consolas" pitchFamily="34" charset="-122"/>
                <a:cs typeface="Consolas" pitchFamily="34" charset="-120"/>
              </a:rPr>
              <a:t>05</a:t>
            </a:r>
            <a:endParaRPr lang="en-US" sz="1100" dirty="0"/>
          </a:p>
        </p:txBody>
      </p:sp>
      <p:sp>
        <p:nvSpPr>
          <p:cNvPr id="55" name="Text 53"/>
          <p:cNvSpPr/>
          <p:nvPr/>
        </p:nvSpPr>
        <p:spPr>
          <a:xfrm>
            <a:off x="8319821"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7F1F4"/>
                </a:solidFill>
                <a:latin typeface="Calibri" pitchFamily="34" charset="0"/>
                <a:ea typeface="Calibri" pitchFamily="34" charset="-122"/>
                <a:cs typeface="Calibri" pitchFamily="34" charset="-120"/>
              </a:rPr>
              <a:t>DynamoDB</a:t>
            </a:r>
            <a:endParaRPr lang="en-US" sz="1300" dirty="0"/>
          </a:p>
        </p:txBody>
      </p:sp>
      <p:sp>
        <p:nvSpPr>
          <p:cNvPr id="56" name="Text 54"/>
          <p:cNvSpPr/>
          <p:nvPr/>
        </p:nvSpPr>
        <p:spPr>
          <a:xfrm>
            <a:off x="8319821"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readings store</a:t>
            </a:r>
            <a:endParaRPr lang="en-US" sz="900" dirty="0"/>
          </a:p>
        </p:txBody>
      </p:sp>
      <p:sp>
        <p:nvSpPr>
          <p:cNvPr id="57" name="Shape 55"/>
          <p:cNvSpPr/>
          <p:nvPr/>
        </p:nvSpPr>
        <p:spPr>
          <a:xfrm>
            <a:off x="9638538" y="3845052"/>
            <a:ext cx="310896" cy="219456"/>
          </a:xfrm>
          <a:prstGeom prst="rightArrow">
            <a:avLst/>
          </a:prstGeom>
          <a:solidFill>
            <a:srgbClr val="8B98A6"/>
          </a:solidFill>
          <a:ln/>
        </p:spPr>
      </p:sp>
      <p:sp>
        <p:nvSpPr>
          <p:cNvPr id="58" name="Shape 56"/>
          <p:cNvSpPr/>
          <p:nvPr/>
        </p:nvSpPr>
        <p:spPr>
          <a:xfrm>
            <a:off x="10022586" y="2971800"/>
            <a:ext cx="1391869" cy="1965960"/>
          </a:xfrm>
          <a:prstGeom prst="roundRect">
            <a:avLst>
              <a:gd name="adj" fmla="val 2628"/>
            </a:avLst>
          </a:prstGeom>
          <a:solidFill>
            <a:srgbClr val="12242C"/>
          </a:solidFill>
          <a:ln w="12700">
            <a:solidFill>
              <a:srgbClr val="263840"/>
            </a:solidFill>
            <a:prstDash val="solid"/>
          </a:ln>
        </p:spPr>
      </p:sp>
      <p:sp>
        <p:nvSpPr>
          <p:cNvPr id="59" name="Text 57"/>
          <p:cNvSpPr/>
          <p:nvPr/>
        </p:nvSpPr>
        <p:spPr>
          <a:xfrm>
            <a:off x="10168890" y="3154680"/>
            <a:ext cx="1099261" cy="320040"/>
          </a:xfrm>
          <a:prstGeom prst="rect">
            <a:avLst/>
          </a:prstGeom>
          <a:noFill/>
          <a:ln/>
        </p:spPr>
        <p:txBody>
          <a:bodyPr wrap="square" lIns="0" tIns="0" rIns="0" bIns="0" rtlCol="0" anchor="ctr"/>
          <a:lstStyle/>
          <a:p>
            <a:pPr indent="0" marL="0">
              <a:buNone/>
            </a:pPr>
            <a:r>
              <a:rPr lang="en-US" sz="1100" dirty="0">
                <a:solidFill>
                  <a:srgbClr val="3FB8C4"/>
                </a:solidFill>
                <a:latin typeface="Consolas" pitchFamily="34" charset="0"/>
                <a:ea typeface="Consolas" pitchFamily="34" charset="-122"/>
                <a:cs typeface="Consolas" pitchFamily="34" charset="-120"/>
              </a:rPr>
              <a:t>06</a:t>
            </a:r>
            <a:endParaRPr lang="en-US" sz="1100" dirty="0"/>
          </a:p>
        </p:txBody>
      </p:sp>
      <p:sp>
        <p:nvSpPr>
          <p:cNvPr id="60" name="Text 58"/>
          <p:cNvSpPr/>
          <p:nvPr/>
        </p:nvSpPr>
        <p:spPr>
          <a:xfrm>
            <a:off x="10168890"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7F1F4"/>
                </a:solidFill>
                <a:latin typeface="Calibri" pitchFamily="34" charset="0"/>
                <a:ea typeface="Calibri" pitchFamily="34" charset="-122"/>
                <a:cs typeface="Calibri" pitchFamily="34" charset="-120"/>
              </a:rPr>
              <a:t>API GW + S3</a:t>
            </a:r>
            <a:endParaRPr lang="en-US" sz="1300" dirty="0"/>
          </a:p>
        </p:txBody>
      </p:sp>
      <p:sp>
        <p:nvSpPr>
          <p:cNvPr id="61" name="Text 59"/>
          <p:cNvSpPr/>
          <p:nvPr/>
        </p:nvSpPr>
        <p:spPr>
          <a:xfrm>
            <a:off x="10168890"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live dashboard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2"/>
        </a:solidFill>
      </p:bgPr>
    </p:bg>
    <p:spTree>
      <p:nvGrpSpPr>
        <p:cNvPr id="1" name=""/>
        <p:cNvGrpSpPr/>
        <p:nvPr/>
      </p:nvGrpSpPr>
      <p:grpSpPr>
        <a:xfrm>
          <a:off x="0" y="0"/>
          <a:ext cx="0" cy="0"/>
          <a:chOff x="0" y="0"/>
          <a:chExt cx="0" cy="0"/>
        </a:xfrm>
      </p:grpSpPr>
      <p:sp>
        <p:nvSpPr>
          <p:cNvPr id="2" name="Shape 0"/>
          <p:cNvSpPr/>
          <p:nvPr/>
        </p:nvSpPr>
        <p:spPr>
          <a:xfrm>
            <a:off x="685800" y="0"/>
            <a:ext cx="0" cy="6858000"/>
          </a:xfrm>
          <a:prstGeom prst="line">
            <a:avLst/>
          </a:prstGeom>
          <a:noFill/>
          <a:ln w="6350">
            <a:solidFill>
              <a:srgbClr val="3FB8C4">
                <a:alpha val="18000"/>
              </a:srgbClr>
            </a:solidFill>
            <a:prstDash val="solid"/>
          </a:ln>
        </p:spPr>
      </p:sp>
      <p:sp>
        <p:nvSpPr>
          <p:cNvPr id="3" name="Shape 1"/>
          <p:cNvSpPr/>
          <p:nvPr/>
        </p:nvSpPr>
        <p:spPr>
          <a:xfrm>
            <a:off x="1325880" y="0"/>
            <a:ext cx="0" cy="6858000"/>
          </a:xfrm>
          <a:prstGeom prst="line">
            <a:avLst/>
          </a:prstGeom>
          <a:noFill/>
          <a:ln w="6350">
            <a:solidFill>
              <a:srgbClr val="3FB8C4">
                <a:alpha val="18000"/>
              </a:srgbClr>
            </a:solidFill>
            <a:prstDash val="solid"/>
          </a:ln>
        </p:spPr>
      </p:sp>
      <p:sp>
        <p:nvSpPr>
          <p:cNvPr id="4" name="Shape 2"/>
          <p:cNvSpPr/>
          <p:nvPr/>
        </p:nvSpPr>
        <p:spPr>
          <a:xfrm>
            <a:off x="1965960" y="0"/>
            <a:ext cx="0" cy="6858000"/>
          </a:xfrm>
          <a:prstGeom prst="line">
            <a:avLst/>
          </a:prstGeom>
          <a:noFill/>
          <a:ln w="6350">
            <a:solidFill>
              <a:srgbClr val="3FB8C4">
                <a:alpha val="18000"/>
              </a:srgbClr>
            </a:solidFill>
            <a:prstDash val="solid"/>
          </a:ln>
        </p:spPr>
      </p:sp>
      <p:sp>
        <p:nvSpPr>
          <p:cNvPr id="5" name="Shape 3"/>
          <p:cNvSpPr/>
          <p:nvPr/>
        </p:nvSpPr>
        <p:spPr>
          <a:xfrm>
            <a:off x="2606040" y="0"/>
            <a:ext cx="0" cy="6858000"/>
          </a:xfrm>
          <a:prstGeom prst="line">
            <a:avLst/>
          </a:prstGeom>
          <a:noFill/>
          <a:ln w="6350">
            <a:solidFill>
              <a:srgbClr val="3FB8C4">
                <a:alpha val="18000"/>
              </a:srgbClr>
            </a:solidFill>
            <a:prstDash val="solid"/>
          </a:ln>
        </p:spPr>
      </p:sp>
      <p:sp>
        <p:nvSpPr>
          <p:cNvPr id="6" name="Shape 4"/>
          <p:cNvSpPr/>
          <p:nvPr/>
        </p:nvSpPr>
        <p:spPr>
          <a:xfrm>
            <a:off x="3246120" y="0"/>
            <a:ext cx="0" cy="6858000"/>
          </a:xfrm>
          <a:prstGeom prst="line">
            <a:avLst/>
          </a:prstGeom>
          <a:noFill/>
          <a:ln w="6350">
            <a:solidFill>
              <a:srgbClr val="3FB8C4">
                <a:alpha val="18000"/>
              </a:srgbClr>
            </a:solidFill>
            <a:prstDash val="solid"/>
          </a:ln>
        </p:spPr>
      </p:sp>
      <p:sp>
        <p:nvSpPr>
          <p:cNvPr id="7" name="Shape 5"/>
          <p:cNvSpPr/>
          <p:nvPr/>
        </p:nvSpPr>
        <p:spPr>
          <a:xfrm>
            <a:off x="3886200" y="0"/>
            <a:ext cx="0" cy="6858000"/>
          </a:xfrm>
          <a:prstGeom prst="line">
            <a:avLst/>
          </a:prstGeom>
          <a:noFill/>
          <a:ln w="6350">
            <a:solidFill>
              <a:srgbClr val="3FB8C4">
                <a:alpha val="18000"/>
              </a:srgbClr>
            </a:solidFill>
            <a:prstDash val="solid"/>
          </a:ln>
        </p:spPr>
      </p:sp>
      <p:sp>
        <p:nvSpPr>
          <p:cNvPr id="8" name="Shape 6"/>
          <p:cNvSpPr/>
          <p:nvPr/>
        </p:nvSpPr>
        <p:spPr>
          <a:xfrm>
            <a:off x="4526280" y="0"/>
            <a:ext cx="0" cy="6858000"/>
          </a:xfrm>
          <a:prstGeom prst="line">
            <a:avLst/>
          </a:prstGeom>
          <a:noFill/>
          <a:ln w="6350">
            <a:solidFill>
              <a:srgbClr val="3FB8C4">
                <a:alpha val="18000"/>
              </a:srgbClr>
            </a:solidFill>
            <a:prstDash val="solid"/>
          </a:ln>
        </p:spPr>
      </p:sp>
      <p:sp>
        <p:nvSpPr>
          <p:cNvPr id="9" name="Shape 7"/>
          <p:cNvSpPr/>
          <p:nvPr/>
        </p:nvSpPr>
        <p:spPr>
          <a:xfrm>
            <a:off x="5166360" y="0"/>
            <a:ext cx="0" cy="6858000"/>
          </a:xfrm>
          <a:prstGeom prst="line">
            <a:avLst/>
          </a:prstGeom>
          <a:noFill/>
          <a:ln w="6350">
            <a:solidFill>
              <a:srgbClr val="3FB8C4">
                <a:alpha val="18000"/>
              </a:srgbClr>
            </a:solidFill>
            <a:prstDash val="solid"/>
          </a:ln>
        </p:spPr>
      </p:sp>
      <p:sp>
        <p:nvSpPr>
          <p:cNvPr id="10" name="Shape 8"/>
          <p:cNvSpPr/>
          <p:nvPr/>
        </p:nvSpPr>
        <p:spPr>
          <a:xfrm>
            <a:off x="5806440" y="0"/>
            <a:ext cx="0" cy="6858000"/>
          </a:xfrm>
          <a:prstGeom prst="line">
            <a:avLst/>
          </a:prstGeom>
          <a:noFill/>
          <a:ln w="6350">
            <a:solidFill>
              <a:srgbClr val="3FB8C4">
                <a:alpha val="18000"/>
              </a:srgbClr>
            </a:solidFill>
            <a:prstDash val="solid"/>
          </a:ln>
        </p:spPr>
      </p:sp>
      <p:sp>
        <p:nvSpPr>
          <p:cNvPr id="11" name="Shape 9"/>
          <p:cNvSpPr/>
          <p:nvPr/>
        </p:nvSpPr>
        <p:spPr>
          <a:xfrm>
            <a:off x="6446520" y="0"/>
            <a:ext cx="0" cy="6858000"/>
          </a:xfrm>
          <a:prstGeom prst="line">
            <a:avLst/>
          </a:prstGeom>
          <a:noFill/>
          <a:ln w="6350">
            <a:solidFill>
              <a:srgbClr val="3FB8C4">
                <a:alpha val="18000"/>
              </a:srgbClr>
            </a:solidFill>
            <a:prstDash val="solid"/>
          </a:ln>
        </p:spPr>
      </p:sp>
      <p:sp>
        <p:nvSpPr>
          <p:cNvPr id="12" name="Shape 10"/>
          <p:cNvSpPr/>
          <p:nvPr/>
        </p:nvSpPr>
        <p:spPr>
          <a:xfrm>
            <a:off x="7086600" y="0"/>
            <a:ext cx="0" cy="6858000"/>
          </a:xfrm>
          <a:prstGeom prst="line">
            <a:avLst/>
          </a:prstGeom>
          <a:noFill/>
          <a:ln w="6350">
            <a:solidFill>
              <a:srgbClr val="3FB8C4">
                <a:alpha val="18000"/>
              </a:srgbClr>
            </a:solidFill>
            <a:prstDash val="solid"/>
          </a:ln>
        </p:spPr>
      </p:sp>
      <p:sp>
        <p:nvSpPr>
          <p:cNvPr id="13" name="Shape 11"/>
          <p:cNvSpPr/>
          <p:nvPr/>
        </p:nvSpPr>
        <p:spPr>
          <a:xfrm>
            <a:off x="7726680" y="0"/>
            <a:ext cx="0" cy="6858000"/>
          </a:xfrm>
          <a:prstGeom prst="line">
            <a:avLst/>
          </a:prstGeom>
          <a:noFill/>
          <a:ln w="6350">
            <a:solidFill>
              <a:srgbClr val="3FB8C4">
                <a:alpha val="18000"/>
              </a:srgbClr>
            </a:solidFill>
            <a:prstDash val="solid"/>
          </a:ln>
        </p:spPr>
      </p:sp>
      <p:sp>
        <p:nvSpPr>
          <p:cNvPr id="14" name="Shape 12"/>
          <p:cNvSpPr/>
          <p:nvPr/>
        </p:nvSpPr>
        <p:spPr>
          <a:xfrm>
            <a:off x="8366760" y="0"/>
            <a:ext cx="0" cy="6858000"/>
          </a:xfrm>
          <a:prstGeom prst="line">
            <a:avLst/>
          </a:prstGeom>
          <a:noFill/>
          <a:ln w="6350">
            <a:solidFill>
              <a:srgbClr val="3FB8C4">
                <a:alpha val="18000"/>
              </a:srgbClr>
            </a:solidFill>
            <a:prstDash val="solid"/>
          </a:ln>
        </p:spPr>
      </p:sp>
      <p:sp>
        <p:nvSpPr>
          <p:cNvPr id="15" name="Shape 13"/>
          <p:cNvSpPr/>
          <p:nvPr/>
        </p:nvSpPr>
        <p:spPr>
          <a:xfrm>
            <a:off x="9006840" y="0"/>
            <a:ext cx="0" cy="6858000"/>
          </a:xfrm>
          <a:prstGeom prst="line">
            <a:avLst/>
          </a:prstGeom>
          <a:noFill/>
          <a:ln w="6350">
            <a:solidFill>
              <a:srgbClr val="3FB8C4">
                <a:alpha val="18000"/>
              </a:srgbClr>
            </a:solidFill>
            <a:prstDash val="solid"/>
          </a:ln>
        </p:spPr>
      </p:sp>
      <p:sp>
        <p:nvSpPr>
          <p:cNvPr id="16" name="Shape 14"/>
          <p:cNvSpPr/>
          <p:nvPr/>
        </p:nvSpPr>
        <p:spPr>
          <a:xfrm>
            <a:off x="9646920" y="0"/>
            <a:ext cx="0" cy="6858000"/>
          </a:xfrm>
          <a:prstGeom prst="line">
            <a:avLst/>
          </a:prstGeom>
          <a:noFill/>
          <a:ln w="6350">
            <a:solidFill>
              <a:srgbClr val="3FB8C4">
                <a:alpha val="18000"/>
              </a:srgbClr>
            </a:solidFill>
            <a:prstDash val="solid"/>
          </a:ln>
        </p:spPr>
      </p:sp>
      <p:sp>
        <p:nvSpPr>
          <p:cNvPr id="17" name="Shape 15"/>
          <p:cNvSpPr/>
          <p:nvPr/>
        </p:nvSpPr>
        <p:spPr>
          <a:xfrm>
            <a:off x="10287000" y="0"/>
            <a:ext cx="0" cy="6858000"/>
          </a:xfrm>
          <a:prstGeom prst="line">
            <a:avLst/>
          </a:prstGeom>
          <a:noFill/>
          <a:ln w="6350">
            <a:solidFill>
              <a:srgbClr val="3FB8C4">
                <a:alpha val="18000"/>
              </a:srgbClr>
            </a:solidFill>
            <a:prstDash val="solid"/>
          </a:ln>
        </p:spPr>
      </p:sp>
      <p:sp>
        <p:nvSpPr>
          <p:cNvPr id="18" name="Shape 16"/>
          <p:cNvSpPr/>
          <p:nvPr/>
        </p:nvSpPr>
        <p:spPr>
          <a:xfrm>
            <a:off x="10927080" y="0"/>
            <a:ext cx="0" cy="6858000"/>
          </a:xfrm>
          <a:prstGeom prst="line">
            <a:avLst/>
          </a:prstGeom>
          <a:noFill/>
          <a:ln w="6350">
            <a:solidFill>
              <a:srgbClr val="3FB8C4">
                <a:alpha val="18000"/>
              </a:srgbClr>
            </a:solidFill>
            <a:prstDash val="solid"/>
          </a:ln>
        </p:spPr>
      </p:sp>
      <p:sp>
        <p:nvSpPr>
          <p:cNvPr id="19" name="Shape 17"/>
          <p:cNvSpPr/>
          <p:nvPr/>
        </p:nvSpPr>
        <p:spPr>
          <a:xfrm>
            <a:off x="11567160" y="0"/>
            <a:ext cx="0" cy="6858000"/>
          </a:xfrm>
          <a:prstGeom prst="line">
            <a:avLst/>
          </a:prstGeom>
          <a:noFill/>
          <a:ln w="6350">
            <a:solidFill>
              <a:srgbClr val="3FB8C4">
                <a:alpha val="18000"/>
              </a:srgbClr>
            </a:solidFill>
            <a:prstDash val="solid"/>
          </a:ln>
        </p:spPr>
      </p:sp>
      <p:sp>
        <p:nvSpPr>
          <p:cNvPr id="20" name="Shape 18"/>
          <p:cNvSpPr/>
          <p:nvPr/>
        </p:nvSpPr>
        <p:spPr>
          <a:xfrm>
            <a:off x="0" y="640080"/>
            <a:ext cx="12191695" cy="0"/>
          </a:xfrm>
          <a:prstGeom prst="line">
            <a:avLst/>
          </a:prstGeom>
          <a:noFill/>
          <a:ln w="6350">
            <a:solidFill>
              <a:srgbClr val="3FB8C4">
                <a:alpha val="18000"/>
              </a:srgbClr>
            </a:solidFill>
            <a:prstDash val="solid"/>
          </a:ln>
        </p:spPr>
      </p:sp>
      <p:sp>
        <p:nvSpPr>
          <p:cNvPr id="21" name="Shape 19"/>
          <p:cNvSpPr/>
          <p:nvPr/>
        </p:nvSpPr>
        <p:spPr>
          <a:xfrm>
            <a:off x="0" y="1280160"/>
            <a:ext cx="12191695" cy="0"/>
          </a:xfrm>
          <a:prstGeom prst="line">
            <a:avLst/>
          </a:prstGeom>
          <a:noFill/>
          <a:ln w="6350">
            <a:solidFill>
              <a:srgbClr val="3FB8C4">
                <a:alpha val="18000"/>
              </a:srgbClr>
            </a:solidFill>
            <a:prstDash val="solid"/>
          </a:ln>
        </p:spPr>
      </p:sp>
      <p:sp>
        <p:nvSpPr>
          <p:cNvPr id="22" name="Shape 20"/>
          <p:cNvSpPr/>
          <p:nvPr/>
        </p:nvSpPr>
        <p:spPr>
          <a:xfrm>
            <a:off x="0" y="1920240"/>
            <a:ext cx="12191695" cy="0"/>
          </a:xfrm>
          <a:prstGeom prst="line">
            <a:avLst/>
          </a:prstGeom>
          <a:noFill/>
          <a:ln w="6350">
            <a:solidFill>
              <a:srgbClr val="3FB8C4">
                <a:alpha val="18000"/>
              </a:srgbClr>
            </a:solidFill>
            <a:prstDash val="solid"/>
          </a:ln>
        </p:spPr>
      </p:sp>
      <p:sp>
        <p:nvSpPr>
          <p:cNvPr id="23" name="Shape 21"/>
          <p:cNvSpPr/>
          <p:nvPr/>
        </p:nvSpPr>
        <p:spPr>
          <a:xfrm>
            <a:off x="0" y="2560320"/>
            <a:ext cx="12191695" cy="0"/>
          </a:xfrm>
          <a:prstGeom prst="line">
            <a:avLst/>
          </a:prstGeom>
          <a:noFill/>
          <a:ln w="6350">
            <a:solidFill>
              <a:srgbClr val="3FB8C4">
                <a:alpha val="18000"/>
              </a:srgbClr>
            </a:solidFill>
            <a:prstDash val="solid"/>
          </a:ln>
        </p:spPr>
      </p:sp>
      <p:sp>
        <p:nvSpPr>
          <p:cNvPr id="24" name="Shape 22"/>
          <p:cNvSpPr/>
          <p:nvPr/>
        </p:nvSpPr>
        <p:spPr>
          <a:xfrm>
            <a:off x="0" y="3200400"/>
            <a:ext cx="12191695" cy="0"/>
          </a:xfrm>
          <a:prstGeom prst="line">
            <a:avLst/>
          </a:prstGeom>
          <a:noFill/>
          <a:ln w="6350">
            <a:solidFill>
              <a:srgbClr val="3FB8C4">
                <a:alpha val="18000"/>
              </a:srgbClr>
            </a:solidFill>
            <a:prstDash val="solid"/>
          </a:ln>
        </p:spPr>
      </p:sp>
      <p:sp>
        <p:nvSpPr>
          <p:cNvPr id="25" name="Shape 23"/>
          <p:cNvSpPr/>
          <p:nvPr/>
        </p:nvSpPr>
        <p:spPr>
          <a:xfrm>
            <a:off x="0" y="3840480"/>
            <a:ext cx="12191695" cy="0"/>
          </a:xfrm>
          <a:prstGeom prst="line">
            <a:avLst/>
          </a:prstGeom>
          <a:noFill/>
          <a:ln w="6350">
            <a:solidFill>
              <a:srgbClr val="3FB8C4">
                <a:alpha val="18000"/>
              </a:srgbClr>
            </a:solidFill>
            <a:prstDash val="solid"/>
          </a:ln>
        </p:spPr>
      </p:sp>
      <p:sp>
        <p:nvSpPr>
          <p:cNvPr id="26" name="Shape 24"/>
          <p:cNvSpPr/>
          <p:nvPr/>
        </p:nvSpPr>
        <p:spPr>
          <a:xfrm>
            <a:off x="0" y="4480560"/>
            <a:ext cx="12191695" cy="0"/>
          </a:xfrm>
          <a:prstGeom prst="line">
            <a:avLst/>
          </a:prstGeom>
          <a:noFill/>
          <a:ln w="6350">
            <a:solidFill>
              <a:srgbClr val="3FB8C4">
                <a:alpha val="18000"/>
              </a:srgbClr>
            </a:solidFill>
            <a:prstDash val="solid"/>
          </a:ln>
        </p:spPr>
      </p:sp>
      <p:sp>
        <p:nvSpPr>
          <p:cNvPr id="27" name="Shape 25"/>
          <p:cNvSpPr/>
          <p:nvPr/>
        </p:nvSpPr>
        <p:spPr>
          <a:xfrm>
            <a:off x="0" y="5120640"/>
            <a:ext cx="12191695" cy="0"/>
          </a:xfrm>
          <a:prstGeom prst="line">
            <a:avLst/>
          </a:prstGeom>
          <a:noFill/>
          <a:ln w="6350">
            <a:solidFill>
              <a:srgbClr val="3FB8C4">
                <a:alpha val="18000"/>
              </a:srgbClr>
            </a:solidFill>
            <a:prstDash val="solid"/>
          </a:ln>
        </p:spPr>
      </p:sp>
      <p:sp>
        <p:nvSpPr>
          <p:cNvPr id="28" name="Shape 26"/>
          <p:cNvSpPr/>
          <p:nvPr/>
        </p:nvSpPr>
        <p:spPr>
          <a:xfrm>
            <a:off x="0" y="5760720"/>
            <a:ext cx="12191695" cy="0"/>
          </a:xfrm>
          <a:prstGeom prst="line">
            <a:avLst/>
          </a:prstGeom>
          <a:noFill/>
          <a:ln w="6350">
            <a:solidFill>
              <a:srgbClr val="3FB8C4">
                <a:alpha val="18000"/>
              </a:srgbClr>
            </a:solidFill>
            <a:prstDash val="solid"/>
          </a:ln>
        </p:spPr>
      </p:sp>
      <p:sp>
        <p:nvSpPr>
          <p:cNvPr id="29" name="Shape 27"/>
          <p:cNvSpPr/>
          <p:nvPr/>
        </p:nvSpPr>
        <p:spPr>
          <a:xfrm>
            <a:off x="0" y="6400800"/>
            <a:ext cx="12191695" cy="0"/>
          </a:xfrm>
          <a:prstGeom prst="line">
            <a:avLst/>
          </a:prstGeom>
          <a:noFill/>
          <a:ln w="6350">
            <a:solidFill>
              <a:srgbClr val="3FB8C4">
                <a:alpha val="18000"/>
              </a:srgbClr>
            </a:solidFill>
            <a:prstDash val="solid"/>
          </a:ln>
        </p:spPr>
      </p:sp>
      <p:sp>
        <p:nvSpPr>
          <p:cNvPr id="30" name="Text 28"/>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3FB8C4"/>
                </a:solidFill>
                <a:latin typeface="Calibri" pitchFamily="34" charset="0"/>
                <a:ea typeface="Calibri" pitchFamily="34" charset="-122"/>
                <a:cs typeface="Calibri" pitchFamily="34" charset="-120"/>
              </a:rPr>
              <a:t>02</a:t>
            </a:r>
            <a:endParaRPr lang="en-US" sz="3000" dirty="0"/>
          </a:p>
        </p:txBody>
      </p:sp>
      <p:sp>
        <p:nvSpPr>
          <p:cNvPr id="31" name="Text 29"/>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LIVE DEMO</a:t>
            </a:r>
            <a:endParaRPr lang="en-US" sz="1100" dirty="0"/>
          </a:p>
        </p:txBody>
      </p:sp>
      <p:sp>
        <p:nvSpPr>
          <p:cNvPr id="32" name="Text 30"/>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7F1F4"/>
                </a:solidFill>
                <a:latin typeface="Calibri" pitchFamily="34" charset="0"/>
                <a:ea typeface="Calibri" pitchFamily="34" charset="-122"/>
                <a:cs typeface="Calibri" pitchFamily="34" charset="-120"/>
              </a:rPr>
              <a:t>See it running on AWS</a:t>
            </a:r>
            <a:endParaRPr lang="en-US" sz="2300" dirty="0"/>
          </a:p>
        </p:txBody>
      </p:sp>
      <p:sp>
        <p:nvSpPr>
          <p:cNvPr id="33" name="Text 31"/>
          <p:cNvSpPr/>
          <p:nvPr/>
        </p:nvSpPr>
        <p:spPr>
          <a:xfrm>
            <a:off x="777240" y="1901952"/>
            <a:ext cx="10637215" cy="274320"/>
          </a:xfrm>
          <a:prstGeom prst="rect">
            <a:avLst/>
          </a:prstGeom>
          <a:noFill/>
          <a:ln/>
        </p:spPr>
        <p:txBody>
          <a:bodyPr wrap="square" rtlCol="0" anchor="ctr"/>
          <a:lstStyle/>
          <a:p>
            <a:pPr indent="0" marL="0">
              <a:buNone/>
            </a:pPr>
            <a:r>
              <a:rPr lang="en-US" sz="1100" dirty="0">
                <a:solidFill>
                  <a:srgbClr val="3FB8C4"/>
                </a:solidFill>
                <a:latin typeface="Consolas" pitchFamily="34" charset="0"/>
                <a:ea typeface="Consolas" pitchFamily="34" charset="-122"/>
                <a:cs typeface="Consolas" pitchFamily="34" charset="-120"/>
              </a:rPr>
              <a:t>dce-frontend-373241496019.s3.us-east-1.amazonaws.com</a:t>
            </a:r>
            <a:endParaRPr lang="en-US" sz="1100" dirty="0"/>
          </a:p>
        </p:txBody>
      </p:sp>
      <p:sp>
        <p:nvSpPr>
          <p:cNvPr id="34" name="Shape 32"/>
          <p:cNvSpPr/>
          <p:nvPr/>
        </p:nvSpPr>
        <p:spPr>
          <a:xfrm>
            <a:off x="777240" y="2514600"/>
            <a:ext cx="3301898" cy="3566160"/>
          </a:xfrm>
          <a:prstGeom prst="roundRect">
            <a:avLst>
              <a:gd name="adj" fmla="val 1108"/>
            </a:avLst>
          </a:prstGeom>
          <a:solidFill>
            <a:srgbClr val="12242C"/>
          </a:solidFill>
          <a:ln w="12700">
            <a:solidFill>
              <a:srgbClr val="263840"/>
            </a:solidFill>
            <a:prstDash val="solid"/>
          </a:ln>
        </p:spPr>
      </p:sp>
      <p:sp>
        <p:nvSpPr>
          <p:cNvPr id="35" name="Text 33"/>
          <p:cNvSpPr/>
          <p:nvPr/>
        </p:nvSpPr>
        <p:spPr>
          <a:xfrm>
            <a:off x="1051560" y="2752344"/>
            <a:ext cx="1828800" cy="777240"/>
          </a:xfrm>
          <a:prstGeom prst="rect">
            <a:avLst/>
          </a:prstGeom>
          <a:noFill/>
          <a:ln/>
        </p:spPr>
        <p:txBody>
          <a:bodyPr wrap="square" lIns="0" tIns="0" rIns="0" bIns="0" rtlCol="0" anchor="ctr"/>
          <a:lstStyle/>
          <a:p>
            <a:pPr indent="0" marL="0">
              <a:buNone/>
            </a:pPr>
            <a:r>
              <a:rPr lang="en-US" sz="3800" b="1" dirty="0">
                <a:solidFill>
                  <a:srgbClr val="3FB8C4"/>
                </a:solidFill>
                <a:latin typeface="Calibri" pitchFamily="34" charset="0"/>
                <a:ea typeface="Calibri" pitchFamily="34" charset="-122"/>
                <a:cs typeface="Calibri" pitchFamily="34" charset="-120"/>
              </a:rPr>
              <a:t>01</a:t>
            </a:r>
            <a:endParaRPr lang="en-US" sz="3800" dirty="0"/>
          </a:p>
        </p:txBody>
      </p:sp>
      <p:sp>
        <p:nvSpPr>
          <p:cNvPr id="36" name="Text 34"/>
          <p:cNvSpPr/>
          <p:nvPr/>
        </p:nvSpPr>
        <p:spPr>
          <a:xfrm>
            <a:off x="1069848"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7F1F4"/>
                </a:solidFill>
                <a:latin typeface="Calibri" pitchFamily="34" charset="0"/>
                <a:ea typeface="Calibri" pitchFamily="34" charset="-122"/>
                <a:cs typeface="Calibri" pitchFamily="34" charset="-120"/>
              </a:rPr>
              <a:t>Two halls, five environment metrics</a:t>
            </a:r>
            <a:endParaRPr lang="en-US" sz="1550" dirty="0"/>
          </a:p>
        </p:txBody>
      </p:sp>
      <p:sp>
        <p:nvSpPr>
          <p:cNvPr id="37" name="Text 35"/>
          <p:cNvSpPr/>
          <p:nvPr/>
        </p:nvSpPr>
        <p:spPr>
          <a:xfrm>
            <a:off x="1069848"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Temperature, humidity, airflow, and rack conditions live for both server halls, each window checked as it closes.</a:t>
            </a:r>
            <a:endParaRPr lang="en-US" sz="1200" dirty="0"/>
          </a:p>
        </p:txBody>
      </p:sp>
      <p:sp>
        <p:nvSpPr>
          <p:cNvPr id="38" name="Shape 36"/>
          <p:cNvSpPr/>
          <p:nvPr/>
        </p:nvSpPr>
        <p:spPr>
          <a:xfrm>
            <a:off x="4444898" y="2514600"/>
            <a:ext cx="3301898" cy="3566160"/>
          </a:xfrm>
          <a:prstGeom prst="roundRect">
            <a:avLst>
              <a:gd name="adj" fmla="val 1108"/>
            </a:avLst>
          </a:prstGeom>
          <a:solidFill>
            <a:srgbClr val="12242C"/>
          </a:solidFill>
          <a:ln w="12700">
            <a:solidFill>
              <a:srgbClr val="263840"/>
            </a:solidFill>
            <a:prstDash val="solid"/>
          </a:ln>
        </p:spPr>
      </p:sp>
      <p:sp>
        <p:nvSpPr>
          <p:cNvPr id="39" name="Text 37"/>
          <p:cNvSpPr/>
          <p:nvPr/>
        </p:nvSpPr>
        <p:spPr>
          <a:xfrm>
            <a:off x="4719218" y="2752344"/>
            <a:ext cx="1828800" cy="777240"/>
          </a:xfrm>
          <a:prstGeom prst="rect">
            <a:avLst/>
          </a:prstGeom>
          <a:noFill/>
          <a:ln/>
        </p:spPr>
        <p:txBody>
          <a:bodyPr wrap="square" lIns="0" tIns="0" rIns="0" bIns="0" rtlCol="0" anchor="ctr"/>
          <a:lstStyle/>
          <a:p>
            <a:pPr indent="0" marL="0">
              <a:buNone/>
            </a:pPr>
            <a:r>
              <a:rPr lang="en-US" sz="3800" b="1" dirty="0">
                <a:solidFill>
                  <a:srgbClr val="3FB8C4"/>
                </a:solidFill>
                <a:latin typeface="Calibri" pitchFamily="34" charset="0"/>
                <a:ea typeface="Calibri" pitchFamily="34" charset="-122"/>
                <a:cs typeface="Calibri" pitchFamily="34" charset="-120"/>
              </a:rPr>
              <a:t>02</a:t>
            </a:r>
            <a:endParaRPr lang="en-US" sz="3800" dirty="0"/>
          </a:p>
        </p:txBody>
      </p:sp>
      <p:sp>
        <p:nvSpPr>
          <p:cNvPr id="40" name="Text 38"/>
          <p:cNvSpPr/>
          <p:nvPr/>
        </p:nvSpPr>
        <p:spPr>
          <a:xfrm>
            <a:off x="4737506"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7F1F4"/>
                </a:solidFill>
                <a:latin typeface="Calibri" pitchFamily="34" charset="0"/>
                <a:ea typeface="Calibri" pitchFamily="34" charset="-122"/>
                <a:cs typeface="Calibri" pitchFamily="34" charset="-120"/>
              </a:rPr>
              <a:t>Threshold rules on every closed window</a:t>
            </a:r>
            <a:endParaRPr lang="en-US" sz="1550" dirty="0"/>
          </a:p>
        </p:txBody>
      </p:sp>
      <p:sp>
        <p:nvSpPr>
          <p:cNvPr id="41" name="Text 39"/>
          <p:cNvSpPr/>
          <p:nvPr/>
        </p:nvSpPr>
        <p:spPr>
          <a:xfrm>
            <a:off x="4737506"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An overheat above 27 C, condensation-risk humidity above 60%, or airflow below 400 CFM raises the instant that window closes.</a:t>
            </a:r>
            <a:endParaRPr lang="en-US" sz="1200" dirty="0"/>
          </a:p>
        </p:txBody>
      </p:sp>
      <p:sp>
        <p:nvSpPr>
          <p:cNvPr id="42" name="Shape 40"/>
          <p:cNvSpPr/>
          <p:nvPr/>
        </p:nvSpPr>
        <p:spPr>
          <a:xfrm>
            <a:off x="8112557" y="2514600"/>
            <a:ext cx="3301898" cy="3566160"/>
          </a:xfrm>
          <a:prstGeom prst="roundRect">
            <a:avLst>
              <a:gd name="adj" fmla="val 1108"/>
            </a:avLst>
          </a:prstGeom>
          <a:solidFill>
            <a:srgbClr val="12242C"/>
          </a:solidFill>
          <a:ln w="12700">
            <a:solidFill>
              <a:srgbClr val="263840"/>
            </a:solidFill>
            <a:prstDash val="solid"/>
          </a:ln>
        </p:spPr>
      </p:sp>
      <p:sp>
        <p:nvSpPr>
          <p:cNvPr id="43" name="Text 41"/>
          <p:cNvSpPr/>
          <p:nvPr/>
        </p:nvSpPr>
        <p:spPr>
          <a:xfrm>
            <a:off x="8386877" y="2752344"/>
            <a:ext cx="1828800" cy="777240"/>
          </a:xfrm>
          <a:prstGeom prst="rect">
            <a:avLst/>
          </a:prstGeom>
          <a:noFill/>
          <a:ln/>
        </p:spPr>
        <p:txBody>
          <a:bodyPr wrap="square" lIns="0" tIns="0" rIns="0" bIns="0" rtlCol="0" anchor="ctr"/>
          <a:lstStyle/>
          <a:p>
            <a:pPr indent="0" marL="0">
              <a:buNone/>
            </a:pPr>
            <a:r>
              <a:rPr lang="en-US" sz="3800" b="1" dirty="0">
                <a:solidFill>
                  <a:srgbClr val="3FB8C4"/>
                </a:solidFill>
                <a:latin typeface="Calibri" pitchFamily="34" charset="0"/>
                <a:ea typeface="Calibri" pitchFamily="34" charset="-122"/>
                <a:cs typeface="Calibri" pitchFamily="34" charset="-120"/>
              </a:rPr>
              <a:t>03</a:t>
            </a:r>
            <a:endParaRPr lang="en-US" sz="3800" dirty="0"/>
          </a:p>
        </p:txBody>
      </p:sp>
      <p:sp>
        <p:nvSpPr>
          <p:cNvPr id="44" name="Text 42"/>
          <p:cNvSpPr/>
          <p:nvPr/>
        </p:nvSpPr>
        <p:spPr>
          <a:xfrm>
            <a:off x="8405165"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7F1F4"/>
                </a:solidFill>
                <a:latin typeface="Calibri" pitchFamily="34" charset="0"/>
                <a:ea typeface="Calibri" pitchFamily="34" charset="-122"/>
                <a:cs typeface="Calibri" pitchFamily="34" charset="-120"/>
              </a:rPr>
              <a:t>Live per-hall readings</a:t>
            </a:r>
            <a:endParaRPr lang="en-US" sz="1550" dirty="0"/>
          </a:p>
        </p:txBody>
      </p:sp>
      <p:sp>
        <p:nvSpPr>
          <p:cNvPr id="45" name="Text 43"/>
          <p:cNvSpPr/>
          <p:nvPr/>
        </p:nvSpPr>
        <p:spPr>
          <a:xfrm>
            <a:off x="8405165"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Both halls report side by side, so an overheating rack or a humidity swing is caught in seconds, not at the next round.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2"/>
        </a:solidFill>
      </p:bgPr>
    </p:bg>
    <p:spTree>
      <p:nvGrpSpPr>
        <p:cNvPr id="1" name=""/>
        <p:cNvGrpSpPr/>
        <p:nvPr/>
      </p:nvGrpSpPr>
      <p:grpSpPr>
        <a:xfrm>
          <a:off x="0" y="0"/>
          <a:ext cx="0" cy="0"/>
          <a:chOff x="0" y="0"/>
          <a:chExt cx="0" cy="0"/>
        </a:xfrm>
      </p:grpSpPr>
      <p:sp>
        <p:nvSpPr>
          <p:cNvPr id="2" name="Shape 0"/>
          <p:cNvSpPr/>
          <p:nvPr/>
        </p:nvSpPr>
        <p:spPr>
          <a:xfrm>
            <a:off x="685800" y="0"/>
            <a:ext cx="0" cy="6858000"/>
          </a:xfrm>
          <a:prstGeom prst="line">
            <a:avLst/>
          </a:prstGeom>
          <a:noFill/>
          <a:ln w="6350">
            <a:solidFill>
              <a:srgbClr val="3FB8C4">
                <a:alpha val="18000"/>
              </a:srgbClr>
            </a:solidFill>
            <a:prstDash val="solid"/>
          </a:ln>
        </p:spPr>
      </p:sp>
      <p:sp>
        <p:nvSpPr>
          <p:cNvPr id="3" name="Shape 1"/>
          <p:cNvSpPr/>
          <p:nvPr/>
        </p:nvSpPr>
        <p:spPr>
          <a:xfrm>
            <a:off x="1325880" y="0"/>
            <a:ext cx="0" cy="6858000"/>
          </a:xfrm>
          <a:prstGeom prst="line">
            <a:avLst/>
          </a:prstGeom>
          <a:noFill/>
          <a:ln w="6350">
            <a:solidFill>
              <a:srgbClr val="3FB8C4">
                <a:alpha val="18000"/>
              </a:srgbClr>
            </a:solidFill>
            <a:prstDash val="solid"/>
          </a:ln>
        </p:spPr>
      </p:sp>
      <p:sp>
        <p:nvSpPr>
          <p:cNvPr id="4" name="Shape 2"/>
          <p:cNvSpPr/>
          <p:nvPr/>
        </p:nvSpPr>
        <p:spPr>
          <a:xfrm>
            <a:off x="1965960" y="0"/>
            <a:ext cx="0" cy="6858000"/>
          </a:xfrm>
          <a:prstGeom prst="line">
            <a:avLst/>
          </a:prstGeom>
          <a:noFill/>
          <a:ln w="6350">
            <a:solidFill>
              <a:srgbClr val="3FB8C4">
                <a:alpha val="18000"/>
              </a:srgbClr>
            </a:solidFill>
            <a:prstDash val="solid"/>
          </a:ln>
        </p:spPr>
      </p:sp>
      <p:sp>
        <p:nvSpPr>
          <p:cNvPr id="5" name="Shape 3"/>
          <p:cNvSpPr/>
          <p:nvPr/>
        </p:nvSpPr>
        <p:spPr>
          <a:xfrm>
            <a:off x="2606040" y="0"/>
            <a:ext cx="0" cy="6858000"/>
          </a:xfrm>
          <a:prstGeom prst="line">
            <a:avLst/>
          </a:prstGeom>
          <a:noFill/>
          <a:ln w="6350">
            <a:solidFill>
              <a:srgbClr val="3FB8C4">
                <a:alpha val="18000"/>
              </a:srgbClr>
            </a:solidFill>
            <a:prstDash val="solid"/>
          </a:ln>
        </p:spPr>
      </p:sp>
      <p:sp>
        <p:nvSpPr>
          <p:cNvPr id="6" name="Shape 4"/>
          <p:cNvSpPr/>
          <p:nvPr/>
        </p:nvSpPr>
        <p:spPr>
          <a:xfrm>
            <a:off x="3246120" y="0"/>
            <a:ext cx="0" cy="6858000"/>
          </a:xfrm>
          <a:prstGeom prst="line">
            <a:avLst/>
          </a:prstGeom>
          <a:noFill/>
          <a:ln w="6350">
            <a:solidFill>
              <a:srgbClr val="3FB8C4">
                <a:alpha val="18000"/>
              </a:srgbClr>
            </a:solidFill>
            <a:prstDash val="solid"/>
          </a:ln>
        </p:spPr>
      </p:sp>
      <p:sp>
        <p:nvSpPr>
          <p:cNvPr id="7" name="Shape 5"/>
          <p:cNvSpPr/>
          <p:nvPr/>
        </p:nvSpPr>
        <p:spPr>
          <a:xfrm>
            <a:off x="3886200" y="0"/>
            <a:ext cx="0" cy="6858000"/>
          </a:xfrm>
          <a:prstGeom prst="line">
            <a:avLst/>
          </a:prstGeom>
          <a:noFill/>
          <a:ln w="6350">
            <a:solidFill>
              <a:srgbClr val="3FB8C4">
                <a:alpha val="18000"/>
              </a:srgbClr>
            </a:solidFill>
            <a:prstDash val="solid"/>
          </a:ln>
        </p:spPr>
      </p:sp>
      <p:sp>
        <p:nvSpPr>
          <p:cNvPr id="8" name="Shape 6"/>
          <p:cNvSpPr/>
          <p:nvPr/>
        </p:nvSpPr>
        <p:spPr>
          <a:xfrm>
            <a:off x="4526280" y="0"/>
            <a:ext cx="0" cy="6858000"/>
          </a:xfrm>
          <a:prstGeom prst="line">
            <a:avLst/>
          </a:prstGeom>
          <a:noFill/>
          <a:ln w="6350">
            <a:solidFill>
              <a:srgbClr val="3FB8C4">
                <a:alpha val="18000"/>
              </a:srgbClr>
            </a:solidFill>
            <a:prstDash val="solid"/>
          </a:ln>
        </p:spPr>
      </p:sp>
      <p:sp>
        <p:nvSpPr>
          <p:cNvPr id="9" name="Shape 7"/>
          <p:cNvSpPr/>
          <p:nvPr/>
        </p:nvSpPr>
        <p:spPr>
          <a:xfrm>
            <a:off x="5166360" y="0"/>
            <a:ext cx="0" cy="6858000"/>
          </a:xfrm>
          <a:prstGeom prst="line">
            <a:avLst/>
          </a:prstGeom>
          <a:noFill/>
          <a:ln w="6350">
            <a:solidFill>
              <a:srgbClr val="3FB8C4">
                <a:alpha val="18000"/>
              </a:srgbClr>
            </a:solidFill>
            <a:prstDash val="solid"/>
          </a:ln>
        </p:spPr>
      </p:sp>
      <p:sp>
        <p:nvSpPr>
          <p:cNvPr id="10" name="Shape 8"/>
          <p:cNvSpPr/>
          <p:nvPr/>
        </p:nvSpPr>
        <p:spPr>
          <a:xfrm>
            <a:off x="5806440" y="0"/>
            <a:ext cx="0" cy="6858000"/>
          </a:xfrm>
          <a:prstGeom prst="line">
            <a:avLst/>
          </a:prstGeom>
          <a:noFill/>
          <a:ln w="6350">
            <a:solidFill>
              <a:srgbClr val="3FB8C4">
                <a:alpha val="18000"/>
              </a:srgbClr>
            </a:solidFill>
            <a:prstDash val="solid"/>
          </a:ln>
        </p:spPr>
      </p:sp>
      <p:sp>
        <p:nvSpPr>
          <p:cNvPr id="11" name="Shape 9"/>
          <p:cNvSpPr/>
          <p:nvPr/>
        </p:nvSpPr>
        <p:spPr>
          <a:xfrm>
            <a:off x="6446520" y="0"/>
            <a:ext cx="0" cy="6858000"/>
          </a:xfrm>
          <a:prstGeom prst="line">
            <a:avLst/>
          </a:prstGeom>
          <a:noFill/>
          <a:ln w="6350">
            <a:solidFill>
              <a:srgbClr val="3FB8C4">
                <a:alpha val="18000"/>
              </a:srgbClr>
            </a:solidFill>
            <a:prstDash val="solid"/>
          </a:ln>
        </p:spPr>
      </p:sp>
      <p:sp>
        <p:nvSpPr>
          <p:cNvPr id="12" name="Shape 10"/>
          <p:cNvSpPr/>
          <p:nvPr/>
        </p:nvSpPr>
        <p:spPr>
          <a:xfrm>
            <a:off x="7086600" y="0"/>
            <a:ext cx="0" cy="6858000"/>
          </a:xfrm>
          <a:prstGeom prst="line">
            <a:avLst/>
          </a:prstGeom>
          <a:noFill/>
          <a:ln w="6350">
            <a:solidFill>
              <a:srgbClr val="3FB8C4">
                <a:alpha val="18000"/>
              </a:srgbClr>
            </a:solidFill>
            <a:prstDash val="solid"/>
          </a:ln>
        </p:spPr>
      </p:sp>
      <p:sp>
        <p:nvSpPr>
          <p:cNvPr id="13" name="Shape 11"/>
          <p:cNvSpPr/>
          <p:nvPr/>
        </p:nvSpPr>
        <p:spPr>
          <a:xfrm>
            <a:off x="7726680" y="0"/>
            <a:ext cx="0" cy="6858000"/>
          </a:xfrm>
          <a:prstGeom prst="line">
            <a:avLst/>
          </a:prstGeom>
          <a:noFill/>
          <a:ln w="6350">
            <a:solidFill>
              <a:srgbClr val="3FB8C4">
                <a:alpha val="18000"/>
              </a:srgbClr>
            </a:solidFill>
            <a:prstDash val="solid"/>
          </a:ln>
        </p:spPr>
      </p:sp>
      <p:sp>
        <p:nvSpPr>
          <p:cNvPr id="14" name="Shape 12"/>
          <p:cNvSpPr/>
          <p:nvPr/>
        </p:nvSpPr>
        <p:spPr>
          <a:xfrm>
            <a:off x="8366760" y="0"/>
            <a:ext cx="0" cy="6858000"/>
          </a:xfrm>
          <a:prstGeom prst="line">
            <a:avLst/>
          </a:prstGeom>
          <a:noFill/>
          <a:ln w="6350">
            <a:solidFill>
              <a:srgbClr val="3FB8C4">
                <a:alpha val="18000"/>
              </a:srgbClr>
            </a:solidFill>
            <a:prstDash val="solid"/>
          </a:ln>
        </p:spPr>
      </p:sp>
      <p:sp>
        <p:nvSpPr>
          <p:cNvPr id="15" name="Shape 13"/>
          <p:cNvSpPr/>
          <p:nvPr/>
        </p:nvSpPr>
        <p:spPr>
          <a:xfrm>
            <a:off x="9006840" y="0"/>
            <a:ext cx="0" cy="6858000"/>
          </a:xfrm>
          <a:prstGeom prst="line">
            <a:avLst/>
          </a:prstGeom>
          <a:noFill/>
          <a:ln w="6350">
            <a:solidFill>
              <a:srgbClr val="3FB8C4">
                <a:alpha val="18000"/>
              </a:srgbClr>
            </a:solidFill>
            <a:prstDash val="solid"/>
          </a:ln>
        </p:spPr>
      </p:sp>
      <p:sp>
        <p:nvSpPr>
          <p:cNvPr id="16" name="Shape 14"/>
          <p:cNvSpPr/>
          <p:nvPr/>
        </p:nvSpPr>
        <p:spPr>
          <a:xfrm>
            <a:off x="9646920" y="0"/>
            <a:ext cx="0" cy="6858000"/>
          </a:xfrm>
          <a:prstGeom prst="line">
            <a:avLst/>
          </a:prstGeom>
          <a:noFill/>
          <a:ln w="6350">
            <a:solidFill>
              <a:srgbClr val="3FB8C4">
                <a:alpha val="18000"/>
              </a:srgbClr>
            </a:solidFill>
            <a:prstDash val="solid"/>
          </a:ln>
        </p:spPr>
      </p:sp>
      <p:sp>
        <p:nvSpPr>
          <p:cNvPr id="17" name="Shape 15"/>
          <p:cNvSpPr/>
          <p:nvPr/>
        </p:nvSpPr>
        <p:spPr>
          <a:xfrm>
            <a:off x="10287000" y="0"/>
            <a:ext cx="0" cy="6858000"/>
          </a:xfrm>
          <a:prstGeom prst="line">
            <a:avLst/>
          </a:prstGeom>
          <a:noFill/>
          <a:ln w="6350">
            <a:solidFill>
              <a:srgbClr val="3FB8C4">
                <a:alpha val="18000"/>
              </a:srgbClr>
            </a:solidFill>
            <a:prstDash val="solid"/>
          </a:ln>
        </p:spPr>
      </p:sp>
      <p:sp>
        <p:nvSpPr>
          <p:cNvPr id="18" name="Shape 16"/>
          <p:cNvSpPr/>
          <p:nvPr/>
        </p:nvSpPr>
        <p:spPr>
          <a:xfrm>
            <a:off x="10927080" y="0"/>
            <a:ext cx="0" cy="6858000"/>
          </a:xfrm>
          <a:prstGeom prst="line">
            <a:avLst/>
          </a:prstGeom>
          <a:noFill/>
          <a:ln w="6350">
            <a:solidFill>
              <a:srgbClr val="3FB8C4">
                <a:alpha val="18000"/>
              </a:srgbClr>
            </a:solidFill>
            <a:prstDash val="solid"/>
          </a:ln>
        </p:spPr>
      </p:sp>
      <p:sp>
        <p:nvSpPr>
          <p:cNvPr id="19" name="Shape 17"/>
          <p:cNvSpPr/>
          <p:nvPr/>
        </p:nvSpPr>
        <p:spPr>
          <a:xfrm>
            <a:off x="11567160" y="0"/>
            <a:ext cx="0" cy="6858000"/>
          </a:xfrm>
          <a:prstGeom prst="line">
            <a:avLst/>
          </a:prstGeom>
          <a:noFill/>
          <a:ln w="6350">
            <a:solidFill>
              <a:srgbClr val="3FB8C4">
                <a:alpha val="18000"/>
              </a:srgbClr>
            </a:solidFill>
            <a:prstDash val="solid"/>
          </a:ln>
        </p:spPr>
      </p:sp>
      <p:sp>
        <p:nvSpPr>
          <p:cNvPr id="20" name="Shape 18"/>
          <p:cNvSpPr/>
          <p:nvPr/>
        </p:nvSpPr>
        <p:spPr>
          <a:xfrm>
            <a:off x="0" y="640080"/>
            <a:ext cx="12191695" cy="0"/>
          </a:xfrm>
          <a:prstGeom prst="line">
            <a:avLst/>
          </a:prstGeom>
          <a:noFill/>
          <a:ln w="6350">
            <a:solidFill>
              <a:srgbClr val="3FB8C4">
                <a:alpha val="18000"/>
              </a:srgbClr>
            </a:solidFill>
            <a:prstDash val="solid"/>
          </a:ln>
        </p:spPr>
      </p:sp>
      <p:sp>
        <p:nvSpPr>
          <p:cNvPr id="21" name="Shape 19"/>
          <p:cNvSpPr/>
          <p:nvPr/>
        </p:nvSpPr>
        <p:spPr>
          <a:xfrm>
            <a:off x="0" y="1280160"/>
            <a:ext cx="12191695" cy="0"/>
          </a:xfrm>
          <a:prstGeom prst="line">
            <a:avLst/>
          </a:prstGeom>
          <a:noFill/>
          <a:ln w="6350">
            <a:solidFill>
              <a:srgbClr val="3FB8C4">
                <a:alpha val="18000"/>
              </a:srgbClr>
            </a:solidFill>
            <a:prstDash val="solid"/>
          </a:ln>
        </p:spPr>
      </p:sp>
      <p:sp>
        <p:nvSpPr>
          <p:cNvPr id="22" name="Shape 20"/>
          <p:cNvSpPr/>
          <p:nvPr/>
        </p:nvSpPr>
        <p:spPr>
          <a:xfrm>
            <a:off x="0" y="1920240"/>
            <a:ext cx="12191695" cy="0"/>
          </a:xfrm>
          <a:prstGeom prst="line">
            <a:avLst/>
          </a:prstGeom>
          <a:noFill/>
          <a:ln w="6350">
            <a:solidFill>
              <a:srgbClr val="3FB8C4">
                <a:alpha val="18000"/>
              </a:srgbClr>
            </a:solidFill>
            <a:prstDash val="solid"/>
          </a:ln>
        </p:spPr>
      </p:sp>
      <p:sp>
        <p:nvSpPr>
          <p:cNvPr id="23" name="Shape 21"/>
          <p:cNvSpPr/>
          <p:nvPr/>
        </p:nvSpPr>
        <p:spPr>
          <a:xfrm>
            <a:off x="0" y="2560320"/>
            <a:ext cx="12191695" cy="0"/>
          </a:xfrm>
          <a:prstGeom prst="line">
            <a:avLst/>
          </a:prstGeom>
          <a:noFill/>
          <a:ln w="6350">
            <a:solidFill>
              <a:srgbClr val="3FB8C4">
                <a:alpha val="18000"/>
              </a:srgbClr>
            </a:solidFill>
            <a:prstDash val="solid"/>
          </a:ln>
        </p:spPr>
      </p:sp>
      <p:sp>
        <p:nvSpPr>
          <p:cNvPr id="24" name="Shape 22"/>
          <p:cNvSpPr/>
          <p:nvPr/>
        </p:nvSpPr>
        <p:spPr>
          <a:xfrm>
            <a:off x="0" y="3200400"/>
            <a:ext cx="12191695" cy="0"/>
          </a:xfrm>
          <a:prstGeom prst="line">
            <a:avLst/>
          </a:prstGeom>
          <a:noFill/>
          <a:ln w="6350">
            <a:solidFill>
              <a:srgbClr val="3FB8C4">
                <a:alpha val="18000"/>
              </a:srgbClr>
            </a:solidFill>
            <a:prstDash val="solid"/>
          </a:ln>
        </p:spPr>
      </p:sp>
      <p:sp>
        <p:nvSpPr>
          <p:cNvPr id="25" name="Shape 23"/>
          <p:cNvSpPr/>
          <p:nvPr/>
        </p:nvSpPr>
        <p:spPr>
          <a:xfrm>
            <a:off x="0" y="3840480"/>
            <a:ext cx="12191695" cy="0"/>
          </a:xfrm>
          <a:prstGeom prst="line">
            <a:avLst/>
          </a:prstGeom>
          <a:noFill/>
          <a:ln w="6350">
            <a:solidFill>
              <a:srgbClr val="3FB8C4">
                <a:alpha val="18000"/>
              </a:srgbClr>
            </a:solidFill>
            <a:prstDash val="solid"/>
          </a:ln>
        </p:spPr>
      </p:sp>
      <p:sp>
        <p:nvSpPr>
          <p:cNvPr id="26" name="Shape 24"/>
          <p:cNvSpPr/>
          <p:nvPr/>
        </p:nvSpPr>
        <p:spPr>
          <a:xfrm>
            <a:off x="0" y="4480560"/>
            <a:ext cx="12191695" cy="0"/>
          </a:xfrm>
          <a:prstGeom prst="line">
            <a:avLst/>
          </a:prstGeom>
          <a:noFill/>
          <a:ln w="6350">
            <a:solidFill>
              <a:srgbClr val="3FB8C4">
                <a:alpha val="18000"/>
              </a:srgbClr>
            </a:solidFill>
            <a:prstDash val="solid"/>
          </a:ln>
        </p:spPr>
      </p:sp>
      <p:sp>
        <p:nvSpPr>
          <p:cNvPr id="27" name="Shape 25"/>
          <p:cNvSpPr/>
          <p:nvPr/>
        </p:nvSpPr>
        <p:spPr>
          <a:xfrm>
            <a:off x="0" y="5120640"/>
            <a:ext cx="12191695" cy="0"/>
          </a:xfrm>
          <a:prstGeom prst="line">
            <a:avLst/>
          </a:prstGeom>
          <a:noFill/>
          <a:ln w="6350">
            <a:solidFill>
              <a:srgbClr val="3FB8C4">
                <a:alpha val="18000"/>
              </a:srgbClr>
            </a:solidFill>
            <a:prstDash val="solid"/>
          </a:ln>
        </p:spPr>
      </p:sp>
      <p:sp>
        <p:nvSpPr>
          <p:cNvPr id="28" name="Shape 26"/>
          <p:cNvSpPr/>
          <p:nvPr/>
        </p:nvSpPr>
        <p:spPr>
          <a:xfrm>
            <a:off x="0" y="5760720"/>
            <a:ext cx="12191695" cy="0"/>
          </a:xfrm>
          <a:prstGeom prst="line">
            <a:avLst/>
          </a:prstGeom>
          <a:noFill/>
          <a:ln w="6350">
            <a:solidFill>
              <a:srgbClr val="3FB8C4">
                <a:alpha val="18000"/>
              </a:srgbClr>
            </a:solidFill>
            <a:prstDash val="solid"/>
          </a:ln>
        </p:spPr>
      </p:sp>
      <p:sp>
        <p:nvSpPr>
          <p:cNvPr id="29" name="Shape 27"/>
          <p:cNvSpPr/>
          <p:nvPr/>
        </p:nvSpPr>
        <p:spPr>
          <a:xfrm>
            <a:off x="0" y="6400800"/>
            <a:ext cx="12191695" cy="0"/>
          </a:xfrm>
          <a:prstGeom prst="line">
            <a:avLst/>
          </a:prstGeom>
          <a:noFill/>
          <a:ln w="6350">
            <a:solidFill>
              <a:srgbClr val="3FB8C4">
                <a:alpha val="18000"/>
              </a:srgbClr>
            </a:solidFill>
            <a:prstDash val="solid"/>
          </a:ln>
        </p:spPr>
      </p:sp>
      <p:sp>
        <p:nvSpPr>
          <p:cNvPr id="30" name="Text 28"/>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3FB8C4"/>
                </a:solidFill>
                <a:latin typeface="Calibri" pitchFamily="34" charset="0"/>
                <a:ea typeface="Calibri" pitchFamily="34" charset="-122"/>
                <a:cs typeface="Calibri" pitchFamily="34" charset="-120"/>
              </a:rPr>
              <a:t>03</a:t>
            </a:r>
            <a:endParaRPr lang="en-US" sz="3000" dirty="0"/>
          </a:p>
        </p:txBody>
      </p:sp>
      <p:sp>
        <p:nvSpPr>
          <p:cNvPr id="31" name="Text 29"/>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CHALLENGE</a:t>
            </a:r>
            <a:endParaRPr lang="en-US" sz="1100" dirty="0"/>
          </a:p>
        </p:txBody>
      </p:sp>
      <p:sp>
        <p:nvSpPr>
          <p:cNvPr id="32" name="Text 30"/>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7F1F4"/>
                </a:solidFill>
                <a:latin typeface="Calibri" pitchFamily="34" charset="0"/>
                <a:ea typeface="Calibri" pitchFamily="34" charset="-122"/>
                <a:cs typeface="Calibri" pitchFamily="34" charset="-120"/>
              </a:rPr>
              <a:t>a second backend the brief demanded</a:t>
            </a:r>
            <a:endParaRPr lang="en-US" sz="2300" dirty="0"/>
          </a:p>
        </p:txBody>
      </p:sp>
      <p:sp>
        <p:nvSpPr>
          <p:cNvPr id="33" name="Shape 31"/>
          <p:cNvSpPr/>
          <p:nvPr/>
        </p:nvSpPr>
        <p:spPr>
          <a:xfrm>
            <a:off x="777240" y="2423160"/>
            <a:ext cx="5090008" cy="3657600"/>
          </a:xfrm>
          <a:prstGeom prst="roundRect">
            <a:avLst>
              <a:gd name="adj" fmla="val 1000"/>
            </a:avLst>
          </a:prstGeom>
          <a:solidFill>
            <a:srgbClr val="12242C"/>
          </a:solidFill>
          <a:ln w="12700">
            <a:solidFill>
              <a:srgbClr val="263840"/>
            </a:solidFill>
            <a:prstDash val="solid"/>
          </a:ln>
        </p:spPr>
      </p:sp>
      <p:sp>
        <p:nvSpPr>
          <p:cNvPr id="34" name="Text 32"/>
          <p:cNvSpPr/>
          <p:nvPr/>
        </p:nvSpPr>
        <p:spPr>
          <a:xfrm>
            <a:off x="1097280" y="2697480"/>
            <a:ext cx="4449928" cy="320040"/>
          </a:xfrm>
          <a:prstGeom prst="rect">
            <a:avLst/>
          </a:prstGeom>
          <a:noFill/>
          <a:ln/>
        </p:spPr>
        <p:txBody>
          <a:bodyPr wrap="square" lIns="0" tIns="0" rIns="0" bIns="0" rtlCol="0" anchor="ctr"/>
          <a:lstStyle/>
          <a:p>
            <a:pPr indent="0" marL="0">
              <a:buNone/>
            </a:pPr>
            <a:r>
              <a:rPr lang="en-US" sz="1200" b="1" spc="200" kern="0" dirty="0">
                <a:solidFill>
                  <a:srgbClr val="D1584E"/>
                </a:solidFill>
                <a:latin typeface="Calibri" pitchFamily="34" charset="0"/>
                <a:ea typeface="Calibri" pitchFamily="34" charset="-122"/>
                <a:cs typeface="Calibri" pitchFamily="34" charset="-120"/>
              </a:rPr>
              <a:t>PROBLEM</a:t>
            </a:r>
            <a:endParaRPr lang="en-US" sz="1200" dirty="0"/>
          </a:p>
        </p:txBody>
      </p:sp>
      <p:sp>
        <p:nvSpPr>
          <p:cNvPr id="35" name="Shape 33"/>
          <p:cNvSpPr/>
          <p:nvPr/>
        </p:nvSpPr>
        <p:spPr>
          <a:xfrm>
            <a:off x="1097280" y="3081528"/>
            <a:ext cx="4449928" cy="0"/>
          </a:xfrm>
          <a:prstGeom prst="line">
            <a:avLst/>
          </a:prstGeom>
          <a:noFill/>
          <a:ln w="19050">
            <a:solidFill>
              <a:srgbClr val="D1584E"/>
            </a:solidFill>
            <a:prstDash val="solid"/>
          </a:ln>
        </p:spPr>
      </p:sp>
      <p:sp>
        <p:nvSpPr>
          <p:cNvPr id="36" name="Text 34"/>
          <p:cNvSpPr/>
          <p:nvPr/>
        </p:nvSpPr>
        <p:spPr>
          <a:xfrm>
            <a:off x="1097280" y="3246120"/>
            <a:ext cx="4449928" cy="2651760"/>
          </a:xfrm>
          <a:prstGeom prst="rect">
            <a:avLst/>
          </a:prstGeom>
          <a:noFill/>
          <a:ln/>
        </p:spPr>
        <p:txBody>
          <a:bodyPr wrap="square" lIns="0" tIns="0" rIns="0" bIns="0" rtlCol="0" anchor="t"/>
          <a:lstStyle/>
          <a:p>
            <a:pPr indent="0" marL="0">
              <a:lnSpc>
                <a:spcPct val="128000"/>
              </a:lnSpc>
              <a:buNone/>
            </a:pPr>
            <a:r>
              <a:rPr lang="en-US" sz="1350" dirty="0">
                <a:solidFill>
                  <a:srgbClr val="E7F1F4"/>
                </a:solidFill>
                <a:latin typeface="Calibri" pitchFamily="34" charset="0"/>
                <a:ea typeface="Calibri" pitchFamily="34" charset="-122"/>
                <a:cs typeface="Calibri" pitchFamily="34" charset="-120"/>
              </a:rPr>
              <a:t>The coursework required an individually-deployed backend function behind a real API Gateway, separate from the ingestion function — not a single monolith. That meant the read path and the write path had to be split into two independently deployed functions that still agreed on one table schema and one set of thresholds.</a:t>
            </a:r>
            <a:endParaRPr lang="en-US" sz="1350" dirty="0"/>
          </a:p>
        </p:txBody>
      </p:sp>
      <p:sp>
        <p:nvSpPr>
          <p:cNvPr id="37" name="Shape 35"/>
          <p:cNvSpPr/>
          <p:nvPr/>
        </p:nvSpPr>
        <p:spPr>
          <a:xfrm>
            <a:off x="6324448" y="2423160"/>
            <a:ext cx="5090008" cy="3657600"/>
          </a:xfrm>
          <a:prstGeom prst="roundRect">
            <a:avLst>
              <a:gd name="adj" fmla="val 1000"/>
            </a:avLst>
          </a:prstGeom>
          <a:solidFill>
            <a:srgbClr val="12242C"/>
          </a:solidFill>
          <a:ln w="12700">
            <a:solidFill>
              <a:srgbClr val="263840"/>
            </a:solidFill>
            <a:prstDash val="solid"/>
          </a:ln>
        </p:spPr>
      </p:sp>
      <p:sp>
        <p:nvSpPr>
          <p:cNvPr id="38" name="Text 36"/>
          <p:cNvSpPr/>
          <p:nvPr/>
        </p:nvSpPr>
        <p:spPr>
          <a:xfrm>
            <a:off x="6644488" y="2697480"/>
            <a:ext cx="4449928" cy="320040"/>
          </a:xfrm>
          <a:prstGeom prst="rect">
            <a:avLst/>
          </a:prstGeom>
          <a:noFill/>
          <a:ln/>
        </p:spPr>
        <p:txBody>
          <a:bodyPr wrap="square" lIns="0" tIns="0" rIns="0" bIns="0" rtlCol="0" anchor="ctr"/>
          <a:lstStyle/>
          <a:p>
            <a:pPr indent="0" marL="0">
              <a:buNone/>
            </a:pPr>
            <a:r>
              <a:rPr lang="en-US" sz="1200" b="1" spc="200" kern="0" dirty="0">
                <a:solidFill>
                  <a:srgbClr val="4FBF8A"/>
                </a:solidFill>
                <a:latin typeface="Calibri" pitchFamily="34" charset="0"/>
                <a:ea typeface="Calibri" pitchFamily="34" charset="-122"/>
                <a:cs typeface="Calibri" pitchFamily="34" charset="-120"/>
              </a:rPr>
              <a:t>SOLUTION</a:t>
            </a:r>
            <a:endParaRPr lang="en-US" sz="1200" dirty="0"/>
          </a:p>
        </p:txBody>
      </p:sp>
      <p:sp>
        <p:nvSpPr>
          <p:cNvPr id="39" name="Shape 37"/>
          <p:cNvSpPr/>
          <p:nvPr/>
        </p:nvSpPr>
        <p:spPr>
          <a:xfrm>
            <a:off x="6644488" y="3081528"/>
            <a:ext cx="4449928" cy="0"/>
          </a:xfrm>
          <a:prstGeom prst="line">
            <a:avLst/>
          </a:prstGeom>
          <a:noFill/>
          <a:ln w="19050">
            <a:solidFill>
              <a:srgbClr val="4FBF8A"/>
            </a:solidFill>
            <a:prstDash val="solid"/>
          </a:ln>
        </p:spPr>
      </p:sp>
      <p:sp>
        <p:nvSpPr>
          <p:cNvPr id="40" name="Text 38"/>
          <p:cNvSpPr/>
          <p:nvPr/>
        </p:nvSpPr>
        <p:spPr>
          <a:xfrm>
            <a:off x="6644488" y="3246120"/>
            <a:ext cx="4449928" cy="2651760"/>
          </a:xfrm>
          <a:prstGeom prst="rect">
            <a:avLst/>
          </a:prstGeom>
          <a:noFill/>
          <a:ln/>
        </p:spPr>
        <p:txBody>
          <a:bodyPr wrap="square" lIns="0" tIns="0" rIns="0" bIns="0" rtlCol="0" anchor="t"/>
          <a:lstStyle/>
          <a:p>
            <a:pPr indent="0" marL="0">
              <a:lnSpc>
                <a:spcPct val="128000"/>
              </a:lnSpc>
              <a:buNone/>
            </a:pPr>
            <a:r>
              <a:rPr lang="en-US" sz="1350" dirty="0">
                <a:solidFill>
                  <a:srgbClr val="E7F1F4"/>
                </a:solidFill>
                <a:latin typeface="Calibri" pitchFamily="34" charset="0"/>
                <a:ea typeface="Calibri" pitchFamily="34" charset="-122"/>
                <a:cs typeface="Calibri" pitchFamily="34" charset="-120"/>
              </a:rPr>
              <a:t>A dedicated dashboard-API function sits behind its own API Gateway stage, reading the store, the queue depth, the processor metadata and the fog health, while the queue-triggered processor owns the write path. The two share only the table and the threshold definitions, so each scales and deploys on its own without the dashboard ever touching the ingestion code.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2026-07-24T09:21:50Z</dcterms:created>
  <dcterms:modified xsi:type="dcterms:W3CDTF">2026-07-24T09:21:50Z</dcterms:modified>
</cp:coreProperties>
</file>