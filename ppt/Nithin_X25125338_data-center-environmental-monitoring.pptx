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Lst>
  <p:notesMasterIdLst>
    <p:notesMasterId r:id="rId6"/>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notesMaster" Target="notesMasters/notes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8202B"/>
        </a:solidFill>
      </p:bgPr>
    </p:bg>
    <p:spTree>
      <p:nvGrpSpPr>
        <p:cNvPr id="1" name=""/>
        <p:cNvGrpSpPr/>
        <p:nvPr/>
      </p:nvGrpSpPr>
      <p:grpSpPr>
        <a:xfrm>
          <a:off x="0" y="0"/>
          <a:ext cx="0" cy="0"/>
          <a:chOff x="0" y="0"/>
          <a:chExt cx="0" cy="0"/>
        </a:xfrm>
      </p:grpSpPr>
      <p:sp>
        <p:nvSpPr>
          <p:cNvPr id="2" name="Shape 0"/>
          <p:cNvSpPr/>
          <p:nvPr/>
        </p:nvSpPr>
        <p:spPr>
          <a:xfrm>
            <a:off x="0" y="0"/>
            <a:ext cx="4663440" cy="6858000"/>
          </a:xfrm>
          <a:prstGeom prst="rect">
            <a:avLst/>
          </a:prstGeom>
          <a:solidFill>
            <a:srgbClr val="2C3E55"/>
          </a:solidFill>
          <a:ln/>
        </p:spPr>
      </p:sp>
      <p:sp>
        <p:nvSpPr>
          <p:cNvPr id="3" name="Text 1"/>
          <p:cNvSpPr/>
          <p:nvPr/>
        </p:nvSpPr>
        <p:spPr>
          <a:xfrm>
            <a:off x="502920" y="1280160"/>
            <a:ext cx="3749040" cy="2377440"/>
          </a:xfrm>
          <a:prstGeom prst="rect">
            <a:avLst/>
          </a:prstGeom>
          <a:noFill/>
          <a:ln/>
        </p:spPr>
        <p:txBody>
          <a:bodyPr wrap="square" rtlCol="0" anchor="t"/>
          <a:lstStyle/>
          <a:p>
            <a:pPr indent="0" marL="0">
              <a:buNone/>
            </a:pPr>
            <a:r>
              <a:rPr lang="en-US" sz="3400" b="1" dirty="0">
                <a:solidFill>
                  <a:srgbClr val="FFFFFF"/>
                </a:solidFill>
                <a:latin typeface="Bookman Old Style" pitchFamily="34" charset="0"/>
                <a:ea typeface="Bookman Old Style" pitchFamily="34" charset="-122"/>
                <a:cs typeface="Bookman Old Style" pitchFamily="34" charset="-120"/>
              </a:rPr>
              <a:t>Data Center Environmental Monitoring</a:t>
            </a:r>
            <a:endParaRPr lang="en-US" sz="3400" dirty="0"/>
          </a:p>
        </p:txBody>
      </p:sp>
      <p:sp>
        <p:nvSpPr>
          <p:cNvPr id="4" name="Text 2"/>
          <p:cNvSpPr/>
          <p:nvPr/>
        </p:nvSpPr>
        <p:spPr>
          <a:xfrm>
            <a:off x="521208" y="5394960"/>
            <a:ext cx="3840480" cy="731520"/>
          </a:xfrm>
          <a:prstGeom prst="rect">
            <a:avLst/>
          </a:prstGeom>
          <a:noFill/>
          <a:ln/>
        </p:spPr>
        <p:txBody>
          <a:bodyPr wrap="square" rtlCol="0" anchor="ctr"/>
          <a:lstStyle/>
          <a:p>
            <a:pPr indent="0" marL="0">
              <a:buNone/>
            </a:pPr>
            <a:r>
              <a:rPr lang="en-US" sz="1500" dirty="0">
                <a:solidFill>
                  <a:srgbClr val="D2DCE6"/>
                </a:solidFill>
                <a:latin typeface="Calibri" pitchFamily="34" charset="0"/>
                <a:ea typeface="Calibri" pitchFamily="34" charset="-122"/>
                <a:cs typeface="Calibri" pitchFamily="34" charset="-120"/>
              </a:rPr>
              <a:t>Nithin   ·   X25125338</a:t>
            </a:r>
            <a:endParaRPr lang="en-US" sz="1500" dirty="0"/>
          </a:p>
        </p:txBody>
      </p:sp>
      <p:sp>
        <p:nvSpPr>
          <p:cNvPr id="5" name="Text 3"/>
          <p:cNvSpPr/>
          <p:nvPr/>
        </p:nvSpPr>
        <p:spPr>
          <a:xfrm>
            <a:off x="5120640" y="1371600"/>
            <a:ext cx="6492240" cy="2011680"/>
          </a:xfrm>
          <a:prstGeom prst="rect">
            <a:avLst/>
          </a:prstGeom>
          <a:noFill/>
          <a:ln/>
        </p:spPr>
        <p:txBody>
          <a:bodyPr wrap="square" rtlCol="0" anchor="ctr"/>
          <a:lstStyle/>
          <a:p>
            <a:pPr indent="0" marL="0">
              <a:lnSpc>
                <a:spcPct val="112000"/>
              </a:lnSpc>
              <a:buNone/>
            </a:pPr>
            <a:r>
              <a:rPr lang="en-US" sz="2000" dirty="0">
                <a:solidFill>
                  <a:srgbClr val="D2DCE6"/>
                </a:solidFill>
                <a:latin typeface="Calibri" pitchFamily="34" charset="0"/>
                <a:ea typeface="Calibri" pitchFamily="34" charset="-122"/>
                <a:cs typeface="Calibri" pitchFamily="34" charset="-120"/>
              </a:rPr>
              <a:t>An overheating server, a humidity swing toward condensation, or restricted airflow around a rack can each trigger a costly unplanned outage — and fixed rounds see them only after the fact.</a:t>
            </a:r>
            <a:endParaRPr lang="en-US" sz="2000" dirty="0"/>
          </a:p>
        </p:txBody>
      </p:sp>
      <p:sp>
        <p:nvSpPr>
          <p:cNvPr id="6" name="Shape 4"/>
          <p:cNvSpPr/>
          <p:nvPr/>
        </p:nvSpPr>
        <p:spPr>
          <a:xfrm>
            <a:off x="5120640" y="4023360"/>
            <a:ext cx="2926080" cy="566928"/>
          </a:xfrm>
          <a:prstGeom prst="roundRect">
            <a:avLst>
              <a:gd name="adj" fmla="val 50000"/>
            </a:avLst>
          </a:prstGeom>
          <a:solidFill>
            <a:srgbClr val="1F2A38"/>
          </a:solidFill>
          <a:ln w="12700">
            <a:solidFill>
              <a:srgbClr val="E0A63C"/>
            </a:solidFill>
            <a:prstDash val="solid"/>
          </a:ln>
        </p:spPr>
      </p:sp>
      <p:sp>
        <p:nvSpPr>
          <p:cNvPr id="7" name="Text 5"/>
          <p:cNvSpPr/>
          <p:nvPr/>
        </p:nvSpPr>
        <p:spPr>
          <a:xfrm>
            <a:off x="5120640" y="4023360"/>
            <a:ext cx="2926080" cy="566928"/>
          </a:xfrm>
          <a:prstGeom prst="rect">
            <a:avLst/>
          </a:prstGeom>
          <a:noFill/>
          <a:ln/>
        </p:spPr>
        <p:txBody>
          <a:bodyPr wrap="square" lIns="0" tIns="0" rIns="0" bIns="0" rtlCol="0" anchor="ctr"/>
          <a:lstStyle/>
          <a:p>
            <a:pPr algn="ctr" indent="0" marL="0">
              <a:buNone/>
            </a:pPr>
            <a:r>
              <a:rPr lang="en-US" sz="1350" b="1" dirty="0">
                <a:solidFill>
                  <a:srgbClr val="E0A63C"/>
                </a:solidFill>
                <a:latin typeface="Calibri" pitchFamily="34" charset="0"/>
                <a:ea typeface="Calibri" pitchFamily="34" charset="-122"/>
                <a:cs typeface="Calibri" pitchFamily="34" charset="-120"/>
              </a:rPr>
              <a:t>Hall temp &gt; 27 °C</a:t>
            </a:r>
            <a:endParaRPr lang="en-US" sz="1350" dirty="0"/>
          </a:p>
        </p:txBody>
      </p:sp>
      <p:sp>
        <p:nvSpPr>
          <p:cNvPr id="8" name="Shape 6"/>
          <p:cNvSpPr/>
          <p:nvPr/>
        </p:nvSpPr>
        <p:spPr>
          <a:xfrm>
            <a:off x="5120640" y="4709160"/>
            <a:ext cx="2926080" cy="566928"/>
          </a:xfrm>
          <a:prstGeom prst="roundRect">
            <a:avLst>
              <a:gd name="adj" fmla="val 50000"/>
            </a:avLst>
          </a:prstGeom>
          <a:solidFill>
            <a:srgbClr val="1F2A38"/>
          </a:solidFill>
          <a:ln w="12700">
            <a:solidFill>
              <a:srgbClr val="E0A63C"/>
            </a:solidFill>
            <a:prstDash val="solid"/>
          </a:ln>
        </p:spPr>
      </p:sp>
      <p:sp>
        <p:nvSpPr>
          <p:cNvPr id="9" name="Text 7"/>
          <p:cNvSpPr/>
          <p:nvPr/>
        </p:nvSpPr>
        <p:spPr>
          <a:xfrm>
            <a:off x="5120640" y="4709160"/>
            <a:ext cx="2926080" cy="566928"/>
          </a:xfrm>
          <a:prstGeom prst="rect">
            <a:avLst/>
          </a:prstGeom>
          <a:noFill/>
          <a:ln/>
        </p:spPr>
        <p:txBody>
          <a:bodyPr wrap="square" lIns="0" tIns="0" rIns="0" bIns="0" rtlCol="0" anchor="ctr"/>
          <a:lstStyle/>
          <a:p>
            <a:pPr algn="ctr" indent="0" marL="0">
              <a:buNone/>
            </a:pPr>
            <a:r>
              <a:rPr lang="en-US" sz="1350" b="1" dirty="0">
                <a:solidFill>
                  <a:srgbClr val="E0A63C"/>
                </a:solidFill>
                <a:latin typeface="Calibri" pitchFamily="34" charset="0"/>
                <a:ea typeface="Calibri" pitchFamily="34" charset="-122"/>
                <a:cs typeface="Calibri" pitchFamily="34" charset="-120"/>
              </a:rPr>
              <a:t>Humidity &gt; 60%</a:t>
            </a:r>
            <a:endParaRPr lang="en-US" sz="1350" dirty="0"/>
          </a:p>
        </p:txBody>
      </p:sp>
      <p:sp>
        <p:nvSpPr>
          <p:cNvPr id="10" name="Shape 8"/>
          <p:cNvSpPr/>
          <p:nvPr/>
        </p:nvSpPr>
        <p:spPr>
          <a:xfrm>
            <a:off x="5120640" y="5394960"/>
            <a:ext cx="2926080" cy="566928"/>
          </a:xfrm>
          <a:prstGeom prst="roundRect">
            <a:avLst>
              <a:gd name="adj" fmla="val 50000"/>
            </a:avLst>
          </a:prstGeom>
          <a:solidFill>
            <a:srgbClr val="1F2A38"/>
          </a:solidFill>
          <a:ln w="12700">
            <a:solidFill>
              <a:srgbClr val="E0A63C"/>
            </a:solidFill>
            <a:prstDash val="solid"/>
          </a:ln>
        </p:spPr>
      </p:sp>
      <p:sp>
        <p:nvSpPr>
          <p:cNvPr id="11" name="Text 9"/>
          <p:cNvSpPr/>
          <p:nvPr/>
        </p:nvSpPr>
        <p:spPr>
          <a:xfrm>
            <a:off x="5120640" y="5394960"/>
            <a:ext cx="2926080" cy="566928"/>
          </a:xfrm>
          <a:prstGeom prst="rect">
            <a:avLst/>
          </a:prstGeom>
          <a:noFill/>
          <a:ln/>
        </p:spPr>
        <p:txBody>
          <a:bodyPr wrap="square" lIns="0" tIns="0" rIns="0" bIns="0" rtlCol="0" anchor="ctr"/>
          <a:lstStyle/>
          <a:p>
            <a:pPr algn="ctr" indent="0" marL="0">
              <a:buNone/>
            </a:pPr>
            <a:r>
              <a:rPr lang="en-US" sz="1350" b="1" dirty="0">
                <a:solidFill>
                  <a:srgbClr val="E0A63C"/>
                </a:solidFill>
                <a:latin typeface="Calibri" pitchFamily="34" charset="0"/>
                <a:ea typeface="Calibri" pitchFamily="34" charset="-122"/>
                <a:cs typeface="Calibri" pitchFamily="34" charset="-120"/>
              </a:rPr>
              <a:t>Airflow &lt; 400 CFM</a:t>
            </a:r>
            <a:endParaRPr lang="en-US" sz="1350" dirty="0"/>
          </a:p>
        </p:txBody>
      </p:sp>
      <p:sp>
        <p:nvSpPr>
          <p:cNvPr id="12" name="Text 10"/>
          <p:cNvSpPr/>
          <p:nvPr/>
        </p:nvSpPr>
        <p:spPr>
          <a:xfrm>
            <a:off x="5120640" y="6172200"/>
            <a:ext cx="6400800" cy="365760"/>
          </a:xfrm>
          <a:prstGeom prst="rect">
            <a:avLst/>
          </a:prstGeom>
          <a:noFill/>
          <a:ln/>
        </p:spPr>
        <p:txBody>
          <a:bodyPr wrap="square" rtlCol="0" anchor="ctr"/>
          <a:lstStyle/>
          <a:p>
            <a:pPr indent="0" marL="0">
              <a:buNone/>
            </a:pPr>
            <a:r>
              <a:rPr lang="en-US" sz="1250" dirty="0">
                <a:solidFill>
                  <a:srgbClr val="5F6B78"/>
                </a:solidFill>
                <a:latin typeface="Calibri" pitchFamily="34" charset="0"/>
                <a:ea typeface="Calibri" pitchFamily="34" charset="-122"/>
                <a:cs typeface="Calibri" pitchFamily="34" charset="-120"/>
              </a:rPr>
              <a:t>Fog &amp; Edge Computing (H9FECC)   ·   deployed live on AWS</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10972800" cy="640080"/>
          </a:xfrm>
          <a:prstGeom prst="rect">
            <a:avLst/>
          </a:prstGeom>
          <a:noFill/>
          <a:ln/>
        </p:spPr>
        <p:txBody>
          <a:bodyPr wrap="square" rtlCol="0" anchor="ctr"/>
          <a:lstStyle/>
          <a:p>
            <a:pPr indent="0" marL="0">
              <a:buNone/>
            </a:pPr>
            <a:r>
              <a:rPr lang="en-US" sz="3000" b="1" dirty="0">
                <a:solidFill>
                  <a:srgbClr val="19212C"/>
                </a:solidFill>
                <a:latin typeface="Bookman Old Style" pitchFamily="34" charset="0"/>
                <a:ea typeface="Bookman Old Style" pitchFamily="34" charset="-122"/>
                <a:cs typeface="Bookman Old Style" pitchFamily="34" charset="-120"/>
              </a:rPr>
              <a:t>What I Built — Halls to Cloud</a:t>
            </a:r>
            <a:endParaRPr lang="en-US" sz="3000" dirty="0"/>
          </a:p>
        </p:txBody>
      </p:sp>
      <p:sp>
        <p:nvSpPr>
          <p:cNvPr id="3" name="Shape 1"/>
          <p:cNvSpPr/>
          <p:nvPr/>
        </p:nvSpPr>
        <p:spPr>
          <a:xfrm>
            <a:off x="640080" y="1554480"/>
            <a:ext cx="3200400" cy="3383280"/>
          </a:xfrm>
          <a:prstGeom prst="roundRect">
            <a:avLst>
              <a:gd name="adj" fmla="val 2857"/>
            </a:avLst>
          </a:prstGeom>
          <a:solidFill>
            <a:srgbClr val="EEF2F6"/>
          </a:solidFill>
          <a:ln w="19050">
            <a:solidFill>
              <a:srgbClr val="6A839C"/>
            </a:solidFill>
            <a:prstDash val="solid"/>
          </a:ln>
        </p:spPr>
      </p:sp>
      <p:sp>
        <p:nvSpPr>
          <p:cNvPr id="4" name="Text 2"/>
          <p:cNvSpPr/>
          <p:nvPr/>
        </p:nvSpPr>
        <p:spPr>
          <a:xfrm>
            <a:off x="640080" y="1691640"/>
            <a:ext cx="3200400" cy="365760"/>
          </a:xfrm>
          <a:prstGeom prst="rect">
            <a:avLst/>
          </a:prstGeom>
          <a:noFill/>
          <a:ln/>
        </p:spPr>
        <p:txBody>
          <a:bodyPr wrap="square" rtlCol="0" anchor="ctr"/>
          <a:lstStyle/>
          <a:p>
            <a:pPr algn="ctr" indent="0" marL="0">
              <a:buNone/>
            </a:pPr>
            <a:r>
              <a:rPr lang="en-US" sz="1200" b="1" spc="300" kern="0" dirty="0">
                <a:solidFill>
                  <a:srgbClr val="6A839C"/>
                </a:solidFill>
                <a:latin typeface="Calibri" pitchFamily="34" charset="0"/>
                <a:ea typeface="Calibri" pitchFamily="34" charset="-122"/>
                <a:cs typeface="Calibri" pitchFamily="34" charset="-120"/>
              </a:rPr>
              <a:t>EDGE</a:t>
            </a:r>
            <a:endParaRPr lang="en-US" sz="1200" dirty="0"/>
          </a:p>
        </p:txBody>
      </p:sp>
      <p:sp>
        <p:nvSpPr>
          <p:cNvPr id="5" name="Shape 3"/>
          <p:cNvSpPr/>
          <p:nvPr/>
        </p:nvSpPr>
        <p:spPr>
          <a:xfrm>
            <a:off x="914400" y="2286000"/>
            <a:ext cx="2651760" cy="1005840"/>
          </a:xfrm>
          <a:prstGeom prst="roundRect">
            <a:avLst>
              <a:gd name="adj" fmla="val 7273"/>
            </a:avLst>
          </a:prstGeom>
          <a:solidFill>
            <a:srgbClr val="FFFFFF"/>
          </a:solidFill>
          <a:ln w="15240">
            <a:solidFill>
              <a:srgbClr val="6A839C"/>
            </a:solidFill>
            <a:prstDash val="solid"/>
          </a:ln>
        </p:spPr>
      </p:sp>
      <p:sp>
        <p:nvSpPr>
          <p:cNvPr id="6" name="Text 4"/>
          <p:cNvSpPr/>
          <p:nvPr/>
        </p:nvSpPr>
        <p:spPr>
          <a:xfrm>
            <a:off x="914400" y="2432304"/>
            <a:ext cx="2651760" cy="365760"/>
          </a:xfrm>
          <a:prstGeom prst="rect">
            <a:avLst/>
          </a:prstGeom>
          <a:noFill/>
          <a:ln/>
        </p:spPr>
        <p:txBody>
          <a:bodyPr wrap="square" lIns="0" tIns="0" rIns="0" bIns="0" rtlCol="0" anchor="ctr"/>
          <a:lstStyle/>
          <a:p>
            <a:pPr algn="ctr" indent="0" marL="0">
              <a:buNone/>
            </a:pPr>
            <a:r>
              <a:rPr lang="en-US" sz="1400" b="1" dirty="0">
                <a:solidFill>
                  <a:srgbClr val="19212C"/>
                </a:solidFill>
                <a:latin typeface="Calibri" pitchFamily="34" charset="0"/>
                <a:ea typeface="Calibri" pitchFamily="34" charset="-122"/>
                <a:cs typeface="Calibri" pitchFamily="34" charset="-120"/>
              </a:rPr>
              <a:t>Hall sensors</a:t>
            </a:r>
            <a:endParaRPr lang="en-US" sz="1400" dirty="0"/>
          </a:p>
        </p:txBody>
      </p:sp>
      <p:sp>
        <p:nvSpPr>
          <p:cNvPr id="7" name="Text 5"/>
          <p:cNvSpPr/>
          <p:nvPr/>
        </p:nvSpPr>
        <p:spPr>
          <a:xfrm>
            <a:off x="914400" y="2816352"/>
            <a:ext cx="2651760" cy="365760"/>
          </a:xfrm>
          <a:prstGeom prst="rect">
            <a:avLst/>
          </a:prstGeom>
          <a:noFill/>
          <a:ln/>
        </p:spPr>
        <p:txBody>
          <a:bodyPr wrap="square" lIns="0" tIns="0" rIns="0" bIns="0" rtlCol="0" anchor="ctr"/>
          <a:lstStyle/>
          <a:p>
            <a:pPr algn="ctr" indent="0" marL="0">
              <a:buNone/>
            </a:pPr>
            <a:r>
              <a:rPr lang="en-US" sz="1000" dirty="0">
                <a:solidFill>
                  <a:srgbClr val="5F6B78"/>
                </a:solidFill>
                <a:latin typeface="Calibri" pitchFamily="34" charset="0"/>
                <a:ea typeface="Calibri" pitchFamily="34" charset="-122"/>
                <a:cs typeface="Calibri" pitchFamily="34" charset="-120"/>
              </a:rPr>
              <a:t>10 · 2 halls · 5 metrics</a:t>
            </a:r>
            <a:endParaRPr lang="en-US" sz="1000" dirty="0"/>
          </a:p>
        </p:txBody>
      </p:sp>
      <p:sp>
        <p:nvSpPr>
          <p:cNvPr id="8" name="Shape 6"/>
          <p:cNvSpPr/>
          <p:nvPr/>
        </p:nvSpPr>
        <p:spPr>
          <a:xfrm>
            <a:off x="914400" y="3520440"/>
            <a:ext cx="2651760" cy="1005840"/>
          </a:xfrm>
          <a:prstGeom prst="roundRect">
            <a:avLst>
              <a:gd name="adj" fmla="val 7273"/>
            </a:avLst>
          </a:prstGeom>
          <a:solidFill>
            <a:srgbClr val="FFFFFF"/>
          </a:solidFill>
          <a:ln w="15240">
            <a:solidFill>
              <a:srgbClr val="6A839C"/>
            </a:solidFill>
            <a:prstDash val="solid"/>
          </a:ln>
        </p:spPr>
      </p:sp>
      <p:sp>
        <p:nvSpPr>
          <p:cNvPr id="9" name="Text 7"/>
          <p:cNvSpPr/>
          <p:nvPr/>
        </p:nvSpPr>
        <p:spPr>
          <a:xfrm>
            <a:off x="914400" y="3666744"/>
            <a:ext cx="2651760" cy="365760"/>
          </a:xfrm>
          <a:prstGeom prst="rect">
            <a:avLst/>
          </a:prstGeom>
          <a:noFill/>
          <a:ln/>
        </p:spPr>
        <p:txBody>
          <a:bodyPr wrap="square" lIns="0" tIns="0" rIns="0" bIns="0" rtlCol="0" anchor="ctr"/>
          <a:lstStyle/>
          <a:p>
            <a:pPr algn="ctr" indent="0" marL="0">
              <a:buNone/>
            </a:pPr>
            <a:r>
              <a:rPr lang="en-US" sz="1400" b="1" dirty="0">
                <a:solidFill>
                  <a:srgbClr val="19212C"/>
                </a:solidFill>
                <a:latin typeface="Calibri" pitchFamily="34" charset="0"/>
                <a:ea typeface="Calibri" pitchFamily="34" charset="-122"/>
                <a:cs typeface="Calibri" pitchFamily="34" charset="-120"/>
              </a:rPr>
              <a:t>Fog node</a:t>
            </a:r>
            <a:endParaRPr lang="en-US" sz="1400" dirty="0"/>
          </a:p>
        </p:txBody>
      </p:sp>
      <p:sp>
        <p:nvSpPr>
          <p:cNvPr id="10" name="Text 8"/>
          <p:cNvSpPr/>
          <p:nvPr/>
        </p:nvSpPr>
        <p:spPr>
          <a:xfrm>
            <a:off x="914400" y="4050792"/>
            <a:ext cx="2651760" cy="365760"/>
          </a:xfrm>
          <a:prstGeom prst="rect">
            <a:avLst/>
          </a:prstGeom>
          <a:noFill/>
          <a:ln/>
        </p:spPr>
        <p:txBody>
          <a:bodyPr wrap="square" lIns="0" tIns="0" rIns="0" bIns="0" rtlCol="0" anchor="ctr"/>
          <a:lstStyle/>
          <a:p>
            <a:pPr algn="ctr" indent="0" marL="0">
              <a:buNone/>
            </a:pPr>
            <a:r>
              <a:rPr lang="en-US" sz="1000" dirty="0">
                <a:solidFill>
                  <a:srgbClr val="5F6B78"/>
                </a:solidFill>
                <a:latin typeface="Calibri" pitchFamily="34" charset="0"/>
                <a:ea typeface="Calibri" pitchFamily="34" charset="-122"/>
                <a:cs typeface="Calibri" pitchFamily="34" charset="-120"/>
              </a:rPr>
              <a:t>windows · edge alerts</a:t>
            </a:r>
            <a:endParaRPr lang="en-US" sz="1000" dirty="0"/>
          </a:p>
        </p:txBody>
      </p:sp>
      <p:sp>
        <p:nvSpPr>
          <p:cNvPr id="11" name="Shape 9"/>
          <p:cNvSpPr/>
          <p:nvPr/>
        </p:nvSpPr>
        <p:spPr>
          <a:xfrm>
            <a:off x="3886200" y="3246120"/>
            <a:ext cx="502920" cy="0"/>
          </a:xfrm>
          <a:prstGeom prst="line">
            <a:avLst/>
          </a:prstGeom>
          <a:noFill/>
          <a:ln w="31750">
            <a:solidFill>
              <a:srgbClr val="2C3E55"/>
            </a:solidFill>
            <a:prstDash val="solid"/>
            <a:tailEnd type="triangle"/>
          </a:ln>
        </p:spPr>
      </p:sp>
      <p:sp>
        <p:nvSpPr>
          <p:cNvPr id="12" name="Shape 10"/>
          <p:cNvSpPr/>
          <p:nvPr/>
        </p:nvSpPr>
        <p:spPr>
          <a:xfrm>
            <a:off x="4572000" y="1554480"/>
            <a:ext cx="6949440" cy="3383280"/>
          </a:xfrm>
          <a:prstGeom prst="roundRect">
            <a:avLst>
              <a:gd name="adj" fmla="val 2703"/>
            </a:avLst>
          </a:prstGeom>
          <a:solidFill>
            <a:srgbClr val="EEF2F6"/>
          </a:solidFill>
          <a:ln w="19050">
            <a:solidFill>
              <a:srgbClr val="2C3E55"/>
            </a:solidFill>
            <a:prstDash val="solid"/>
          </a:ln>
        </p:spPr>
      </p:sp>
      <p:sp>
        <p:nvSpPr>
          <p:cNvPr id="13" name="Text 11"/>
          <p:cNvSpPr/>
          <p:nvPr/>
        </p:nvSpPr>
        <p:spPr>
          <a:xfrm>
            <a:off x="4572000" y="1691640"/>
            <a:ext cx="6949440" cy="365760"/>
          </a:xfrm>
          <a:prstGeom prst="rect">
            <a:avLst/>
          </a:prstGeom>
          <a:noFill/>
          <a:ln/>
        </p:spPr>
        <p:txBody>
          <a:bodyPr wrap="square" rtlCol="0" anchor="ctr"/>
          <a:lstStyle/>
          <a:p>
            <a:pPr algn="ctr" indent="0" marL="0">
              <a:buNone/>
            </a:pPr>
            <a:r>
              <a:rPr lang="en-US" sz="1200" b="1" spc="200" kern="0" dirty="0">
                <a:solidFill>
                  <a:srgbClr val="2C3E55"/>
                </a:solidFill>
                <a:latin typeface="Calibri" pitchFamily="34" charset="0"/>
                <a:ea typeface="Calibri" pitchFamily="34" charset="-122"/>
                <a:cs typeface="Calibri" pitchFamily="34" charset="-120"/>
              </a:rPr>
              <a:t>CLOUD (serverless)</a:t>
            </a:r>
            <a:endParaRPr lang="en-US" sz="1200" dirty="0"/>
          </a:p>
        </p:txBody>
      </p:sp>
      <p:sp>
        <p:nvSpPr>
          <p:cNvPr id="14" name="Shape 12"/>
          <p:cNvSpPr/>
          <p:nvPr/>
        </p:nvSpPr>
        <p:spPr>
          <a:xfrm>
            <a:off x="4846320" y="2651760"/>
            <a:ext cx="1463040" cy="1371600"/>
          </a:xfrm>
          <a:prstGeom prst="roundRect">
            <a:avLst>
              <a:gd name="adj" fmla="val 5333"/>
            </a:avLst>
          </a:prstGeom>
          <a:solidFill>
            <a:srgbClr val="FFFFFF"/>
          </a:solidFill>
          <a:ln w="15240">
            <a:solidFill>
              <a:srgbClr val="2C3E55"/>
            </a:solidFill>
            <a:prstDash val="solid"/>
          </a:ln>
        </p:spPr>
      </p:sp>
      <p:sp>
        <p:nvSpPr>
          <p:cNvPr id="15" name="Text 13"/>
          <p:cNvSpPr/>
          <p:nvPr/>
        </p:nvSpPr>
        <p:spPr>
          <a:xfrm>
            <a:off x="4800600" y="2907792"/>
            <a:ext cx="1554480" cy="457200"/>
          </a:xfrm>
          <a:prstGeom prst="rect">
            <a:avLst/>
          </a:prstGeom>
          <a:noFill/>
          <a:ln/>
        </p:spPr>
        <p:txBody>
          <a:bodyPr wrap="square" lIns="0" tIns="0" rIns="0" bIns="0" rtlCol="0" anchor="ctr"/>
          <a:lstStyle/>
          <a:p>
            <a:pPr algn="ctr" indent="0" marL="0">
              <a:buNone/>
            </a:pPr>
            <a:r>
              <a:rPr lang="en-US" sz="1250" b="1" dirty="0">
                <a:solidFill>
                  <a:srgbClr val="19212C"/>
                </a:solidFill>
                <a:latin typeface="Calibri" pitchFamily="34" charset="0"/>
                <a:ea typeface="Calibri" pitchFamily="34" charset="-122"/>
                <a:cs typeface="Calibri" pitchFamily="34" charset="-120"/>
              </a:rPr>
              <a:t>Amazon SQS</a:t>
            </a:r>
            <a:endParaRPr lang="en-US" sz="1250" dirty="0"/>
          </a:p>
        </p:txBody>
      </p:sp>
      <p:sp>
        <p:nvSpPr>
          <p:cNvPr id="16" name="Text 14"/>
          <p:cNvSpPr/>
          <p:nvPr/>
        </p:nvSpPr>
        <p:spPr>
          <a:xfrm>
            <a:off x="4828032" y="3401568"/>
            <a:ext cx="1499616" cy="457200"/>
          </a:xfrm>
          <a:prstGeom prst="rect">
            <a:avLst/>
          </a:prstGeom>
          <a:noFill/>
          <a:ln/>
        </p:spPr>
        <p:txBody>
          <a:bodyPr wrap="square" lIns="0" tIns="0" rIns="0" bIns="0" rtlCol="0" anchor="ctr"/>
          <a:lstStyle/>
          <a:p>
            <a:pPr algn="ctr" indent="0" marL="0">
              <a:buNone/>
            </a:pPr>
            <a:r>
              <a:rPr lang="en-US" sz="900" dirty="0">
                <a:solidFill>
                  <a:srgbClr val="5F6B78"/>
                </a:solidFill>
                <a:latin typeface="Calibri" pitchFamily="34" charset="0"/>
                <a:ea typeface="Calibri" pitchFamily="34" charset="-122"/>
                <a:cs typeface="Calibri" pitchFamily="34" charset="-120"/>
              </a:rPr>
              <a:t>window summaries</a:t>
            </a:r>
            <a:endParaRPr lang="en-US" sz="900" dirty="0"/>
          </a:p>
        </p:txBody>
      </p:sp>
      <p:sp>
        <p:nvSpPr>
          <p:cNvPr id="17" name="Shape 15"/>
          <p:cNvSpPr/>
          <p:nvPr/>
        </p:nvSpPr>
        <p:spPr>
          <a:xfrm>
            <a:off x="6318504" y="3337560"/>
            <a:ext cx="164592" cy="0"/>
          </a:xfrm>
          <a:prstGeom prst="line">
            <a:avLst/>
          </a:prstGeom>
          <a:noFill/>
          <a:ln w="20320">
            <a:solidFill>
              <a:srgbClr val="6A839C"/>
            </a:solidFill>
            <a:prstDash val="solid"/>
            <a:tailEnd type="triangle"/>
          </a:ln>
        </p:spPr>
      </p:sp>
      <p:sp>
        <p:nvSpPr>
          <p:cNvPr id="18" name="Shape 16"/>
          <p:cNvSpPr/>
          <p:nvPr/>
        </p:nvSpPr>
        <p:spPr>
          <a:xfrm>
            <a:off x="6492240" y="2651760"/>
            <a:ext cx="1463040" cy="1371600"/>
          </a:xfrm>
          <a:prstGeom prst="roundRect">
            <a:avLst>
              <a:gd name="adj" fmla="val 5333"/>
            </a:avLst>
          </a:prstGeom>
          <a:solidFill>
            <a:srgbClr val="FFFFFF"/>
          </a:solidFill>
          <a:ln w="15240">
            <a:solidFill>
              <a:srgbClr val="2C3E55"/>
            </a:solidFill>
            <a:prstDash val="solid"/>
          </a:ln>
        </p:spPr>
      </p:sp>
      <p:sp>
        <p:nvSpPr>
          <p:cNvPr id="19" name="Text 17"/>
          <p:cNvSpPr/>
          <p:nvPr/>
        </p:nvSpPr>
        <p:spPr>
          <a:xfrm>
            <a:off x="6446520" y="2907792"/>
            <a:ext cx="1554480" cy="457200"/>
          </a:xfrm>
          <a:prstGeom prst="rect">
            <a:avLst/>
          </a:prstGeom>
          <a:noFill/>
          <a:ln/>
        </p:spPr>
        <p:txBody>
          <a:bodyPr wrap="square" lIns="0" tIns="0" rIns="0" bIns="0" rtlCol="0" anchor="ctr"/>
          <a:lstStyle/>
          <a:p>
            <a:pPr algn="ctr" indent="0" marL="0">
              <a:buNone/>
            </a:pPr>
            <a:r>
              <a:rPr lang="en-US" sz="1250" b="1" dirty="0">
                <a:solidFill>
                  <a:srgbClr val="19212C"/>
                </a:solidFill>
                <a:latin typeface="Calibri" pitchFamily="34" charset="0"/>
                <a:ea typeface="Calibri" pitchFamily="34" charset="-122"/>
                <a:cs typeface="Calibri" pitchFamily="34" charset="-120"/>
              </a:rPr>
              <a:t>AWS Lambda</a:t>
            </a:r>
            <a:endParaRPr lang="en-US" sz="1250" dirty="0"/>
          </a:p>
        </p:txBody>
      </p:sp>
      <p:sp>
        <p:nvSpPr>
          <p:cNvPr id="20" name="Text 18"/>
          <p:cNvSpPr/>
          <p:nvPr/>
        </p:nvSpPr>
        <p:spPr>
          <a:xfrm>
            <a:off x="6473952" y="3401568"/>
            <a:ext cx="1499616" cy="457200"/>
          </a:xfrm>
          <a:prstGeom prst="rect">
            <a:avLst/>
          </a:prstGeom>
          <a:noFill/>
          <a:ln/>
        </p:spPr>
        <p:txBody>
          <a:bodyPr wrap="square" lIns="0" tIns="0" rIns="0" bIns="0" rtlCol="0" anchor="ctr"/>
          <a:lstStyle/>
          <a:p>
            <a:pPr algn="ctr" indent="0" marL="0">
              <a:buNone/>
            </a:pPr>
            <a:r>
              <a:rPr lang="en-US" sz="900" dirty="0">
                <a:solidFill>
                  <a:srgbClr val="5F6B78"/>
                </a:solidFill>
                <a:latin typeface="Calibri" pitchFamily="34" charset="0"/>
                <a:ea typeface="Calibri" pitchFamily="34" charset="-122"/>
                <a:cs typeface="Calibri" pitchFamily="34" charset="-120"/>
              </a:rPr>
              <a:t>ingest function</a:t>
            </a:r>
            <a:endParaRPr lang="en-US" sz="900" dirty="0"/>
          </a:p>
        </p:txBody>
      </p:sp>
      <p:sp>
        <p:nvSpPr>
          <p:cNvPr id="21" name="Shape 19"/>
          <p:cNvSpPr/>
          <p:nvPr/>
        </p:nvSpPr>
        <p:spPr>
          <a:xfrm>
            <a:off x="7964424" y="3337560"/>
            <a:ext cx="164592" cy="0"/>
          </a:xfrm>
          <a:prstGeom prst="line">
            <a:avLst/>
          </a:prstGeom>
          <a:noFill/>
          <a:ln w="20320">
            <a:solidFill>
              <a:srgbClr val="6A839C"/>
            </a:solidFill>
            <a:prstDash val="solid"/>
            <a:tailEnd type="triangle"/>
          </a:ln>
        </p:spPr>
      </p:sp>
      <p:sp>
        <p:nvSpPr>
          <p:cNvPr id="22" name="Shape 20"/>
          <p:cNvSpPr/>
          <p:nvPr/>
        </p:nvSpPr>
        <p:spPr>
          <a:xfrm>
            <a:off x="8138160" y="2651760"/>
            <a:ext cx="1463040" cy="1371600"/>
          </a:xfrm>
          <a:prstGeom prst="roundRect">
            <a:avLst>
              <a:gd name="adj" fmla="val 5333"/>
            </a:avLst>
          </a:prstGeom>
          <a:solidFill>
            <a:srgbClr val="FFFFFF"/>
          </a:solidFill>
          <a:ln w="15240">
            <a:solidFill>
              <a:srgbClr val="2C3E55"/>
            </a:solidFill>
            <a:prstDash val="solid"/>
          </a:ln>
        </p:spPr>
      </p:sp>
      <p:sp>
        <p:nvSpPr>
          <p:cNvPr id="23" name="Text 21"/>
          <p:cNvSpPr/>
          <p:nvPr/>
        </p:nvSpPr>
        <p:spPr>
          <a:xfrm>
            <a:off x="8092440" y="2907792"/>
            <a:ext cx="1554480" cy="457200"/>
          </a:xfrm>
          <a:prstGeom prst="rect">
            <a:avLst/>
          </a:prstGeom>
          <a:noFill/>
          <a:ln/>
        </p:spPr>
        <p:txBody>
          <a:bodyPr wrap="square" lIns="0" tIns="0" rIns="0" bIns="0" rtlCol="0" anchor="ctr"/>
          <a:lstStyle/>
          <a:p>
            <a:pPr algn="ctr" indent="0" marL="0">
              <a:buNone/>
            </a:pPr>
            <a:r>
              <a:rPr lang="en-US" sz="1250" b="1" dirty="0">
                <a:solidFill>
                  <a:srgbClr val="19212C"/>
                </a:solidFill>
                <a:latin typeface="Calibri" pitchFamily="34" charset="0"/>
                <a:ea typeface="Calibri" pitchFamily="34" charset="-122"/>
                <a:cs typeface="Calibri" pitchFamily="34" charset="-120"/>
              </a:rPr>
              <a:t>DynamoDB</a:t>
            </a:r>
            <a:endParaRPr lang="en-US" sz="1250" dirty="0"/>
          </a:p>
        </p:txBody>
      </p:sp>
      <p:sp>
        <p:nvSpPr>
          <p:cNvPr id="24" name="Text 22"/>
          <p:cNvSpPr/>
          <p:nvPr/>
        </p:nvSpPr>
        <p:spPr>
          <a:xfrm>
            <a:off x="8119872" y="3401568"/>
            <a:ext cx="1499616" cy="457200"/>
          </a:xfrm>
          <a:prstGeom prst="rect">
            <a:avLst/>
          </a:prstGeom>
          <a:noFill/>
          <a:ln/>
        </p:spPr>
        <p:txBody>
          <a:bodyPr wrap="square" lIns="0" tIns="0" rIns="0" bIns="0" rtlCol="0" anchor="ctr"/>
          <a:lstStyle/>
          <a:p>
            <a:pPr algn="ctr" indent="0" marL="0">
              <a:buNone/>
            </a:pPr>
            <a:r>
              <a:rPr lang="en-US" sz="900" dirty="0">
                <a:solidFill>
                  <a:srgbClr val="5F6B78"/>
                </a:solidFill>
                <a:latin typeface="Calibri" pitchFamily="34" charset="0"/>
                <a:ea typeface="Calibri" pitchFamily="34" charset="-122"/>
                <a:cs typeface="Calibri" pitchFamily="34" charset="-120"/>
              </a:rPr>
              <a:t>readings store</a:t>
            </a:r>
            <a:endParaRPr lang="en-US" sz="900" dirty="0"/>
          </a:p>
        </p:txBody>
      </p:sp>
      <p:sp>
        <p:nvSpPr>
          <p:cNvPr id="25" name="Shape 23"/>
          <p:cNvSpPr/>
          <p:nvPr/>
        </p:nvSpPr>
        <p:spPr>
          <a:xfrm>
            <a:off x="9610344" y="3337560"/>
            <a:ext cx="164592" cy="0"/>
          </a:xfrm>
          <a:prstGeom prst="line">
            <a:avLst/>
          </a:prstGeom>
          <a:noFill/>
          <a:ln w="20320">
            <a:solidFill>
              <a:srgbClr val="6A839C"/>
            </a:solidFill>
            <a:prstDash val="solid"/>
            <a:tailEnd type="triangle"/>
          </a:ln>
        </p:spPr>
      </p:sp>
      <p:sp>
        <p:nvSpPr>
          <p:cNvPr id="26" name="Shape 24"/>
          <p:cNvSpPr/>
          <p:nvPr/>
        </p:nvSpPr>
        <p:spPr>
          <a:xfrm>
            <a:off x="9784080" y="2651760"/>
            <a:ext cx="1463040" cy="1371600"/>
          </a:xfrm>
          <a:prstGeom prst="roundRect">
            <a:avLst>
              <a:gd name="adj" fmla="val 5333"/>
            </a:avLst>
          </a:prstGeom>
          <a:solidFill>
            <a:srgbClr val="FFFFFF"/>
          </a:solidFill>
          <a:ln w="15240">
            <a:solidFill>
              <a:srgbClr val="3E5A7C"/>
            </a:solidFill>
            <a:prstDash val="solid"/>
          </a:ln>
        </p:spPr>
      </p:sp>
      <p:sp>
        <p:nvSpPr>
          <p:cNvPr id="27" name="Text 25"/>
          <p:cNvSpPr/>
          <p:nvPr/>
        </p:nvSpPr>
        <p:spPr>
          <a:xfrm>
            <a:off x="9738360" y="2907792"/>
            <a:ext cx="1554480" cy="457200"/>
          </a:xfrm>
          <a:prstGeom prst="rect">
            <a:avLst/>
          </a:prstGeom>
          <a:noFill/>
          <a:ln/>
        </p:spPr>
        <p:txBody>
          <a:bodyPr wrap="square" lIns="0" tIns="0" rIns="0" bIns="0" rtlCol="0" anchor="ctr"/>
          <a:lstStyle/>
          <a:p>
            <a:pPr algn="ctr" indent="0" marL="0">
              <a:buNone/>
            </a:pPr>
            <a:r>
              <a:rPr lang="en-US" sz="1250" b="1" dirty="0">
                <a:solidFill>
                  <a:srgbClr val="19212C"/>
                </a:solidFill>
                <a:latin typeface="Calibri" pitchFamily="34" charset="0"/>
                <a:ea typeface="Calibri" pitchFamily="34" charset="-122"/>
                <a:cs typeface="Calibri" pitchFamily="34" charset="-120"/>
              </a:rPr>
              <a:t>API GW + S3</a:t>
            </a:r>
            <a:endParaRPr lang="en-US" sz="1250" dirty="0"/>
          </a:p>
        </p:txBody>
      </p:sp>
      <p:sp>
        <p:nvSpPr>
          <p:cNvPr id="28" name="Text 26"/>
          <p:cNvSpPr/>
          <p:nvPr/>
        </p:nvSpPr>
        <p:spPr>
          <a:xfrm>
            <a:off x="9765792" y="3401568"/>
            <a:ext cx="1499616" cy="457200"/>
          </a:xfrm>
          <a:prstGeom prst="rect">
            <a:avLst/>
          </a:prstGeom>
          <a:noFill/>
          <a:ln/>
        </p:spPr>
        <p:txBody>
          <a:bodyPr wrap="square" lIns="0" tIns="0" rIns="0" bIns="0" rtlCol="0" anchor="ctr"/>
          <a:lstStyle/>
          <a:p>
            <a:pPr algn="ctr" indent="0" marL="0">
              <a:buNone/>
            </a:pPr>
            <a:r>
              <a:rPr lang="en-US" sz="900" dirty="0">
                <a:solidFill>
                  <a:srgbClr val="5F6B78"/>
                </a:solidFill>
                <a:latin typeface="Calibri" pitchFamily="34" charset="0"/>
                <a:ea typeface="Calibri" pitchFamily="34" charset="-122"/>
                <a:cs typeface="Calibri" pitchFamily="34" charset="-120"/>
              </a:rPr>
              <a:t>live dashboard</a:t>
            </a:r>
            <a:endParaRPr lang="en-US" sz="900" dirty="0"/>
          </a:p>
        </p:txBody>
      </p:sp>
      <p:sp>
        <p:nvSpPr>
          <p:cNvPr id="29" name="Text 27"/>
          <p:cNvSpPr/>
          <p:nvPr/>
        </p:nvSpPr>
        <p:spPr>
          <a:xfrm>
            <a:off x="640080" y="5257800"/>
            <a:ext cx="10972800" cy="731520"/>
          </a:xfrm>
          <a:prstGeom prst="rect">
            <a:avLst/>
          </a:prstGeom>
          <a:noFill/>
          <a:ln/>
        </p:spPr>
        <p:txBody>
          <a:bodyPr wrap="square" rtlCol="0" anchor="ctr"/>
          <a:lstStyle/>
          <a:p>
            <a:pPr algn="ctr" indent="0" marL="0">
              <a:buNone/>
            </a:pPr>
            <a:r>
              <a:rPr lang="en-US" sz="1500" i="1" dirty="0">
                <a:solidFill>
                  <a:srgbClr val="2C3E55"/>
                </a:solidFill>
                <a:latin typeface="Calibri" pitchFamily="34" charset="0"/>
                <a:ea typeface="Calibri" pitchFamily="34" charset="-122"/>
                <a:cs typeface="Calibri" pitchFamily="34" charset="-120"/>
              </a:rPr>
              <a:t>Alerts fire at the edge, so only compact window summaries ever cross into the cloud; a second Lambda serves the dashboard API.</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7315200" cy="640080"/>
          </a:xfrm>
          <a:prstGeom prst="rect">
            <a:avLst/>
          </a:prstGeom>
          <a:noFill/>
          <a:ln/>
        </p:spPr>
        <p:txBody>
          <a:bodyPr wrap="square" rtlCol="0" anchor="ctr"/>
          <a:lstStyle/>
          <a:p>
            <a:pPr indent="0" marL="0">
              <a:buNone/>
            </a:pPr>
            <a:r>
              <a:rPr lang="en-US" sz="3000" b="1" dirty="0">
                <a:solidFill>
                  <a:srgbClr val="19212C"/>
                </a:solidFill>
                <a:latin typeface="Bookman Old Style" pitchFamily="34" charset="0"/>
                <a:ea typeface="Bookman Old Style" pitchFamily="34" charset="-122"/>
                <a:cs typeface="Bookman Old Style" pitchFamily="34" charset="-120"/>
              </a:rPr>
              <a:t>Live Demo</a:t>
            </a:r>
            <a:endParaRPr lang="en-US" sz="3000" dirty="0"/>
          </a:p>
        </p:txBody>
      </p:sp>
      <p:sp>
        <p:nvSpPr>
          <p:cNvPr id="3" name="Text 1"/>
          <p:cNvSpPr/>
          <p:nvPr/>
        </p:nvSpPr>
        <p:spPr>
          <a:xfrm>
            <a:off x="658368" y="1143000"/>
            <a:ext cx="10972800" cy="365760"/>
          </a:xfrm>
          <a:prstGeom prst="rect">
            <a:avLst/>
          </a:prstGeom>
          <a:noFill/>
          <a:ln/>
        </p:spPr>
        <p:txBody>
          <a:bodyPr wrap="square" rtlCol="0" anchor="ctr"/>
          <a:lstStyle/>
          <a:p>
            <a:pPr indent="0" marL="0">
              <a:buNone/>
            </a:pPr>
            <a:r>
              <a:rPr lang="en-US" sz="1400" dirty="0">
                <a:solidFill>
                  <a:srgbClr val="3E5A7C"/>
                </a:solidFill>
                <a:latin typeface="Consolas" pitchFamily="34" charset="0"/>
                <a:ea typeface="Consolas" pitchFamily="34" charset="-122"/>
                <a:cs typeface="Consolas" pitchFamily="34" charset="-120"/>
              </a:rPr>
              <a:t>dce-frontend-373241496019.s3.us-east-1.amazonaws.com</a:t>
            </a:r>
            <a:endParaRPr lang="en-US" sz="1400" dirty="0"/>
          </a:p>
        </p:txBody>
      </p:sp>
      <p:sp>
        <p:nvSpPr>
          <p:cNvPr id="4" name="Text 2"/>
          <p:cNvSpPr/>
          <p:nvPr/>
        </p:nvSpPr>
        <p:spPr>
          <a:xfrm>
            <a:off x="640080" y="1737360"/>
            <a:ext cx="1097280" cy="1097280"/>
          </a:xfrm>
          <a:prstGeom prst="rect">
            <a:avLst/>
          </a:prstGeom>
          <a:noFill/>
          <a:ln/>
        </p:spPr>
        <p:txBody>
          <a:bodyPr wrap="square" lIns="0" tIns="0" rIns="0" bIns="0" rtlCol="0" anchor="ctr"/>
          <a:lstStyle/>
          <a:p>
            <a:pPr indent="0" marL="0">
              <a:buNone/>
            </a:pPr>
            <a:r>
              <a:rPr lang="en-US" sz="5400" b="1" dirty="0">
                <a:solidFill>
                  <a:srgbClr val="EEF2F6"/>
                </a:solidFill>
                <a:latin typeface="Bookman Old Style" pitchFamily="34" charset="0"/>
                <a:ea typeface="Bookman Old Style" pitchFamily="34" charset="-122"/>
                <a:cs typeface="Bookman Old Style" pitchFamily="34" charset="-120"/>
              </a:rPr>
              <a:t>1</a:t>
            </a:r>
            <a:endParaRPr lang="en-US" sz="5400" dirty="0"/>
          </a:p>
        </p:txBody>
      </p:sp>
      <p:sp>
        <p:nvSpPr>
          <p:cNvPr id="5" name="Shape 3"/>
          <p:cNvSpPr/>
          <p:nvPr/>
        </p:nvSpPr>
        <p:spPr>
          <a:xfrm>
            <a:off x="1828800" y="1920240"/>
            <a:ext cx="0" cy="1051560"/>
          </a:xfrm>
          <a:prstGeom prst="line">
            <a:avLst/>
          </a:prstGeom>
          <a:noFill/>
          <a:ln w="25400">
            <a:solidFill>
              <a:srgbClr val="3E5A7C"/>
            </a:solidFill>
            <a:prstDash val="solid"/>
          </a:ln>
        </p:spPr>
      </p:sp>
      <p:sp>
        <p:nvSpPr>
          <p:cNvPr id="6" name="Text 4"/>
          <p:cNvSpPr/>
          <p:nvPr/>
        </p:nvSpPr>
        <p:spPr>
          <a:xfrm>
            <a:off x="2057400" y="1874520"/>
            <a:ext cx="9509760" cy="411480"/>
          </a:xfrm>
          <a:prstGeom prst="rect">
            <a:avLst/>
          </a:prstGeom>
          <a:noFill/>
          <a:ln/>
        </p:spPr>
        <p:txBody>
          <a:bodyPr wrap="square" lIns="0" tIns="0" rIns="0" bIns="0" rtlCol="0" anchor="ctr"/>
          <a:lstStyle/>
          <a:p>
            <a:pPr indent="0" marL="0">
              <a:buNone/>
            </a:pPr>
            <a:r>
              <a:rPr lang="en-US" sz="1800" b="1" dirty="0">
                <a:solidFill>
                  <a:srgbClr val="19212C"/>
                </a:solidFill>
                <a:latin typeface="Calibri" pitchFamily="34" charset="0"/>
                <a:ea typeface="Calibri" pitchFamily="34" charset="-122"/>
                <a:cs typeface="Calibri" pitchFamily="34" charset="-120"/>
              </a:rPr>
              <a:t>Two halls, five environment metrics</a:t>
            </a:r>
            <a:endParaRPr lang="en-US" sz="1800" dirty="0"/>
          </a:p>
        </p:txBody>
      </p:sp>
      <p:sp>
        <p:nvSpPr>
          <p:cNvPr id="7" name="Text 5"/>
          <p:cNvSpPr/>
          <p:nvPr/>
        </p:nvSpPr>
        <p:spPr>
          <a:xfrm>
            <a:off x="2057400" y="2313432"/>
            <a:ext cx="9509760" cy="822960"/>
          </a:xfrm>
          <a:prstGeom prst="rect">
            <a:avLst/>
          </a:prstGeom>
          <a:noFill/>
          <a:ln/>
        </p:spPr>
        <p:txBody>
          <a:bodyPr wrap="square" lIns="0" tIns="0" rIns="0" bIns="0" rtlCol="0" anchor="ctr"/>
          <a:lstStyle/>
          <a:p>
            <a:pPr indent="0" marL="0">
              <a:buNone/>
            </a:pPr>
            <a:r>
              <a:rPr lang="en-US" sz="1350" dirty="0">
                <a:solidFill>
                  <a:srgbClr val="5F6B78"/>
                </a:solidFill>
                <a:latin typeface="Calibri" pitchFamily="34" charset="0"/>
                <a:ea typeface="Calibri" pitchFamily="34" charset="-122"/>
                <a:cs typeface="Calibri" pitchFamily="34" charset="-120"/>
              </a:rPr>
              <a:t>Temperature, humidity, airflow, and rack conditions live for both server halls, each window checked as it closes.</a:t>
            </a:r>
            <a:endParaRPr lang="en-US" sz="1350" dirty="0"/>
          </a:p>
        </p:txBody>
      </p:sp>
      <p:sp>
        <p:nvSpPr>
          <p:cNvPr id="8" name="Text 6"/>
          <p:cNvSpPr/>
          <p:nvPr/>
        </p:nvSpPr>
        <p:spPr>
          <a:xfrm>
            <a:off x="640080" y="3200400"/>
            <a:ext cx="1097280" cy="1097280"/>
          </a:xfrm>
          <a:prstGeom prst="rect">
            <a:avLst/>
          </a:prstGeom>
          <a:noFill/>
          <a:ln/>
        </p:spPr>
        <p:txBody>
          <a:bodyPr wrap="square" lIns="0" tIns="0" rIns="0" bIns="0" rtlCol="0" anchor="ctr"/>
          <a:lstStyle/>
          <a:p>
            <a:pPr indent="0" marL="0">
              <a:buNone/>
            </a:pPr>
            <a:r>
              <a:rPr lang="en-US" sz="5400" b="1" dirty="0">
                <a:solidFill>
                  <a:srgbClr val="EEF2F6"/>
                </a:solidFill>
                <a:latin typeface="Bookman Old Style" pitchFamily="34" charset="0"/>
                <a:ea typeface="Bookman Old Style" pitchFamily="34" charset="-122"/>
                <a:cs typeface="Bookman Old Style" pitchFamily="34" charset="-120"/>
              </a:rPr>
              <a:t>2</a:t>
            </a:r>
            <a:endParaRPr lang="en-US" sz="5400" dirty="0"/>
          </a:p>
        </p:txBody>
      </p:sp>
      <p:sp>
        <p:nvSpPr>
          <p:cNvPr id="9" name="Shape 7"/>
          <p:cNvSpPr/>
          <p:nvPr/>
        </p:nvSpPr>
        <p:spPr>
          <a:xfrm>
            <a:off x="1828800" y="3383280"/>
            <a:ext cx="0" cy="1051560"/>
          </a:xfrm>
          <a:prstGeom prst="line">
            <a:avLst/>
          </a:prstGeom>
          <a:noFill/>
          <a:ln w="25400">
            <a:solidFill>
              <a:srgbClr val="3E5A7C"/>
            </a:solidFill>
            <a:prstDash val="solid"/>
          </a:ln>
        </p:spPr>
      </p:sp>
      <p:sp>
        <p:nvSpPr>
          <p:cNvPr id="10" name="Text 8"/>
          <p:cNvSpPr/>
          <p:nvPr/>
        </p:nvSpPr>
        <p:spPr>
          <a:xfrm>
            <a:off x="2057400" y="3337560"/>
            <a:ext cx="9509760" cy="411480"/>
          </a:xfrm>
          <a:prstGeom prst="rect">
            <a:avLst/>
          </a:prstGeom>
          <a:noFill/>
          <a:ln/>
        </p:spPr>
        <p:txBody>
          <a:bodyPr wrap="square" lIns="0" tIns="0" rIns="0" bIns="0" rtlCol="0" anchor="ctr"/>
          <a:lstStyle/>
          <a:p>
            <a:pPr indent="0" marL="0">
              <a:buNone/>
            </a:pPr>
            <a:r>
              <a:rPr lang="en-US" sz="1800" b="1" dirty="0">
                <a:solidFill>
                  <a:srgbClr val="19212C"/>
                </a:solidFill>
                <a:latin typeface="Calibri" pitchFamily="34" charset="0"/>
                <a:ea typeface="Calibri" pitchFamily="34" charset="-122"/>
                <a:cs typeface="Calibri" pitchFamily="34" charset="-120"/>
              </a:rPr>
              <a:t>Threshold rules on every closed window</a:t>
            </a:r>
            <a:endParaRPr lang="en-US" sz="1800" dirty="0"/>
          </a:p>
        </p:txBody>
      </p:sp>
      <p:sp>
        <p:nvSpPr>
          <p:cNvPr id="11" name="Text 9"/>
          <p:cNvSpPr/>
          <p:nvPr/>
        </p:nvSpPr>
        <p:spPr>
          <a:xfrm>
            <a:off x="2057400" y="3776472"/>
            <a:ext cx="9509760" cy="822960"/>
          </a:xfrm>
          <a:prstGeom prst="rect">
            <a:avLst/>
          </a:prstGeom>
          <a:noFill/>
          <a:ln/>
        </p:spPr>
        <p:txBody>
          <a:bodyPr wrap="square" lIns="0" tIns="0" rIns="0" bIns="0" rtlCol="0" anchor="ctr"/>
          <a:lstStyle/>
          <a:p>
            <a:pPr indent="0" marL="0">
              <a:buNone/>
            </a:pPr>
            <a:r>
              <a:rPr lang="en-US" sz="1350" dirty="0">
                <a:solidFill>
                  <a:srgbClr val="5F6B78"/>
                </a:solidFill>
                <a:latin typeface="Calibri" pitchFamily="34" charset="0"/>
                <a:ea typeface="Calibri" pitchFamily="34" charset="-122"/>
                <a:cs typeface="Calibri" pitchFamily="34" charset="-120"/>
              </a:rPr>
              <a:t>An overheat above 27 C, condensation-risk humidity above 60%, or airflow below 400 CFM raises the instant that window closes.</a:t>
            </a:r>
            <a:endParaRPr lang="en-US" sz="1350" dirty="0"/>
          </a:p>
        </p:txBody>
      </p:sp>
      <p:sp>
        <p:nvSpPr>
          <p:cNvPr id="12" name="Text 10"/>
          <p:cNvSpPr/>
          <p:nvPr/>
        </p:nvSpPr>
        <p:spPr>
          <a:xfrm>
            <a:off x="640080" y="4663440"/>
            <a:ext cx="1097280" cy="1097280"/>
          </a:xfrm>
          <a:prstGeom prst="rect">
            <a:avLst/>
          </a:prstGeom>
          <a:noFill/>
          <a:ln/>
        </p:spPr>
        <p:txBody>
          <a:bodyPr wrap="square" lIns="0" tIns="0" rIns="0" bIns="0" rtlCol="0" anchor="ctr"/>
          <a:lstStyle/>
          <a:p>
            <a:pPr indent="0" marL="0">
              <a:buNone/>
            </a:pPr>
            <a:r>
              <a:rPr lang="en-US" sz="5400" b="1" dirty="0">
                <a:solidFill>
                  <a:srgbClr val="EEF2F6"/>
                </a:solidFill>
                <a:latin typeface="Bookman Old Style" pitchFamily="34" charset="0"/>
                <a:ea typeface="Bookman Old Style" pitchFamily="34" charset="-122"/>
                <a:cs typeface="Bookman Old Style" pitchFamily="34" charset="-120"/>
              </a:rPr>
              <a:t>3</a:t>
            </a:r>
            <a:endParaRPr lang="en-US" sz="5400" dirty="0"/>
          </a:p>
        </p:txBody>
      </p:sp>
      <p:sp>
        <p:nvSpPr>
          <p:cNvPr id="13" name="Shape 11"/>
          <p:cNvSpPr/>
          <p:nvPr/>
        </p:nvSpPr>
        <p:spPr>
          <a:xfrm>
            <a:off x="1828800" y="4846320"/>
            <a:ext cx="0" cy="1051560"/>
          </a:xfrm>
          <a:prstGeom prst="line">
            <a:avLst/>
          </a:prstGeom>
          <a:noFill/>
          <a:ln w="25400">
            <a:solidFill>
              <a:srgbClr val="3E5A7C"/>
            </a:solidFill>
            <a:prstDash val="solid"/>
          </a:ln>
        </p:spPr>
      </p:sp>
      <p:sp>
        <p:nvSpPr>
          <p:cNvPr id="14" name="Text 12"/>
          <p:cNvSpPr/>
          <p:nvPr/>
        </p:nvSpPr>
        <p:spPr>
          <a:xfrm>
            <a:off x="2057400" y="4800600"/>
            <a:ext cx="9509760" cy="411480"/>
          </a:xfrm>
          <a:prstGeom prst="rect">
            <a:avLst/>
          </a:prstGeom>
          <a:noFill/>
          <a:ln/>
        </p:spPr>
        <p:txBody>
          <a:bodyPr wrap="square" lIns="0" tIns="0" rIns="0" bIns="0" rtlCol="0" anchor="ctr"/>
          <a:lstStyle/>
          <a:p>
            <a:pPr indent="0" marL="0">
              <a:buNone/>
            </a:pPr>
            <a:r>
              <a:rPr lang="en-US" sz="1800" b="1" dirty="0">
                <a:solidFill>
                  <a:srgbClr val="19212C"/>
                </a:solidFill>
                <a:latin typeface="Calibri" pitchFamily="34" charset="0"/>
                <a:ea typeface="Calibri" pitchFamily="34" charset="-122"/>
                <a:cs typeface="Calibri" pitchFamily="34" charset="-120"/>
              </a:rPr>
              <a:t>Live per-hall readings</a:t>
            </a:r>
            <a:endParaRPr lang="en-US" sz="1800" dirty="0"/>
          </a:p>
        </p:txBody>
      </p:sp>
      <p:sp>
        <p:nvSpPr>
          <p:cNvPr id="15" name="Text 13"/>
          <p:cNvSpPr/>
          <p:nvPr/>
        </p:nvSpPr>
        <p:spPr>
          <a:xfrm>
            <a:off x="2057400" y="5239512"/>
            <a:ext cx="9509760" cy="822960"/>
          </a:xfrm>
          <a:prstGeom prst="rect">
            <a:avLst/>
          </a:prstGeom>
          <a:noFill/>
          <a:ln/>
        </p:spPr>
        <p:txBody>
          <a:bodyPr wrap="square" lIns="0" tIns="0" rIns="0" bIns="0" rtlCol="0" anchor="ctr"/>
          <a:lstStyle/>
          <a:p>
            <a:pPr indent="0" marL="0">
              <a:buNone/>
            </a:pPr>
            <a:r>
              <a:rPr lang="en-US" sz="1350" dirty="0">
                <a:solidFill>
                  <a:srgbClr val="5F6B78"/>
                </a:solidFill>
                <a:latin typeface="Calibri" pitchFamily="34" charset="0"/>
                <a:ea typeface="Calibri" pitchFamily="34" charset="-122"/>
                <a:cs typeface="Calibri" pitchFamily="34" charset="-120"/>
              </a:rPr>
              <a:t>Both halls report side by side, so an overheating rack or a humidity swing is caught in seconds, not at the next round.</a:t>
            </a:r>
            <a:endParaRPr lang="en-US" sz="1350" dirty="0"/>
          </a:p>
        </p:txBody>
      </p:sp>
      <p:sp>
        <p:nvSpPr>
          <p:cNvPr id="16" name="Text 14"/>
          <p:cNvSpPr/>
          <p:nvPr/>
        </p:nvSpPr>
        <p:spPr>
          <a:xfrm>
            <a:off x="640080" y="6309360"/>
            <a:ext cx="10972800" cy="365760"/>
          </a:xfrm>
          <a:prstGeom prst="rect">
            <a:avLst/>
          </a:prstGeom>
          <a:noFill/>
          <a:ln/>
        </p:spPr>
        <p:txBody>
          <a:bodyPr wrap="square" rtlCol="0" anchor="ctr"/>
          <a:lstStyle/>
          <a:p>
            <a:pPr indent="0" marL="0">
              <a:buNone/>
            </a:pPr>
            <a:r>
              <a:rPr lang="en-US" sz="1300" i="1" dirty="0">
                <a:solidFill>
                  <a:srgbClr val="6A839C"/>
                </a:solidFill>
                <a:latin typeface="Calibri" pitchFamily="34" charset="0"/>
                <a:ea typeface="Calibri" pitchFamily="34" charset="-122"/>
                <a:cs typeface="Calibri" pitchFamily="34" charset="-120"/>
              </a:rPr>
              <a:t>Switch to the live dashboard here — backup video ready.</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02920"/>
            <a:ext cx="10972800" cy="822960"/>
          </a:xfrm>
          <a:prstGeom prst="rect">
            <a:avLst/>
          </a:prstGeom>
          <a:noFill/>
          <a:ln/>
        </p:spPr>
        <p:txBody>
          <a:bodyPr wrap="square" rtlCol="0" anchor="t"/>
          <a:lstStyle/>
          <a:p>
            <a:pPr indent="0" marL="0">
              <a:buNone/>
            </a:pPr>
            <a:r>
              <a:rPr lang="en-US" sz="2800" b="1" dirty="0">
                <a:solidFill>
                  <a:srgbClr val="19212C"/>
                </a:solidFill>
                <a:latin typeface="Bookman Old Style" pitchFamily="34" charset="0"/>
                <a:ea typeface="Bookman Old Style" pitchFamily="34" charset="-122"/>
                <a:cs typeface="Bookman Old Style" pitchFamily="34" charset="-120"/>
              </a:rPr>
              <a:t>Hardest Part — a fault only real AWS revealed</a:t>
            </a:r>
            <a:endParaRPr lang="en-US" sz="2800" dirty="0"/>
          </a:p>
        </p:txBody>
      </p:sp>
      <p:sp>
        <p:nvSpPr>
          <p:cNvPr id="3" name="Text 1"/>
          <p:cNvSpPr/>
          <p:nvPr/>
        </p:nvSpPr>
        <p:spPr>
          <a:xfrm>
            <a:off x="731520" y="1965960"/>
            <a:ext cx="2377440" cy="548640"/>
          </a:xfrm>
          <a:prstGeom prst="rect">
            <a:avLst/>
          </a:prstGeom>
          <a:noFill/>
          <a:ln/>
        </p:spPr>
        <p:txBody>
          <a:bodyPr wrap="square" lIns="0" tIns="0" rIns="0" bIns="0" rtlCol="0" anchor="ctr"/>
          <a:lstStyle/>
          <a:p>
            <a:pPr indent="0" marL="0">
              <a:buNone/>
            </a:pPr>
            <a:r>
              <a:rPr lang="en-US" sz="2300" b="1" dirty="0">
                <a:solidFill>
                  <a:srgbClr val="E0A63C"/>
                </a:solidFill>
                <a:latin typeface="Bookman Old Style" pitchFamily="34" charset="0"/>
                <a:ea typeface="Bookman Old Style" pitchFamily="34" charset="-122"/>
                <a:cs typeface="Bookman Old Style" pitchFamily="34" charset="-120"/>
              </a:rPr>
              <a:t>Problem</a:t>
            </a:r>
            <a:endParaRPr lang="en-US" sz="2300" dirty="0"/>
          </a:p>
        </p:txBody>
      </p:sp>
      <p:sp>
        <p:nvSpPr>
          <p:cNvPr id="4" name="Shape 2"/>
          <p:cNvSpPr/>
          <p:nvPr/>
        </p:nvSpPr>
        <p:spPr>
          <a:xfrm>
            <a:off x="3200400" y="1920240"/>
            <a:ext cx="0" cy="1783080"/>
          </a:xfrm>
          <a:prstGeom prst="line">
            <a:avLst/>
          </a:prstGeom>
          <a:noFill/>
          <a:ln w="31750">
            <a:solidFill>
              <a:srgbClr val="E0A63C"/>
            </a:solidFill>
            <a:prstDash val="solid"/>
          </a:ln>
        </p:spPr>
      </p:sp>
      <p:sp>
        <p:nvSpPr>
          <p:cNvPr id="5" name="Text 3"/>
          <p:cNvSpPr/>
          <p:nvPr/>
        </p:nvSpPr>
        <p:spPr>
          <a:xfrm>
            <a:off x="3474720" y="1920240"/>
            <a:ext cx="7955280" cy="1920240"/>
          </a:xfrm>
          <a:prstGeom prst="rect">
            <a:avLst/>
          </a:prstGeom>
          <a:noFill/>
          <a:ln/>
        </p:spPr>
        <p:txBody>
          <a:bodyPr wrap="square" lIns="0" tIns="0" rIns="0" bIns="0" rtlCol="0" anchor="ctr"/>
          <a:lstStyle/>
          <a:p>
            <a:pPr indent="0" marL="0">
              <a:lnSpc>
                <a:spcPct val="112000"/>
              </a:lnSpc>
              <a:buNone/>
            </a:pPr>
            <a:r>
              <a:rPr lang="en-US" sz="1450" dirty="0">
                <a:solidFill>
                  <a:srgbClr val="19212C"/>
                </a:solidFill>
                <a:latin typeface="Calibri" pitchFamily="34" charset="0"/>
                <a:ea typeface="Calibri" pitchFamily="34" charset="-122"/>
                <a:cs typeface="Calibri" pitchFamily="34" charset="-120"/>
              </a:rPr>
              <a:t>Whenever the AWS access-key environment variable existed, three files swapped in hardcoded emulator credentials — and real Lambda and EC2 inject that exact variable automatically. So genuine session credentials were thrown away and every DynamoDB and SQS call would have failed authentication. Locally the condition happened to be correct, so all 114 tests and the LocalStack run passed; the emulator cannot reproduce the trigger at all.</a:t>
            </a:r>
            <a:endParaRPr lang="en-US" sz="1450" dirty="0"/>
          </a:p>
        </p:txBody>
      </p:sp>
      <p:sp>
        <p:nvSpPr>
          <p:cNvPr id="6" name="Text 4"/>
          <p:cNvSpPr/>
          <p:nvPr/>
        </p:nvSpPr>
        <p:spPr>
          <a:xfrm>
            <a:off x="731520" y="4114800"/>
            <a:ext cx="2377440" cy="548640"/>
          </a:xfrm>
          <a:prstGeom prst="rect">
            <a:avLst/>
          </a:prstGeom>
          <a:noFill/>
          <a:ln/>
        </p:spPr>
        <p:txBody>
          <a:bodyPr wrap="square" lIns="0" tIns="0" rIns="0" bIns="0" rtlCol="0" anchor="ctr"/>
          <a:lstStyle/>
          <a:p>
            <a:pPr indent="0" marL="0">
              <a:buNone/>
            </a:pPr>
            <a:r>
              <a:rPr lang="en-US" sz="2300" b="1" dirty="0">
                <a:solidFill>
                  <a:srgbClr val="3E5A7C"/>
                </a:solidFill>
                <a:latin typeface="Bookman Old Style" pitchFamily="34" charset="0"/>
                <a:ea typeface="Bookman Old Style" pitchFamily="34" charset="-122"/>
                <a:cs typeface="Bookman Old Style" pitchFamily="34" charset="-120"/>
              </a:rPr>
              <a:t>Solution</a:t>
            </a:r>
            <a:endParaRPr lang="en-US" sz="2300" dirty="0"/>
          </a:p>
        </p:txBody>
      </p:sp>
      <p:sp>
        <p:nvSpPr>
          <p:cNvPr id="7" name="Shape 5"/>
          <p:cNvSpPr/>
          <p:nvPr/>
        </p:nvSpPr>
        <p:spPr>
          <a:xfrm>
            <a:off x="3200400" y="4069080"/>
            <a:ext cx="0" cy="1783080"/>
          </a:xfrm>
          <a:prstGeom prst="line">
            <a:avLst/>
          </a:prstGeom>
          <a:noFill/>
          <a:ln w="31750">
            <a:solidFill>
              <a:srgbClr val="3E5A7C"/>
            </a:solidFill>
            <a:prstDash val="solid"/>
          </a:ln>
        </p:spPr>
      </p:sp>
      <p:sp>
        <p:nvSpPr>
          <p:cNvPr id="8" name="Text 6"/>
          <p:cNvSpPr/>
          <p:nvPr/>
        </p:nvSpPr>
        <p:spPr>
          <a:xfrm>
            <a:off x="3474720" y="4069080"/>
            <a:ext cx="7955280" cy="1920240"/>
          </a:xfrm>
          <a:prstGeom prst="rect">
            <a:avLst/>
          </a:prstGeom>
          <a:noFill/>
          <a:ln/>
        </p:spPr>
        <p:txBody>
          <a:bodyPr wrap="square" lIns="0" tIns="0" rIns="0" bIns="0" rtlCol="0" anchor="ctr"/>
          <a:lstStyle/>
          <a:p>
            <a:pPr indent="0" marL="0">
              <a:lnSpc>
                <a:spcPct val="112000"/>
              </a:lnSpc>
              <a:buNone/>
            </a:pPr>
            <a:r>
              <a:rPr lang="en-US" sz="1450" dirty="0">
                <a:solidFill>
                  <a:srgbClr val="19212C"/>
                </a:solidFill>
                <a:latin typeface="Calibri" pitchFamily="34" charset="0"/>
                <a:ea typeface="Calibri" pitchFamily="34" charset="-122"/>
                <a:cs typeface="Calibri" pitchFamily="34" charset="-120"/>
              </a:rPr>
              <a:t>Gate the emulator credentials on a signal unique to local development — the explicit LocalStack endpoint override — applied across all three files, each with its own code shape, then redeployed and verified live with an end-to-end DynamoDB write and SQS receive. The same real-cloud testing also caught a pagination undercount, fixed with two new tests.</a:t>
            </a:r>
            <a:endParaRPr lang="en-US" sz="14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Slides>
  <Notes>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Slide 1</vt:lpstr>
      <vt:lpstr>Slide 2</vt:lpstr>
      <vt:lpstr>Slide 3</vt:lpstr>
      <vt:lpstr>Slide 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2026-07-24T07:05:03Z</dcterms:created>
  <dcterms:modified xsi:type="dcterms:W3CDTF">2026-07-24T07:05:03Z</dcterms:modified>
</cp:coreProperties>
</file>