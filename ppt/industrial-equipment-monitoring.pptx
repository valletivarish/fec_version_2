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040880"/>
          </a:xfrm>
          <a:prstGeom prst="rect">
            <a:avLst/>
          </a:prstGeom>
          <a:solidFill>
            <a:srgbClr val="375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91440" y="3108960"/>
            <a:ext cx="6858000" cy="3840480"/>
          </a:xfrm>
          <a:prstGeom prst="rtTriangle">
            <a:avLst/>
          </a:prstGeom>
          <a:solidFill>
            <a:srgbClr val="24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91640"/>
            <a:ext cx="10332720" cy="2011680"/>
          </a:xfrm>
          <a:prstGeom prst="rect">
            <a:avLst/>
          </a:prstGeom>
          <a:noFill/>
        </p:spPr>
        <p:txBody>
          <a:bodyPr wrap="square" anchor="t">
            <a:spAutoFit/>
          </a:bodyPr>
          <a:lstStyle/>
          <a:p>
            <a:pPr algn="l"/>
            <a:r>
              <a:rPr sz="2800" b="1" i="0">
                <a:solidFill>
                  <a:srgbClr val="FFFFFF"/>
                </a:solidFill>
                <a:latin typeface="Tahoma"/>
              </a:rPr>
              <a:t>Industrial Equipment Predictive Monitoring</a:t>
            </a:r>
          </a:p>
        </p:txBody>
      </p:sp>
      <p:sp>
        <p:nvSpPr>
          <p:cNvPr id="5" name="TextBox 4"/>
          <p:cNvSpPr txBox="1"/>
          <p:nvPr/>
        </p:nvSpPr>
        <p:spPr>
          <a:xfrm>
            <a:off x="868680" y="3794760"/>
            <a:ext cx="8686800" cy="640080"/>
          </a:xfrm>
          <a:prstGeom prst="rect">
            <a:avLst/>
          </a:prstGeom>
          <a:noFill/>
        </p:spPr>
        <p:txBody>
          <a:bodyPr wrap="square" anchor="t">
            <a:spAutoFit/>
          </a:bodyPr>
          <a:lstStyle/>
          <a:p>
            <a:pPr algn="l"/>
            <a:r>
              <a:rPr sz="1700" b="0" i="1">
                <a:solidFill>
                  <a:srgbClr val="D7DCE2"/>
                </a:solidFill>
                <a:latin typeface="Calibri"/>
              </a:rPr>
              <a:t>A fog-to-cloud pipeline that watches five machine signals and raises alarms at the edge</a:t>
            </a:r>
          </a:p>
        </p:txBody>
      </p:sp>
      <p:sp>
        <p:nvSpPr>
          <p:cNvPr id="6" name="TextBox 5"/>
          <p:cNvSpPr txBox="1"/>
          <p:nvPr/>
        </p:nvSpPr>
        <p:spPr>
          <a:xfrm>
            <a:off x="868680" y="4709160"/>
            <a:ext cx="8229600" cy="1463040"/>
          </a:xfrm>
          <a:prstGeom prst="rect">
            <a:avLst/>
          </a:prstGeom>
          <a:noFill/>
        </p:spPr>
        <p:txBody>
          <a:bodyPr wrap="square" anchor="t">
            <a:spAutoFit/>
          </a:bodyPr>
          <a:lstStyle/>
          <a:p>
            <a:pPr algn="l"/>
            <a:r>
              <a:rPr sz="1250" b="0" i="0">
                <a:solidFill>
                  <a:srgbClr val="DBE0E4"/>
                </a:solidFill>
                <a:latin typeface="Calibri"/>
              </a:rPr>
              <a:t>MSc in Cloud Computing   ·   Fog and Edge Computing (H9FECC)</a:t>
            </a:r>
          </a:p>
          <a:p>
            <a:pPr algn="l"/>
            <a:r>
              <a:rPr sz="1250" b="0" i="0">
                <a:solidFill>
                  <a:srgbClr val="DBE0E4"/>
                </a:solidFill>
                <a:latin typeface="Calibri"/>
              </a:rPr>
              <a:t>National College of Ireland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8076895" y="0"/>
            <a:ext cx="4114800" cy="6858000"/>
          </a:xfrm>
          <a:prstGeom prst="rect">
            <a:avLst/>
          </a:prstGeom>
          <a:solidFill>
            <a:srgbClr val="375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8488375" y="640080"/>
            <a:ext cx="3291840" cy="4572000"/>
          </a:xfrm>
        </p:spPr>
        <p:txBody>
          <a:bodyPr wrap="square" anchor="t"/>
          <a:lstStyle/>
          <a:p>
            <a:pPr algn="l"/>
            <a:r>
              <a:rPr b="1" sz="1800">
                <a:solidFill>
                  <a:srgbClr val="FFFFFF"/>
                </a:solidFill>
                <a:latin typeface="Tahoma"/>
              </a:rPr>
              <a:t>Why periodic checks miss the failure</a:t>
            </a:r>
          </a:p>
        </p:txBody>
      </p:sp>
      <p:sp>
        <p:nvSpPr>
          <p:cNvPr id="3" name="Content Placeholder 2"/>
          <p:cNvSpPr>
            <a:spLocks noGrp="1"/>
          </p:cNvSpPr>
          <p:nvPr>
            <p:ph idx="1"/>
          </p:nvPr>
        </p:nvSpPr>
        <p:spPr>
          <a:xfrm>
            <a:off x="548640" y="640080"/>
            <a:ext cx="7162495" cy="5577840"/>
          </a:xfrm>
        </p:spPr>
        <p:txBody>
          <a:bodyPr wrap="square">
            <a:normAutofit/>
          </a:bodyPr>
          <a:lstStyle/>
          <a:p>
            <a:pPr>
              <a:spcAft>
                <a:spcPts val="900"/>
              </a:spcAft>
            </a:pPr>
            <a:r>
              <a:rPr sz="1700" b="0">
                <a:solidFill>
                  <a:srgbClr val="232A26"/>
                </a:solidFill>
                <a:latin typeface="Calibri"/>
              </a:rPr>
              <a:t>A walk-round inspection reads each gauge once; the fault develops in the minutes between rounds and keeps developing until the next one.</a:t>
            </a:r>
          </a:p>
          <a:p>
            <a:pPr>
              <a:spcAft>
                <a:spcPts val="900"/>
              </a:spcAft>
            </a:pPr>
            <a:r>
              <a:rPr sz="1700" b="0">
                <a:solidFill>
                  <a:srgbClr val="232A26"/>
                </a:solidFill>
                <a:latin typeface="Calibri"/>
              </a:rPr>
              <a:t>Machine failure rarely shows on one dial: it builds across heat, vibration, bearing noise, speed and power draw at the same time, five signals no walk-round reads together.</a:t>
            </a:r>
          </a:p>
          <a:p>
            <a:pPr>
              <a:spcAft>
                <a:spcPts val="900"/>
              </a:spcAft>
            </a:pPr>
            <a:r>
              <a:rPr sz="1700" b="0">
                <a:solidFill>
                  <a:srgbClr val="232A26"/>
                </a:solidFill>
                <a:latin typeface="Calibri"/>
              </a:rPr>
              <a:t>Two production lines run in parallel, and each motor needs its own watch: line 1 running cool says nothing about line 2.</a:t>
            </a:r>
          </a:p>
          <a:p>
            <a:pPr>
              <a:spcAft>
                <a:spcPts val="900"/>
              </a:spcAft>
            </a:pPr>
            <a:r>
              <a:rPr sz="1700" b="0">
                <a:solidFill>
                  <a:srgbClr val="232A26"/>
                </a:solidFill>
                <a:latin typeface="Calibri"/>
              </a:rPr>
              <a:t>By the time a person notices, the machine has been damaging itself the whole time nobody was looking.</a:t>
            </a:r>
          </a:p>
          <a:p>
            <a:pPr>
              <a:spcAft>
                <a:spcPts val="900"/>
              </a:spcAft>
            </a:pPr>
            <a:r>
              <a:rPr sz="1700" b="0">
                <a:solidFill>
                  <a:srgbClr val="232A26"/>
                </a:solidFill>
                <a:latin typeface="Calibri"/>
              </a:rPr>
              <a:t>Motor temperature alarm limit is 95 degrees C: a winding can sit above it all shift between manual rounds.</a:t>
            </a:r>
          </a:p>
          <a:p>
            <a:pPr>
              <a:spcAft>
                <a:spcPts val="900"/>
              </a:spcAft>
            </a:pPr>
            <a:r>
              <a:rPr sz="1700" b="0">
                <a:solidFill>
                  <a:srgbClr val="232A26"/>
                </a:solidFill>
                <a:latin typeface="Calibri"/>
              </a:rPr>
              <a:t>Vibration alarm limit is 7 mm/s: drift toward it builds in minutes, not inspection cycles.</a:t>
            </a:r>
          </a:p>
          <a:p>
            <a:pPr>
              <a:spcAft>
                <a:spcPts val="900"/>
              </a:spcAft>
            </a:pPr>
            <a:r>
              <a:rPr sz="1700" b="0">
                <a:solidFill>
                  <a:srgbClr val="232A26"/>
                </a:solidFill>
                <a:latin typeface="Calibri"/>
              </a:rPr>
              <a:t>Rotation overspeed limit is 3,400 RPM, with an underspeed alarm at 1,000 RPM on the same shaft.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8076895" y="0"/>
            <a:ext cx="4114800" cy="6858000"/>
          </a:xfrm>
          <a:prstGeom prst="rect">
            <a:avLst/>
          </a:prstGeom>
          <a:solidFill>
            <a:srgbClr val="375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8488375" y="640080"/>
            <a:ext cx="3291840" cy="4572000"/>
          </a:xfrm>
        </p:spPr>
        <p:txBody>
          <a:bodyPr wrap="square" anchor="t"/>
          <a:lstStyle/>
          <a:p>
            <a:pPr algn="l"/>
            <a:r>
              <a:rPr b="1" sz="2200">
                <a:solidFill>
                  <a:srgbClr val="FFFFFF"/>
                </a:solidFill>
                <a:latin typeface="Tahoma"/>
              </a:rPr>
              <a:t>How it works</a:t>
            </a:r>
          </a:p>
        </p:txBody>
      </p:sp>
      <p:sp>
        <p:nvSpPr>
          <p:cNvPr id="3" name="Content Placeholder 2"/>
          <p:cNvSpPr>
            <a:spLocks noGrp="1"/>
          </p:cNvSpPr>
          <p:nvPr>
            <p:ph idx="1"/>
          </p:nvPr>
        </p:nvSpPr>
        <p:spPr>
          <a:xfrm>
            <a:off x="548640" y="640080"/>
            <a:ext cx="7162495" cy="5577840"/>
          </a:xfrm>
        </p:spPr>
        <p:txBody>
          <a:bodyPr wrap="square">
            <a:normAutofit/>
          </a:bodyPr>
          <a:lstStyle/>
          <a:p>
            <a:pPr>
              <a:spcAft>
                <a:spcPts val="900"/>
              </a:spcAft>
            </a:pPr>
            <a:r>
              <a:rPr sz="1700" b="0">
                <a:solidFill>
                  <a:srgbClr val="232A26"/>
                </a:solidFill>
                <a:latin typeface="Calibri"/>
              </a:rPr>
              <a:t>Machine sensors: six simulated units on two production lines, five signal types.</a:t>
            </a:r>
          </a:p>
          <a:p>
            <a:pPr>
              <a:spcAft>
                <a:spcPts val="900"/>
              </a:spcAft>
            </a:pPr>
            <a:r>
              <a:rPr sz="1700" b="0">
                <a:solidFill>
                  <a:srgbClr val="232A26"/>
                </a:solidFill>
                <a:latin typeface="Calibri"/>
              </a:rPr>
              <a:t>Fog node: windows 10 s of readings, aggregates, and raises alarms at the edge.</a:t>
            </a:r>
          </a:p>
          <a:p>
            <a:pPr>
              <a:spcAft>
                <a:spcPts val="900"/>
              </a:spcAft>
            </a:pPr>
            <a:r>
              <a:rPr sz="1700" b="0">
                <a:solidFill>
                  <a:srgbClr val="232A26"/>
                </a:solidFill>
                <a:latin typeface="Calibri"/>
              </a:rPr>
              <a:t>Queue on Amazon SQS: one compact aggregate per window, buffered for the cloud.</a:t>
            </a:r>
          </a:p>
          <a:p>
            <a:pPr>
              <a:spcAft>
                <a:spcPts val="900"/>
              </a:spcAft>
            </a:pPr>
            <a:r>
              <a:rPr sz="1700" b="0">
                <a:solidFill>
                  <a:srgbClr val="232A26"/>
                </a:solidFill>
                <a:latin typeface="Calibri"/>
              </a:rPr>
              <a:t>Serverless ingest on AWS Lambda: consumes the queue and reshapes each record.</a:t>
            </a:r>
          </a:p>
          <a:p>
            <a:pPr>
              <a:spcAft>
                <a:spcPts val="900"/>
              </a:spcAft>
            </a:pPr>
            <a:r>
              <a:rPr sz="1700" b="0">
                <a:solidFill>
                  <a:srgbClr val="232A26"/>
                </a:solidFill>
                <a:latin typeface="Calibri"/>
              </a:rPr>
              <a:t>Store on Amazon DynamoDB: keyed by sensor type and site, ready to query.</a:t>
            </a:r>
          </a:p>
          <a:p>
            <a:pPr>
              <a:spcAft>
                <a:spcPts val="900"/>
              </a:spcAft>
            </a:pPr>
            <a:r>
              <a:rPr sz="1700" b="0">
                <a:solidFill>
                  <a:srgbClr val="232A26"/>
                </a:solidFill>
                <a:latin typeface="Calibri"/>
              </a:rPr>
              <a:t>Live dashboard: site served from Amazon S3, data via Amazon API Gateway.</a:t>
            </a:r>
          </a:p>
          <a:p>
            <a:pPr>
              <a:spcAft>
                <a:spcPts val="900"/>
              </a:spcAft>
            </a:pPr>
            <a:r>
              <a:rPr sz="1700" b="1">
                <a:solidFill>
                  <a:srgbClr val="37546E"/>
                </a:solidFill>
                <a:latin typeface="Calibri"/>
              </a:rPr>
              <a:t>Runs end-to-end today on Docker with an AWS emulator standing in for the cloud services; moving to real AWS is one scripted deployment step, using the same cloud interfaces throughout.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8076895" y="0"/>
            <a:ext cx="4114800" cy="6858000"/>
          </a:xfrm>
          <a:prstGeom prst="rect">
            <a:avLst/>
          </a:prstGeom>
          <a:solidFill>
            <a:srgbClr val="375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8488375" y="640080"/>
            <a:ext cx="3291840" cy="4572000"/>
          </a:xfrm>
        </p:spPr>
        <p:txBody>
          <a:bodyPr wrap="square" anchor="t"/>
          <a:lstStyle/>
          <a:p>
            <a:pPr algn="l"/>
            <a:r>
              <a:rPr b="1" sz="2200">
                <a:solidFill>
                  <a:srgbClr val="FFFFFF"/>
                </a:solidFill>
                <a:latin typeface="Tahoma"/>
              </a:rPr>
              <a:t>Demonstration highlights</a:t>
            </a:r>
          </a:p>
        </p:txBody>
      </p:sp>
      <p:sp>
        <p:nvSpPr>
          <p:cNvPr id="3" name="Content Placeholder 2"/>
          <p:cNvSpPr>
            <a:spLocks noGrp="1"/>
          </p:cNvSpPr>
          <p:nvPr>
            <p:ph idx="1"/>
          </p:nvPr>
        </p:nvSpPr>
        <p:spPr>
          <a:xfrm>
            <a:off x="502920" y="685800"/>
            <a:ext cx="3931920" cy="5394960"/>
          </a:xfrm>
        </p:spPr>
        <p:txBody>
          <a:bodyPr wrap="square">
            <a:normAutofit/>
          </a:bodyPr>
          <a:lstStyle/>
          <a:p>
            <a:pPr>
              <a:spcAft>
                <a:spcPts val="800"/>
              </a:spcAft>
            </a:pPr>
            <a:r>
              <a:rPr sz="1500" b="0">
                <a:solidFill>
                  <a:srgbClr val="232A26"/>
                </a:solidFill>
                <a:latin typeface="Calibri"/>
              </a:rPr>
              <a:t>Live dashboard from the running stack: a card per signal with its current reading, real alarm limit and trend, with a health footer along the bottom.</a:t>
            </a:r>
          </a:p>
          <a:p>
            <a:pPr>
              <a:spcAft>
                <a:spcPts val="800"/>
              </a:spcAft>
            </a:pPr>
            <a:r>
              <a:rPr sz="1500" b="0">
                <a:solidFill>
                  <a:srgbClr val="232A26"/>
                </a:solidFill>
                <a:latin typeface="Calibri"/>
              </a:rPr>
              <a:t>The end-to-end check confirms every one of the five signal types lands in the datastore.</a:t>
            </a:r>
          </a:p>
          <a:p>
            <a:pPr>
              <a:spcAft>
                <a:spcPts val="800"/>
              </a:spcAft>
            </a:pPr>
            <a:r>
              <a:rPr sz="1500" b="0">
                <a:solidFill>
                  <a:srgbClr val="232A26"/>
                </a:solidFill>
                <a:latin typeface="Calibri"/>
              </a:rPr>
              <a:t>Pipeline health checks: 4 of 4 green across fog gateway, queue, Lambda and data flow.</a:t>
            </a:r>
          </a:p>
          <a:p>
            <a:pPr>
              <a:spcAft>
                <a:spcPts val="800"/>
              </a:spcAft>
            </a:pPr>
            <a:r>
              <a:rPr sz="1500" b="0">
                <a:solidFill>
                  <a:srgbClr val="232A26"/>
                </a:solidFill>
                <a:latin typeface="Calibri"/>
              </a:rPr>
              <a:t>42 automated tests pass across the sensors, fog, processor and dashboard modules.</a:t>
            </a:r>
          </a:p>
          <a:p>
            <a:pPr>
              <a:spcAft>
                <a:spcPts val="800"/>
              </a:spcAft>
            </a:pPr>
            <a:r>
              <a:rPr sz="1500" b="0">
                <a:solidFill>
                  <a:srgbClr val="232A26"/>
                </a:solidFill>
                <a:latin typeface="Calibri"/>
              </a:rPr>
              <a:t>A 2,000 message burst absorbed in a load test with 32 senders in parallel.</a:t>
            </a:r>
          </a:p>
        </p:txBody>
      </p:sp>
      <p:pic>
        <p:nvPicPr>
          <p:cNvPr id="5" name="Picture 4" descr="dashboard-desktop.png"/>
          <p:cNvPicPr>
            <a:picLocks noChangeAspect="1"/>
          </p:cNvPicPr>
          <p:nvPr/>
        </p:nvPicPr>
        <p:blipFill>
          <a:blip r:embed="rId2"/>
          <a:stretch>
            <a:fillRect/>
          </a:stretch>
        </p:blipFill>
        <p:spPr>
          <a:xfrm>
            <a:off x="4572000" y="2304216"/>
            <a:ext cx="2679192" cy="188380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8076895" y="0"/>
            <a:ext cx="4114800" cy="6858000"/>
          </a:xfrm>
          <a:prstGeom prst="rect">
            <a:avLst/>
          </a:prstGeom>
          <a:solidFill>
            <a:srgbClr val="375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8488375" y="640080"/>
            <a:ext cx="3291840" cy="4572000"/>
          </a:xfrm>
        </p:spPr>
        <p:txBody>
          <a:bodyPr wrap="square" anchor="t"/>
          <a:lstStyle/>
          <a:p>
            <a:pPr algn="l"/>
            <a:r>
              <a:rPr b="1" sz="1800">
                <a:solidFill>
                  <a:srgbClr val="FFFFFF"/>
                </a:solidFill>
                <a:latin typeface="Tahoma"/>
              </a:rPr>
              <a:t>Hardest part: a bug only real AWS could expose</a:t>
            </a:r>
          </a:p>
        </p:txBody>
      </p:sp>
      <p:sp>
        <p:nvSpPr>
          <p:cNvPr id="3" name="Content Placeholder 2"/>
          <p:cNvSpPr>
            <a:spLocks noGrp="1"/>
          </p:cNvSpPr>
          <p:nvPr>
            <p:ph idx="1"/>
          </p:nvPr>
        </p:nvSpPr>
        <p:spPr>
          <a:xfrm>
            <a:off x="548640" y="640080"/>
            <a:ext cx="7162495" cy="5577840"/>
          </a:xfrm>
        </p:spPr>
        <p:txBody>
          <a:bodyPr wrap="square">
            <a:normAutofit/>
          </a:bodyPr>
          <a:lstStyle/>
          <a:p>
            <a:pPr>
              <a:spcAft>
                <a:spcPts val="600"/>
              </a:spcAft>
            </a:pPr>
            <a:r>
              <a:rPr sz="1500" b="1">
                <a:solidFill>
                  <a:srgbClr val="37546E"/>
                </a:solidFill>
                <a:latin typeface="Calibri"/>
              </a:rPr>
              <a:t>The trap:</a:t>
            </a:r>
          </a:p>
          <a:p>
            <a:pPr lvl="1">
              <a:spcAft>
                <a:spcPts val="600"/>
              </a:spcAft>
            </a:pPr>
            <a:r>
              <a:rPr sz="1300" b="0">
                <a:solidFill>
                  <a:srgbClr val="232A26"/>
                </a:solidFill>
                <a:latin typeface="Calibri"/>
              </a:rPr>
              <a:t>Every cloud-facing component shipped with the local emulator's dummy login hard-wired in. On the laptop stack that is exactly right: the emulator accepts it. On real AWS, every component would introduce itself with fake credentials and be turned away, and the fog node's queue link would crash outright at startup.</a:t>
            </a:r>
          </a:p>
          <a:p>
            <a:pPr>
              <a:spcAft>
                <a:spcPts val="600"/>
              </a:spcAft>
            </a:pPr>
            <a:r>
              <a:rPr sz="1500" b="1">
                <a:solidFill>
                  <a:srgbClr val="37546E"/>
                </a:solidFill>
                <a:latin typeface="Calibri"/>
              </a:rPr>
              <a:t>Why it was hard:</a:t>
            </a:r>
          </a:p>
          <a:p>
            <a:pPr lvl="1">
              <a:spcAft>
                <a:spcPts val="600"/>
              </a:spcAft>
            </a:pPr>
            <a:r>
              <a:rPr sz="1300" b="0">
                <a:solidFill>
                  <a:srgbClr val="232A26"/>
                </a:solidFill>
                <a:latin typeface="Calibri"/>
              </a:rPr>
              <a:t>Nothing local can surface it. The emulator accepts any credentials, so every unit test, the end-to-end check and all four dashboard health lights stay green. The defect exists only in an environment the project had not reached yet: the first deployment to the real cloud.</a:t>
            </a:r>
          </a:p>
          <a:p>
            <a:pPr>
              <a:spcAft>
                <a:spcPts val="600"/>
              </a:spcAft>
            </a:pPr>
            <a:r>
              <a:rPr sz="1500" b="1">
                <a:solidFill>
                  <a:srgbClr val="37546E"/>
                </a:solidFill>
                <a:latin typeface="Calibri"/>
              </a:rPr>
              <a:t>The fix:</a:t>
            </a:r>
          </a:p>
          <a:p>
            <a:pPr lvl="1">
              <a:spcAft>
                <a:spcPts val="600"/>
              </a:spcAft>
            </a:pPr>
            <a:r>
              <a:rPr sz="1300" b="0">
                <a:solidFill>
                  <a:srgbClr val="232A26"/>
                </a:solidFill>
                <a:latin typeface="Calibri"/>
              </a:rPr>
              <a:t>Attach the dummy login only when an emulator address is actually configured. In the real cloud that setting is absent, so each component now falls through to the identity AWS itself issues it at runtime. No rewrite, just one guarded branch in each of the five cloud clients.</a:t>
            </a:r>
          </a:p>
          <a:p>
            <a:pPr>
              <a:spcAft>
                <a:spcPts val="600"/>
              </a:spcAft>
            </a:pPr>
            <a:r>
              <a:rPr sz="1500" b="1">
                <a:solidFill>
                  <a:srgbClr val="37546E"/>
                </a:solidFill>
                <a:latin typeface="Calibri"/>
              </a:rPr>
              <a:t>All 42 tests passed with the bug in place.</a:t>
            </a:r>
          </a:p>
          <a:p>
            <a:pPr lvl="1">
              <a:spcAft>
                <a:spcPts val="600"/>
              </a:spcAft>
            </a:pPr>
            <a:r>
              <a:rPr sz="1300" b="0">
                <a:solidFill>
                  <a:srgbClr val="232A26"/>
                </a:solidFill>
                <a:latin typeface="Calibri"/>
              </a:rPr>
              <a:t>Caught in a pre-deployment audit; the same pass also added multi-page record counting and 10-at-a-time queue batching.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8076895" y="0"/>
            <a:ext cx="4114800" cy="6858000"/>
          </a:xfrm>
          <a:prstGeom prst="rect">
            <a:avLst/>
          </a:prstGeom>
          <a:solidFill>
            <a:srgbClr val="375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8488375" y="640080"/>
            <a:ext cx="3291840" cy="4572000"/>
          </a:xfrm>
        </p:spPr>
        <p:txBody>
          <a:bodyPr wrap="square" anchor="t"/>
          <a:lstStyle/>
          <a:p>
            <a:pPr algn="l"/>
            <a:r>
              <a:rPr b="1" sz="2200">
                <a:solidFill>
                  <a:srgbClr val="FFFFFF"/>
                </a:solidFill>
                <a:latin typeface="Tahoma"/>
              </a:rPr>
              <a:t>Takeaways</a:t>
            </a:r>
          </a:p>
        </p:txBody>
      </p:sp>
      <p:sp>
        <p:nvSpPr>
          <p:cNvPr id="3" name="Content Placeholder 2"/>
          <p:cNvSpPr>
            <a:spLocks noGrp="1"/>
          </p:cNvSpPr>
          <p:nvPr>
            <p:ph idx="1"/>
          </p:nvPr>
        </p:nvSpPr>
        <p:spPr>
          <a:xfrm>
            <a:off x="548640" y="640080"/>
            <a:ext cx="7162495" cy="5577840"/>
          </a:xfrm>
        </p:spPr>
        <p:txBody>
          <a:bodyPr wrap="square">
            <a:normAutofit/>
          </a:bodyPr>
          <a:lstStyle/>
          <a:p>
            <a:pPr>
              <a:spcAft>
                <a:spcPts val="900"/>
              </a:spcAft>
            </a:pPr>
            <a:r>
              <a:rPr sz="1700" b="1">
                <a:solidFill>
                  <a:srgbClr val="37546E"/>
                </a:solidFill>
                <a:latin typeface="Calibri"/>
              </a:rPr>
              <a:t>Decide at the edge:</a:t>
            </a:r>
          </a:p>
          <a:p>
            <a:pPr lvl="1">
              <a:spcAft>
                <a:spcPts val="900"/>
              </a:spcAft>
            </a:pPr>
            <a:r>
              <a:rPr sz="1500" b="0">
                <a:solidFill>
                  <a:srgbClr val="232A26"/>
                </a:solidFill>
                <a:latin typeface="Calibri"/>
              </a:rPr>
              <a:t>Alarms fire at the fog node inside a ten-second window; the cloud receives one compact aggregate per window, not a firehose of raw readings.</a:t>
            </a:r>
          </a:p>
          <a:p>
            <a:pPr>
              <a:spcAft>
                <a:spcPts val="900"/>
              </a:spcAft>
            </a:pPr>
            <a:r>
              <a:rPr sz="1700" b="1">
                <a:solidFill>
                  <a:srgbClr val="37546E"/>
                </a:solidFill>
                <a:latin typeface="Calibri"/>
              </a:rPr>
              <a:t>Serverless backbone:</a:t>
            </a:r>
          </a:p>
          <a:p>
            <a:pPr lvl="1">
              <a:spcAft>
                <a:spcPts val="900"/>
              </a:spcAft>
            </a:pPr>
            <a:r>
              <a:rPr sz="1500" b="0">
                <a:solidFill>
                  <a:srgbClr val="232A26"/>
                </a:solidFill>
                <a:latin typeface="Calibri"/>
              </a:rPr>
              <a:t>Amazon SQS, AWS Lambda and DynamoDB carry the cloud side; they scale with load and leave no servers to patch or babysit.</a:t>
            </a:r>
          </a:p>
          <a:p>
            <a:pPr>
              <a:spcAft>
                <a:spcPts val="900"/>
              </a:spcAft>
            </a:pPr>
            <a:r>
              <a:rPr sz="1700" b="1">
                <a:solidFill>
                  <a:srgbClr val="37546E"/>
                </a:solidFill>
                <a:latin typeface="Calibri"/>
              </a:rPr>
              <a:t>Ready for real AWS:</a:t>
            </a:r>
          </a:p>
          <a:p>
            <a:pPr lvl="1">
              <a:spcAft>
                <a:spcPts val="900"/>
              </a:spcAft>
            </a:pPr>
            <a:r>
              <a:rPr sz="1500" b="0">
                <a:solidFill>
                  <a:srgbClr val="232A26"/>
                </a:solidFill>
                <a:latin typeface="Calibri"/>
              </a:rPr>
              <a:t>Verified end-to-end on the local stack, 42 tests green, and one scripted step from the real cloud, with the bug that would have broken that move already gone.</a:t>
            </a:r>
          </a:p>
          <a:p>
            <a:pPr>
              <a:spcAft>
                <a:spcPts val="900"/>
              </a:spcAft>
            </a:pPr>
            <a:r>
              <a:rPr sz="1700" b="0">
                <a:solidFill>
                  <a:srgbClr val="232A26"/>
                </a:solidFill>
                <a:latin typeface="Calibri"/>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