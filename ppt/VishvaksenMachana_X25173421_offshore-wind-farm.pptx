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9144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Offshore Wind Farm Turbine Monitoring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58368" y="2148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FA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Vishvaksen Machana   ·   X25173421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58368" y="2697480"/>
            <a:ext cx="10424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CF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Turbines are reached by boat and visits can be weeks apart — a bearing overheating or a gearbox losing lubrication pressure stays invisible until the next scheduled inspection.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5836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53B4C"/>
          </a:solidFill>
          <a:ln w="12700">
            <a:solidFill>
              <a:srgbClr val="EBB1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BB1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Gearbox &lt; 2.5 bar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353872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53B4C"/>
          </a:solidFill>
          <a:ln w="12700">
            <a:solidFill>
              <a:srgbClr val="EBB1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872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BB1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streams · 2 turbines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1908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53B4C"/>
          </a:solidFill>
          <a:ln w="12700">
            <a:solidFill>
              <a:srgbClr val="EBB1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1908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BB1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alert rules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58368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A3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What I Built — Sea to Cloud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7452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DF4F7"/>
          </a:solidFill>
          <a:ln w="19050">
            <a:solidFill>
              <a:srgbClr val="4FA6B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91640" y="2039112"/>
            <a:ext cx="182880" cy="182880"/>
          </a:xfrm>
          <a:prstGeom prst="ellipse">
            <a:avLst/>
          </a:prstGeom>
          <a:solidFill>
            <a:srgbClr val="4FA6BE"/>
          </a:solidFill>
          <a:ln/>
        </p:spPr>
      </p:sp>
      <p:sp>
        <p:nvSpPr>
          <p:cNvPr id="5" name="Text 3"/>
          <p:cNvSpPr/>
          <p:nvPr/>
        </p:nvSpPr>
        <p:spPr>
          <a:xfrm>
            <a:off x="612648" y="225856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0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Turbine sensors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40080" y="2606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streams · 2 turbines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944368" y="2514600"/>
            <a:ext cx="1975104" cy="0"/>
          </a:xfrm>
          <a:prstGeom prst="line">
            <a:avLst/>
          </a:prstGeom>
          <a:noFill/>
          <a:ln w="25400">
            <a:solidFill>
              <a:srgbClr val="4FA6BE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4937760" y="187452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DF4F7"/>
          </a:solidFill>
          <a:ln w="19050">
            <a:solidFill>
              <a:srgbClr val="4FA6B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89320" y="2039112"/>
            <a:ext cx="182880" cy="182880"/>
          </a:xfrm>
          <a:prstGeom prst="ellipse">
            <a:avLst/>
          </a:prstGeom>
          <a:solidFill>
            <a:srgbClr val="4FA6BE"/>
          </a:solidFill>
          <a:ln/>
        </p:spPr>
      </p:sp>
      <p:sp>
        <p:nvSpPr>
          <p:cNvPr id="10" name="Text 8"/>
          <p:cNvSpPr/>
          <p:nvPr/>
        </p:nvSpPr>
        <p:spPr>
          <a:xfrm>
            <a:off x="4910328" y="225856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0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gateway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937760" y="2606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· 4 rules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242048" y="2514600"/>
            <a:ext cx="1975104" cy="0"/>
          </a:xfrm>
          <a:prstGeom prst="line">
            <a:avLst/>
          </a:prstGeom>
          <a:noFill/>
          <a:ln w="25400">
            <a:solidFill>
              <a:srgbClr val="4FA6BE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235440" y="187452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DF4F7"/>
          </a:solidFill>
          <a:ln w="19050">
            <a:solidFill>
              <a:srgbClr val="0F5E7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287000" y="2039112"/>
            <a:ext cx="182880" cy="182880"/>
          </a:xfrm>
          <a:prstGeom prst="ellipse">
            <a:avLst/>
          </a:prstGeom>
          <a:solidFill>
            <a:srgbClr val="0F5E7E"/>
          </a:solidFill>
          <a:ln/>
        </p:spPr>
      </p:sp>
      <p:sp>
        <p:nvSpPr>
          <p:cNvPr id="15" name="Text 13"/>
          <p:cNvSpPr/>
          <p:nvPr/>
        </p:nvSpPr>
        <p:spPr>
          <a:xfrm>
            <a:off x="9208008" y="225856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0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9235440" y="2606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batched call / cycle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235440" y="352044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DF4F7"/>
          </a:solidFill>
          <a:ln w="19050">
            <a:solidFill>
              <a:srgbClr val="0F5E7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287000" y="3685032"/>
            <a:ext cx="182880" cy="182880"/>
          </a:xfrm>
          <a:prstGeom prst="ellipse">
            <a:avLst/>
          </a:prstGeom>
          <a:solidFill>
            <a:srgbClr val="0F5E7E"/>
          </a:solidFill>
          <a:ln/>
        </p:spPr>
      </p:sp>
      <p:sp>
        <p:nvSpPr>
          <p:cNvPr id="19" name="Text 17"/>
          <p:cNvSpPr/>
          <p:nvPr/>
        </p:nvSpPr>
        <p:spPr>
          <a:xfrm>
            <a:off x="9208008" y="390448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0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9235440" y="4251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nodejs20 ingest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242048" y="4160520"/>
            <a:ext cx="1975104" cy="0"/>
          </a:xfrm>
          <a:prstGeom prst="line">
            <a:avLst/>
          </a:prstGeom>
          <a:noFill/>
          <a:ln w="25400">
            <a:solidFill>
              <a:srgbClr val="4FA6BE"/>
            </a:solidFill>
            <a:prstDash val="solid"/>
            <a:headEnd type="triangle"/>
            <a:tailEnd type="oval"/>
          </a:ln>
        </p:spPr>
      </p:sp>
      <p:sp>
        <p:nvSpPr>
          <p:cNvPr id="22" name="Shape 20"/>
          <p:cNvSpPr/>
          <p:nvPr/>
        </p:nvSpPr>
        <p:spPr>
          <a:xfrm>
            <a:off x="4937760" y="352044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DF4F7"/>
          </a:solidFill>
          <a:ln w="19050">
            <a:solidFill>
              <a:srgbClr val="0F5E7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9320" y="3685032"/>
            <a:ext cx="182880" cy="182880"/>
          </a:xfrm>
          <a:prstGeom prst="ellipse">
            <a:avLst/>
          </a:prstGeom>
          <a:solidFill>
            <a:srgbClr val="0F5E7E"/>
          </a:solidFill>
          <a:ln/>
        </p:spPr>
      </p:sp>
      <p:sp>
        <p:nvSpPr>
          <p:cNvPr id="24" name="Text 22"/>
          <p:cNvSpPr/>
          <p:nvPr/>
        </p:nvSpPr>
        <p:spPr>
          <a:xfrm>
            <a:off x="4910328" y="390448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0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4937760" y="4251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time-ordered store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2944368" y="4160520"/>
            <a:ext cx="1975104" cy="0"/>
          </a:xfrm>
          <a:prstGeom prst="line">
            <a:avLst/>
          </a:prstGeom>
          <a:noFill/>
          <a:ln w="25400">
            <a:solidFill>
              <a:srgbClr val="4FA6BE"/>
            </a:solidFill>
            <a:prstDash val="solid"/>
            <a:headEnd type="triangle"/>
            <a:tailEnd type="oval"/>
          </a:ln>
        </p:spPr>
      </p:sp>
      <p:sp>
        <p:nvSpPr>
          <p:cNvPr id="27" name="Shape 25"/>
          <p:cNvSpPr/>
          <p:nvPr/>
        </p:nvSpPr>
        <p:spPr>
          <a:xfrm>
            <a:off x="640080" y="352044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DF4F7"/>
          </a:solidFill>
          <a:ln w="19050">
            <a:solidFill>
              <a:srgbClr val="1E86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691640" y="3685032"/>
            <a:ext cx="182880" cy="182880"/>
          </a:xfrm>
          <a:prstGeom prst="ellipse">
            <a:avLst/>
          </a:prstGeom>
          <a:solidFill>
            <a:srgbClr val="1E86A6"/>
          </a:solidFill>
          <a:ln/>
        </p:spPr>
      </p:sp>
      <p:sp>
        <p:nvSpPr>
          <p:cNvPr id="29" name="Text 27"/>
          <p:cNvSpPr/>
          <p:nvPr/>
        </p:nvSpPr>
        <p:spPr>
          <a:xfrm>
            <a:off x="612648" y="390448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0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640080" y="4251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10378440" y="3154680"/>
            <a:ext cx="0" cy="365760"/>
          </a:xfrm>
          <a:prstGeom prst="line">
            <a:avLst/>
          </a:prstGeom>
          <a:noFill/>
          <a:ln w="25400">
            <a:solidFill>
              <a:srgbClr val="4FA6BE"/>
            </a:solidFill>
            <a:prstDash val="solid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640080" y="5257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0F5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condition rules run at the edge, so a fault is flagged in the same window it appears; only compact summaries cross the limited sea link.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A3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86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owf-frontend-015611713565.s3.us-east-1.amazonaws.com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685800" cy="685800"/>
          </a:xfrm>
          <a:prstGeom prst="ellipse">
            <a:avLst/>
          </a:prstGeom>
          <a:solidFill>
            <a:srgbClr val="0F5E7E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965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691640" y="192024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turbines, five metrics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91640" y="234086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 speed, blade vibration, generator temperature, power output and gearbox pressure live for both turbines.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31520" y="3383280"/>
            <a:ext cx="685800" cy="685800"/>
          </a:xfrm>
          <a:prstGeom prst="ellipse">
            <a:avLst/>
          </a:prstGeom>
          <a:solidFill>
            <a:srgbClr val="0F5E7E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33832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691640" y="333756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Gearbox pressure on the window minimum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91640" y="375818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momentary dip below 2.5 bar is a lubrication fault — the rule reads the worst reading in each window, so a single dip cannot hide in an average.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31520" y="4800600"/>
            <a:ext cx="685800" cy="685800"/>
          </a:xfrm>
          <a:prstGeom prst="ellipse">
            <a:avLst/>
          </a:prstGeom>
          <a:solidFill>
            <a:srgbClr val="0F5E7E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48006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691640" y="475488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cross-turbine power trend, climbing live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691640" y="517550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power chart tracks both turbines together, and the stored count climbs 17 to 132 to 204 across refreshes, so the data is genuinely live.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FA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the live dashboard here — backup video ready.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Hardest Part — the credential trap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874520"/>
            <a:ext cx="5212080" cy="4160520"/>
          </a:xfrm>
          <a:prstGeom prst="roundRect">
            <a:avLst>
              <a:gd name="adj" fmla="val 2198"/>
            </a:avLst>
          </a:prstGeom>
          <a:solidFill>
            <a:srgbClr val="174456"/>
          </a:solidFill>
          <a:ln w="15875">
            <a:solidFill>
              <a:srgbClr val="EBB1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5156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BB13C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51560" y="2651760"/>
            <a:ext cx="4572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CF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cloud-facing modules decided they must be in local testing whenever the standard access-key variable was present, and swapped in fake, emulator-only credentials. But the serverless platform always injects that same variable to deliver a function's real credentials — so in production both functions would discard their real identity and fail their first call, while every local test kept passing. The same signal meant opposite things in the two environments.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263640" y="1874520"/>
            <a:ext cx="5212080" cy="4160520"/>
          </a:xfrm>
          <a:prstGeom prst="roundRect">
            <a:avLst>
              <a:gd name="adj" fmla="val 2198"/>
            </a:avLst>
          </a:prstGeom>
          <a:solidFill>
            <a:srgbClr val="174456"/>
          </a:solidFill>
          <a:ln w="15875">
            <a:solidFill>
              <a:srgbClr val="4FA6B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FA6B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6583680" y="2651760"/>
            <a:ext cx="4572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CF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on the local-emulator endpoint variable instead — the one signal that genuinely means local. Deployed functions now fall through to the platform's default credential chain and pick up their real execution-role identity. A pre-deployment audit caught this plus two more; all three were fixed before the first deploy, and every health check was green on the first live poll.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2026-07-24T07:00:27Z</dcterms:created>
  <dcterms:modified xsi:type="dcterms:W3CDTF">2026-07-24T07:00:27Z</dcterms:modified>
</cp:coreProperties>
</file>