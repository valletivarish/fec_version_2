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Offshore Wind Farm Turbine Monitoring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Vishvaksen Machana   ·   X25173421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 are reached by boat and visits can be weeks apart — a bearing overheating or a gearbox losing lubrication pressure stays invisible until the next scheduled inspection.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53B4C"/>
          </a:solidFill>
          <a:ln w="12700">
            <a:solidFill>
              <a:srgbClr val="EBB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&lt; 2.5 bar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3872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53B4C"/>
          </a:solidFill>
          <a:ln w="12700">
            <a:solidFill>
              <a:srgbClr val="EBB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streams · 2 turbines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1908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53B4C"/>
          </a:solidFill>
          <a:ln w="12700">
            <a:solidFill>
              <a:srgbClr val="EBB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BB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alert rules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Built — Sea to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4F7"/>
          </a:solidFill>
          <a:ln w="19050">
            <a:solidFill>
              <a:srgbClr val="4FA6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2039112"/>
            <a:ext cx="182880" cy="182880"/>
          </a:xfrm>
          <a:prstGeom prst="ellipse">
            <a:avLst/>
          </a:prstGeom>
          <a:solidFill>
            <a:srgbClr val="4FA6BE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streams · 2 turbines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44368" y="2514600"/>
            <a:ext cx="1975104" cy="0"/>
          </a:xfrm>
          <a:prstGeom prst="line">
            <a:avLst/>
          </a:prstGeom>
          <a:noFill/>
          <a:ln w="25400">
            <a:solidFill>
              <a:srgbClr val="4FA6B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3776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4F7"/>
          </a:solidFill>
          <a:ln w="19050">
            <a:solidFill>
              <a:srgbClr val="4FA6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039112"/>
            <a:ext cx="182880" cy="182880"/>
          </a:xfrm>
          <a:prstGeom prst="ellipse">
            <a:avLst/>
          </a:prstGeom>
          <a:solidFill>
            <a:srgbClr val="4FA6BE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gateway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4 rules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42048" y="2514600"/>
            <a:ext cx="1975104" cy="0"/>
          </a:xfrm>
          <a:prstGeom prst="line">
            <a:avLst/>
          </a:prstGeom>
          <a:noFill/>
          <a:ln w="25400">
            <a:solidFill>
              <a:srgbClr val="4FA6B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3544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4F7"/>
          </a:solidFill>
          <a:ln w="19050">
            <a:solidFill>
              <a:srgbClr val="0F5E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2039112"/>
            <a:ext cx="182880" cy="182880"/>
          </a:xfrm>
          <a:prstGeom prst="ellipse">
            <a:avLst/>
          </a:prstGeom>
          <a:solidFill>
            <a:srgbClr val="0F5E7E"/>
          </a:solidFill>
          <a:ln/>
        </p:spPr>
      </p:sp>
      <p:sp>
        <p:nvSpPr>
          <p:cNvPr id="15" name="Text 13"/>
          <p:cNvSpPr/>
          <p:nvPr/>
        </p:nvSpPr>
        <p:spPr>
          <a:xfrm>
            <a:off x="920800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2354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batched call / cycle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4F7"/>
          </a:solidFill>
          <a:ln w="19050">
            <a:solidFill>
              <a:srgbClr val="0F5E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3685032"/>
            <a:ext cx="182880" cy="182880"/>
          </a:xfrm>
          <a:prstGeom prst="ellipse">
            <a:avLst/>
          </a:prstGeom>
          <a:solidFill>
            <a:srgbClr val="0F5E7E"/>
          </a:solidFill>
          <a:ln/>
        </p:spPr>
      </p:sp>
      <p:sp>
        <p:nvSpPr>
          <p:cNvPr id="19" name="Text 17"/>
          <p:cNvSpPr/>
          <p:nvPr/>
        </p:nvSpPr>
        <p:spPr>
          <a:xfrm>
            <a:off x="920800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3544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nodejs20 ingest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42048" y="4160520"/>
            <a:ext cx="1975104" cy="0"/>
          </a:xfrm>
          <a:prstGeom prst="line">
            <a:avLst/>
          </a:prstGeom>
          <a:noFill/>
          <a:ln w="25400">
            <a:solidFill>
              <a:srgbClr val="4FA6BE"/>
            </a:solidFill>
            <a:prstDash val="solid"/>
            <a:headEnd type="triangle"/>
            <a:tailEnd type="oval"/>
          </a:ln>
        </p:spPr>
      </p:sp>
      <p:sp>
        <p:nvSpPr>
          <p:cNvPr id="22" name="Shape 20"/>
          <p:cNvSpPr/>
          <p:nvPr/>
        </p:nvSpPr>
        <p:spPr>
          <a:xfrm>
            <a:off x="493776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4F7"/>
          </a:solidFill>
          <a:ln w="19050">
            <a:solidFill>
              <a:srgbClr val="0F5E7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685032"/>
            <a:ext cx="182880" cy="182880"/>
          </a:xfrm>
          <a:prstGeom prst="ellipse">
            <a:avLst/>
          </a:prstGeom>
          <a:solidFill>
            <a:srgbClr val="0F5E7E"/>
          </a:solidFill>
          <a:ln/>
        </p:spPr>
      </p:sp>
      <p:sp>
        <p:nvSpPr>
          <p:cNvPr id="24" name="Text 22"/>
          <p:cNvSpPr/>
          <p:nvPr/>
        </p:nvSpPr>
        <p:spPr>
          <a:xfrm>
            <a:off x="491032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3776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store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44368" y="4160520"/>
            <a:ext cx="1975104" cy="0"/>
          </a:xfrm>
          <a:prstGeom prst="line">
            <a:avLst/>
          </a:prstGeom>
          <a:noFill/>
          <a:ln w="25400">
            <a:solidFill>
              <a:srgbClr val="4FA6BE"/>
            </a:solidFill>
            <a:prstDash val="solid"/>
            <a:headEnd type="triangle"/>
            <a:tailEnd type="oval"/>
          </a:ln>
        </p:spPr>
      </p:sp>
      <p:sp>
        <p:nvSpPr>
          <p:cNvPr id="27" name="Shape 25"/>
          <p:cNvSpPr/>
          <p:nvPr/>
        </p:nvSpPr>
        <p:spPr>
          <a:xfrm>
            <a:off x="64008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4F7"/>
          </a:solidFill>
          <a:ln w="19050">
            <a:solidFill>
              <a:srgbClr val="1E86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3685032"/>
            <a:ext cx="182880" cy="182880"/>
          </a:xfrm>
          <a:prstGeom prst="ellipse">
            <a:avLst/>
          </a:prstGeom>
          <a:solidFill>
            <a:srgbClr val="1E86A6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78440" y="3154680"/>
            <a:ext cx="0" cy="365760"/>
          </a:xfrm>
          <a:prstGeom prst="line">
            <a:avLst/>
          </a:prstGeom>
          <a:noFill/>
          <a:ln w="25400">
            <a:solidFill>
              <a:srgbClr val="4FA6BE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F5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 rules run at the edge, so a fault is flagged in the same window it appears; only compact summaries cross the limited sea link.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owf-frontend-015611713565.s3.us-east-1.amazonaws.com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EDF4F7"/>
          </a:solidFill>
          <a:ln w="15240">
            <a:solidFill>
              <a:srgbClr val="1E8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603504" cy="603504"/>
          </a:xfrm>
          <a:prstGeom prst="ellipse">
            <a:avLst/>
          </a:prstGeom>
          <a:solidFill>
            <a:srgbClr val="0F5E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turbines, five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speed, blade vibration, generator temperature, power output and gearbox pressure live for both turbines.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EDF4F7"/>
          </a:solidFill>
          <a:ln w="15240">
            <a:solidFill>
              <a:srgbClr val="1E86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148840"/>
            <a:ext cx="603504" cy="603504"/>
          </a:xfrm>
          <a:prstGeom prst="ellipse">
            <a:avLst/>
          </a:prstGeom>
          <a:solidFill>
            <a:srgbClr val="0F5E7E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90872" y="2898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pressure on the window minimum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0872" y="365760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momentary dip below 2.5 bar is a lubrication fault — the rule reads the worst reading in each window, so a single dip cannot hide in an average.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EDF4F7"/>
          </a:solidFill>
          <a:ln w="15240">
            <a:solidFill>
              <a:srgbClr val="1E86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148840"/>
            <a:ext cx="603504" cy="603504"/>
          </a:xfrm>
          <a:prstGeom prst="ellipse">
            <a:avLst/>
          </a:prstGeom>
          <a:solidFill>
            <a:srgbClr val="0F5E7E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67344" y="289864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cross-turbine power trend, climbing live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7344" y="365760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6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chart tracks both turbines together, and the stored count climbs 17 to 132 to 204 across refreshes, so the data is genuinely live.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0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Hardest Part — the credential trap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EDF4F7"/>
          </a:solidFill>
          <a:ln w="19050">
            <a:solidFill>
              <a:srgbClr val="EBB1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B1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786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cloud-facing modules decided they must be in local testing whenever the standard access-key variable was present, and swapped in fake, emulator-only credentials. But the serverless platform always injects that same variable to deliver a function's real credentials — so in production both functions would discard their real identity and fail their first call, while every local test kept passing. The same signal meant opposite things in the two environments.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41648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EDF4F7"/>
          </a:solidFill>
          <a:ln w="19050">
            <a:solidFill>
              <a:srgbClr val="1E8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6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4700016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0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the local-emulator endpoint variable instead — the one signal that genuinely means local. Deployed functions now fall through to the platform's default credential chain and pick up their real execution-role identity. A pre-deployment audit caught this plus two more; all three were fixed before the first deploy, and every health check was green on the first live poll.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2026-07-24T07:20:52Z</dcterms:created>
  <dcterms:modified xsi:type="dcterms:W3CDTF">2026-07-24T07:20:52Z</dcterms:modified>
</cp:coreProperties>
</file>